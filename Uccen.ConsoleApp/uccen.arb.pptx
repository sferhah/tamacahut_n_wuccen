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323" r:id="rId2"/>
    <p:sldId id="324" r:id="rId3"/>
    <p:sldId id="257" r:id="rId4"/>
    <p:sldId id="258" r:id="rId5"/>
    <p:sldId id="259" r:id="rId6"/>
    <p:sldId id="260" r:id="rId7"/>
    <p:sldId id="261" r:id="rId8"/>
    <p:sldId id="262" r:id="rId9"/>
    <p:sldId id="274" r:id="rId10"/>
    <p:sldId id="263" r:id="rId11"/>
    <p:sldId id="338" r:id="rId12"/>
    <p:sldId id="264" r:id="rId13"/>
    <p:sldId id="275" r:id="rId14"/>
    <p:sldId id="265" r:id="rId15"/>
    <p:sldId id="266" r:id="rId16"/>
    <p:sldId id="327" r:id="rId17"/>
    <p:sldId id="267" r:id="rId18"/>
    <p:sldId id="276" r:id="rId19"/>
    <p:sldId id="268" r:id="rId20"/>
    <p:sldId id="269" r:id="rId21"/>
    <p:sldId id="325" r:id="rId22"/>
    <p:sldId id="277" r:id="rId23"/>
    <p:sldId id="270" r:id="rId24"/>
    <p:sldId id="271" r:id="rId25"/>
    <p:sldId id="272" r:id="rId26"/>
    <p:sldId id="328" r:id="rId27"/>
    <p:sldId id="278" r:id="rId28"/>
    <p:sldId id="329" r:id="rId29"/>
    <p:sldId id="279" r:id="rId30"/>
    <p:sldId id="337" r:id="rId31"/>
    <p:sldId id="280" r:id="rId32"/>
    <p:sldId id="339" r:id="rId33"/>
    <p:sldId id="281" r:id="rId34"/>
    <p:sldId id="336" r:id="rId35"/>
    <p:sldId id="282" r:id="rId36"/>
    <p:sldId id="335" r:id="rId37"/>
    <p:sldId id="283" r:id="rId38"/>
    <p:sldId id="334" r:id="rId39"/>
    <p:sldId id="284" r:id="rId40"/>
    <p:sldId id="285" r:id="rId41"/>
    <p:sldId id="286" r:id="rId42"/>
    <p:sldId id="293" r:id="rId43"/>
    <p:sldId id="292" r:id="rId44"/>
    <p:sldId id="287" r:id="rId45"/>
    <p:sldId id="330" r:id="rId46"/>
    <p:sldId id="288" r:id="rId47"/>
    <p:sldId id="306" r:id="rId48"/>
    <p:sldId id="289" r:id="rId49"/>
    <p:sldId id="290" r:id="rId50"/>
    <p:sldId id="326" r:id="rId51"/>
    <p:sldId id="291" r:id="rId52"/>
    <p:sldId id="333" r:id="rId53"/>
    <p:sldId id="294" r:id="rId54"/>
    <p:sldId id="295" r:id="rId55"/>
    <p:sldId id="307" r:id="rId56"/>
    <p:sldId id="296" r:id="rId57"/>
    <p:sldId id="308" r:id="rId58"/>
    <p:sldId id="297" r:id="rId59"/>
    <p:sldId id="298" r:id="rId60"/>
    <p:sldId id="299" r:id="rId61"/>
    <p:sldId id="309" r:id="rId62"/>
    <p:sldId id="300" r:id="rId63"/>
    <p:sldId id="332" r:id="rId64"/>
    <p:sldId id="301" r:id="rId65"/>
    <p:sldId id="331" r:id="rId66"/>
    <p:sldId id="305" r:id="rId67"/>
    <p:sldId id="302" r:id="rId68"/>
    <p:sldId id="318" r:id="rId69"/>
    <p:sldId id="303" r:id="rId70"/>
    <p:sldId id="341" r:id="rId71"/>
    <p:sldId id="304" r:id="rId72"/>
    <p:sldId id="310" r:id="rId73"/>
    <p:sldId id="319" r:id="rId74"/>
    <p:sldId id="320" r:id="rId75"/>
    <p:sldId id="342" r:id="rId76"/>
    <p:sldId id="321" r:id="rId77"/>
    <p:sldId id="322" r:id="rId78"/>
    <p:sldId id="311" r:id="rId79"/>
    <p:sldId id="340" r:id="rId80"/>
    <p:sldId id="312" r:id="rId81"/>
    <p:sldId id="313" r:id="rId82"/>
    <p:sldId id="314" r:id="rId83"/>
    <p:sldId id="315" r:id="rId84"/>
    <p:sldId id="316" r:id="rId85"/>
    <p:sldId id="317"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124" d="100"/>
          <a:sy n="124" d="100"/>
        </p:scale>
        <p:origin x="115" y="1042"/>
      </p:cViewPr>
      <p:guideLst/>
    </p:cSldViewPr>
  </p:slideViewPr>
  <p:notesTextViewPr>
    <p:cViewPr>
      <p:scale>
        <a:sx n="1" d="1"/>
        <a:sy n="1" d="1"/>
      </p:scale>
      <p:origin x="0" y="0"/>
    </p:cViewPr>
  </p:notesTextViewPr>
  <p:notesViewPr>
    <p:cSldViewPr snapToGrid="0">
      <p:cViewPr varScale="1">
        <p:scale>
          <a:sx n="89" d="100"/>
          <a:sy n="89" d="100"/>
        </p:scale>
        <p:origin x="361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C1FDA5-9958-C602-4F67-5EFF019292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D19749-87DC-30B6-958D-94346F3AC3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D37C52-1B83-4791-86D0-65CB60F8381B}" type="datetimeFigureOut">
              <a:rPr lang="en-GB" smtClean="0"/>
              <a:t>25/10/2026</a:t>
            </a:fld>
            <a:endParaRPr lang="en-GB"/>
          </a:p>
        </p:txBody>
      </p:sp>
      <p:sp>
        <p:nvSpPr>
          <p:cNvPr id="4" name="Footer Placeholder 3">
            <a:extLst>
              <a:ext uri="{FF2B5EF4-FFF2-40B4-BE49-F238E27FC236}">
                <a16:creationId xmlns:a16="http://schemas.microsoft.com/office/drawing/2014/main" id="{F0BDF9DD-2632-5533-26FC-CEF9A8BF55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F247CAB-6F72-44CA-6604-0B13D89D7F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5907BD-4CD6-49A4-B3D9-7167A37CD313}" type="slidenum">
              <a:rPr lang="en-GB" smtClean="0"/>
              <a:t>‹#›</a:t>
            </a:fld>
            <a:endParaRPr lang="en-GB"/>
          </a:p>
        </p:txBody>
      </p:sp>
    </p:spTree>
    <p:extLst>
      <p:ext uri="{BB962C8B-B14F-4D97-AF65-F5344CB8AC3E}">
        <p14:creationId xmlns:p14="http://schemas.microsoft.com/office/powerpoint/2010/main" val="3654916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8D6AF-FCD6-45FD-B429-E4792BD0FBA5}" type="datetimeFigureOut">
              <a:rPr lang="en-GB" smtClean="0"/>
              <a:t>25/10/2026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0F41E-4378-4A84-86D8-B3A80896FA19}" type="slidenum">
              <a:rPr lang="en-GB" smtClean="0"/>
              <a:t>‹#›</a:t>
            </a:fld>
            <a:endParaRPr lang="en-GB"/>
          </a:p>
        </p:txBody>
      </p:sp>
    </p:spTree>
    <p:extLst>
      <p:ext uri="{BB962C8B-B14F-4D97-AF65-F5344CB8AC3E}">
        <p14:creationId xmlns:p14="http://schemas.microsoft.com/office/powerpoint/2010/main" val="3613249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4CF9-C66E-C26F-1387-F7FCF74DD396}"/>
              </a:ext>
            </a:extLst>
          </p:cNvPr>
          <p:cNvSpPr>
            <a:spLocks noGrp="1"/>
          </p:cNvSpPr>
          <p:nvPr>
            <p:ph type="ctrTitle"/>
          </p:nvPr>
        </p:nvSpPr>
        <p:spPr>
          <a:xfrm>
            <a:off x="1524000" y="1122363"/>
            <a:ext cx="9144000" cy="2387600"/>
          </a:xfrm>
          <a:prstGeom prst="rect">
            <a:avLst/>
          </a:prstGeom>
        </p:spPr>
        <p:txBody>
          <a:bodyPr anchor="b"/>
          <a:lstStyle>
            <a:lvl1pPr algn="ctr">
              <a:defRPr sz="1200"/>
            </a:lvl1pPr>
          </a:lstStyle>
          <a:p>
            <a:r>
              <a:rPr lang="en-US"/>
              <a:t>Click to edit Master title style</a:t>
            </a:r>
            <a:endParaRPr lang="en-GB"/>
          </a:p>
        </p:txBody>
      </p:sp>
      <p:sp>
        <p:nvSpPr>
          <p:cNvPr id="3" name="Subtitle 2">
            <a:extLst>
              <a:ext uri="{FF2B5EF4-FFF2-40B4-BE49-F238E27FC236}">
                <a16:creationId xmlns:a16="http://schemas.microsoft.com/office/drawing/2014/main" id="{850832E4-02C3-32FE-A593-8FEF24277D12}"/>
              </a:ext>
            </a:extLst>
          </p:cNvPr>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11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2CE1DCF-9D30-842B-9025-4162BDEA1E06}"/>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D2E45F46-8E2C-A94A-53B8-F8C8445F88B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F21882-1377-2663-0ADF-A7F499014F7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9943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609C-2B88-5676-95D2-0ABB9402D7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A3247D-63BB-809D-CE90-D85D3ADE93BE}"/>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DBE30E-F4FB-1EFD-B054-9D2F56300CE0}"/>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44425830-7E0E-89CA-4B38-76B50FC58EC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D089804-6ED5-A03C-C6C6-7A8A9718592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26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F025-D430-CCE9-D318-3321558DC752}"/>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D1BF34-2F04-903D-B13B-78D2C28653A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8C02C-F1E1-EF63-3A4D-54BEE25CC2D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E7D26206-87A4-1756-5FB6-62A9FDB76CD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CD179F8-A76F-D396-091B-70911BE9341F}"/>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287350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4663-8B76-727A-ECC4-75A7DDFB1E5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7390CE-603F-D5E8-511C-B009942E682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6D757C-3A9A-4EFC-BBAA-3402801D8F63}"/>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D079206-889D-6C74-4D89-308F3E06F71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D3415124-CE70-9A75-278E-00E1DCA906B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D131D70A-A28F-3DE5-E75F-031FD821561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0531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2AA2-31F9-FB94-3022-7A3C1D72B7F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73408-411B-C1E6-044A-261A06DE374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47CCDD-08E8-4AED-872D-7AD7450979E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82C5AD4-1DD8-E08B-27E8-95A158D9758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993B9-0C52-DBBF-53AE-010B69760AD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A4ECC51-5C84-E45D-D297-A45338B37CDE}"/>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8" name="Footer Placeholder 7">
            <a:extLst>
              <a:ext uri="{FF2B5EF4-FFF2-40B4-BE49-F238E27FC236}">
                <a16:creationId xmlns:a16="http://schemas.microsoft.com/office/drawing/2014/main" id="{FD74B841-7A6F-72ED-7B57-2ABEC5D7F89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88C63F6-200A-C7D8-F229-5BC3CE228C54}"/>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616606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5C452-4506-1750-2B46-BD6C16272D1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E271A5-27C2-4700-4D8B-33A720ED3D0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4" name="Footer Placeholder 3">
            <a:extLst>
              <a:ext uri="{FF2B5EF4-FFF2-40B4-BE49-F238E27FC236}">
                <a16:creationId xmlns:a16="http://schemas.microsoft.com/office/drawing/2014/main" id="{8279E228-95BE-65C7-6CD3-6F84A49B57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433251F4-03E9-C2CA-1A0D-6D3E9BF3F64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576787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5FC7BE-B114-ED2A-C7B2-9885F94C870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3" name="Footer Placeholder 2">
            <a:extLst>
              <a:ext uri="{FF2B5EF4-FFF2-40B4-BE49-F238E27FC236}">
                <a16:creationId xmlns:a16="http://schemas.microsoft.com/office/drawing/2014/main" id="{38BEAE12-47C6-F608-6EFD-2F4E8258C4A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49BD9B82-16DE-B8C9-BDF7-0214009559C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185494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0683-7BB0-0908-2E29-65E6DF0DF0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16A72F-6588-7F18-755F-CADB24559DF7}"/>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9ABFFF-70EA-22D8-966E-01A44FD05B3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F1FED-46E0-1A60-F8AA-943307FA6C8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8244ED42-0A26-8A9C-5E9C-94BD8DE2A8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BF604D2-53EB-E818-1707-CFA9C0701006}"/>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88627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753B-75DB-1F7C-E51B-A939A65F8DE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6FE9DC5-CD52-732C-6D1E-6206DCDE4EE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987047-6F2A-F1AD-154A-39CB36973B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FA988-A24F-452D-1D16-887B80C6DA93}"/>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23DA80CE-D1D3-EDC6-733E-06507F703F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DC082C6-F1F5-73D3-CC06-88FB8BB8A4E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96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82AB-C1B1-9A69-2736-05E6461CC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E514E-937B-501A-6451-98E111E0B83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1AA298-55ED-898F-FA99-A02B422E2ACA}"/>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FD45F39B-E0AD-4A5F-0093-E12AA6C16CC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CF35F2E-B96E-1E7D-B901-FE6433FA723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29108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F6551-FBF0-41E2-CD3D-C4176CDA89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246388F-1482-A1B4-4215-E614B5821925}"/>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61A664-6329-E738-13BF-C5133CE0EE3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DD8F81C1-87C1-203D-931E-5AA2378F0E8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D860B893-28E1-0281-6958-26C4BBB9E7D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506584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822DCA-5A70-1303-0F1A-D996E48E08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931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97274314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#1</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#1</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yizem</a:t>
                      </a:r>
                      <a:endParaRPr lang="fr-FR" sz="1100" kern="1200" dirty="0">
                        <a:solidFill>
                          <a:schemeClr val="tx1"/>
                        </a:solidFill>
                        <a:effectLst/>
                        <a:latin typeface="+mn-lt"/>
                        <a:ea typeface="+mn-ea"/>
                        <a:cs typeface="+mn-cs"/>
                      </a:endParaRP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حكاية الذئب والأسد</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14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9105885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endParaRPr lang="en-GB" sz="9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l"/>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timucuha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wedrar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Ǧeṛǧeṛ</a:t>
                      </a:r>
                      <a:r>
                        <a:rPr lang="fr-FR" sz="1100" kern="1200" dirty="0">
                          <a:solidFill>
                            <a:schemeClr val="tx1"/>
                          </a:solidFill>
                          <a:effectLst/>
                          <a:latin typeface="+mn-lt"/>
                          <a:ea typeface="+mn-ea"/>
                          <a:cs typeface="+mn-cs"/>
                        </a:rPr>
                        <a:t>, adrar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lḥeṛma</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tagar</a:t>
                      </a:r>
                      <a:endParaRPr lang="fr-FR" sz="1100" i="1" kern="1200" dirty="0">
                        <a:solidFill>
                          <a:schemeClr val="tx1"/>
                        </a:solidFill>
                        <a:effectLst/>
                        <a:latin typeface="+mn-lt"/>
                        <a:ea typeface="+mn-ea"/>
                        <a:cs typeface="+mn-cs"/>
                      </a:endParaRPr>
                    </a:p>
                    <a:p>
                      <a:pPr indent="457200" algn="l"/>
                      <a:r>
                        <a:rPr lang="fr-FR" sz="1100" i="1" kern="1200" dirty="0">
                          <a:solidFill>
                            <a:schemeClr val="tx1"/>
                          </a:solidFill>
                          <a:effectLst/>
                          <a:latin typeface="+mn-lt"/>
                          <a:ea typeface="+mn-ea"/>
                          <a:cs typeface="+mn-cs"/>
                        </a:rPr>
                        <a:t>Yali s adrar,</a:t>
                      </a:r>
                    </a:p>
                    <a:p>
                      <a:pPr indent="457200" algn="l"/>
                      <a:r>
                        <a:rPr lang="fr-FR" sz="1100" i="1" kern="1200" dirty="0" err="1">
                          <a:solidFill>
                            <a:schemeClr val="tx1"/>
                          </a:solidFill>
                          <a:effectLst/>
                          <a:latin typeface="+mn-lt"/>
                          <a:ea typeface="+mn-ea"/>
                          <a:cs typeface="+mn-cs"/>
                        </a:rPr>
                        <a:t>Yečč</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abelluḍ</a:t>
                      </a:r>
                      <a:r>
                        <a:rPr lang="fr-FR" sz="1100" i="1" kern="1200" dirty="0">
                          <a:solidFill>
                            <a:schemeClr val="tx1"/>
                          </a:solidFill>
                          <a:effectLst/>
                          <a:latin typeface="+mn-lt"/>
                          <a:ea typeface="+mn-ea"/>
                          <a:cs typeface="+mn-cs"/>
                        </a:rPr>
                        <a:t> bu </a:t>
                      </a:r>
                      <a:r>
                        <a:rPr lang="fr-FR" sz="1100" i="1" kern="1200" dirty="0" err="1">
                          <a:solidFill>
                            <a:schemeClr val="tx1"/>
                          </a:solidFill>
                          <a:effectLst/>
                          <a:latin typeface="+mn-lt"/>
                          <a:ea typeface="+mn-ea"/>
                          <a:cs typeface="+mn-cs"/>
                        </a:rPr>
                        <a:t>tcacit</a:t>
                      </a:r>
                      <a:r>
                        <a:rPr lang="fr-FR" sz="1100" i="1" kern="1200" dirty="0">
                          <a:solidFill>
                            <a:schemeClr val="tx1"/>
                          </a:solidFill>
                          <a:effectLst/>
                          <a:latin typeface="+mn-lt"/>
                          <a:ea typeface="+mn-ea"/>
                          <a:cs typeface="+mn-cs"/>
                        </a:rPr>
                        <a:t>;</a:t>
                      </a: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irden</a:t>
                      </a:r>
                      <a:r>
                        <a:rPr lang="fr-FR" sz="1100" i="1" kern="1200" dirty="0">
                          <a:solidFill>
                            <a:schemeClr val="tx1"/>
                          </a:solidFill>
                          <a:effectLst/>
                          <a:latin typeface="+mn-lt"/>
                          <a:ea typeface="+mn-ea"/>
                          <a:cs typeface="+mn-cs"/>
                        </a:rPr>
                        <a:t> n </a:t>
                      </a:r>
                      <a:r>
                        <a:rPr lang="fr-FR" sz="1100" i="1" kern="1200" dirty="0" err="1">
                          <a:solidFill>
                            <a:schemeClr val="tx1"/>
                          </a:solidFill>
                          <a:effectLst/>
                          <a:latin typeface="+mn-lt"/>
                          <a:ea typeface="+mn-ea"/>
                          <a:cs typeface="+mn-cs"/>
                        </a:rPr>
                        <a:t>tfazit</a:t>
                      </a:r>
                      <a:endParaRPr lang="fr-FR" sz="1100" i="1"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Iṣubb</a:t>
                      </a:r>
                      <a:r>
                        <a:rPr lang="fr-FR" sz="1100" i="1" kern="1200" dirty="0">
                          <a:solidFill>
                            <a:schemeClr val="tx1"/>
                          </a:solidFill>
                          <a:effectLst/>
                          <a:latin typeface="+mn-lt"/>
                          <a:ea typeface="+mn-ea"/>
                          <a:cs typeface="+mn-cs"/>
                        </a:rPr>
                        <a:t> s </a:t>
                      </a:r>
                      <a:r>
                        <a:rPr lang="fr-FR" sz="1100" i="1" kern="1200" dirty="0" err="1">
                          <a:solidFill>
                            <a:schemeClr val="tx1"/>
                          </a:solidFill>
                          <a:effectLst/>
                          <a:latin typeface="+mn-lt"/>
                          <a:ea typeface="+mn-ea"/>
                          <a:cs typeface="+mn-cs"/>
                        </a:rPr>
                        <a:t>azaɣar</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Ad </a:t>
                      </a:r>
                      <a:r>
                        <a:rPr lang="fr-FR" sz="1100" i="1" kern="1200" dirty="0" err="1">
                          <a:solidFill>
                            <a:schemeClr val="tx1"/>
                          </a:solidFill>
                          <a:effectLst/>
                          <a:latin typeface="+mn-lt"/>
                          <a:ea typeface="+mn-ea"/>
                          <a:cs typeface="+mn-cs"/>
                        </a:rPr>
                        <a:t>yeɣleb</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agdi</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temrit</a:t>
                      </a:r>
                      <a:r>
                        <a:rPr lang="fr-FR" sz="1100" i="1"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kern="1200" dirty="0">
                          <a:solidFill>
                            <a:schemeClr val="tx1"/>
                          </a:solidFill>
                          <a:effectLst/>
                          <a:latin typeface="+mn-lt"/>
                          <a:ea typeface="+mn-ea"/>
                          <a:cs typeface="+mn-cs"/>
                        </a:rPr>
                        <a:t>Yura-</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ccix </a:t>
                      </a:r>
                      <a:r>
                        <a:rPr lang="fr-FR" sz="1100" kern="1200" dirty="0" err="1">
                          <a:solidFill>
                            <a:schemeClr val="tx1"/>
                          </a:solidFill>
                          <a:effectLst/>
                          <a:latin typeface="+mn-lt"/>
                          <a:ea typeface="+mn-ea"/>
                          <a:cs typeface="+mn-cs"/>
                        </a:rPr>
                        <a:t>Yebṛahim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Asedqaw</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ttnaṣfa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lqern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ṛbeɛṭac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yessifes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di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 Amin!</a:t>
                      </a: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b="0" u="none" strike="noStrike" kern="1200" dirty="0">
                          <a:solidFill>
                            <a:schemeClr val="tx1"/>
                          </a:solidFill>
                          <a:effectLst/>
                          <a:latin typeface="Arial" panose="020B0604020202020204" pitchFamily="34" charset="0"/>
                          <a:ea typeface="+mn-ea"/>
                          <a:cs typeface="Arial" panose="020B0604020202020204" pitchFamily="34" charset="0"/>
                        </a:rPr>
                        <a:t>هذه حكايات جبل جرجرة، الجبل الأسود، جبل الشرف والمشقة؛ كما كان يقول الشيخ القديم:</a:t>
                      </a:r>
                    </a:p>
                    <a:p>
                      <a:pPr indent="216000" algn="r" rtl="1"/>
                      <a:endParaRPr lang="en-US" sz="1400" b="0" u="none" strike="noStrike" kern="1200" dirty="0">
                        <a:solidFill>
                          <a:schemeClr val="tx1"/>
                        </a:solidFill>
                        <a:effectLst/>
                        <a:latin typeface="Arial" panose="020B0604020202020204" pitchFamily="34" charset="0"/>
                        <a:ea typeface="+mn-ea"/>
                        <a:cs typeface="Arial" panose="020B0604020202020204" pitchFamily="34" charset="0"/>
                      </a:endParaRP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من أراد أن يسود الشرف</a:t>
                      </a: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فليصعد إلى الجبل،</a:t>
                      </a: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وليقتات من ثمر البلوط ذي القبعة؛</a:t>
                      </a: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ومن أراد القمح الصافي</a:t>
                      </a: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فلينزل إلى السهل،</a:t>
                      </a:r>
                    </a:p>
                    <a:p>
                      <a:pPr indent="216000" algn="r" rtl="1"/>
                      <a:r>
                        <a:rPr lang="ar-AE" sz="1400" b="0" i="1" u="none" strike="noStrike" kern="1200" dirty="0">
                          <a:solidFill>
                            <a:schemeClr val="tx1"/>
                          </a:solidFill>
                          <a:effectLst/>
                          <a:latin typeface="Arial" panose="020B0604020202020204" pitchFamily="34" charset="0"/>
                          <a:ea typeface="+mn-ea"/>
                          <a:cs typeface="Arial" panose="020B0604020202020204" pitchFamily="34" charset="0"/>
                        </a:rPr>
                        <a:t>فسيُهان أكثر من كلب!</a:t>
                      </a:r>
                    </a:p>
                    <a:p>
                      <a:pPr indent="216000" algn="r" rtl="1"/>
                      <a:endParaRPr lang="en-US" sz="1400" b="0" u="none" strike="noStrike" kern="1200" dirty="0">
                        <a:solidFill>
                          <a:schemeClr val="tx1"/>
                        </a:solidFill>
                        <a:effectLst/>
                        <a:latin typeface="Arial" panose="020B0604020202020204" pitchFamily="34" charset="0"/>
                        <a:ea typeface="+mn-ea"/>
                        <a:cs typeface="Arial" panose="020B0604020202020204" pitchFamily="34" charset="0"/>
                      </a:endParaRPr>
                    </a:p>
                    <a:p>
                      <a:pPr indent="216000" algn="r" rtl="1"/>
                      <a:r>
                        <a:rPr lang="ar-AE" sz="1400" b="0" u="none" strike="noStrike" kern="1200" dirty="0">
                          <a:solidFill>
                            <a:schemeClr val="tx1"/>
                          </a:solidFill>
                          <a:effectLst/>
                          <a:latin typeface="Arial" panose="020B0604020202020204" pitchFamily="34" charset="0"/>
                          <a:ea typeface="+mn-ea"/>
                          <a:cs typeface="Arial" panose="020B0604020202020204" pitchFamily="34" charset="0"/>
                        </a:rPr>
                        <a:t>ألّفها الشيخ إبراهيم من آيت صدقة في منتصف القرن الرابع عشر تقريبًا، خفف الله عنه في الدنيا، وغفر له في الآخرة! آمين!</a:t>
                      </a:r>
                      <a:endParaRPr lang="fr-FR" sz="1400" kern="150" dirty="0">
                        <a:solidFill>
                          <a:schemeClr val="tx1"/>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8472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6658305"/>
              </p:ext>
            </p:extLst>
          </p:nvPr>
        </p:nvGraphicFramePr>
        <p:xfrm>
          <a:off x="296561" y="148281"/>
          <a:ext cx="11631828" cy="6359898"/>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0">
                <a:tc>
                  <a:txBody>
                    <a:bodyPr/>
                    <a:lstStyle/>
                    <a:p>
                      <a:r>
                        <a:rPr lang="en-GB" sz="900" dirty="0">
                          <a:latin typeface="Cascadia Mono" panose="020B0609020000020004" pitchFamily="49" charset="0"/>
                          <a:cs typeface="Cascadia Mono" panose="020B0609020000020004" pitchFamily="49" charset="0"/>
                        </a:rPr>
                        <a:t>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15</a:t>
                      </a:r>
                    </a:p>
                  </a:txBody>
                  <a:tcPr/>
                </a:tc>
                <a:extLst>
                  <a:ext uri="{0D108BD9-81ED-4DB2-BD59-A6C34878D82A}">
                    <a16:rowId xmlns:a16="http://schemas.microsoft.com/office/drawing/2014/main" val="124878720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Leǧmeɛ</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lewḥuc</a:t>
                      </a:r>
                      <a:endParaRPr lang="en-GB" sz="1200" kern="150" dirty="0">
                        <a:effectLst/>
                        <a:latin typeface="Cascadia Mono" panose="020B0609020000020004" pitchFamily="49" charset="0"/>
                        <a:ea typeface="NSimSun" panose="02010609030101010101" pitchFamily="49" charset="-122"/>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اجتماع الحيوانات</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445498">
                <a:tc>
                  <a:txBody>
                    <a:bodyPr/>
                    <a:lstStyle/>
                    <a:p>
                      <a:pPr indent="215900" algn="l"/>
                      <a:r>
                        <a:rPr lang="fr-FR" sz="1100" kern="150" dirty="0">
                          <a:effectLst/>
                          <a:latin typeface="Cascadia Mono" panose="020B0609020000020004" pitchFamily="49" charset="0"/>
                          <a:cs typeface="Cascadia Mono" panose="020B0609020000020004" pitchFamily="49" charset="0"/>
                        </a:rPr>
                        <a:t>Di </a:t>
                      </a:r>
                      <a:r>
                        <a:rPr lang="fr-FR" sz="1100" kern="150" dirty="0" err="1">
                          <a:effectLst/>
                          <a:latin typeface="Cascadia Mono" panose="020B0609020000020004" pitchFamily="49" charset="0"/>
                          <a:cs typeface="Cascadia Mono" panose="020B0609020000020004" pitchFamily="49" charset="0"/>
                        </a:rPr>
                        <a:t>zzman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amezwaru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nnejmɛen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myeɛhaden</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myuččen</a:t>
                      </a:r>
                      <a:r>
                        <a:rPr lang="fr-FR" sz="1100" kern="150" dirty="0">
                          <a:effectLst/>
                          <a:latin typeface="Cascadia Mono" panose="020B0609020000020004" pitchFamily="49" charset="0"/>
                          <a:cs typeface="Cascadia Mono" panose="020B0609020000020004" pitchFamily="49" charset="0"/>
                        </a:rPr>
                        <a:t>, ad hennin di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Semman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fell-asen</a:t>
                      </a:r>
                      <a:r>
                        <a:rPr lang="fr-FR" sz="1100" kern="150" dirty="0">
                          <a:effectLst/>
                          <a:latin typeface="Cascadia Mono" panose="020B0609020000020004" pitchFamily="49" charset="0"/>
                          <a:cs typeface="Cascadia Mono" panose="020B0609020000020004" pitchFamily="49" charset="0"/>
                        </a:rPr>
                        <a:t> (ay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ɣas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rṣan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tilas</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inagan</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a:effectLst/>
                          <a:latin typeface="Cascadia Mono" panose="020B0609020000020004" pitchFamily="49" charset="0"/>
                          <a:cs typeface="Cascadia Mono" panose="020B0609020000020004" pitchFamily="49" charset="0"/>
                        </a:rPr>
                        <a:t>Izem </a:t>
                      </a:r>
                      <a:r>
                        <a:rPr lang="fr-FR" sz="1100" kern="150" dirty="0" err="1">
                          <a:effectLst/>
                          <a:latin typeface="Cascadia Mono" panose="020B0609020000020004" pitchFamily="49" charset="0"/>
                          <a:cs typeface="Cascadia Mono" panose="020B0609020000020004" pitchFamily="49" charset="0"/>
                        </a:rPr>
                        <a:t>yezdeɣ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teẓgi</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tameqqrant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netta</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yilef</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tewtult</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weɣyul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tyaziṭ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lxeddam-is</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wakken</a:t>
                      </a:r>
                      <a:r>
                        <a:rPr lang="fr-FR" sz="1100" kern="150" dirty="0">
                          <a:effectLst/>
                          <a:latin typeface="Cascadia Mono" panose="020B0609020000020004" pitchFamily="49" charset="0"/>
                          <a:cs typeface="Cascadia Mono" panose="020B0609020000020004" pitchFamily="49" charset="0"/>
                        </a:rPr>
                        <a:t> d-</a:t>
                      </a:r>
                      <a:r>
                        <a:rPr lang="fr-FR" sz="1100" kern="150" dirty="0" err="1">
                          <a:effectLst/>
                          <a:latin typeface="Cascadia Mono" panose="020B0609020000020004" pitchFamily="49" charset="0"/>
                          <a:cs typeface="Cascadia Mono" panose="020B0609020000020004" pitchFamily="49" charset="0"/>
                        </a:rPr>
                        <a:t>ssawalen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tamacahut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Mkul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axeddim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iqeṭṭu-yas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ṣṣalḥa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ilef</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yeggan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t>
                      </a:r>
                      <a:r>
                        <a:rPr lang="fr-FR" sz="1100" kern="150" dirty="0">
                          <a:effectLst/>
                          <a:latin typeface="Cascadia Mono" panose="020B0609020000020004" pitchFamily="49" charset="0"/>
                          <a:cs typeface="Cascadia Mono" panose="020B0609020000020004" pitchFamily="49" charset="0"/>
                        </a:rPr>
                        <a:t>-as;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yeddal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yiss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tawtult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yessummut-itt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abareɣ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agem</a:t>
                      </a:r>
                      <a:r>
                        <a:rPr lang="fr-FR" sz="1100" kern="150" dirty="0">
                          <a:effectLst/>
                          <a:latin typeface="Cascadia Mono" panose="020B0609020000020004" pitchFamily="49" charset="0"/>
                          <a:cs typeface="Cascadia Mono" panose="020B0609020000020004" pitchFamily="49" charset="0"/>
                        </a:rPr>
                        <a:t>-as-d aman; </a:t>
                      </a:r>
                      <a:r>
                        <a:rPr lang="fr-FR" sz="1100" kern="150" dirty="0" err="1">
                          <a:effectLst/>
                          <a:latin typeface="Cascadia Mono" panose="020B0609020000020004" pitchFamily="49" charset="0"/>
                          <a:cs typeface="Cascadia Mono" panose="020B0609020000020004" pitchFamily="49" charset="0"/>
                        </a:rPr>
                        <a:t>aɣyul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izeddem</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isɣaren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tayaziṭ</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arew</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timellalin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ak</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ayefki</a:t>
                      </a:r>
                      <a:r>
                        <a:rPr lang="fr-FR" sz="1100" kern="150" dirty="0">
                          <a:effectLst/>
                          <a:latin typeface="Cascadia Mono" panose="020B0609020000020004" pitchFamily="49" charset="0"/>
                          <a:cs typeface="Cascadia Mono" panose="020B0609020000020004" pitchFamily="49" charset="0"/>
                        </a:rPr>
                        <a:t>. </a:t>
                      </a:r>
                      <a:endParaRPr lang="en-GB" sz="1100" kern="150" dirty="0">
                        <a:effectLst/>
                        <a:latin typeface="Cascadia Mono" panose="020B0609020000020004" pitchFamily="49" charset="0"/>
                        <a:cs typeface="Cascadia Mono" panose="020B0609020000020004" pitchFamily="49" charset="0"/>
                      </a:endParaRPr>
                    </a:p>
                    <a:p>
                      <a:pPr indent="215900" algn="l"/>
                      <a:r>
                        <a:rPr lang="en-US" sz="1100" dirty="0"/>
                        <a:t>¶ </a:t>
                      </a:r>
                      <a:r>
                        <a:rPr lang="fr-FR" sz="1100" kern="150" dirty="0">
                          <a:effectLst/>
                          <a:latin typeface="Cascadia Mono" panose="020B0609020000020004" pitchFamily="49" charset="0"/>
                          <a:cs typeface="Cascadia Mono" panose="020B0609020000020004" pitchFamily="49" charset="0"/>
                        </a:rPr>
                        <a:t>Hennan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teksa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taɣaṭ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Feṛḥen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aɛlaxaṭer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lehna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yeḍmen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leɣna</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err="1">
                          <a:effectLst/>
                          <a:latin typeface="Cascadia Mono" panose="020B0609020000020004" pitchFamily="49" charset="0"/>
                          <a:cs typeface="Cascadia Mono" panose="020B0609020000020004" pitchFamily="49" charset="0"/>
                        </a:rPr>
                        <a:t>Lḥaṣul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ṣeggmen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lukan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asen</a:t>
                      </a:r>
                      <a:r>
                        <a:rPr lang="fr-FR" sz="1100" kern="150" dirty="0">
                          <a:effectLst/>
                          <a:latin typeface="Cascadia Mono" panose="020B0609020000020004" pitchFamily="49" charset="0"/>
                          <a:cs typeface="Cascadia Mono" panose="020B0609020000020004" pitchFamily="49" charset="0"/>
                        </a:rPr>
                        <a:t>-tt-</a:t>
                      </a:r>
                      <a:r>
                        <a:rPr lang="fr-FR" sz="1100" kern="150" dirty="0" err="1">
                          <a:effectLst/>
                          <a:latin typeface="Cascadia Mono" panose="020B0609020000020004" pitchFamily="49" charset="0"/>
                          <a:cs typeface="Cascadia Mono" panose="020B0609020000020004" pitchFamily="49" charset="0"/>
                        </a:rPr>
                        <a:t>yessexṣer</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yerra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amṛayi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yefṛiḥ</a:t>
                      </a:r>
                      <a:r>
                        <a:rPr lang="fr-FR" sz="1100" kern="150" dirty="0">
                          <a:effectLst/>
                          <a:latin typeface="Cascadia Mono" panose="020B0609020000020004" pitchFamily="49" charset="0"/>
                          <a:cs typeface="Cascadia Mono" panose="020B0609020000020004" pitchFamily="49" charset="0"/>
                        </a:rPr>
                        <a:t> ara s </a:t>
                      </a:r>
                      <a:r>
                        <a:rPr lang="fr-FR" sz="1100" kern="150" dirty="0" err="1">
                          <a:effectLst/>
                          <a:latin typeface="Cascadia Mono" panose="020B0609020000020004" pitchFamily="49" charset="0"/>
                          <a:cs typeface="Cascadia Mono" panose="020B0609020000020004" pitchFamily="49" charset="0"/>
                        </a:rPr>
                        <a:t>uṣeggem</a:t>
                      </a:r>
                      <a:r>
                        <a:rPr lang="fr-FR" sz="1100" kern="150" dirty="0">
                          <a:effectLst/>
                          <a:latin typeface="Cascadia Mono" panose="020B0609020000020004" pitchFamily="49" charset="0"/>
                          <a:cs typeface="Cascadia Mono" panose="020B0609020000020004" pitchFamily="49" charset="0"/>
                        </a:rPr>
                        <a:t> agi n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yuɣ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tannumi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yekkat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timeɣriwin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yendem</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liḥala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taqdimt</a:t>
                      </a:r>
                      <a:r>
                        <a:rPr lang="fr-FR" sz="1100" kern="150" dirty="0">
                          <a:effectLst/>
                          <a:latin typeface="Cascadia Mono" panose="020B0609020000020004" pitchFamily="49" charset="0"/>
                          <a:cs typeface="Cascadia Mono" panose="020B0609020000020004" pitchFamily="49" charset="0"/>
                        </a:rPr>
                        <a:t>: mi d-</a:t>
                      </a:r>
                      <a:r>
                        <a:rPr lang="fr-FR" sz="1100" kern="150" dirty="0" err="1">
                          <a:effectLst/>
                          <a:latin typeface="Cascadia Mono" panose="020B0609020000020004" pitchFamily="49" charset="0"/>
                          <a:cs typeface="Cascadia Mono" panose="020B0609020000020004" pitchFamily="49" charset="0"/>
                        </a:rPr>
                        <a:t>yesmekti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aksum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azegzaw</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idammen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yeḥman</a:t>
                      </a:r>
                      <a:r>
                        <a:rPr lang="fr-FR" sz="1100" kern="150" dirty="0">
                          <a:effectLst/>
                          <a:latin typeface="Cascadia Mono" panose="020B0609020000020004" pitchFamily="49" charset="0"/>
                          <a:cs typeface="Cascadia Mono" panose="020B0609020000020004" pitchFamily="49" charset="0"/>
                        </a:rPr>
                        <a:t>, ad as-</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tisselbi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ḥeṛmen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acu</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yili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w’ixedmen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yeɛṣu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Accaren</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qeḍɛen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lḥekm-is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nniḍen</a:t>
                      </a:r>
                      <a:r>
                        <a:rPr lang="fr-FR" sz="1100" kern="150" dirty="0">
                          <a:effectLst/>
                          <a:latin typeface="Cascadia Mono" panose="020B0609020000020004" pitchFamily="49" charset="0"/>
                          <a:cs typeface="Cascadia Mono" panose="020B0609020000020004" pitchFamily="49" charset="0"/>
                        </a:rPr>
                        <a:t>. Ihi, </a:t>
                      </a:r>
                      <a:r>
                        <a:rPr lang="fr-FR" sz="1100" kern="150" dirty="0" err="1">
                          <a:effectLst/>
                          <a:latin typeface="Cascadia Mono" panose="020B0609020000020004" pitchFamily="49" charset="0"/>
                          <a:cs typeface="Cascadia Mono" panose="020B0609020000020004" pitchFamily="49" charset="0"/>
                        </a:rPr>
                        <a:t>ijebd</a:t>
                      </a:r>
                      <a:r>
                        <a:rPr lang="fr-FR" sz="1100" kern="150" dirty="0">
                          <a:effectLst/>
                          <a:latin typeface="Cascadia Mono" panose="020B0609020000020004" pitchFamily="49" charset="0"/>
                          <a:cs typeface="Cascadia Mono" panose="020B0609020000020004" pitchFamily="49" charset="0"/>
                        </a:rPr>
                        <a:t>-d </a:t>
                      </a:r>
                      <a:r>
                        <a:rPr lang="fr-FR" sz="1100" kern="150" dirty="0" err="1">
                          <a:effectLst/>
                          <a:latin typeface="Cascadia Mono" panose="020B0609020000020004" pitchFamily="49" charset="0"/>
                          <a:cs typeface="Cascadia Mono" panose="020B0609020000020004" pitchFamily="49" charset="0"/>
                        </a:rPr>
                        <a:t>taḥṛaymit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yessefra</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yessefreɣ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lxeddam</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tuffra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imciṭni</a:t>
                      </a:r>
                      <a:r>
                        <a:rPr lang="fr-FR" sz="1100" kern="150" dirty="0">
                          <a:effectLst/>
                          <a:latin typeface="Cascadia Mono" panose="020B0609020000020004" pitchFamily="49" charset="0"/>
                          <a:cs typeface="Cascadia Mono" panose="020B0609020000020004" pitchFamily="49" charset="0"/>
                        </a:rPr>
                        <a:t>.</a:t>
                      </a:r>
                      <a:endParaRPr lang="en-GB" sz="1100" kern="150" dirty="0">
                        <a:effectLst/>
                        <a:latin typeface="Cascadia Mono" panose="020B0609020000020004" pitchFamily="49" charset="0"/>
                        <a:ea typeface="NSimSun" panose="02010609030101010101" pitchFamily="49" charset="-122"/>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ea typeface="NSimSun" panose="02010609030101010101" pitchFamily="49" charset="-122"/>
                          <a:cs typeface="Arial" panose="020B0604020202020204" pitchFamily="34" charset="0"/>
                        </a:rPr>
                        <a:t>¶ في قديم الزمان، اجتمعت الحيوانات كلها، وأقسمت بالله ألا يفترس بعضها بعضًا، لكي تعيش في سلام في هذا العالم. ونصّبت الأسد ملكًا عليها (مع أن الله وحده هو الملك الحق!)، ورسمت الحدود وأبرمت العهود.</a:t>
                      </a:r>
                      <a:r>
                        <a:rPr lang="en-US" sz="1400" kern="150" dirty="0">
                          <a:effectLst/>
                          <a:latin typeface="Arial" panose="020B0604020202020204" pitchFamily="34" charset="0"/>
                          <a:ea typeface="NSimSun" panose="02010609030101010101" pitchFamily="49" charset="-122"/>
                          <a:cs typeface="Arial" panose="020B0604020202020204" pitchFamily="34" charset="0"/>
                        </a:rPr>
                        <a:t> </a:t>
                      </a:r>
                      <a:r>
                        <a:rPr lang="ar-AE" sz="1400" kern="150" dirty="0">
                          <a:effectLst/>
                          <a:latin typeface="Arial" panose="020B0604020202020204" pitchFamily="34" charset="0"/>
                          <a:ea typeface="NSimSun" panose="02010609030101010101" pitchFamily="49" charset="-122"/>
                          <a:cs typeface="Arial" panose="020B0604020202020204" pitchFamily="34" charset="0"/>
                        </a:rPr>
                        <a:t>¶ كان الأسد يعيش في غابة شاسعة، وكان الذئب والخنزيروالأرنبة والحمار والدجاجة والبقرة خدمًا له، بحسب ما ترويه الحكاية. وأسند إلى كل خادم مهمة بعينها: فكان ينام على ظهر الخنزير، ويتغطى بالذئب، ويتخذ من الأرنبة وسادة؛ وكان الثعلب يجلب له الماء، والحمار يجمع له الحطب، والدجاجة تبيض له، والبقرة تعطيه الحليب.</a:t>
                      </a:r>
                    </a:p>
                    <a:p>
                      <a:pPr indent="216000" algn="r" rtl="1"/>
                      <a:r>
                        <a:rPr lang="ar-AE" sz="1400" kern="150" dirty="0">
                          <a:effectLst/>
                          <a:latin typeface="Arial" panose="020B0604020202020204" pitchFamily="34" charset="0"/>
                          <a:ea typeface="NSimSun" panose="02010609030101010101" pitchFamily="49" charset="-122"/>
                          <a:cs typeface="Arial" panose="020B0604020202020204" pitchFamily="34" charset="0"/>
                        </a:rPr>
                        <a:t>¶ عاشت الحيوانات في سلام: كانت الماعز ترعى إلى جانب الذئب! وابتهجت، لأن السلام يجلب الرخاء.</a:t>
                      </a:r>
                      <a:r>
                        <a:rPr lang="en-US" sz="1400" kern="150" dirty="0">
                          <a:effectLst/>
                          <a:latin typeface="Arial" panose="020B0604020202020204" pitchFamily="34" charset="0"/>
                          <a:ea typeface="NSimSun" panose="02010609030101010101" pitchFamily="49" charset="-122"/>
                          <a:cs typeface="Arial" panose="020B0604020202020204" pitchFamily="34" charset="0"/>
                        </a:rPr>
                        <a:t> </a:t>
                      </a:r>
                      <a:r>
                        <a:rPr lang="ar-AE" sz="1400" kern="150" dirty="0">
                          <a:effectLst/>
                          <a:latin typeface="Arial" panose="020B0604020202020204" pitchFamily="34" charset="0"/>
                          <a:ea typeface="NSimSun" panose="02010609030101010101" pitchFamily="49" charset="-122"/>
                          <a:cs typeface="Arial" panose="020B0604020202020204" pitchFamily="34" charset="0"/>
                        </a:rPr>
                        <a:t>¶ باختصار، نظّموا شؤون العالم على أحسن وجه، لولا الذئب، الذي جعله الأسد مستشارًا له، فقد أفسد عليهم كل شيء. لم يفرح الذئب بهذا الانسجام في العالم؛ فقد اعتاد إثارة الفوضى، وحنّ إلى أحوال الماضي. وحين تذكر اللحم الطازج والدم الدافئ، اللذين أصبحا محرّمين، كاد يجنّ. ماذا عساه يفعل؟ أيعصي الأسد؟ كانت مخالب الأسد حادة وحكمه مطلقًا. لذلك لجأ الذئب إلى المكر، وأخذ يدبّر سرًا لإثارة خدم الأسد واحدًا تلو الآخر على التمرد، حتى صار شيطانًا بحق.</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619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49405943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Lmux n ubaṛeɣ</a:t>
                      </a: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دماغ الثعلب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yuki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yeḍru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urant</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timellalin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icaweṛ-iten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aḥeckul</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Ttcekkiṛen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ameqqran</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xelṭen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iɣḍel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ljerḥ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yesquddeṛ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yenṭel</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yeɣsan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Tura,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aɛekkeṛ</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¶كان الذئب متأكدا أنه الأكثر دهاء من بين جميع الخدم، إلا الثعلب، ابن عمه. وكان الثعلب على دراية تامة بالذئب ومكره، فكان على حذر منه. ومع ذلك، فإن ما شاء الله كان؛ فقد كان أمرا مكتوبا. </a:t>
                      </a:r>
                      <a:endParaRPr lang="en-US" sz="1400" kern="150" dirty="0">
                        <a:effectLst/>
                        <a:latin typeface="Arial" panose="020B0604020202020204" pitchFamily="34" charset="0"/>
                        <a:cs typeface="Arial" panose="020B0604020202020204" pitchFamily="34" charset="0"/>
                      </a:endParaRPr>
                    </a:p>
                    <a:p>
                      <a:pPr indent="216000" algn="r" rtl="1"/>
                      <a:r>
                        <a:rPr lang="ar-AE" sz="1400" kern="150" dirty="0">
                          <a:effectLst/>
                          <a:latin typeface="Arial" panose="020B0604020202020204" pitchFamily="34" charset="0"/>
                          <a:cs typeface="Arial" panose="020B0604020202020204" pitchFamily="34" charset="0"/>
                        </a:rPr>
                        <a:t>¶ مرض الأسد ذات يوم مرضًا خفيفًا، إذ أصيب بالزكام. فأكل البيض بالثوم، ولكن لما لم يأذن الله بشفائه بعد، جمع الخدم كلهم واستشارهم.</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اقترح كل واحد منهم علاجًا مختلفًا.</a:t>
                      </a:r>
                    </a:p>
                    <a:p>
                      <a:pPr indent="216000" algn="r" rtl="1"/>
                      <a:r>
                        <a:rPr lang="ar-AE" sz="1400" kern="150" dirty="0">
                          <a:effectLst/>
                          <a:latin typeface="Arial" panose="020B0604020202020204" pitchFamily="34" charset="0"/>
                          <a:cs typeface="Arial" panose="020B0604020202020204" pitchFamily="34" charset="0"/>
                        </a:rPr>
                        <a:t>قال الثعلب:</a:t>
                      </a:r>
                    </a:p>
                    <a:p>
                      <a:pPr indent="216000" algn="r" rtl="1"/>
                      <a:r>
                        <a:rPr lang="ar-AE" sz="1400" kern="150" dirty="0">
                          <a:effectLst/>
                          <a:latin typeface="Arial" panose="020B0604020202020204" pitchFamily="34" charset="0"/>
                          <a:cs typeface="Arial" panose="020B0604020202020204" pitchFamily="34" charset="0"/>
                        </a:rPr>
                        <a:t>— يمدح الناس دم الذئب، ويقولون إنه دواء عظيم.</a:t>
                      </a:r>
                    </a:p>
                    <a:p>
                      <a:pPr indent="216000" algn="r" rtl="1"/>
                      <a:r>
                        <a:rPr lang="ar-AE" sz="1400" kern="150" dirty="0">
                          <a:effectLst/>
                          <a:latin typeface="Arial" panose="020B0604020202020204" pitchFamily="34" charset="0"/>
                          <a:cs typeface="Arial" panose="020B0604020202020204" pitchFamily="34" charset="0"/>
                        </a:rPr>
                        <a:t>حدّق الأسد في السيد امحمد… فتبول الذئب من الخوف.</a:t>
                      </a:r>
                    </a:p>
                    <a:p>
                      <a:pPr indent="216000" algn="r" rtl="1"/>
                      <a:r>
                        <a:rPr lang="ar-AE" sz="1400" kern="150" dirty="0">
                          <a:effectLst/>
                          <a:latin typeface="Arial" panose="020B0604020202020204" pitchFamily="34" charset="0"/>
                          <a:cs typeface="Arial" panose="020B0604020202020204" pitchFamily="34" charset="0"/>
                        </a:rPr>
                        <a:t>— رد الذئب: هذا صحيح، يا ملك الحيوانات، ولكن بشرط أن يُخلط بدماغ الثعلب.</a:t>
                      </a:r>
                    </a:p>
                    <a:p>
                      <a:pPr indent="216000" algn="r" rtl="1"/>
                      <a:r>
                        <a:rPr lang="ar-AE" sz="1400" kern="150" dirty="0">
                          <a:effectLst/>
                          <a:latin typeface="Arial" panose="020B0604020202020204" pitchFamily="34" charset="0"/>
                          <a:cs typeface="Arial" panose="020B0604020202020204" pitchFamily="34" charset="0"/>
                        </a:rPr>
                        <a:t>¶ ضرب الأسد الثعلب فهشّم جمجمته، فمات. وأحدث الذئب في نفسه جرحًا صغيرًا، فسال منه بضع قطرات من الدم، وأعدّوا الدواء لملك الحيوانات. فقال له الأسد:</a:t>
                      </a:r>
                    </a:p>
                    <a:p>
                      <a:pPr indent="216000" algn="r" rtl="1"/>
                      <a:r>
                        <a:rPr lang="ar-AE" sz="1400" kern="150" dirty="0">
                          <a:effectLst/>
                          <a:latin typeface="Arial" panose="020B0604020202020204" pitchFamily="34" charset="0"/>
                          <a:cs typeface="Arial" panose="020B0604020202020204" pitchFamily="34" charset="0"/>
                        </a:rPr>
                        <a:t>— خذه يا بن يعقوب وادفنه!</a:t>
                      </a:r>
                    </a:p>
                    <a:p>
                      <a:pPr indent="216000" algn="r" rtl="1"/>
                      <a:r>
                        <a:rPr lang="ar-AE" sz="1400" kern="150" dirty="0">
                          <a:effectLst/>
                          <a:latin typeface="Arial" panose="020B0604020202020204" pitchFamily="34" charset="0"/>
                          <a:cs typeface="Arial" panose="020B0604020202020204" pitchFamily="34" charset="0"/>
                        </a:rPr>
                        <a:t>¶ حمل الذئب الثعلب إلى الخندق والتهمه، ولم يدفن سوى جلده وعظامه. وابتهج في قرارة نفسه قائلًا: الآن لم يعد ثمة عائق أو حائل.</a:t>
                      </a:r>
                    </a:p>
                    <a:p>
                      <a:pPr algn="r" rtl="1"/>
                      <a:endParaRPr lang="en-GB" sz="14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496009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9119265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Uccen</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tewtult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والأرنبة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fsant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ttjuṛ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llir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Yessetma</a:t>
                      </a:r>
                      <a:r>
                        <a:rPr lang="fr-FR" sz="1100" kern="1200" dirty="0">
                          <a:solidFill>
                            <a:schemeClr val="tx1"/>
                          </a:solidFill>
                          <a:effectLst/>
                          <a:latin typeface="+mn-lt"/>
                          <a:ea typeface="+mn-ea"/>
                          <a:cs typeface="+mn-cs"/>
                        </a:rPr>
                        <a:t>-m, </a:t>
                      </a:r>
                      <a:r>
                        <a:rPr lang="fr-FR" sz="1100" kern="1200" dirty="0" err="1">
                          <a:solidFill>
                            <a:schemeClr val="tx1"/>
                          </a:solidFill>
                          <a:effectLst/>
                          <a:latin typeface="+mn-lt"/>
                          <a:ea typeface="+mn-ea"/>
                          <a:cs typeface="+mn-cs"/>
                        </a:rPr>
                        <a:t>aha-tent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sɛant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nsent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ten-awint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tzirit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isegmi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ufeqqus</a:t>
                      </a:r>
                      <a:r>
                        <a:rPr lang="fr-FR" sz="1100" kern="1200" dirty="0">
                          <a:solidFill>
                            <a:schemeClr val="tx1"/>
                          </a:solidFill>
                          <a:effectLst/>
                          <a:latin typeface="+mn-lt"/>
                          <a:ea typeface="+mn-ea"/>
                          <a:cs typeface="+mn-cs"/>
                        </a:rPr>
                        <a:t>. Kem,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as-d-terri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aɛṛab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aqbayli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nnḍen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lehduṛ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qebren</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tergigit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iyi-tserrḥeḍ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qrib</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حلّ الربيع: اخضرّت الأرض، وتفتحت الأزهار، وانتفخت براعم الأشجار، ووضعت الحيوانات صغارها.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ذهب الذئب إلى الأرنبة وأخذ يستميلها بكلامه، قائلًا لها:</a:t>
                      </a:r>
                    </a:p>
                    <a:p>
                      <a:pPr indent="216000" algn="r" rtl="1"/>
                      <a:r>
                        <a:rPr lang="ar-AE" sz="1400" kern="150" dirty="0">
                          <a:effectLst/>
                          <a:latin typeface="Arial" panose="020B0604020202020204" pitchFamily="34" charset="0"/>
                          <a:cs typeface="Arial" panose="020B0604020202020204" pitchFamily="34" charset="0"/>
                        </a:rPr>
                        <a:t>— انظري إلى أخواتك، فقد وضعت كل واحدة منهن صغارها؛ يخرجن بهم تحت ضوء البدر ليثبوا في العشب ويأكلوا الزعتر أو براعم البطيخ. أما أنت فتمكثين هنا لتكوني مجرد وسادة لملك الحيوانات!</a:t>
                      </a:r>
                    </a:p>
                    <a:p>
                      <a:pPr indent="216000" algn="r" rtl="1"/>
                      <a:r>
                        <a:rPr lang="ar-AE" sz="1400" kern="150" dirty="0">
                          <a:effectLst/>
                          <a:latin typeface="Arial" panose="020B0604020202020204" pitchFamily="34" charset="0"/>
                          <a:cs typeface="Arial" panose="020B0604020202020204" pitchFamily="34" charset="0"/>
                        </a:rPr>
                        <a:t>¶ لم تجبه الأرنبة لا بالعربية ولا بالقبائلية، بل تنهدت بعمق؛ فقد التف كلام الذئب حول قلبها كالسم، وأخذ ينهشها من الداخل.</a:t>
                      </a:r>
                    </a:p>
                    <a:p>
                      <a:pPr indent="216000" algn="r" rtl="1"/>
                      <a:r>
                        <a:rPr lang="ar-AE" sz="1400" kern="150" dirty="0">
                          <a:effectLst/>
                          <a:latin typeface="Arial" panose="020B0604020202020204" pitchFamily="34" charset="0"/>
                          <a:cs typeface="Arial" panose="020B0604020202020204" pitchFamily="34" charset="0"/>
                        </a:rPr>
                        <a:t>¶ مرّت بضعة أيام، واتبعت الأرنبة كلام الذئب؛ فذهبت إلى الأسد وقالت له وهي ترتجف:</a:t>
                      </a:r>
                    </a:p>
                    <a:p>
                      <a:pPr indent="216000" algn="r" rtl="1"/>
                      <a:r>
                        <a:rPr lang="ar-AE" sz="1400" kern="150" dirty="0">
                          <a:effectLst/>
                          <a:latin typeface="Arial" panose="020B0604020202020204" pitchFamily="34" charset="0"/>
                          <a:cs typeface="Arial" panose="020B0604020202020204" pitchFamily="34" charset="0"/>
                        </a:rPr>
                        <a:t>— يا ملك الحيوانات، أطلق سراحي؛ أريد الرحيل، فقد أنهكني التعب!</a:t>
                      </a:r>
                    </a:p>
                    <a:p>
                      <a:pPr indent="216000" algn="r" rtl="1"/>
                      <a:r>
                        <a:rPr lang="ar-AE" sz="1400" kern="150" dirty="0">
                          <a:effectLst/>
                          <a:latin typeface="Arial" panose="020B0604020202020204" pitchFamily="34" charset="0"/>
                          <a:cs typeface="Arial" panose="020B0604020202020204" pitchFamily="34" charset="0"/>
                        </a:rPr>
                        <a:t>حاول الأسد أن يمنعها ويعيدها إلى رشدها: حاججها وهددها، لكن دون جدوى. تحدّته بعناد تام! فضربها وحطّمها، ثم قال له:</a:t>
                      </a:r>
                    </a:p>
                    <a:p>
                      <a:pPr indent="216000" algn="r" rtl="1"/>
                      <a:r>
                        <a:rPr lang="ar-AE" sz="1400" kern="150" dirty="0">
                          <a:effectLst/>
                          <a:latin typeface="Arial" panose="020B0604020202020204" pitchFamily="34" charset="0"/>
                          <a:cs typeface="Arial" panose="020B0604020202020204" pitchFamily="34" charset="0"/>
                        </a:rPr>
                        <a:t>— خذها يا بن يعقوب وادفنها!</a:t>
                      </a:r>
                    </a:p>
                    <a:p>
                      <a:pPr indent="216000" algn="r" rtl="1"/>
                      <a:r>
                        <a:rPr lang="ar-AE" sz="1400" kern="150" dirty="0">
                          <a:effectLst/>
                          <a:latin typeface="Arial" panose="020B0604020202020204" pitchFamily="34" charset="0"/>
                          <a:cs typeface="Arial" panose="020B0604020202020204" pitchFamily="34" charset="0"/>
                        </a:rPr>
                        <a:t>¶ حملها الذئب بعيدًا والتهمها، ثم محا الدم. وابتهج ظانًا أن الأيام الجميلة القديمة ستعود قريبًا.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6836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4149925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tyaziṭ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والدجاجة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izli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tyaziḍin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kem-yeǧǧan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Izem, mi d-</a:t>
                      </a:r>
                      <a:r>
                        <a:rPr lang="fr-FR" sz="1100" kern="1200" dirty="0" err="1">
                          <a:solidFill>
                            <a:schemeClr val="tx1"/>
                          </a:solidFill>
                          <a:effectLst/>
                          <a:latin typeface="+mn-lt"/>
                          <a:ea typeface="+mn-ea"/>
                          <a:cs typeface="+mn-cs"/>
                        </a:rPr>
                        <a:t>turweḍ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timital-im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zedlent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ssefṛuṛxent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yefṛax</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ten-sḍefṛent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tyemmatin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tiseɛdiyin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iguduyen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tmizar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tebḥirin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ibaḥanen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ičuččiwen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ɛyan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wexbaḍ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tyessawt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ten-jemɛent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wafriwen-nsent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ḥmun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steɛfun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imɣurent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tifṛax</a:t>
                      </a:r>
                      <a:r>
                        <a:rPr lang="fr-FR" sz="1100" kern="1200" dirty="0">
                          <a:solidFill>
                            <a:schemeClr val="tx1"/>
                          </a:solidFill>
                          <a:effectLst/>
                          <a:latin typeface="+mn-lt"/>
                          <a:ea typeface="+mn-ea"/>
                          <a:cs typeface="+mn-cs"/>
                        </a:rPr>
                        <a:t> d sut </a:t>
                      </a:r>
                      <a:r>
                        <a:rPr lang="fr-FR" sz="1100" kern="1200" dirty="0" err="1">
                          <a:solidFill>
                            <a:schemeClr val="tx1"/>
                          </a:solidFill>
                          <a:effectLst/>
                          <a:latin typeface="+mn-lt"/>
                          <a:ea typeface="+mn-ea"/>
                          <a:cs typeface="+mn-cs"/>
                        </a:rPr>
                        <a:t>tcebbubin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as-t-id-terri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messus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Tugi: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qerben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مرّ الوقت، وذهب الذئب إلى الدجاجة وأنشد لها أغنية الدجاج، ثم قال لها:</a:t>
                      </a:r>
                    </a:p>
                    <a:p>
                      <a:pPr indent="216000" algn="r" rtl="1"/>
                      <a:r>
                        <a:rPr lang="ar-AE" sz="1400" kern="150" dirty="0">
                          <a:effectLst/>
                          <a:latin typeface="Arial" panose="020B0604020202020204" pitchFamily="34" charset="0"/>
                          <a:cs typeface="Arial" panose="020B0604020202020204" pitchFamily="34" charset="0"/>
                        </a:rPr>
                        <a:t>— يا أختي، ما الذي يُبقيك هنا؟ حين تبيضين، يأكل الأسد بيضتك، بينما تحضن قريناتك البيض؛ وحين يفقس وتخرج الكتاكيت، تقودها أمهاتها المباركات عبر أكوام الروث والحدائق والبساتين، وكلها جميلة وتغرد. وحين يتعب الصغار من المشي ونبش الأرض والحراسة، أو يؤذيهم البرد، يجمعونهم تحت أجنحتهم ليدفأوا ويستريحوا؛ ثم يكبرون ويصيرون جميعًا دجاجات صغيرة ذات أعراف!</a:t>
                      </a:r>
                    </a:p>
                    <a:p>
                      <a:pPr indent="216000" algn="r" rtl="1"/>
                      <a:r>
                        <a:rPr lang="ar-AE" sz="1400" kern="150" dirty="0">
                          <a:effectLst/>
                          <a:latin typeface="Arial" panose="020B0604020202020204" pitchFamily="34" charset="0"/>
                          <a:cs typeface="Arial" panose="020B0604020202020204" pitchFamily="34" charset="0"/>
                        </a:rPr>
                        <a:t>¶ لم ترد الدجاجة عليه في تلك اللحظة لا بكلام حلو ولا مرّ، بل تنهدت؛ فقد زعزع ثقتها. بقيت بضعة أيام، ثم أخذت تستعيد كلام الذئب، فذهبت إلى الأسد وقالت له:</a:t>
                      </a:r>
                    </a:p>
                    <a:p>
                      <a:pPr indent="216000" algn="r" rtl="1"/>
                      <a:r>
                        <a:rPr lang="ar-AE" sz="1400" kern="150" dirty="0">
                          <a:effectLst/>
                          <a:latin typeface="Arial" panose="020B0604020202020204" pitchFamily="34" charset="0"/>
                          <a:cs typeface="Arial" panose="020B0604020202020204" pitchFamily="34" charset="0"/>
                        </a:rPr>
                        <a:t>— يا ملك الحيوانات، أذِن لي بالرحيل؛ فقد تعبت!</a:t>
                      </a:r>
                    </a:p>
                    <a:p>
                      <a:pPr indent="216000" algn="r" rtl="1"/>
                      <a:r>
                        <a:rPr lang="ar-AE" sz="1400" kern="150" dirty="0">
                          <a:effectLst/>
                          <a:latin typeface="Arial" panose="020B0604020202020204" pitchFamily="34" charset="0"/>
                          <a:cs typeface="Arial" panose="020B0604020202020204" pitchFamily="34" charset="0"/>
                        </a:rPr>
                        <a:t>حاول الأسد أن يمسك بها ويعيدها إلى الطريق القويم؛ استرضاها وهددها، لكنه لم يجد سبيلًا. رفضت، ولم تتراجع أبدًا! فضربها وحطّمها، وقال:</a:t>
                      </a:r>
                    </a:p>
                    <a:p>
                      <a:pPr indent="216000" algn="r" rtl="1"/>
                      <a:r>
                        <a:rPr lang="ar-AE" sz="1400" kern="150" dirty="0">
                          <a:effectLst/>
                          <a:latin typeface="Arial" panose="020B0604020202020204" pitchFamily="34" charset="0"/>
                          <a:cs typeface="Arial" panose="020B0604020202020204" pitchFamily="34" charset="0"/>
                        </a:rPr>
                        <a:t>— خذها يا بن يعقوب واذهب فادفنها!</a:t>
                      </a:r>
                    </a:p>
                    <a:p>
                      <a:pPr indent="216000" algn="r" rtl="1"/>
                      <a:r>
                        <a:rPr lang="ar-AE" sz="1400" kern="150" dirty="0">
                          <a:effectLst/>
                          <a:latin typeface="Arial" panose="020B0604020202020204" pitchFamily="34" charset="0"/>
                          <a:cs typeface="Arial" panose="020B0604020202020204" pitchFamily="34" charset="0"/>
                        </a:rPr>
                        <a:t>¶ أخذها الذئب والتهمها، ومسح الدم. وفرح وقال في قرارة نفسه: لقد اقتربت الأيام السعيدة!</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75524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2314067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weɣyul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والحمار</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nnuba</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a bu </a:t>
                      </a:r>
                      <a:r>
                        <a:rPr lang="fr-FR" sz="1100" kern="1200" dirty="0" err="1">
                          <a:solidFill>
                            <a:schemeClr val="tx1"/>
                          </a:solidFill>
                          <a:effectLst/>
                          <a:latin typeface="+mn-lt"/>
                          <a:ea typeface="+mn-ea"/>
                          <a:cs typeface="+mn-cs"/>
                        </a:rPr>
                        <a:t>imeẓẓuɣen</a:t>
                      </a:r>
                      <a:r>
                        <a:rPr lang="fr-FR" sz="1100" kern="1200" dirty="0">
                          <a:solidFill>
                            <a:schemeClr val="tx1"/>
                          </a:solidFill>
                          <a:effectLst/>
                          <a:latin typeface="+mn-lt"/>
                          <a:ea typeface="+mn-ea"/>
                          <a:cs typeface="+mn-cs"/>
                        </a:rPr>
                        <a:t>,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asennan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umezzir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ttejɛun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tuqqra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tacemlit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Yiwen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ttemyekmazen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tuyat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yendekwal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alili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ifat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umeslay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Yeskerker-it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i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teǧǧiḍ-aɣ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ass-agi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kfiɣ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tanṭelt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wehdum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ثم حوّل الذئب اهتمامه إلى الحمار؛ فقد جاء دوره. وقال له:</a:t>
                      </a:r>
                    </a:p>
                    <a:p>
                      <a:pPr indent="216000" algn="r" rtl="1"/>
                      <a:r>
                        <a:rPr lang="ar-AE" sz="1400" kern="150" dirty="0">
                          <a:effectLst/>
                          <a:latin typeface="Arial" panose="020B0604020202020204" pitchFamily="34" charset="0"/>
                          <a:cs typeface="Arial" panose="020B0604020202020204" pitchFamily="34" charset="0"/>
                        </a:rPr>
                        <a:t>— انظر إلى إخوتك يا طويل الأذنين، إنهم في المروج والعشب يبلغ بطونهم، وقد شبعوا من الشوك والخزامى، وسمنوا وأخذوا يرفسون، ولا يطالبهم أحد بشيء. أما أنت فتبقى هنا لتؤدي أعمال السخرة!</a:t>
                      </a:r>
                    </a:p>
                    <a:p>
                      <a:pPr indent="216000" algn="r" rtl="1"/>
                      <a:r>
                        <a:rPr lang="ar-AE" sz="1400" kern="150" dirty="0">
                          <a:effectLst/>
                          <a:latin typeface="Arial" panose="020B0604020202020204" pitchFamily="34" charset="0"/>
                          <a:cs typeface="Arial" panose="020B0604020202020204" pitchFamily="34" charset="0"/>
                        </a:rPr>
                        <a:t>¶ ما إن سمع الحمار هذه الكلمات حتى أرخى أذنيه وتنهد. وفي إحدى الليالي، قبيل الفجر، حلم أن الله وضعه في المرعى، هو وحمارًا آخر، يتبادلان حكّ كتفيهما. استيقظ فزعًا من شدة الفرح، فإذا به وحيد تمامًا؛ فصار العالم في قلبه مرًّا كالدفلى.</a:t>
                      </a:r>
                    </a:p>
                    <a:p>
                      <a:pPr indent="216000" algn="r" rtl="1"/>
                      <a:r>
                        <a:rPr lang="ar-AE" sz="1400" kern="150" dirty="0">
                          <a:effectLst/>
                          <a:latin typeface="Arial" panose="020B0604020202020204" pitchFamily="34" charset="0"/>
                          <a:cs typeface="Arial" panose="020B0604020202020204" pitchFamily="34" charset="0"/>
                        </a:rPr>
                        <a:t>¶ ذهب إلى الأسد وقال له:</a:t>
                      </a:r>
                    </a:p>
                    <a:p>
                      <a:pPr indent="216000" algn="r" rtl="1"/>
                      <a:r>
                        <a:rPr lang="ar-AE" sz="1400" kern="150" dirty="0">
                          <a:effectLst/>
                          <a:latin typeface="Arial" panose="020B0604020202020204" pitchFamily="34" charset="0"/>
                          <a:cs typeface="Arial" panose="020B0604020202020204" pitchFamily="34" charset="0"/>
                        </a:rPr>
                        <a:t>— يا ملك الحيوانات، أذِن لي بالرحيل؛ فقد تعبت!</a:t>
                      </a:r>
                    </a:p>
                    <a:p>
                      <a:pPr indent="216000" algn="r" rtl="1"/>
                      <a:r>
                        <a:rPr lang="ar-AE" sz="1400" kern="150" dirty="0">
                          <a:effectLst/>
                          <a:latin typeface="Arial" panose="020B0604020202020204" pitchFamily="34" charset="0"/>
                          <a:cs typeface="Arial" panose="020B0604020202020204" pitchFamily="34" charset="0"/>
                        </a:rPr>
                        <a:t>حاول الأسد أن يعيده إلى الطريق القويم، لكنه لم يجد سبيلًا؛ فمتى عاند الحمار انتهى الكلام. فضربه وحطّمه، ثم قال:</a:t>
                      </a:r>
                    </a:p>
                    <a:p>
                      <a:pPr indent="216000" algn="r" rtl="1"/>
                      <a:r>
                        <a:rPr lang="ar-AE" sz="1400" kern="150" dirty="0">
                          <a:effectLst/>
                          <a:latin typeface="Arial" panose="020B0604020202020204" pitchFamily="34" charset="0"/>
                          <a:cs typeface="Arial" panose="020B0604020202020204" pitchFamily="34" charset="0"/>
                        </a:rPr>
                        <a:t>— خذه يا بن يعقوب واذهب فادفنه!</a:t>
                      </a:r>
                    </a:p>
                    <a:p>
                      <a:pPr indent="216000" algn="r" rtl="1"/>
                      <a:r>
                        <a:rPr lang="ar-AE" sz="1400" kern="150" dirty="0">
                          <a:effectLst/>
                          <a:latin typeface="Arial" panose="020B0604020202020204" pitchFamily="34" charset="0"/>
                          <a:cs typeface="Arial" panose="020B0604020202020204" pitchFamily="34" charset="0"/>
                        </a:rPr>
                        <a:t>¶ جرّه الذئب حتى الوادي، واستقر هناك وأخذ يقتات منه عدة أيام.</a:t>
                      </a:r>
                    </a:p>
                    <a:p>
                      <a:pPr indent="216000" algn="r" rtl="1"/>
                      <a:r>
                        <a:rPr lang="ar-AE" sz="1400" kern="150" dirty="0">
                          <a:effectLst/>
                          <a:latin typeface="Arial" panose="020B0604020202020204" pitchFamily="34" charset="0"/>
                          <a:cs typeface="Arial" panose="020B0604020202020204" pitchFamily="34" charset="0"/>
                        </a:rPr>
                        <a:t>¶ وعندما عاد، قال له الأسد:</a:t>
                      </a:r>
                    </a:p>
                    <a:p>
                      <a:pPr indent="216000" algn="r" rtl="1"/>
                      <a:r>
                        <a:rPr lang="ar-AE" sz="1400" kern="150" dirty="0">
                          <a:effectLst/>
                          <a:latin typeface="Arial" panose="020B0604020202020204" pitchFamily="34" charset="0"/>
                          <a:cs typeface="Arial" panose="020B0604020202020204" pitchFamily="34" charset="0"/>
                        </a:rPr>
                        <a:t>— ما هذا يا امحمد؟ لقد تركتنا نموت عطشًا!</a:t>
                      </a:r>
                    </a:p>
                    <a:p>
                      <a:pPr indent="216000" algn="r" rtl="1"/>
                      <a:r>
                        <a:rPr lang="ar-AE" sz="1400" kern="150" dirty="0">
                          <a:effectLst/>
                          <a:latin typeface="Arial" panose="020B0604020202020204" pitchFamily="34" charset="0"/>
                          <a:cs typeface="Arial" panose="020B0604020202020204" pitchFamily="34" charset="0"/>
                        </a:rPr>
                        <a:t>فقد كان الذئب هو الذي يجلب الماء. فأجابه:</a:t>
                      </a:r>
                    </a:p>
                    <a:p>
                      <a:pPr indent="216000" algn="r" rtl="1"/>
                      <a:r>
                        <a:rPr lang="ar-AE" sz="1400" kern="150" dirty="0">
                          <a:effectLst/>
                          <a:latin typeface="Arial" panose="020B0604020202020204" pitchFamily="34" charset="0"/>
                          <a:cs typeface="Arial" panose="020B0604020202020204" pitchFamily="34" charset="0"/>
                        </a:rPr>
                        <a:t>— يا ملك الحيوانات، لم أنتهِ من دفن تلك الجثة إلا اليوم؛ كلما دفنت حافرًا أماميًا ظهر لي ساق خلفية، وكلما دفنت ساقًا خلفية ظهر لي حافر أمامي!</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49252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7081240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yilef</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والخنزير</a:t>
                      </a: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ẓẓaden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abelluḍ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ttfeggilen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akal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ssekfalen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abeɛɛuq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iɛemmuṛen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tagertilt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tḥesbeḍ</a:t>
                      </a:r>
                      <a:r>
                        <a:rPr lang="fr-FR" sz="1100" kern="1200" dirty="0">
                          <a:solidFill>
                            <a:schemeClr val="tx1"/>
                          </a:solidFill>
                          <a:effectLst/>
                          <a:latin typeface="+mn-lt"/>
                          <a:ea typeface="+mn-ea"/>
                          <a:cs typeface="+mn-cs"/>
                        </a:rPr>
                        <a:t> iman-ik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qareɛ</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yesseqḍaɛ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timɣilin-is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ikerres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a:t>
                      </a:r>
                      <a:r>
                        <a:rPr lang="fr-FR" sz="1100" kern="1200" dirty="0">
                          <a:solidFill>
                            <a:schemeClr val="tx1"/>
                          </a:solidFill>
                          <a:effectLst/>
                          <a:latin typeface="+mn-lt"/>
                          <a:ea typeface="+mn-ea"/>
                          <a:cs typeface="+mn-cs"/>
                        </a:rPr>
                        <a:t> iman-ik: la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بعد الحمار، حوّل الذئب اهتمامه إلى الخنزير. وقال له:</a:t>
                      </a:r>
                    </a:p>
                    <a:p>
                      <a:pPr indent="216000" algn="r" rtl="1"/>
                      <a:r>
                        <a:rPr lang="ar-AE" sz="1400" kern="150" dirty="0">
                          <a:effectLst/>
                          <a:latin typeface="Arial" panose="020B0604020202020204" pitchFamily="34" charset="0"/>
                          <a:cs typeface="Arial" panose="020B0604020202020204" pitchFamily="34" charset="0"/>
                        </a:rPr>
                        <a:t>— إخوتك، ها هم أولاء، يطحنون البلوط، ويقلبون الأرض بأنيابهم، ويستخرجون كومات من الدرنات النشوية. وحين يشبعون ينامون في أوحالهم ويشخرون، ولا يجرؤ أحد على تحديهم. أما أنت فقد صرت هنا كالحصير الذي يفرش للأسد! ومع ذلك، تظن نفسك قويًا!</a:t>
                      </a:r>
                    </a:p>
                    <a:p>
                      <a:pPr indent="216000" algn="r" rtl="1"/>
                      <a:r>
                        <a:rPr lang="ar-AE" sz="1400" kern="150" dirty="0">
                          <a:effectLst/>
                          <a:latin typeface="Arial" panose="020B0604020202020204" pitchFamily="34" charset="0"/>
                          <a:cs typeface="Arial" panose="020B0604020202020204" pitchFamily="34" charset="0"/>
                        </a:rPr>
                        <a:t>¶ اضطرب الخنزير وشخر غاضبًا في وجهه، فهرب الذئب. ثم ذهب إلى الأسد وقال له:</a:t>
                      </a:r>
                    </a:p>
                    <a:p>
                      <a:pPr indent="216000" algn="r" rtl="1"/>
                      <a:r>
                        <a:rPr lang="ar-AE" sz="1400" kern="150" dirty="0">
                          <a:effectLst/>
                          <a:latin typeface="Arial" panose="020B0604020202020204" pitchFamily="34" charset="0"/>
                          <a:cs typeface="Arial" panose="020B0604020202020204" pitchFamily="34" charset="0"/>
                        </a:rPr>
                        <a:t>— يا ملك الحيوانات، احذر على نفسك؛ فقد وجدت الخنزيريشحذ أنيابه ويحلف أن ينقضّ عليك!</a:t>
                      </a:r>
                    </a:p>
                    <a:p>
                      <a:pPr indent="216000" algn="r" rtl="1"/>
                      <a:r>
                        <a:rPr lang="ar-AE" sz="1400" kern="150" dirty="0">
                          <a:effectLst/>
                          <a:latin typeface="Arial" panose="020B0604020202020204" pitchFamily="34" charset="0"/>
                          <a:cs typeface="Arial" panose="020B0604020202020204" pitchFamily="34" charset="0"/>
                        </a:rPr>
                        <a:t>قال له الأسد:</a:t>
                      </a:r>
                    </a:p>
                    <a:p>
                      <a:pPr indent="216000" algn="r" rtl="1"/>
                      <a:r>
                        <a:rPr lang="ar-AE" sz="1400" kern="150" dirty="0">
                          <a:effectLst/>
                          <a:latin typeface="Arial" panose="020B0604020202020204" pitchFamily="34" charset="0"/>
                          <a:cs typeface="Arial" panose="020B0604020202020204" pitchFamily="34" charset="0"/>
                        </a:rPr>
                        <a:t>— كيف أعرف أنه يستعد لمهاجمتي؟</a:t>
                      </a:r>
                    </a:p>
                    <a:p>
                      <a:pPr indent="216000" algn="r" rtl="1"/>
                      <a:r>
                        <a:rPr lang="ar-AE" sz="1400" kern="150" dirty="0">
                          <a:effectLst/>
                          <a:latin typeface="Arial" panose="020B0604020202020204" pitchFamily="34" charset="0"/>
                          <a:cs typeface="Arial" panose="020B0604020202020204" pitchFamily="34" charset="0"/>
                        </a:rPr>
                        <a:t>أجابه الذئب:</a:t>
                      </a:r>
                    </a:p>
                    <a:p>
                      <a:pPr indent="216000" algn="r" rtl="1"/>
                      <a:r>
                        <a:rPr lang="ar-AE" sz="1400" kern="150" dirty="0">
                          <a:effectLst/>
                          <a:latin typeface="Arial" panose="020B0604020202020204" pitchFamily="34" charset="0"/>
                          <a:cs typeface="Arial" panose="020B0604020202020204" pitchFamily="34" charset="0"/>
                        </a:rPr>
                        <a:t>— حين ترى حاجبيه معقودين، فتهيأ! (مع أن حاجبي الخنزيرمعقودان دائمًا!)</a:t>
                      </a:r>
                    </a:p>
                    <a:p>
                      <a:pPr indent="216000" algn="r" rtl="1"/>
                      <a:r>
                        <a:rPr lang="ar-AE" sz="1400" kern="150" dirty="0">
                          <a:effectLst/>
                          <a:latin typeface="Arial" panose="020B0604020202020204" pitchFamily="34" charset="0"/>
                          <a:cs typeface="Arial" panose="020B0604020202020204" pitchFamily="34" charset="0"/>
                        </a:rPr>
                        <a:t>ثم عاد إلى الخنزيروقال له:</a:t>
                      </a:r>
                    </a:p>
                    <a:p>
                      <a:pPr indent="216000" algn="r" rtl="1"/>
                      <a:r>
                        <a:rPr lang="ar-AE" sz="1400" kern="150" dirty="0">
                          <a:effectLst/>
                          <a:latin typeface="Arial" panose="020B0604020202020204" pitchFamily="34" charset="0"/>
                          <a:cs typeface="Arial" panose="020B0604020202020204" pitchFamily="34" charset="0"/>
                        </a:rPr>
                        <a:t>— احذر على نفسك؛ فالأسد يحلف أن ينقضّ عليك!</a:t>
                      </a:r>
                    </a:p>
                    <a:p>
                      <a:pPr indent="216000" algn="r" rtl="1"/>
                      <a:r>
                        <a:rPr lang="ar-AE" sz="1400" kern="150" dirty="0">
                          <a:effectLst/>
                          <a:latin typeface="Arial" panose="020B0604020202020204" pitchFamily="34" charset="0"/>
                          <a:cs typeface="Arial" panose="020B0604020202020204" pitchFamily="34" charset="0"/>
                        </a:rPr>
                        <a:t>فسأله الخنزير:</a:t>
                      </a:r>
                    </a:p>
                    <a:p>
                      <a:pPr indent="216000" algn="r" rtl="1"/>
                      <a:r>
                        <a:rPr lang="ar-AE" sz="1400" kern="150" dirty="0">
                          <a:effectLst/>
                          <a:latin typeface="Arial" panose="020B0604020202020204" pitchFamily="34" charset="0"/>
                          <a:cs typeface="Arial" panose="020B0604020202020204" pitchFamily="34" charset="0"/>
                        </a:rPr>
                        <a:t>— كيف أعرف أنه يستعد لمهاجمتي؟</a:t>
                      </a:r>
                    </a:p>
                    <a:p>
                      <a:pPr indent="216000" algn="r" rtl="1"/>
                      <a:r>
                        <a:rPr lang="ar-AE" sz="1400" kern="150" dirty="0">
                          <a:effectLst/>
                          <a:latin typeface="Arial" panose="020B0604020202020204" pitchFamily="34" charset="0"/>
                          <a:cs typeface="Arial" panose="020B0604020202020204" pitchFamily="34" charset="0"/>
                        </a:rPr>
                        <a:t>أجابه الذئب:</a:t>
                      </a:r>
                    </a:p>
                    <a:p>
                      <a:pPr indent="216000" algn="r" rtl="1"/>
                      <a:r>
                        <a:rPr lang="ar-AE" sz="1400" kern="150" dirty="0">
                          <a:effectLst/>
                          <a:latin typeface="Arial" panose="020B0604020202020204" pitchFamily="34" charset="0"/>
                          <a:cs typeface="Arial" panose="020B0604020202020204" pitchFamily="34" charset="0"/>
                        </a:rPr>
                        <a:t>— حين ترى شاربيه يرتعشان، فتهيأ! (مع أن شاربي الأسد يرتعشان دائمًا!)</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2055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34018789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yemmuquel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Msemlalen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icexxeṛ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tiḥeddiṛt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iselx-it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igezm-it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sslayeɛ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tiremt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-d!</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عندما أقبل المساء، نظر الأسد إلى الخنزير فرأى حاجبيه معقودين؛ ونظر الخنزير إلى الأسد فوجد شاربيه يرتعشان. فتصادما بالأنياب والمخالب، أحدهما يزأر والآخر يشخر.</a:t>
                      </a:r>
                    </a:p>
                    <a:p>
                      <a:pPr indent="216000" algn="r" rtl="1"/>
                      <a:r>
                        <a:rPr lang="ar-AE" sz="1400" kern="150" dirty="0">
                          <a:effectLst/>
                          <a:latin typeface="Arial" panose="020B0604020202020204" pitchFamily="34" charset="0"/>
                          <a:cs typeface="Arial" panose="020B0604020202020204" pitchFamily="34" charset="0"/>
                        </a:rPr>
                        <a:t>¶ قفز الذئب جانبًا وهو يصيح:</a:t>
                      </a:r>
                    </a:p>
                    <a:p>
                      <a:pPr indent="216000" algn="r" rtl="1"/>
                      <a:r>
                        <a:rPr lang="ar-AE" sz="1400" kern="150" dirty="0">
                          <a:effectLst/>
                          <a:latin typeface="Arial" panose="020B0604020202020204" pitchFamily="34" charset="0"/>
                          <a:cs typeface="Arial" panose="020B0604020202020204" pitchFamily="34" charset="0"/>
                        </a:rPr>
                        <a:t>— يا لهول ما أشهده اليوم!… يا عمّي الأسد! يا عمّي الخنزير!…</a:t>
                      </a:r>
                    </a:p>
                    <a:p>
                      <a:pPr indent="216000" algn="r" rtl="1"/>
                      <a:r>
                        <a:rPr lang="ar-AE" sz="1400" kern="150" dirty="0">
                          <a:effectLst/>
                          <a:latin typeface="Arial" panose="020B0604020202020204" pitchFamily="34" charset="0"/>
                          <a:cs typeface="Arial" panose="020B0604020202020204" pitchFamily="34" charset="0"/>
                        </a:rPr>
                        <a:t>¶ ضربه الأسد فكسر ظهره. فذبحه الذئب وسلخه وقطّعه إلى أربعة أجزاء، وأكلوا منه وجبات عدة. وابتهج الذئب وقال في قرارة نفسه: لقد عادت الأيام السعيدة!</a:t>
                      </a:r>
                      <a:endParaRPr lang="en-GB" sz="1400" dirty="0">
                        <a:latin typeface="Arial" panose="020B0604020202020204" pitchFamily="34" charset="0"/>
                        <a:cs typeface="Arial" panose="020B0604020202020204" pitchFamily="34" charset="0"/>
                      </a:endParaRPr>
                    </a:p>
                    <a:p>
                      <a:pPr algn="r" rtl="1"/>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252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4758426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tfunast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والبقرة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yessinef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yejbid</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teɛṣu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tettɛici</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lḥeṛma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sumeḥɣ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zeddigen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yessemḥes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Ḥesbeɣ</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teɛṣi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a:t>
                      </a:r>
                      <a:r>
                        <a:rPr lang="fr-FR" sz="1100" kern="1200" dirty="0">
                          <a:solidFill>
                            <a:schemeClr val="tx1"/>
                          </a:solidFill>
                          <a:effectLst/>
                          <a:latin typeface="+mn-lt"/>
                          <a:ea typeface="+mn-ea"/>
                          <a:cs typeface="+mn-cs"/>
                        </a:rPr>
                        <a:t> ara ad k-</a:t>
                      </a:r>
                      <a:r>
                        <a:rPr lang="fr-FR" sz="1100" kern="1200" dirty="0" err="1">
                          <a:solidFill>
                            <a:schemeClr val="tx1"/>
                          </a:solidFill>
                          <a:effectLst/>
                          <a:latin typeface="+mn-lt"/>
                          <a:ea typeface="+mn-ea"/>
                          <a:cs typeface="+mn-cs"/>
                        </a:rPr>
                        <a:t>tɛic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llufan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tidireḍ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tellaẓeḍ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ɛṣan</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leɛhed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irreẓ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tɛiceḍ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tseggdeḍ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aksum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iyi-teḥṣel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wemɣar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lɛali-tent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tent-telsiḍ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telḥuḍ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tazzla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tazzleḍ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affug</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tafgeḍ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teṭṭilliḍ</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iseddilen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lweḥc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tettaṭṭafeḍ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tteqṣir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بقيت البقرة، وحاول الذئب أن يصرفها عن موقفها؛ لم يترك حيلة إلا لجأ إليها، ولا حكاية إلا رواها لها، لكنها رفضت أن تعصي: لن تفعل أبدًا!</a:t>
                      </a:r>
                    </a:p>
                    <a:p>
                      <a:pPr indent="216000" algn="r" rtl="1"/>
                      <a:r>
                        <a:rPr lang="ar-AE" sz="1400" kern="150" dirty="0">
                          <a:effectLst/>
                          <a:latin typeface="Arial" panose="020B0604020202020204" pitchFamily="34" charset="0"/>
                          <a:cs typeface="Arial" panose="020B0604020202020204" pitchFamily="34" charset="0"/>
                        </a:rPr>
                        <a:t>قالت له: الغابة تكفيني؛ وقد أرسى الأسد فيها الاحترام؛ وأنا أعطيه حليبي من قلب صافٍ، كالماء.</a:t>
                      </a:r>
                    </a:p>
                    <a:p>
                      <a:pPr indent="216000" algn="r" rtl="1"/>
                      <a:r>
                        <a:rPr lang="ar-AE" sz="1400" kern="150" dirty="0">
                          <a:effectLst/>
                          <a:latin typeface="Arial" panose="020B0604020202020204" pitchFamily="34" charset="0"/>
                          <a:cs typeface="Arial" panose="020B0604020202020204" pitchFamily="34" charset="0"/>
                        </a:rPr>
                        <a:t>¶ ثم ذهب الذئب إلى الأسد ووشى بالبقرة، لكن الأسد رفض الإصغاء إليه. وقال له:</a:t>
                      </a:r>
                    </a:p>
                    <a:p>
                      <a:pPr indent="216000" algn="r" rtl="1"/>
                      <a:r>
                        <a:rPr lang="ar-AE" sz="1400" kern="150" dirty="0">
                          <a:effectLst/>
                          <a:latin typeface="Arial" panose="020B0604020202020204" pitchFamily="34" charset="0"/>
                          <a:cs typeface="Arial" panose="020B0604020202020204" pitchFamily="34" charset="0"/>
                        </a:rPr>
                        <a:t>— أعدّها بمنزلة أمي؛ رحمها الله وأسكنها فسيح جناته!</a:t>
                      </a:r>
                    </a:p>
                    <a:p>
                      <a:pPr indent="216000" algn="r" rtl="1"/>
                      <a:r>
                        <a:rPr lang="ar-AE" sz="1400" kern="150" dirty="0">
                          <a:effectLst/>
                          <a:latin typeface="Arial" panose="020B0604020202020204" pitchFamily="34" charset="0"/>
                          <a:cs typeface="Arial" panose="020B0604020202020204" pitchFamily="34" charset="0"/>
                        </a:rPr>
                        <a:t>فاحتار الذئب ولزم الصمت.</a:t>
                      </a:r>
                    </a:p>
                    <a:p>
                      <a:pPr indent="216000" algn="r" rtl="1"/>
                      <a:r>
                        <a:rPr lang="ar-AE" sz="1400" kern="150" dirty="0">
                          <a:effectLst/>
                          <a:latin typeface="Arial" panose="020B0604020202020204" pitchFamily="34" charset="0"/>
                          <a:cs typeface="Arial" panose="020B0604020202020204" pitchFamily="34" charset="0"/>
                        </a:rPr>
                        <a:t>¶ مضى بعض الوقت، ثم عاد إليه وقال:</a:t>
                      </a:r>
                    </a:p>
                    <a:p>
                      <a:pPr indent="216000" algn="r" rtl="1"/>
                      <a:r>
                        <a:rPr lang="ar-AE" sz="1400" kern="150" dirty="0">
                          <a:effectLst/>
                          <a:latin typeface="Arial" panose="020B0604020202020204" pitchFamily="34" charset="0"/>
                          <a:cs typeface="Arial" panose="020B0604020202020204" pitchFamily="34" charset="0"/>
                        </a:rPr>
                        <a:t>— يا ملك الحيوانات، صحيح أن البقرة لم تعصك، لكنها لا تستطيع أن تعيلك؛ فأنت لست رضيعاً لتعيش على الحليب. ثم إنه لا يليق بملك الحيوانات أن يصير راعيًا أو أن يدعه الجوع يهلك. إن بلغ بك الجوع مبلغًا شديدًا، فأنا أقبل أن تأكلني أنا نفسي؛ فقد عصتك الحيوانات الآن وانكسر العهد، فكيف ستعيش؟ لا بد أن تصطاد، وإلا أهلكك الجوع. ليس لحم البقرة ما يغريني، بل جلدها؛ فقد أخبرني شيخ حكيم أن منه تُصنع أحذية ممتازة. وحين تنتعلها لن تمشي أو تركض فحسب، بل ستطير! وسترى الأدغال والأودية من علٍ؛ ولن يفلت منك أي حيوان، إذ ستدركه في وقت قصير، ويصبح الصيد تسلية لك.</a:t>
                      </a:r>
                      <a:endParaRPr lang="fr-FR" sz="1400" kern="15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243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8705-E0A3-858D-D3C5-8C8D84B47602}"/>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50198D9-EF4B-5BC5-6AE4-4BAC431924CD}"/>
              </a:ext>
            </a:extLst>
          </p:cNvPr>
          <p:cNvGraphicFramePr>
            <a:graphicFrameLocks noGrp="1"/>
          </p:cNvGraphicFramePr>
          <p:nvPr>
            <p:extLst>
              <p:ext uri="{D42A27DB-BD31-4B8C-83A1-F6EECF244321}">
                <p14:modId xmlns:p14="http://schemas.microsoft.com/office/powerpoint/2010/main" val="161737793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ṛṛay-iw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aksum-is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maḍil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ifeṛṛeǧ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ak-ṣenɛeɣ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selxen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وإن أخذت برأيي، فلتُذبح البقرة لتقوّي نفسك بلحمها حتى يفرّج الله عنا؛ أما جلدها فسأصنع لك منه حذاءً.</a:t>
                      </a:r>
                    </a:p>
                    <a:p>
                      <a:pPr indent="216000" algn="r" rtl="1"/>
                      <a:r>
                        <a:rPr lang="ar-AE" sz="1400" kern="150" dirty="0">
                          <a:effectLst/>
                          <a:latin typeface="Arial" panose="020B0604020202020204" pitchFamily="34" charset="0"/>
                          <a:cs typeface="Arial" panose="020B0604020202020204" pitchFamily="34" charset="0"/>
                        </a:rPr>
                        <a:t>¶ وافق الأسد على مضض؛ فذبحا البقرة وسلخاها وأكلاها قطعة قطعة، وأخفيا جلدها.</a:t>
                      </a:r>
                      <a:endParaRPr lang="fr-FR" sz="1400" kern="150" dirty="0">
                        <a:effectLst/>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01558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97020652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Ticifaḍ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الحذاء الذي صنعه الذئب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yuẓa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uɣamac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ifser-it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lɛql-is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yewǧed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isriḥen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tyigiwin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yextaṛ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-sent </a:t>
                      </a:r>
                      <a:r>
                        <a:rPr lang="fr-FR" sz="1100" kern="1200" dirty="0" err="1">
                          <a:solidFill>
                            <a:schemeClr val="tx1"/>
                          </a:solidFill>
                          <a:effectLst/>
                          <a:latin typeface="+mn-lt"/>
                          <a:ea typeface="+mn-ea"/>
                          <a:cs typeface="+mn-cs"/>
                        </a:rPr>
                        <a:t>snat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iqass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ṣebḥent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tindict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nnefda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Ixerreẓ</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agi si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tinnegnit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ṛebɛa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lhunt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ssmayem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ssewwen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iqubel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lbeɛd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حلّ الصيف واشتدّ الحر. ملّح الذئب جلد البقرة ودهنه بالزيت، ثم بسطه في الظل ليجفّ ببطء.</a:t>
                      </a:r>
                    </a:p>
                    <a:p>
                      <a:pPr indent="216000" algn="r" rtl="1"/>
                      <a:r>
                        <a:rPr lang="ar-AE" sz="1400" kern="150" dirty="0">
                          <a:effectLst/>
                          <a:latin typeface="Arial" panose="020B0604020202020204" pitchFamily="34" charset="0"/>
                          <a:cs typeface="Arial" panose="020B0604020202020204" pitchFamily="34" charset="0"/>
                        </a:rPr>
                        <a:t>¶ وحين صار الجلد جاهزًا، قطّعه إلى شرائح وأجزاء، واختار أفضل قطعتين للأسد. ألبسه إياهما وضبط مقاسهما، ثم بدأ عمله في صناعة الحذاء: مع كل غرزة، كان يغرز الإبرة في جلد البقرة ثم في جلد الأسد. وكلما اخترقت الإبرة جلده، زأر الأسد، فيقول له الذئب:</a:t>
                      </a:r>
                    </a:p>
                    <a:p>
                      <a:pPr indent="216000" algn="r" rtl="1"/>
                      <a:r>
                        <a:rPr lang="ar-AE" sz="1400" kern="150" dirty="0">
                          <a:effectLst/>
                          <a:latin typeface="Arial" panose="020B0604020202020204" pitchFamily="34" charset="0"/>
                          <a:cs typeface="Arial" panose="020B0604020202020204" pitchFamily="34" charset="0"/>
                        </a:rPr>
                        <a:t>— كلما زاد الألم، زاد النفع!</a:t>
                      </a:r>
                    </a:p>
                    <a:p>
                      <a:pPr indent="216000" algn="r" rtl="1"/>
                      <a:r>
                        <a:rPr lang="ar-AE" sz="1400" kern="150" dirty="0">
                          <a:effectLst/>
                          <a:latin typeface="Arial" panose="020B0604020202020204" pitchFamily="34" charset="0"/>
                          <a:cs typeface="Arial" panose="020B0604020202020204" pitchFamily="34" charset="0"/>
                        </a:rPr>
                        <a:t>ظل يصنع الحذاء من الصباح إلى الظهر؛ أحدهما يزأر والآخر يردد:</a:t>
                      </a:r>
                    </a:p>
                    <a:p>
                      <a:pPr indent="216000" algn="r" rtl="1"/>
                      <a:r>
                        <a:rPr lang="ar-AE" sz="1400" kern="150" dirty="0">
                          <a:effectLst/>
                          <a:latin typeface="Arial" panose="020B0604020202020204" pitchFamily="34" charset="0"/>
                          <a:cs typeface="Arial" panose="020B0604020202020204" pitchFamily="34" charset="0"/>
                        </a:rPr>
                        <a:t>— كلما زاد الألم، زاد النفع!</a:t>
                      </a:r>
                    </a:p>
                    <a:p>
                      <a:pPr indent="216000" algn="r" rtl="1"/>
                      <a:r>
                        <a:rPr lang="ar-AE" sz="1400" kern="150" dirty="0">
                          <a:effectLst/>
                          <a:latin typeface="Arial" panose="020B0604020202020204" pitchFamily="34" charset="0"/>
                          <a:cs typeface="Arial" panose="020B0604020202020204" pitchFamily="34" charset="0"/>
                        </a:rPr>
                        <a:t>¶ ثم قاده إلى ربوة فوق كهف عظيم، وأضجعه على ظهره وقال له:</a:t>
                      </a:r>
                    </a:p>
                    <a:p>
                      <a:pPr indent="216000" algn="r" rtl="1"/>
                      <a:r>
                        <a:rPr lang="ar-AE" sz="1400" kern="150" dirty="0">
                          <a:effectLst/>
                          <a:latin typeface="Arial" panose="020B0604020202020204" pitchFamily="34" charset="0"/>
                          <a:cs typeface="Arial" panose="020B0604020202020204" pitchFamily="34" charset="0"/>
                        </a:rPr>
                        <a:t>— وجّه قوائمك الأربع نحو الشمس؛ فلن يجهز الحذاء حتى يجف.</a:t>
                      </a:r>
                    </a:p>
                    <a:p>
                      <a:pPr indent="216000" algn="r" rtl="1"/>
                      <a:r>
                        <a:rPr lang="ar-AE" sz="1400" kern="150" dirty="0">
                          <a:effectLst/>
                          <a:latin typeface="Arial" panose="020B0604020202020204" pitchFamily="34" charset="0"/>
                          <a:cs typeface="Arial" panose="020B0604020202020204" pitchFamily="34" charset="0"/>
                        </a:rPr>
                        <a:t>¶ ظل الأسد هناك تحت شمس منتصف الصيف حتى هبّ نسيم ما بعد الظهيرة؛ فكانت قوائمه تحترق، وجفّ الجلد وانكمش عليها. وعانى ألمًا مبرحًا. وقف الذئب بعيدًا عنه يراقبه من الظل. وحين اشتدّ النسيم ناداه قائلًا: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759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1166191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teẓreḍ</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wefṛux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qerru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addud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tmeddit</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lferg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usekkur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tsekkrin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Ɛahed-aɣ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aɣ-teččiḍ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nsellek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Iɛahed-itent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ttawint</a:t>
                      </a:r>
                      <a:r>
                        <a:rPr lang="fr-FR" sz="1100" kern="1200" dirty="0">
                          <a:solidFill>
                            <a:schemeClr val="tx1"/>
                          </a:solidFill>
                          <a:effectLst/>
                          <a:latin typeface="+mn-lt"/>
                          <a:ea typeface="+mn-ea"/>
                          <a:cs typeface="+mn-cs"/>
                        </a:rPr>
                        <a:t> aman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qubab-nsent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slexsent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yerḍeb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xesfent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lexyuḍ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leḥṛaṛa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tsekkurt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yessebleɛ-itt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tufeg</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yexdim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wurrif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اقفز الآن! سترى إن كنت لن تطير كالطائر في السماء!</a:t>
                      </a:r>
                    </a:p>
                    <a:p>
                      <a:pPr indent="216000" algn="r" rtl="1"/>
                      <a:r>
                        <a:rPr lang="ar-AE" sz="1400" kern="150" dirty="0">
                          <a:effectLst/>
                          <a:latin typeface="Arial" panose="020B0604020202020204" pitchFamily="34" charset="0"/>
                          <a:cs typeface="Arial" panose="020B0604020202020204" pitchFamily="34" charset="0"/>
                        </a:rPr>
                        <a:t>¶ قفز الأسد نحو الجرف وتدحرج على رأسه حتى قاع الوادي؛ فتحطّم جسده تمامًا ولم يعد قادرًا حتى على الوقوف. كان الذئب قد نصب له هذا الفخ ليقتله ويأكله هو أيضًا، لكنه هرب حين رآه ينجو.</a:t>
                      </a:r>
                    </a:p>
                    <a:p>
                      <a:pPr indent="216000" algn="r" rtl="1"/>
                      <a:r>
                        <a:rPr lang="ar-AE" sz="1400" kern="150" dirty="0">
                          <a:effectLst/>
                          <a:latin typeface="Arial" panose="020B0604020202020204" pitchFamily="34" charset="0"/>
                          <a:cs typeface="Arial" panose="020B0604020202020204" pitchFamily="34" charset="0"/>
                        </a:rPr>
                        <a:t>¶ وقبيل المساء، صعد سرب من الحجل إلى الوادي، فوجد الأسد في حالة يرثى لها.</a:t>
                      </a:r>
                    </a:p>
                    <a:p>
                      <a:pPr indent="216000" algn="r" rtl="1"/>
                      <a:r>
                        <a:rPr lang="ar-AE" sz="1400" kern="150" dirty="0">
                          <a:effectLst/>
                          <a:latin typeface="Arial" panose="020B0604020202020204" pitchFamily="34" charset="0"/>
                          <a:cs typeface="Arial" panose="020B0604020202020204" pitchFamily="34" charset="0"/>
                        </a:rPr>
                        <a:t>قالت له طيور الحجل:</a:t>
                      </a:r>
                    </a:p>
                    <a:p>
                      <a:pPr indent="216000" algn="r" rtl="1"/>
                      <a:r>
                        <a:rPr lang="ar-AE" sz="1400" kern="150" dirty="0">
                          <a:effectLst/>
                          <a:latin typeface="Arial" panose="020B0604020202020204" pitchFamily="34" charset="0"/>
                          <a:cs typeface="Arial" panose="020B0604020202020204" pitchFamily="34" charset="0"/>
                        </a:rPr>
                        <a:t>— أقسم لنا بالله أنك لن تأكلنا، وسننقذك!</a:t>
                      </a:r>
                    </a:p>
                    <a:p>
                      <a:pPr indent="216000" algn="r" rtl="1"/>
                      <a:r>
                        <a:rPr lang="ar-AE" sz="1400" kern="150" dirty="0">
                          <a:effectLst/>
                          <a:latin typeface="Arial" panose="020B0604020202020204" pitchFamily="34" charset="0"/>
                          <a:cs typeface="Arial" panose="020B0604020202020204" pitchFamily="34" charset="0"/>
                        </a:rPr>
                        <a:t>¶ أبرم معها عهدًا. وبدأت الطيور تحمل الماء في مناقيرها، وتبلل الحذاء حتى يلين الجلد؛ ثم قطعت الخيوط فسقط الحذاء. وكان الأسد جائعًا جوعًا شديدًا، فانقضّ على إحدى طيور الحجل وابتلعها كاملة؛ فنكث عهده مع الله. لكنه حين فتح فاه طارت الطريدة من بطنه حية!</a:t>
                      </a:r>
                    </a:p>
                    <a:p>
                      <a:pPr indent="216000" algn="r" rtl="1"/>
                      <a:r>
                        <a:rPr lang="ar-AE" sz="1400" kern="150" dirty="0">
                          <a:effectLst/>
                          <a:latin typeface="Arial" panose="020B0604020202020204" pitchFamily="34" charset="0"/>
                          <a:cs typeface="Arial" panose="020B0604020202020204" pitchFamily="34" charset="0"/>
                        </a:rPr>
                        <a:t>¶ نهض الأسد وعاد إلى كهفه يئنّ، ثم اضطجع فيه؛ ولم يكن ألم إصاباته أشدّ عليه من ألم الغيظ.</a:t>
                      </a:r>
                      <a:endParaRPr lang="fr-FR" sz="1400" kern="150" dirty="0">
                        <a:effectLst/>
                        <a:latin typeface="Arial" panose="020B0604020202020204" pitchFamily="34" charset="0"/>
                        <a:cs typeface="Arial" panose="020B0604020202020204" pitchFamily="34" charset="0"/>
                      </a:endParaRPr>
                    </a:p>
                    <a:p>
                      <a:pPr algn="r" rtl="1"/>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7005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9495157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Ttaṛ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انتقام الأسد</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Yeḥbes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ibezgen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ṭṭreḍqen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arṣeḍ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tawla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yettaɣen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yesmekti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lexdiɛa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ccwi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yuman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yessemlal-iten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trigla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tusa</a:t>
                      </a:r>
                      <a:r>
                        <a:rPr lang="fr-FR" sz="1100" kern="1200" dirty="0">
                          <a:solidFill>
                            <a:schemeClr val="tx1"/>
                          </a:solidFill>
                          <a:effectLst/>
                          <a:latin typeface="+mn-lt"/>
                          <a:ea typeface="+mn-ea"/>
                          <a:cs typeface="+mn-cs"/>
                        </a:rPr>
                        <a:t>-d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falku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izgel-it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a:t>
                      </a:r>
                      <a:r>
                        <a:rPr lang="fr-FR" sz="1100" kern="1200" dirty="0">
                          <a:solidFill>
                            <a:schemeClr val="tx1"/>
                          </a:solidFill>
                          <a:effectLst/>
                          <a:latin typeface="+mn-lt"/>
                          <a:ea typeface="+mn-ea"/>
                          <a:cs typeface="+mn-cs"/>
                        </a:rPr>
                        <a:t>-as kan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cṭir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lxaffa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wemcic</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nnug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ifadden-is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Yesxenzer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wuglan-is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ineẓ</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gma</a:t>
                      </a:r>
                      <a:r>
                        <a:rPr lang="fr-FR" sz="1100" kern="1200">
                          <a:solidFill>
                            <a:schemeClr val="tx1"/>
                          </a:solidFill>
                          <a:effectLst/>
                          <a:latin typeface="+mn-lt"/>
                          <a:ea typeface="+mn-ea"/>
                          <a:cs typeface="+mn-cs"/>
                        </a:rPr>
                        <a:t>-s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cfu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imeslayen-iw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zegleɣ</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temneɛḍ-iyi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ɛllmeɣ</a:t>
                      </a:r>
                      <a:r>
                        <a:rPr lang="fr-FR" sz="1100" kern="1200" dirty="0">
                          <a:solidFill>
                            <a:schemeClr val="tx1"/>
                          </a:solidFill>
                          <a:effectLst/>
                          <a:latin typeface="+mn-lt"/>
                          <a:ea typeface="+mn-ea"/>
                          <a:cs typeface="+mn-cs"/>
                        </a:rPr>
                        <a:t>-k: anda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watma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rẓeɣ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tettnejbaṛeḍ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مكث الأسد في كهفه أيامًا طويلة؛ فتورّمت قوائمه وتقيّحت، وأوهنته الحمى التي أصابته بسببها حتى عجز عن الحركة.</a:t>
                      </a:r>
                    </a:p>
                    <a:p>
                      <a:pPr indent="216000" algn="r" rtl="1"/>
                      <a:r>
                        <a:rPr lang="ar-AE" sz="1400" kern="150" dirty="0">
                          <a:effectLst/>
                          <a:latin typeface="Arial" panose="020B0604020202020204" pitchFamily="34" charset="0"/>
                          <a:cs typeface="Arial" panose="020B0604020202020204" pitchFamily="34" charset="0"/>
                        </a:rPr>
                        <a:t>¶ وكلما تذكّر ضحكة الذئب التي سخر بها منه وخيانته له، زأر كالسحابة الرعدية.</a:t>
                      </a:r>
                    </a:p>
                    <a:p>
                      <a:pPr indent="216000" algn="r" rtl="1"/>
                      <a:r>
                        <a:rPr lang="ar-AE" sz="1400" kern="150" dirty="0">
                          <a:effectLst/>
                          <a:latin typeface="Arial" panose="020B0604020202020204" pitchFamily="34" charset="0"/>
                          <a:cs typeface="Arial" panose="020B0604020202020204" pitchFamily="34" charset="0"/>
                        </a:rPr>
                        <a:t>¶ وحين شعر بتحسن طفيف، نهض وخرج يبحث عن الذئب لينتقم منه. قلب الدنيا رأسًا على عقب وفتّش في كل مكان، لكنه لم يجده. وفي يوم من الأيام، جمعهما الله في مكان تحيط به من الجانبين جدران صخرية مستقيمة كالفخ. وانتهى العالم بالنسبة إلى الذئب؛ فقد رأى الموت ماثلًا أمامه: لقد وصل صاحب الحق!</a:t>
                      </a:r>
                    </a:p>
                    <a:p>
                      <a:pPr indent="216000" algn="r" rtl="1"/>
                      <a:r>
                        <a:rPr lang="ar-AE" sz="1400" kern="150" dirty="0">
                          <a:effectLst/>
                          <a:latin typeface="Arial" panose="020B0604020202020204" pitchFamily="34" charset="0"/>
                          <a:cs typeface="Arial" panose="020B0604020202020204" pitchFamily="34" charset="0"/>
                        </a:rPr>
                        <a:t>¶ انقضّ عليه الأسد كالصقر، لكنه أخطأه ولم يقطع سوى ذيله! كان الذئب داهية، وزاده الخوف سرعة؛ فتسلق الصخرة كقط يتسلق جدارًا. ووصل إلى مأمن بعيد المنال، وجلس هناك؛ فتصلبت أطرافه وأخذ يرتجف كالورقة.</a:t>
                      </a:r>
                    </a:p>
                    <a:p>
                      <a:pPr indent="216000" algn="r" rtl="1"/>
                      <a:r>
                        <a:rPr lang="ar-AE" sz="1400" kern="150" dirty="0">
                          <a:effectLst/>
                          <a:latin typeface="Arial" panose="020B0604020202020204" pitchFamily="34" charset="0"/>
                          <a:cs typeface="Arial" panose="020B0604020202020204" pitchFamily="34" charset="0"/>
                        </a:rPr>
                        <a:t>¶ مزّق الأسد ذيل الذئب بأنيابه ومخالبه حتى قطّعه تمامًا، ثم استدار وقال له:</a:t>
                      </a:r>
                    </a:p>
                    <a:p>
                      <a:pPr indent="216000" algn="r" rtl="1"/>
                      <a:r>
                        <a:rPr lang="ar-AE" sz="1400" kern="150" dirty="0">
                          <a:effectLst/>
                          <a:latin typeface="Arial" panose="020B0604020202020204" pitchFamily="34" charset="0"/>
                          <a:cs typeface="Arial" panose="020B0604020202020204" pitchFamily="34" charset="0"/>
                        </a:rPr>
                        <a:t>— يا امحمد، أيها الخائن، تذكّر كلامي؛ لقد جلبت الهلاك على نفسك! أخطأتك هذه المرة فنجوت مني، لكني أحذّرك: أينما كنت، سأعرفك بين إخوتك. ولو لم يبقَ من الدنيا إلا يوم واحد، فسأقبض عليك وأحطم عمودك الفقري حتى لا يُجبر أبدًا؛ سآكل دماغك وأشرب دمك!</a:t>
                      </a:r>
                    </a:p>
                    <a:p>
                      <a:pPr indent="216000" algn="r" rtl="1"/>
                      <a:r>
                        <a:rPr lang="ar-AE" sz="1400" kern="150" dirty="0">
                          <a:effectLst/>
                          <a:latin typeface="Arial" panose="020B0604020202020204" pitchFamily="34" charset="0"/>
                          <a:cs typeface="Arial" panose="020B0604020202020204" pitchFamily="34" charset="0"/>
                        </a:rPr>
                        <a:t>¶ ومنذ ذلك الحين، مضى كل واحد منهما في طريقه.</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3318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65704060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Tameɣrust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ḥdeṛ</a:t>
                      </a:r>
                      <a:r>
                        <a:rPr lang="fr-FR" sz="1200" b="1" kern="150" dirty="0">
                          <a:effectLst/>
                          <a:latin typeface="Cascadia Mono" panose="020B0609020000020004" pitchFamily="49" charset="0"/>
                          <a:cs typeface="Cascadia Mono" panose="020B0609020000020004" pitchFamily="49" charset="0"/>
                        </a:rPr>
                        <a:t> </a:t>
                      </a:r>
                      <a:r>
                        <a:rPr lang="fr-FR" sz="1200" b="1" kern="150" dirty="0" err="1">
                          <a:effectLst/>
                          <a:latin typeface="Cascadia Mono" panose="020B0609020000020004" pitchFamily="49" charset="0"/>
                          <a:cs typeface="Cascadia Mono" panose="020B0609020000020004" pitchFamily="49" charset="0"/>
                        </a:rPr>
                        <a:t>bbwa</a:t>
                      </a:r>
                      <a:r>
                        <a:rPr lang="fr-FR" sz="1200" b="1" kern="150" dirty="0">
                          <a:effectLst/>
                          <a:latin typeface="Cascadia Mono" panose="020B0609020000020004" pitchFamily="49" charset="0"/>
                          <a:cs typeface="Cascadia Mono" panose="020B0609020000020004" pitchFamily="49" charset="0"/>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شجرة التين «احذر منها!»</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ttexmim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uḥebbeṛ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asɣar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tniri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fkan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iferrawen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ṣeggmen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ifurkawen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taneqlett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tbexsisin</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ileqqaqen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lweqt-nsen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tɛeǧǧben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Belɛejjuḍ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taleqqaqt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ttnaɣen</a:t>
                      </a:r>
                      <a:r>
                        <a:rPr lang="fr-FR" sz="1100" kern="1200" dirty="0">
                          <a:solidFill>
                            <a:schemeClr val="tx1"/>
                          </a:solidFill>
                          <a:effectLst/>
                          <a:latin typeface="+mn-lt"/>
                          <a:ea typeface="+mn-ea"/>
                          <a:cs typeface="+mn-cs"/>
                        </a:rPr>
                        <a:t>. Yenna-yasen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d </a:t>
                      </a:r>
                      <a:r>
                        <a:rPr lang="fr-FR" sz="1100" kern="1200" dirty="0" err="1">
                          <a:solidFill>
                            <a:schemeClr val="tx1"/>
                          </a:solidFill>
                          <a:effectLst/>
                          <a:latin typeface="+mn-lt"/>
                          <a:ea typeface="+mn-ea"/>
                          <a:cs typeface="+mn-cs"/>
                        </a:rPr>
                        <a:t>leqbiḥ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yecmet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leqniɛa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منذ اليوم الذي قُطع فيه ذيله، لم يعرف الذئب الراحة؛ فقد استولى عليه القلق والهم. ولما عجز عن معرفة ما ينبغي له فعله، ذهب يستشير شيخًا طاعنًا في السن. فأعطاه الشيخ غصنًا جافًا من شجرة تين، ونصحه بما عليه أن يفعل.</a:t>
                      </a:r>
                    </a:p>
                    <a:p>
                      <a:pPr indent="216000" algn="r" rtl="1"/>
                      <a:r>
                        <a:rPr lang="ar-AE" sz="1400" kern="150" dirty="0">
                          <a:effectLst/>
                          <a:latin typeface="Arial" panose="020B0604020202020204" pitchFamily="34" charset="0"/>
                          <a:cs typeface="Arial" panose="020B0604020202020204" pitchFamily="34" charset="0"/>
                        </a:rPr>
                        <a:t>¶ أخذ الذئب الغصن وغرسه في السهل الصحراوي. وفي لحظة اخضرّ، وتفتحت براعمه، وأورق، وامتدت أغصانه، وصار شجرة تين فتية. ثم نضج التين، واختمرت الثمار الباكورة، وأخذت الثمار الطرية الحلوة تتساقط قبل أوانها.</a:t>
                      </a:r>
                    </a:p>
                    <a:p>
                      <a:pPr indent="216000" algn="r" rtl="1"/>
                      <a:r>
                        <a:rPr lang="ar-AE" sz="1400" kern="150" dirty="0">
                          <a:effectLst/>
                          <a:latin typeface="Arial" panose="020B0604020202020204" pitchFamily="34" charset="0"/>
                          <a:cs typeface="Arial" panose="020B0604020202020204" pitchFamily="34" charset="0"/>
                        </a:rPr>
                        <a:t>¶ على الفور، نادى الذئب إخوته؛ فجاؤوا جميعًا وأُعجبوا: لقد نضجت شجرة التين العجيبة! وأخذوا يأكلون ثمارها الطرية ويتدافعون. فقال لهم امحمد:</a:t>
                      </a:r>
                    </a:p>
                    <a:p>
                      <a:pPr indent="216000" algn="r" rtl="1"/>
                      <a:r>
                        <a:rPr lang="ar-AE" sz="1400" kern="150" dirty="0">
                          <a:effectLst/>
                          <a:latin typeface="Arial" panose="020B0604020202020204" pitchFamily="34" charset="0"/>
                          <a:cs typeface="Arial" panose="020B0604020202020204" pitchFamily="34" charset="0"/>
                        </a:rPr>
                        <a:t>— يا إخوتي، هذا التصرف شرير وقبيح!</a:t>
                      </a:r>
                    </a:p>
                    <a:p>
                      <a:pPr indent="216000" algn="r" rtl="1"/>
                      <a:r>
                        <a:rPr lang="ar-AE" sz="1400" kern="150" dirty="0">
                          <a:effectLst/>
                          <a:latin typeface="Arial" panose="020B0604020202020204" pitchFamily="34" charset="0"/>
                          <a:cs typeface="Arial" panose="020B0604020202020204" pitchFamily="34" charset="0"/>
                        </a:rPr>
                        <a:t>¶ ثم ربط ذيولهم جميعًا بحبل إلى جذع شجرة التين، لكي يسود الرضا في قلوبهم وينال كل واحد نصيبه العادل. وبعدها هزّ الشجرة، فتساقط التين على الأرض كالغبار.</a:t>
                      </a:r>
                      <a:endParaRPr lang="fr-FR" sz="1400" kern="15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6061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CF9D-4404-3A9E-8387-1CA986033D78}"/>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2F193F3-D890-5D17-287E-8B53139EEDD7}"/>
              </a:ext>
            </a:extLst>
          </p:cNvPr>
          <p:cNvGraphicFramePr>
            <a:graphicFrameLocks noGrp="1"/>
          </p:cNvGraphicFramePr>
          <p:nvPr>
            <p:extLst>
              <p:ext uri="{D42A27DB-BD31-4B8C-83A1-F6EECF244321}">
                <p14:modId xmlns:p14="http://schemas.microsoft.com/office/powerpoint/2010/main" val="68996723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tirni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tqureb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cceɣl-nsen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Imnayen</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Mxeṛwaɛen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jebden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ijeḥnaḍ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أخذت الذئاب تأكل، كلٌّ في صفه، بينما وقف الذئب يراقبها من تلة قريبة.</a:t>
                      </a:r>
                    </a:p>
                    <a:p>
                      <a:pPr indent="216000" algn="r" rtl="1"/>
                      <a:r>
                        <a:rPr lang="ar-AE" sz="1400" kern="150" dirty="0">
                          <a:effectLst/>
                          <a:latin typeface="Arial" panose="020B0604020202020204" pitchFamily="34" charset="0"/>
                          <a:cs typeface="Arial" panose="020B0604020202020204" pitchFamily="34" charset="0"/>
                        </a:rPr>
                        <a:t>¶ وما إن رآهم منشغلين تمامًا وشعر بالأمان، حتى أخذ يضرب ويصيح:</a:t>
                      </a:r>
                    </a:p>
                    <a:p>
                      <a:pPr indent="216000" algn="r" rtl="1"/>
                      <a:r>
                        <a:rPr lang="ar-AE" sz="1400" kern="150" dirty="0">
                          <a:effectLst/>
                          <a:latin typeface="Arial" panose="020B0604020202020204" pitchFamily="34" charset="0"/>
                          <a:cs typeface="Arial" panose="020B0604020202020204" pitchFamily="34" charset="0"/>
                        </a:rPr>
                        <a:t>—</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السَلَالِيق! الفرسان! يا بن يعقوب، ها هم أولاء!</a:t>
                      </a:r>
                    </a:p>
                    <a:p>
                      <a:pPr indent="216000" algn="r" rtl="1"/>
                      <a:r>
                        <a:rPr lang="ar-AE" sz="1400" kern="150" dirty="0">
                          <a:effectLst/>
                          <a:latin typeface="Arial" panose="020B0604020202020204" pitchFamily="34" charset="0"/>
                          <a:cs typeface="Arial" panose="020B0604020202020204" pitchFamily="34" charset="0"/>
                        </a:rPr>
                        <a:t>فزعت الذئاب وشدّت بكل قوتها ثم فرت، وسلكت كل واحدة منها الطريق الذي انفتح أمامها، تاركة ذيولها كلها مربوطة بالحبل.</a:t>
                      </a:r>
                    </a:p>
                    <a:p>
                      <a:pPr indent="216000" algn="r" rtl="1"/>
                      <a:r>
                        <a:rPr lang="ar-AE" sz="1400" kern="150" dirty="0">
                          <a:effectLst/>
                          <a:latin typeface="Arial" panose="020B0604020202020204" pitchFamily="34" charset="0"/>
                          <a:cs typeface="Arial" panose="020B0604020202020204" pitchFamily="34" charset="0"/>
                        </a:rPr>
                        <a:t>¶ ابتهج امحمد؛ فقد حقق ما أراد. والآن لم يعد لأي ذئب ذيل، فلم يعد بوسع الأسد أن يميّزه بينها!</a:t>
                      </a:r>
                      <a:endParaRPr lang="fr-FR" sz="1400" kern="150" dirty="0">
                        <a:effectLst/>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62661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566463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Tibḥrt n lebṣel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حديقة البصل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iṣegged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yessegra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aɛdaw-is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ḥdeṛ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bbawa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isserreḥ</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yennan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taɣzut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iketteṛ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urḍan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yettɣimi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tabellust</a:t>
                      </a:r>
                      <a:r>
                        <a:rPr lang="fr-FR" sz="1100" kern="1200">
                          <a:solidFill>
                            <a:schemeClr val="tx1"/>
                          </a:solidFill>
                          <a:effectLst/>
                          <a:latin typeface="+mn-lt"/>
                          <a:ea typeface="+mn-ea"/>
                          <a:cs typeface="+mn-cs"/>
                        </a:rPr>
                        <a:t>. Yenna-yasen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خرج الأسد للصيد ذات يوم، فالتقى ذئبًا مقطوع الذيل. فضربه وحطّمه وأكل دماغه ولعق دمه؛ فقد ظن أنه قتل عدوه. وفي اليوم التالي، التقى ذئبًا آخر مقطوع الذيل أيضًا.</a:t>
                      </a:r>
                    </a:p>
                    <a:p>
                      <a:pPr indent="216000" algn="r" rtl="1"/>
                      <a:r>
                        <a:rPr lang="ar-AE" sz="1400" kern="150" dirty="0">
                          <a:effectLst/>
                          <a:latin typeface="Arial" panose="020B0604020202020204" pitchFamily="34" charset="0"/>
                          <a:cs typeface="Arial" panose="020B0604020202020204" pitchFamily="34" charset="0"/>
                        </a:rPr>
                        <a:t>¶ دهش الأسد، فأمسك به واستجوبه، فروى له الذئب حكاية شجرة التين «احذر منها!»؛ فأطلق الأسد سراحه ومضى الذئب في طريقه.</a:t>
                      </a:r>
                    </a:p>
                    <a:p>
                      <a:pPr indent="216000" algn="r" rtl="1"/>
                      <a:r>
                        <a:rPr lang="ar-AE" sz="1400" kern="150" dirty="0">
                          <a:effectLst/>
                          <a:latin typeface="Arial" panose="020B0604020202020204" pitchFamily="34" charset="0"/>
                          <a:cs typeface="Arial" panose="020B0604020202020204" pitchFamily="34" charset="0"/>
                        </a:rPr>
                        <a:t>¶ ولما احتار الأسد وعجز عن معرفة ما ينبغي فعله، ذهب يستشير الشيخ الطاعن في السن ويطلب نصيحته. فقال له الشيخ:</a:t>
                      </a:r>
                    </a:p>
                    <a:p>
                      <a:pPr indent="216000" algn="r" rtl="1"/>
                      <a:r>
                        <a:rPr lang="ar-AE" sz="1400" kern="150" dirty="0">
                          <a:effectLst/>
                          <a:latin typeface="Arial" panose="020B0604020202020204" pitchFamily="34" charset="0"/>
                          <a:cs typeface="Arial" panose="020B0604020202020204" pitchFamily="34" charset="0"/>
                        </a:rPr>
                        <a:t>— اذهب وأنشئ حديقة من البصل شديد اللذع، واجمع فيها الذئاب كلها لتأكل منه. فمن يقل: «ح </a:t>
                      </a:r>
                      <a:r>
                        <a:rPr lang="ar-AE" sz="1400" kern="150">
                          <a:effectLst/>
                          <a:latin typeface="Arial" panose="020B0604020202020204" pitchFamily="34" charset="0"/>
                          <a:cs typeface="Arial" panose="020B0604020202020204" pitchFamily="34" charset="0"/>
                        </a:rPr>
                        <a:t>ح ح!» </a:t>
                      </a:r>
                      <a:r>
                        <a:rPr lang="ar-AE" sz="1400" kern="150" dirty="0">
                          <a:effectLst/>
                          <a:latin typeface="Arial" panose="020B0604020202020204" pitchFamily="34" charset="0"/>
                          <a:cs typeface="Arial" panose="020B0604020202020204" pitchFamily="34" charset="0"/>
                        </a:rPr>
                        <a:t>فهو عدوك!</a:t>
                      </a:r>
                    </a:p>
                    <a:p>
                      <a:pPr indent="216000" algn="r" rtl="1"/>
                      <a:r>
                        <a:rPr lang="ar-AE" sz="1400" kern="150" dirty="0">
                          <a:effectLst/>
                          <a:latin typeface="Arial" panose="020B0604020202020204" pitchFamily="34" charset="0"/>
                          <a:cs typeface="Arial" panose="020B0604020202020204" pitchFamily="34" charset="0"/>
                        </a:rPr>
                        <a:t>¶ ذهب الأسد وحرث بمخالبه واديًا خصيبًا بأكمله، وزرعه بالبصل وأغرقه بالماء. ولم يمض وقت طويل حتى اخضرّت الحديقة كالبحر. ثم نادى الذئاب فجاءت كلها، وأجبرها على أكل البصل كله، حتى لا تبقى ورقة ولا بصلة. وقال لها:</a:t>
                      </a:r>
                      <a:endParaRPr lang="fr-FR" sz="1100" kern="150" dirty="0">
                        <a:effectLst/>
                        <a:latin typeface="Cascadia Mono" panose="020B0609020000020004" pitchFamily="49" charset="0"/>
                        <a:cs typeface="Cascadia Mono" panose="020B0609020000020004" pitchFamily="49"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6702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27378854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Win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ɛeddren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yetḥeṛma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Niɣ</a:t>
                      </a:r>
                      <a:r>
                        <a:rPr lang="fr-FR" sz="1100" kern="1200" dirty="0">
                          <a:solidFill>
                            <a:schemeClr val="tx1"/>
                          </a:solidFill>
                          <a:effectLst/>
                          <a:latin typeface="+mn-lt"/>
                          <a:ea typeface="+mn-ea"/>
                          <a:cs typeface="+mn-cs"/>
                        </a:rPr>
                        <a:t>, a sidi, </a:t>
                      </a:r>
                      <a:r>
                        <a:rPr lang="fr-FR" sz="1100" kern="1200" dirty="0" err="1">
                          <a:solidFill>
                            <a:schemeClr val="tx1"/>
                          </a:solidFill>
                          <a:effectLst/>
                          <a:latin typeface="+mn-lt"/>
                          <a:ea typeface="+mn-ea"/>
                          <a:cs typeface="+mn-cs"/>
                        </a:rPr>
                        <a:t>tenniḍ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yenṭeq</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ɣur-wat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tettum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as-</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tbellust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ara.</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من يقل: «ح ح ح!» فسآكله، الصحة والصلاح، القوة والباحة!</a:t>
                      </a:r>
                    </a:p>
                    <a:p>
                      <a:pPr indent="216000" algn="r" rtl="1"/>
                      <a:r>
                        <a:rPr lang="ar-AE" sz="1400" kern="150" dirty="0">
                          <a:effectLst/>
                          <a:latin typeface="Arial" panose="020B0604020202020204" pitchFamily="34" charset="0"/>
                          <a:cs typeface="Arial" panose="020B0604020202020204" pitchFamily="34" charset="0"/>
                        </a:rPr>
                        <a:t>¶ أخذت الذئاب تقضم البصل؛ ولم يقل أحد منها «ح ح ح!»… سوى عدو الأسد. لكنه كان داهية؛ فكلما أكل قليلًا وقال له ليريح فمه المحترق:</a:t>
                      </a:r>
                    </a:p>
                    <a:p>
                      <a:pPr indent="216000" algn="r" rtl="1"/>
                      <a:r>
                        <a:rPr lang="ar-AE" sz="1400" kern="150" dirty="0">
                          <a:effectLst/>
                          <a:latin typeface="Arial" panose="020B0604020202020204" pitchFamily="34" charset="0"/>
                          <a:cs typeface="Arial" panose="020B0604020202020204" pitchFamily="34" charset="0"/>
                        </a:rPr>
                        <a:t>— أليس هذا ما قلته يا سيدي: إنك ستأكل من يقول «ح ح ح!»، ستأكله، الصحححة والصلاححح، القوة والباحححة!</a:t>
                      </a:r>
                    </a:p>
                    <a:p>
                      <a:pPr indent="216000" algn="r" rtl="1"/>
                      <a:r>
                        <a:rPr lang="ar-AE" sz="1400" kern="150" dirty="0">
                          <a:effectLst/>
                          <a:latin typeface="Arial" panose="020B0604020202020204" pitchFamily="34" charset="0"/>
                          <a:cs typeface="Arial" panose="020B0604020202020204" pitchFamily="34" charset="0"/>
                        </a:rPr>
                        <a:t>أجابه الأسد:</a:t>
                      </a:r>
                    </a:p>
                    <a:p>
                      <a:pPr indent="216000" algn="r" rtl="1"/>
                      <a:r>
                        <a:rPr lang="ar-AE" sz="1400" kern="150" dirty="0">
                          <a:effectLst/>
                          <a:latin typeface="Arial" panose="020B0604020202020204" pitchFamily="34" charset="0"/>
                          <a:cs typeface="Arial" panose="020B0604020202020204" pitchFamily="34" charset="0"/>
                        </a:rPr>
                        <a:t>— تماماً!</a:t>
                      </a:r>
                    </a:p>
                    <a:p>
                      <a:pPr indent="216000" algn="r" rtl="1"/>
                      <a:r>
                        <a:rPr lang="ar-AE" sz="1400" kern="150" dirty="0">
                          <a:effectLst/>
                          <a:latin typeface="Arial" panose="020B0604020202020204" pitchFamily="34" charset="0"/>
                          <a:cs typeface="Arial" panose="020B0604020202020204" pitchFamily="34" charset="0"/>
                        </a:rPr>
                        <a:t>ثم التفت الذئب إلى بقية الذئاب، وبعد أن قضم قليلًا آخر قال لها:</a:t>
                      </a:r>
                    </a:p>
                    <a:p>
                      <a:pPr indent="216000" algn="r" rtl="1"/>
                      <a:r>
                        <a:rPr lang="ar-AE" sz="1400" kern="150" dirty="0">
                          <a:effectLst/>
                          <a:latin typeface="Arial" panose="020B0604020202020204" pitchFamily="34" charset="0"/>
                          <a:cs typeface="Arial" panose="020B0604020202020204" pitchFamily="34" charset="0"/>
                        </a:rPr>
                        <a:t>— أسمعتم يا إخوتي؟ لقد حذّركم ملك الحيوانات، فلا تنسوا: من يقل «ح ح ح!» سيأكله، الصحححة والصلاححح، القوة والباحححة!</a:t>
                      </a:r>
                      <a:endParaRPr lang="en-US" sz="1400" kern="150" dirty="0">
                        <a:effectLst/>
                        <a:latin typeface="Arial" panose="020B0604020202020204" pitchFamily="34" charset="0"/>
                        <a:cs typeface="Arial" panose="020B0604020202020204" pitchFamily="34" charset="0"/>
                      </a:endParaRPr>
                    </a:p>
                    <a:p>
                      <a:pPr indent="216000" algn="r" rtl="1"/>
                      <a:r>
                        <a:rPr lang="ar-AE" sz="1400" kern="150" dirty="0">
                          <a:effectLst/>
                          <a:latin typeface="Arial" panose="020B0604020202020204" pitchFamily="34" charset="0"/>
                          <a:cs typeface="Arial" panose="020B0604020202020204" pitchFamily="34" charset="0"/>
                        </a:rPr>
                        <a:t>فكانت تجيبه:</a:t>
                      </a:r>
                    </a:p>
                    <a:p>
                      <a:pPr indent="216000" algn="r" rtl="1"/>
                      <a:r>
                        <a:rPr lang="ar-AE" sz="1400" kern="150" dirty="0">
                          <a:effectLst/>
                          <a:latin typeface="Arial" panose="020B0604020202020204" pitchFamily="34" charset="0"/>
                          <a:cs typeface="Arial" panose="020B0604020202020204" pitchFamily="34" charset="0"/>
                        </a:rPr>
                        <a:t>— تماماً!</a:t>
                      </a:r>
                    </a:p>
                    <a:p>
                      <a:pPr indent="216000" algn="r" rtl="1"/>
                      <a:r>
                        <a:rPr lang="ar-AE" sz="1400" kern="150" dirty="0">
                          <a:effectLst/>
                          <a:latin typeface="Arial" panose="020B0604020202020204" pitchFamily="34" charset="0"/>
                          <a:cs typeface="Arial" panose="020B0604020202020204" pitchFamily="34" charset="0"/>
                        </a:rPr>
                        <a:t>¶ وهكذا، حتى اختفى البصل كله ولم تبقَ بصلة ولا ورقة، لم يفطن الأسد إلى الحيلة، ولم ينكشف أمر عدوه أبدًا.</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003918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6633015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wuccanen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موت الذئاب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yetterra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yendi-yasen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yettekki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wexṣim-is</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Iṣubb-iten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uɛebbuḍ-nsen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tyersi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iẓerman-nsen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ɛellelen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ṭṭemblen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iɛebbaḍ-nsen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snukkufen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ifhem-itt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f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yenṭerr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inheṛ-iten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neggzen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ugaden</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iḥreṣ-iten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ttneggizen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teṭṭerḍeq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umezwaru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nndama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baṭel</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رأى الأسد أن امحمد سيفلت منه، وأنه لن ينتقم منه.</a:t>
                      </a:r>
                    </a:p>
                    <a:p>
                      <a:pPr indent="216000" algn="r" rtl="1"/>
                      <a:r>
                        <a:rPr lang="ar-AE" sz="1400" kern="150" dirty="0">
                          <a:effectLst/>
                          <a:latin typeface="Arial" panose="020B0604020202020204" pitchFamily="34" charset="0"/>
                          <a:cs typeface="Arial" panose="020B0604020202020204" pitchFamily="34" charset="0"/>
                        </a:rPr>
                        <a:t>¶ فأخذ يدبّر للإيقاع بالذئاب كلها كي تموت، وبذلك يكون عدوه من بينها.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قادها إلى النهر. وكانت بطون الذئاب ممتلئة بالبصل الحاد اللاذع؛ فقد اشتعلت النار في حناجرها وأمعائها. وأجبرها على شرب النهر كله حتى ينقطع جريانه ولا تمر منه قطرة واحدة.</a:t>
                      </a:r>
                    </a:p>
                    <a:p>
                      <a:pPr indent="216000" algn="r" rtl="1"/>
                      <a:r>
                        <a:rPr lang="ar-AE" sz="1400" kern="150" dirty="0">
                          <a:effectLst/>
                          <a:latin typeface="Arial" panose="020B0604020202020204" pitchFamily="34" charset="0"/>
                          <a:cs typeface="Arial" panose="020B0604020202020204" pitchFamily="34" charset="0"/>
                        </a:rPr>
                        <a:t>¶ أخذت تشرب حتى اختنقت؛ وانتفخت بطونها من الماء والبصل، وأخذت تلهث طلبًا للهواء. فتوقفت، عاجزة عن ابتلاع قطرة أخرى أو عن الفرار. أدرك امحمد ما يجري؛ فاكتفى بأن وضع فمه على الماء ولم يصبه أذى.</a:t>
                      </a:r>
                    </a:p>
                    <a:p>
                      <a:pPr indent="216000" algn="r" rtl="1"/>
                      <a:r>
                        <a:rPr lang="ar-AE" sz="1400" kern="150" dirty="0">
                          <a:effectLst/>
                          <a:latin typeface="Arial" panose="020B0604020202020204" pitchFamily="34" charset="0"/>
                          <a:cs typeface="Arial" panose="020B0604020202020204" pitchFamily="34" charset="0"/>
                        </a:rPr>
                        <a:t>¶ بعد ذلك، ساق الأسد الذئاب كقطيع من الماشية إلى ذلك الجرف الذي تدحرج منه. وأجبرها على القفز؛ فكان الموت محتمًا، لكن ما خافته هو عين ما أراده الأسد: ألحّ عليها، وأخذت تقفز. قفز أحدها فتدحرج إلى أسفل الجرف وانفجر بطنه ومات؛ ثم قفز آخر فتدحرج ومات مثله، إلى أن بقي امحمد وحده في المؤخرة. وثب إلى الجرف وهرب ونجا؛ وعندها فقط عرفه الأسد.</a:t>
                      </a:r>
                    </a:p>
                    <a:p>
                      <a:pPr indent="216000" algn="r" rtl="1"/>
                      <a:r>
                        <a:rPr lang="ar-AE" sz="1400" kern="150" dirty="0">
                          <a:effectLst/>
                          <a:latin typeface="Arial" panose="020B0604020202020204" pitchFamily="34" charset="0"/>
                          <a:cs typeface="Arial" panose="020B0604020202020204" pitchFamily="34" charset="0"/>
                        </a:rPr>
                        <a:t>¶ عاد ملك الحيوانات إلى كهفه، ولم تعد السماء ولا الأرض تتسعان له؛ فقد كان يزمجر من شدة الغضب، ويزيده أسفًا أنه قتل الذئاب كلها عبثًا.</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97545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5908850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Aṭṭan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مرض الأسد</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Yesteɛmel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men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teḥṣil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iwet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Iceggeɛ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mmeẓren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msamaḥen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Ula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ssalem</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Yusa-d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si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yeldi</a:t>
                      </a:r>
                      <a:r>
                        <a:rPr lang="fr-FR" sz="1100" kern="1200" dirty="0">
                          <a:solidFill>
                            <a:schemeClr val="tx1"/>
                          </a:solidFill>
                          <a:effectLst/>
                          <a:latin typeface="+mn-lt"/>
                          <a:ea typeface="+mn-ea"/>
                          <a:cs typeface="+mn-cs"/>
                        </a:rPr>
                        <a:t>-d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a-tt-a </a:t>
                      </a:r>
                      <a:r>
                        <a:rPr lang="fr-FR" sz="1100" kern="1200" dirty="0" err="1">
                          <a:solidFill>
                            <a:schemeClr val="tx1"/>
                          </a:solidFill>
                          <a:effectLst/>
                          <a:latin typeface="+mn-lt"/>
                          <a:ea typeface="+mn-ea"/>
                          <a:cs typeface="+mn-cs"/>
                        </a:rPr>
                        <a:t>teṛwiḥt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lfawatt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Yugi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Armi i t-id-</a:t>
                      </a:r>
                      <a:r>
                        <a:rPr lang="fr-FR" sz="1100" kern="1200" dirty="0" err="1">
                          <a:solidFill>
                            <a:schemeClr val="tx1"/>
                          </a:solidFill>
                          <a:effectLst/>
                          <a:latin typeface="+mn-lt"/>
                          <a:ea typeface="+mn-ea"/>
                          <a:cs typeface="+mn-cs"/>
                        </a:rPr>
                        <a:t>yeḥṛes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uṣubbu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tin n </a:t>
                      </a:r>
                      <a:r>
                        <a:rPr lang="fr-FR" sz="1100" kern="1200" dirty="0" err="1">
                          <a:solidFill>
                            <a:schemeClr val="tx1"/>
                          </a:solidFill>
                          <a:effectLst/>
                          <a:latin typeface="+mn-lt"/>
                          <a:ea typeface="+mn-ea"/>
                          <a:cs typeface="+mn-cs"/>
                        </a:rPr>
                        <a:t>tuɣalin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endParaRPr lang="en-GB" sz="1100"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لبعض الوقت، تصرّف الأسد كما لو أن الأمر قد انتهى تمامًا، ولم يعد يكترث بالذئب. لم يبحث عنه، ولم يسأل عنه قط. كان يريد أن يفتك به حين يشعر بالأمان.</a:t>
                      </a:r>
                    </a:p>
                    <a:p>
                      <a:pPr indent="216000" algn="r" rtl="1"/>
                      <a:r>
                        <a:rPr lang="ar-AE" sz="1400" kern="150" dirty="0">
                          <a:effectLst/>
                          <a:latin typeface="Arial" panose="020B0604020202020204" pitchFamily="34" charset="0"/>
                          <a:cs typeface="Arial" panose="020B0604020202020204" pitchFamily="34" charset="0"/>
                        </a:rPr>
                        <a:t>¶ وحين رأى أن وقتًا كافيًا قد مرّ حتى يُنسى الأمر، تظاهر بأنه أُصيب بمرض شديد، وأخذ يرتجف ويئن.</a:t>
                      </a:r>
                    </a:p>
                    <a:p>
                      <a:pPr indent="216000" algn="r" rtl="1"/>
                      <a:r>
                        <a:rPr lang="ar-AE" sz="1400" kern="150" dirty="0">
                          <a:effectLst/>
                          <a:latin typeface="Arial" panose="020B0604020202020204" pitchFamily="34" charset="0"/>
                          <a:cs typeface="Arial" panose="020B0604020202020204" pitchFamily="34" charset="0"/>
                        </a:rPr>
                        <a:t>¶ أرسل إلى الحيوانات يدعوها إلى المجيء، لكي يلتقوا ويتصالحوا. صدّقت الحيوانات دعوته، فجاءت. وكل من دخل كهفه ليراه أكله؛ كل من دخل كهفه ليراه أكله! لم يخرج أحد منهم سالمًا، ولا حتى واحد!</a:t>
                      </a:r>
                    </a:p>
                    <a:p>
                      <a:pPr indent="216000" algn="r" rtl="1"/>
                      <a:r>
                        <a:rPr lang="ar-AE" sz="1400" kern="150" dirty="0">
                          <a:effectLst/>
                          <a:latin typeface="Arial" panose="020B0604020202020204" pitchFamily="34" charset="0"/>
                          <a:cs typeface="Arial" panose="020B0604020202020204" pitchFamily="34" charset="0"/>
                        </a:rPr>
                        <a:t>¶ وجاء الذئب أيضًا. ناداه من الخارج قائلًا له:</a:t>
                      </a:r>
                    </a:p>
                    <a:p>
                      <a:pPr indent="216000" algn="r" rtl="1"/>
                      <a:r>
                        <a:rPr lang="ar-AE" sz="1400" kern="150" dirty="0">
                          <a:effectLst/>
                          <a:latin typeface="Arial" panose="020B0604020202020204" pitchFamily="34" charset="0"/>
                          <a:cs typeface="Arial" panose="020B0604020202020204" pitchFamily="34" charset="0"/>
                        </a:rPr>
                        <a:t>— أيها الملك، يا ملك الحيوانات، كيف حالك؟</a:t>
                      </a:r>
                    </a:p>
                    <a:p>
                      <a:pPr indent="216000" algn="r" rtl="1"/>
                      <a:r>
                        <a:rPr lang="ar-AE" sz="1400" kern="150" dirty="0">
                          <a:effectLst/>
                          <a:latin typeface="Arial" panose="020B0604020202020204" pitchFamily="34" charset="0"/>
                          <a:cs typeface="Arial" panose="020B0604020202020204" pitchFamily="34" charset="0"/>
                        </a:rPr>
                        <a:t>¶ عرفه الأسد، وفتح عينيه، فرآه بعيدًا عنه. وعاد إلى البكاء كأنما أدركه من يقتصّ للمظلومين:</a:t>
                      </a:r>
                    </a:p>
                    <a:p>
                      <a:pPr indent="216000" algn="r" rtl="1"/>
                      <a:r>
                        <a:rPr lang="ar-AE" sz="1400" kern="150" dirty="0">
                          <a:effectLst/>
                          <a:latin typeface="Arial" panose="020B0604020202020204" pitchFamily="34" charset="0"/>
                          <a:cs typeface="Arial" panose="020B0604020202020204" pitchFamily="34" charset="0"/>
                        </a:rPr>
                        <a:t>— ادخل يا امحمد، لنتصالح! أما أنا، فروحي توشك أن تفارقني!</a:t>
                      </a:r>
                    </a:p>
                    <a:p>
                      <a:pPr indent="216000" algn="r" rtl="1"/>
                      <a:r>
                        <a:rPr lang="ar-AE" sz="1400" kern="150" dirty="0">
                          <a:effectLst/>
                          <a:latin typeface="Arial" panose="020B0604020202020204" pitchFamily="34" charset="0"/>
                          <a:cs typeface="Arial" panose="020B0604020202020204" pitchFamily="34" charset="0"/>
                        </a:rPr>
                        <a:t>¶ رفض الذئب، وأجابه:</a:t>
                      </a:r>
                    </a:p>
                    <a:p>
                      <a:pPr indent="216000" algn="r" rtl="1"/>
                      <a:r>
                        <a:rPr lang="ar-AE" sz="1400" kern="150" dirty="0">
                          <a:effectLst/>
                          <a:latin typeface="Arial" panose="020B0604020202020204" pitchFamily="34" charset="0"/>
                          <a:cs typeface="Arial" panose="020B0604020202020204" pitchFamily="34" charset="0"/>
                        </a:rPr>
                        <a:t>— لنتصالح من مكاني هذا فحسب. أنا على عجل، فلديّ عمل أقوم به!</a:t>
                      </a:r>
                    </a:p>
                    <a:p>
                      <a:pPr indent="216000" algn="r" rtl="1"/>
                      <a:r>
                        <a:rPr lang="ar-AE" sz="1400" kern="150" dirty="0">
                          <a:effectLst/>
                          <a:latin typeface="Arial" panose="020B0604020202020204" pitchFamily="34" charset="0"/>
                          <a:cs typeface="Arial" panose="020B0604020202020204" pitchFamily="34" charset="0"/>
                        </a:rPr>
                        <a:t>¶ ولما ألحّ عليه الأسد، قال له:</a:t>
                      </a:r>
                    </a:p>
                    <a:p>
                      <a:pPr indent="216000" algn="r" rtl="1"/>
                      <a:r>
                        <a:rPr lang="ar-AE" sz="1400" kern="150" dirty="0">
                          <a:effectLst/>
                          <a:latin typeface="Arial" panose="020B0604020202020204" pitchFamily="34" charset="0"/>
                          <a:cs typeface="Arial" panose="020B0604020202020204" pitchFamily="34" charset="0"/>
                        </a:rPr>
                        <a:t>— لا أرى إلا آثار الدخول؛ أما آثار الرجوع فلا وجود لها!</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70087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310339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cciṭan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ddnub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tsewwqeḍ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ak-ɛellqen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lḥisab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lɛiqab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Mazal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yezmawen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k-</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timeḥbibert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bu tissas </a:t>
                      </a:r>
                      <a:r>
                        <a:rPr lang="fr-FR" sz="1100" kern="1200" dirty="0" err="1">
                          <a:solidFill>
                            <a:schemeClr val="tx1"/>
                          </a:solidFill>
                          <a:effectLst/>
                          <a:latin typeface="+mn-lt"/>
                          <a:ea typeface="+mn-ea"/>
                          <a:cs typeface="+mn-cs"/>
                        </a:rPr>
                        <a:t>ulaḥed-it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temsusam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agemmaḍ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dit </a:t>
                      </a:r>
                      <a:r>
                        <a:rPr lang="fr-FR" sz="1100" kern="1200" dirty="0" err="1">
                          <a:solidFill>
                            <a:schemeClr val="tx1"/>
                          </a:solidFill>
                          <a:effectLst/>
                          <a:latin typeface="+mn-lt"/>
                          <a:ea typeface="+mn-ea"/>
                          <a:cs typeface="+mn-cs"/>
                        </a:rPr>
                        <a:t>twanaṭ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زمجر الأسد كالسحابة العاصفة، وقال له:</a:t>
                      </a:r>
                    </a:p>
                    <a:p>
                      <a:pPr indent="216000" algn="r" rtl="1"/>
                      <a:r>
                        <a:rPr lang="ar-AE" sz="1400" kern="150" dirty="0">
                          <a:effectLst/>
                          <a:latin typeface="Arial" panose="020B0604020202020204" pitchFamily="34" charset="0"/>
                          <a:cs typeface="Arial" panose="020B0604020202020204" pitchFamily="34" charset="0"/>
                        </a:rPr>
                        <a:t>— لعن الله إياك، أيها الخائن! يا شيطانًا نقض عهود الله! ليجعل الله ذنب كل من ساقهم إلى السوق — حتى قتلتهم — معلقًا وحده في عنقك يوم الحساب والعقاب! من هذا اليوم فصاعدًا، تثبت العداوة بيني وبينك؛ ومن هذا اليوم فصاعدًا، تثبت العداوة بين أبنائي وأبنائك حتى ينقضي العالم!</a:t>
                      </a:r>
                    </a:p>
                    <a:p>
                      <a:pPr indent="216000" algn="r" rtl="1"/>
                      <a:r>
                        <a:rPr lang="ar-AE" sz="1400" kern="150" dirty="0">
                          <a:effectLst/>
                          <a:latin typeface="Arial" panose="020B0604020202020204" pitchFamily="34" charset="0"/>
                          <a:cs typeface="Arial" panose="020B0604020202020204" pitchFamily="34" charset="0"/>
                        </a:rPr>
                        <a:t>¶ بعد ذلك، مضى كل منهما في طريقه.</a:t>
                      </a:r>
                    </a:p>
                    <a:p>
                      <a:pPr indent="216000" algn="r" rtl="1"/>
                      <a:r>
                        <a:rPr lang="ar-AE" sz="1400" kern="150" dirty="0">
                          <a:effectLst/>
                          <a:latin typeface="Arial" panose="020B0604020202020204" pitchFamily="34" charset="0"/>
                          <a:cs typeface="Arial" panose="020B0604020202020204" pitchFamily="34" charset="0"/>
                        </a:rPr>
                        <a:t>¶ وحتى يومنا هذا، لا تزال العداوة قائمة بين الأسود والذئاب.</a:t>
                      </a:r>
                    </a:p>
                    <a:p>
                      <a:pPr indent="216000" algn="r" rtl="1"/>
                      <a:r>
                        <a:rPr lang="ar-AE" sz="1400" kern="150" dirty="0">
                          <a:effectLst/>
                          <a:latin typeface="Arial" panose="020B0604020202020204" pitchFamily="34" charset="0"/>
                          <a:cs typeface="Arial" panose="020B0604020202020204" pitchFamily="34" charset="0"/>
                        </a:rPr>
                        <a:t>¶ إذا باغتك الليل في البرية وسمعت الذئاب تعوي أو تحدث جلبة معًا، فاعلم أن سيد الشجاعة ليس في تلك الناحية؛ أما إذا خيّم الصمت على الدنيا ولم تعوُ الذئاب، أو إذا نبح أحدها وحده من التل المقابل، فاعلم أن ملك الحيوانات، سيد تلك الديار، موجود في الجوار.</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9599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57651895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#2</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100" kern="150" dirty="0">
                          <a:effectLst/>
                          <a:latin typeface="Arial" panose="020B0604020202020204" pitchFamily="34" charset="0"/>
                          <a:cs typeface="Arial" panose="020B0604020202020204" pitchFamily="34" charset="0"/>
                        </a:rPr>
                        <a:t>حكاية الذئب والقنفذ</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49989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3428650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tebḥirt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في البستان</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yettsellik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ireṭṭel-it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yemdukal-is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ssarmen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yettkatab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yules-itt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izebbel-itt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iḥemmeṛ-itt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yessew-itt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ẓẓerb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yeṭṭilli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tgusa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kecemen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taxsayt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afeqqus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ṭumaṭic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sxelḍen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ifelfel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ticcert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leḥbeq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akeyyas</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iqiss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yeṭṭembel</a:t>
                      </a:r>
                      <a:r>
                        <a:rPr lang="fr-FR" sz="1100" kern="1200" dirty="0">
                          <a:solidFill>
                            <a:schemeClr val="tx1"/>
                          </a:solidFill>
                          <a:effectLst/>
                          <a:latin typeface="+mn-lt"/>
                          <a:ea typeface="+mn-ea"/>
                          <a:cs typeface="+mn-cs"/>
                        </a:rPr>
                        <a:t>. Slan i </a:t>
                      </a:r>
                      <a:r>
                        <a:rPr lang="fr-FR" sz="1100" kern="1200" dirty="0" err="1">
                          <a:solidFill>
                            <a:schemeClr val="tx1"/>
                          </a:solidFill>
                          <a:effectLst/>
                          <a:latin typeface="+mn-lt"/>
                          <a:ea typeface="+mn-ea"/>
                          <a:cs typeface="+mn-cs"/>
                        </a:rPr>
                        <a:t>lhaffa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yessefqed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temmuteḍ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iḥseb-it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yeskifif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ذهب الذئب، سيد الحيل الكثيرة، ليقتسم جحرًا مع القنفذ، سيد الحيلة الواحدة التي ينجو بها، ونصف الحيلة التي يعيرها لأصدقائه.</a:t>
                      </a:r>
                    </a:p>
                    <a:p>
                      <a:pPr indent="216000" algn="r" rtl="1"/>
                      <a:r>
                        <a:rPr lang="ar-AE" sz="1400" kern="150" dirty="0">
                          <a:effectLst/>
                          <a:latin typeface="Arial" panose="020B0604020202020204" pitchFamily="34" charset="0"/>
                          <a:cs typeface="Arial" panose="020B0604020202020204" pitchFamily="34" charset="0"/>
                        </a:rPr>
                        <a:t>¶ في ذلك اليوم، ذهبا لسرقة بستان كانا يطمعان فيه، وفيه من خيرات الله ما فيه. كان صاحبه قد حرث أرضه، وقلّبها من جديد، وسمّدها وزرعها وعزقها وسقاها، ثم أحاطها بسياج محكم لا يستطيع الذئب حتى أن ينظر من خلاله.</a:t>
                      </a:r>
                    </a:p>
                    <a:p>
                      <a:pPr indent="216000" algn="r" rtl="1"/>
                      <a:r>
                        <a:rPr lang="ar-AE" sz="1400" kern="150" dirty="0">
                          <a:effectLst/>
                          <a:latin typeface="Arial" panose="020B0604020202020204" pitchFamily="34" charset="0"/>
                          <a:cs typeface="Arial" panose="020B0604020202020204" pitchFamily="34" charset="0"/>
                        </a:rPr>
                        <a:t>¶ وجدا فتحة بين الأوتاد ودخلا منها. أكلا حتى شبعا من القرع والخيار والفاصولياء، وخلطا بها الطماطم والفلفل الحار والبصل والثوم والريحان.</a:t>
                      </a:r>
                    </a:p>
                    <a:p>
                      <a:pPr indent="216000" algn="r" rtl="1"/>
                      <a:r>
                        <a:rPr lang="ar-AE" sz="1400" kern="150" dirty="0">
                          <a:effectLst/>
                          <a:latin typeface="Arial" panose="020B0604020202020204" pitchFamily="34" charset="0"/>
                          <a:cs typeface="Arial" panose="020B0604020202020204" pitchFamily="34" charset="0"/>
                        </a:rPr>
                        <a:t>¶ أما القنفذ، وكان حاذقًا، فقد أكل قليلًا ثم ذهب ليتأكد من أن الفتحة تتسع له؛ وأما الذئب فأكل حتى انتفخ. وسمعا وقع أقدام صاحب البستان وهو قادم لتفقده، فهربا. مرّ القنفذ من الفتحة، أما الذئب فلم يستطع، ففقد صوابه. فقال له القنفذ:</a:t>
                      </a:r>
                    </a:p>
                    <a:p>
                      <a:pPr indent="216000" algn="r" rtl="1"/>
                      <a:r>
                        <a:rPr lang="ar-AE" sz="1400" kern="150" dirty="0">
                          <a:effectLst/>
                          <a:latin typeface="Arial" panose="020B0604020202020204" pitchFamily="34" charset="0"/>
                          <a:cs typeface="Arial" panose="020B0604020202020204" pitchFamily="34" charset="0"/>
                        </a:rPr>
                        <a:t>— تظاهر بأنك ميت!</a:t>
                      </a:r>
                    </a:p>
                    <a:p>
                      <a:pPr indent="216000" algn="r" rtl="1"/>
                      <a:r>
                        <a:rPr lang="ar-AE" sz="1400" kern="150" dirty="0">
                          <a:effectLst/>
                          <a:latin typeface="Arial" panose="020B0604020202020204" pitchFamily="34" charset="0"/>
                          <a:cs typeface="Arial" panose="020B0604020202020204" pitchFamily="34" charset="0"/>
                        </a:rPr>
                        <a:t>¶ دخل صاحب البستان، فوجد الذئب ممددًا ومنتفخًا كقِربة، فظنه ميتًا. بصق عليه، ثم أعاد البصق، وأمسكه من ساقه ورماه خارج البستان، فهرب.</a:t>
                      </a:r>
                    </a:p>
                    <a:p>
                      <a:pPr indent="216000" algn="r" rtl="1"/>
                      <a:r>
                        <a:rPr lang="ar-AE" sz="1400" kern="150" dirty="0">
                          <a:effectLst/>
                          <a:latin typeface="Arial" panose="020B0604020202020204" pitchFamily="34" charset="0"/>
                          <a:cs typeface="Arial" panose="020B0604020202020204" pitchFamily="34" charset="0"/>
                        </a:rPr>
                        <a:t>¶ وبقي الرجل في مكانه ينهال عليه بالشتائم.</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02932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2408397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Di </a:t>
                      </a:r>
                      <a:r>
                        <a:rPr lang="fr-FR" sz="1200" b="1" kern="150" dirty="0" err="1">
                          <a:effectLst/>
                          <a:latin typeface="Cascadia Mono" panose="020B0609020000020004" pitchFamily="49" charset="0"/>
                          <a:cs typeface="Cascadia Mono" panose="020B0609020000020004" pitchFamily="49" charset="0"/>
                        </a:rPr>
                        <a:t>tesraft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nneɛma</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في صومعة الحبوب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teggara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aɣummu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iɛemmeṛ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uṛciḥen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ad </a:t>
                      </a:r>
                      <a:r>
                        <a:rPr lang="fr-FR" sz="1100" kern="1200" dirty="0" err="1">
                          <a:solidFill>
                            <a:schemeClr val="tx1"/>
                          </a:solidFill>
                          <a:effectLst/>
                          <a:latin typeface="+mn-lt"/>
                          <a:ea typeface="+mn-ea"/>
                          <a:cs typeface="+mn-cs"/>
                        </a:rPr>
                        <a:t>tekkaw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ara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Eg-iyi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taɛrurt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muqleɣ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ɣ-d-</a:t>
                      </a:r>
                      <a:r>
                        <a:rPr lang="fr-FR" sz="1100" kern="1200" dirty="0" err="1">
                          <a:solidFill>
                            <a:schemeClr val="tx1"/>
                          </a:solidFill>
                          <a:effectLst/>
                          <a:latin typeface="+mn-lt"/>
                          <a:ea typeface="+mn-ea"/>
                          <a:cs typeface="+mn-cs"/>
                        </a:rPr>
                        <a:t>yettafen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zagur-is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temgerṭ-is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yas-tent-iwwet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yettneggiz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yemsex</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ččuṛen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iɛefn-itt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zzehṛ-iw</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uceṭṭiḍ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tamseḍ</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حلّ آخر الخريف، وانحسرت المياه، وارتوت الأرض، وأصبحت التربة مهيأة. وفي أحد الأيام، ذهب القنفذ والذئب لسرقة الحبوب من صومعة.</a:t>
                      </a:r>
                    </a:p>
                    <a:p>
                      <a:pPr indent="216000" algn="r" rtl="1"/>
                      <a:r>
                        <a:rPr lang="ar-AE" sz="1400" kern="150" dirty="0">
                          <a:effectLst/>
                          <a:latin typeface="Arial" panose="020B0604020202020204" pitchFamily="34" charset="0"/>
                          <a:cs typeface="Arial" panose="020B0604020202020204" pitchFamily="34" charset="0"/>
                        </a:rPr>
                        <a:t>¶ كان الفلاح قد رفع غطاء الصومعة، ولما وجد أن الماء قد تسرب إليها، جمع القمح المبتل وترك الصومعة لتجف. قفزا إلى داخلها وجلسا يأكلان. ولم ينسَ القنفذ نفسه؛ أكل ما كتبه الله له، ثم قال للذئب:</a:t>
                      </a:r>
                    </a:p>
                    <a:p>
                      <a:pPr indent="216000" algn="r" rtl="1"/>
                      <a:r>
                        <a:rPr lang="ar-AE" sz="1400" kern="150" dirty="0">
                          <a:effectLst/>
                          <a:latin typeface="Arial" panose="020B0604020202020204" pitchFamily="34" charset="0"/>
                          <a:cs typeface="Arial" panose="020B0604020202020204" pitchFamily="34" charset="0"/>
                        </a:rPr>
                        <a:t>— أعرني ظهرك لأطلّ وأرى إن كان أحد سيجدنا!</a:t>
                      </a:r>
                    </a:p>
                    <a:p>
                      <a:pPr indent="216000" algn="r" rtl="1"/>
                      <a:r>
                        <a:rPr lang="ar-AE" sz="1400" kern="150" dirty="0">
                          <a:effectLst/>
                          <a:latin typeface="Arial" panose="020B0604020202020204" pitchFamily="34" charset="0"/>
                          <a:cs typeface="Arial" panose="020B0604020202020204" pitchFamily="34" charset="0"/>
                        </a:rPr>
                        <a:t>¶ نهض الذئب، فتسلق القنفذ ظهره ورقبته، ثم قفز إلى الخارج وفرّ.</a:t>
                      </a:r>
                    </a:p>
                    <a:p>
                      <a:pPr indent="216000" algn="r" rtl="1"/>
                      <a:r>
                        <a:rPr lang="ar-AE" sz="1400" kern="150" dirty="0">
                          <a:effectLst/>
                          <a:latin typeface="Arial" panose="020B0604020202020204" pitchFamily="34" charset="0"/>
                          <a:cs typeface="Arial" panose="020B0604020202020204" pitchFamily="34" charset="0"/>
                        </a:rPr>
                        <a:t>¶ عندها فقط أصاب الذئبَ الذعر؛ فقضى المساء يقفز محاولًا الفرار، لكنه لم يجد سبيلًا.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سمع الفلاح يقترب، فاستولى عليه الخوف. ثم تمدد وتظاهر بأنه ميت، كما فعل في بستان الخضروات.</a:t>
                      </a:r>
                    </a:p>
                    <a:p>
                      <a:pPr indent="216000" algn="r" rtl="1"/>
                      <a:r>
                        <a:rPr lang="ar-AE" sz="1400" kern="150" dirty="0">
                          <a:effectLst/>
                          <a:latin typeface="Arial" panose="020B0604020202020204" pitchFamily="34" charset="0"/>
                          <a:cs typeface="Arial" panose="020B0604020202020204" pitchFamily="34" charset="0"/>
                        </a:rPr>
                        <a:t>¶ وصل الفلاح، ورآه منتفخًا كقِربة، وفمه وأذناه محشوة بالقمح، والصومعة متسخة تمامًا. وظنّه ميتًا، فصفق بيديه وصاح:</a:t>
                      </a:r>
                    </a:p>
                    <a:p>
                      <a:pPr indent="216000" algn="r" rtl="1"/>
                      <a:r>
                        <a:rPr lang="ar-AE" sz="1400" kern="150" dirty="0">
                          <a:effectLst/>
                          <a:latin typeface="Arial" panose="020B0604020202020204" pitchFamily="34" charset="0"/>
                          <a:cs typeface="Arial" panose="020B0604020202020204" pitchFamily="34" charset="0"/>
                        </a:rPr>
                        <a:t>— يا لسوء حظي!</a:t>
                      </a:r>
                    </a:p>
                    <a:p>
                      <a:pPr indent="216000" algn="r" rtl="1"/>
                      <a:r>
                        <a:rPr lang="ar-AE" sz="1400" kern="150" dirty="0">
                          <a:effectLst/>
                          <a:latin typeface="Arial" panose="020B0604020202020204" pitchFamily="34" charset="0"/>
                          <a:cs typeface="Arial" panose="020B0604020202020204" pitchFamily="34" charset="0"/>
                        </a:rPr>
                        <a:t>¶ ثم نزل إلى الصومعة، واستدار، وبصق، وأمسك الذئب بخرقة وقذفه إلى الخارج؛ فهرب!</a:t>
                      </a:r>
                    </a:p>
                    <a:p>
                      <a:pPr indent="216000" algn="r" rtl="1"/>
                      <a:r>
                        <a:rPr lang="ar-AE" sz="1400" kern="150" dirty="0">
                          <a:effectLst/>
                          <a:latin typeface="Arial" panose="020B0604020202020204" pitchFamily="34" charset="0"/>
                          <a:cs typeface="Arial" panose="020B0604020202020204" pitchFamily="34" charset="0"/>
                        </a:rPr>
                        <a:t>وبقي الرجل هناك واضعًا يده على وجهه، في غاية الأسى!</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25808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74430823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leɛmeṛ</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مسألة عمر</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ccetwa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ageffur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adfel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yeddukel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ttqelliben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lxiṛ-im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Tura, mi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ɛmu</a:t>
                      </a:r>
                      <a:r>
                        <a:rPr lang="fr-FR" sz="1100" kern="1200" dirty="0">
                          <a:solidFill>
                            <a:schemeClr val="tx1"/>
                          </a:solidFill>
                          <a:effectLst/>
                          <a:latin typeface="+mn-lt"/>
                          <a:ea typeface="+mn-ea"/>
                          <a:cs typeface="+mn-cs"/>
                        </a:rPr>
                        <a:t>-yi-d! Mi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tarbibt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waḍil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tecwawt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ttejṛa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imeksawen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(Wi d-</a:t>
                      </a:r>
                      <a:r>
                        <a:rPr lang="fr-FR" sz="1100" kern="1200" dirty="0" err="1">
                          <a:solidFill>
                            <a:schemeClr val="tx1"/>
                          </a:solidFill>
                          <a:effectLst/>
                          <a:latin typeface="+mn-lt"/>
                          <a:ea typeface="+mn-ea"/>
                          <a:cs typeface="+mn-cs"/>
                        </a:rPr>
                        <a:t>yecfan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-tt-id-</a:t>
                      </a:r>
                      <a:r>
                        <a:rPr lang="fr-FR" sz="1100" kern="1200" dirty="0" err="1">
                          <a:solidFill>
                            <a:schemeClr val="tx1"/>
                          </a:solidFill>
                          <a:effectLst/>
                          <a:latin typeface="+mn-lt"/>
                          <a:ea typeface="+mn-ea"/>
                          <a:cs typeface="+mn-cs"/>
                        </a:rPr>
                        <a:t>yellfen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Kemmlen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aftat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yemsewwqen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kan: ad tt-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حلّ الشتاء: مطر ورياح وبَرَد وثلج. وفي أحد الأيام، خرج الذئب والقنفذ معًا. كانا جائعين ويبحثان عما يأكلانه. وكان الخريف قد انقضى، وفيه وجد الذئب التين متناثرًا على الأرض كأنه التراب، فقال: "خذي خيركِ، يا شجرة التين!" أما الآن، فكلما مرّ تحتها قال: "أعماني!" وحين لمح عنقودًا صغيرًا من العنب في أعلى شجرة، قال: "حامض! حامض!"</a:t>
                      </a:r>
                    </a:p>
                    <a:p>
                      <a:pPr indent="216000" algn="r" rtl="1"/>
                      <a:r>
                        <a:rPr lang="ar-AE" sz="1400" kern="150" dirty="0">
                          <a:effectLst/>
                          <a:latin typeface="Arial" panose="020B0604020202020204" pitchFamily="34" charset="0"/>
                          <a:cs typeface="Arial" panose="020B0604020202020204" pitchFamily="34" charset="0"/>
                        </a:rPr>
                        <a:t>¶ وجدا ثمرة تين طازجة على الطريق، أسقطها بعض الرعاة. فقال القنفذ له:</a:t>
                      </a:r>
                    </a:p>
                    <a:p>
                      <a:pPr indent="216000" algn="r" rtl="1"/>
                      <a:r>
                        <a:rPr lang="ar-AE" sz="1400" kern="150" dirty="0">
                          <a:effectLst/>
                          <a:latin typeface="Arial" panose="020B0604020202020204" pitchFamily="34" charset="0"/>
                          <a:cs typeface="Arial" panose="020B0604020202020204" pitchFamily="34" charset="0"/>
                        </a:rPr>
                        <a:t>— لنتقاسمها.</a:t>
                      </a:r>
                    </a:p>
                    <a:p>
                      <a:pPr indent="216000" algn="r" rtl="1"/>
                      <a:r>
                        <a:rPr lang="ar-AE" sz="1400" kern="150" dirty="0">
                          <a:effectLst/>
                          <a:latin typeface="Arial" panose="020B0604020202020204" pitchFamily="34" charset="0"/>
                          <a:cs typeface="Arial" panose="020B0604020202020204" pitchFamily="34" charset="0"/>
                        </a:rPr>
                        <a:t>— فقال له الذئب:</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لا! يأكلها الأكبر سنًا منا!</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متى وُلدت؟</a:t>
                      </a:r>
                    </a:p>
                    <a:p>
                      <a:pPr indent="216000" algn="r" rtl="1"/>
                      <a:r>
                        <a:rPr lang="ar-AE" sz="1400" kern="150" dirty="0">
                          <a:effectLst/>
                          <a:latin typeface="Arial" panose="020B0604020202020204" pitchFamily="34" charset="0"/>
                          <a:cs typeface="Arial" panose="020B0604020202020204" pitchFamily="34" charset="0"/>
                        </a:rPr>
                        <a:t>— فقال له الذئب:</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يوم احترق البحر (من يتذكر يوم احترق البحر؟).</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أنا من أشعل النار فيه!</a:t>
                      </a:r>
                    </a:p>
                    <a:p>
                      <a:pPr indent="216000" algn="r" rtl="1"/>
                      <a:r>
                        <a:rPr lang="ar-AE" sz="1400" kern="150" dirty="0">
                          <a:effectLst/>
                          <a:latin typeface="Arial" panose="020B0604020202020204" pitchFamily="34" charset="0"/>
                          <a:cs typeface="Arial" panose="020B0604020202020204" pitchFamily="34" charset="0"/>
                        </a:rPr>
                        <a:t>وهكذا أكل التين كله وحده.</a:t>
                      </a:r>
                    </a:p>
                    <a:p>
                      <a:pPr indent="216000" algn="r" rtl="1"/>
                      <a:r>
                        <a:rPr lang="ar-AE" sz="1400" kern="150" dirty="0">
                          <a:effectLst/>
                          <a:latin typeface="Arial" panose="020B0604020202020204" pitchFamily="34" charset="0"/>
                          <a:cs typeface="Arial" panose="020B0604020202020204" pitchFamily="34" charset="0"/>
                        </a:rPr>
                        <a:t>¶ واصلا طريقهما، فوجدا قطعة كبد أسقطها أحد العائدين من السوق. قال الذئب إنها حجر مسطح كي يأكلها وحده. فقال له القنفذ:</a:t>
                      </a:r>
                    </a:p>
                    <a:p>
                      <a:pPr indent="216000" algn="r" rtl="1"/>
                      <a:r>
                        <a:rPr lang="ar-AE" sz="1400" kern="150" dirty="0">
                          <a:effectLst/>
                          <a:latin typeface="Arial" panose="020B0604020202020204" pitchFamily="34" charset="0"/>
                          <a:cs typeface="Arial" panose="020B0604020202020204" pitchFamily="34" charset="0"/>
                        </a:rPr>
                        <a:t>— إنها كبد فحسب؛ لنتقاسمها.</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7052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B48A-E870-8AD1-2235-E7477B8AFFB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30586F-1BF4-8572-EF9C-CF24E811ECCD}"/>
              </a:ext>
            </a:extLst>
          </p:cNvPr>
          <p:cNvGraphicFramePr>
            <a:graphicFrameLocks noGrp="1"/>
          </p:cNvGraphicFramePr>
          <p:nvPr>
            <p:extLst>
              <p:ext uri="{D42A27DB-BD31-4B8C-83A1-F6EECF244321}">
                <p14:modId xmlns:p14="http://schemas.microsoft.com/office/powerpoint/2010/main" val="57186239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-n ad n-</a:t>
                      </a:r>
                      <a:r>
                        <a:rPr lang="fr-FR" sz="1100" kern="1200" dirty="0" err="1">
                          <a:solidFill>
                            <a:schemeClr val="tx1"/>
                          </a:solidFill>
                          <a:effectLst/>
                          <a:latin typeface="+mn-lt"/>
                          <a:ea typeface="+mn-ea"/>
                          <a:cs typeface="+mn-cs"/>
                        </a:rPr>
                        <a:t>laleɣ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tebḍant-is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-as-tt d </a:t>
                      </a:r>
                      <a:r>
                        <a:rPr lang="fr-FR" sz="1100" kern="1200" dirty="0" err="1">
                          <a:solidFill>
                            <a:schemeClr val="tx1"/>
                          </a:solidFill>
                          <a:effectLst/>
                          <a:latin typeface="+mn-lt"/>
                          <a:ea typeface="+mn-ea"/>
                          <a:cs typeface="+mn-cs"/>
                        </a:rPr>
                        <a:t>tuḥsift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فقال له الذئب:</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لا! يأكلها الأصغر سنًا منا!</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متى وُلدت؟</a:t>
                      </a:r>
                    </a:p>
                    <a:p>
                      <a:pPr indent="216000" algn="r" rtl="1"/>
                      <a:r>
                        <a:rPr lang="ar-AE" sz="1400" kern="150" dirty="0">
                          <a:effectLst/>
                          <a:latin typeface="Arial" panose="020B0604020202020204" pitchFamily="34" charset="0"/>
                          <a:cs typeface="Arial" panose="020B0604020202020204" pitchFamily="34" charset="0"/>
                        </a:rPr>
                        <a:t>— فقال له الذئب:</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البارحة!</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أمسك بي، فقد أوشكت أن أولد!</a:t>
                      </a:r>
                    </a:p>
                    <a:p>
                      <a:pPr indent="216000" algn="r" rtl="1"/>
                      <a:r>
                        <a:rPr lang="ar-AE" sz="1400" kern="150" dirty="0">
                          <a:effectLst/>
                          <a:latin typeface="Arial" panose="020B0604020202020204" pitchFamily="34" charset="0"/>
                          <a:cs typeface="Arial" panose="020B0604020202020204" pitchFamily="34" charset="0"/>
                        </a:rPr>
                        <a:t>وأخذ يخرج من جلده. وهكذا أكل الكبد كله وحده مرة أخرى. وبقي الذئب جائعًا، يضمر له حقدًا مريرًا.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7864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3246524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tqellalt n lexliɛa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في جرّة اللحم المحفوظ</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ameɛluf</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lɛid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lwacul-is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yeqqimen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fesren</a:t>
                      </a:r>
                      <a:r>
                        <a:rPr lang="fr-FR" sz="1100" kern="1200" dirty="0">
                          <a:solidFill>
                            <a:schemeClr val="tx1"/>
                          </a:solidFill>
                          <a:effectLst/>
                          <a:latin typeface="+mn-lt"/>
                          <a:ea typeface="+mn-ea"/>
                          <a:cs typeface="+mn-cs"/>
                        </a:rPr>
                        <a:t>-t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terra-t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tesleɣ-itt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buṣuf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tissirt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tǧaṛett-is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Igubeṛ-itt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 di tin n </a:t>
                      </a:r>
                      <a:r>
                        <a:rPr lang="fr-FR" sz="1100" kern="1200" dirty="0" err="1">
                          <a:solidFill>
                            <a:schemeClr val="tx1"/>
                          </a:solidFill>
                          <a:effectLst/>
                          <a:latin typeface="+mn-lt"/>
                          <a:ea typeface="+mn-ea"/>
                          <a:cs typeface="+mn-cs"/>
                        </a:rPr>
                        <a:t>yiḍelli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k-id-taf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mmuteɣ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-t-</a:t>
                      </a:r>
                      <a:r>
                        <a:rPr lang="fr-FR" sz="1100" kern="1200" dirty="0" err="1">
                          <a:solidFill>
                            <a:schemeClr val="tx1"/>
                          </a:solidFill>
                          <a:effectLst/>
                          <a:latin typeface="+mn-lt"/>
                          <a:ea typeface="+mn-ea"/>
                          <a:cs typeface="+mn-cs"/>
                        </a:rPr>
                        <a:t>mleɣ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tferqeḍ</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Anida? Anida?</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ameẓẓuɣ</a:t>
                      </a:r>
                      <a:r>
                        <a:rPr lang="fr-FR" sz="1100" kern="1200" dirty="0">
                          <a:solidFill>
                            <a:schemeClr val="tx1"/>
                          </a:solidFill>
                          <a:effectLst/>
                          <a:latin typeface="+mn-lt"/>
                          <a:ea typeface="+mn-ea"/>
                          <a:cs typeface="+mn-cs"/>
                        </a:rPr>
                        <a:t>-ik!</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ذبح رجل خروفًا سمينًا لعيد الأضحى الكبير. أكل هو وأهله ما أكلوا منه، ثم قطّعوا ما تبقى وملّحوه وبسطوه تحت الشمس. ولما جفّ، وضعته المرأة في جرّة فخارية وأحكمت إغلاقها.</a:t>
                      </a:r>
                    </a:p>
                    <a:p>
                      <a:pPr indent="216000" algn="r" rtl="1"/>
                      <a:r>
                        <a:rPr lang="ar-AE" sz="1400" kern="150" dirty="0">
                          <a:effectLst/>
                          <a:latin typeface="Arial" panose="020B0604020202020204" pitchFamily="34" charset="0"/>
                          <a:cs typeface="Arial" panose="020B0604020202020204" pitchFamily="34" charset="0"/>
                        </a:rPr>
                        <a:t>¶ وفي أحد الأيام، نظرت داخلها فوجدت أن العث قد تسلل إليها. أخرجت الجرّة ووضعتها تحت الشمس، ثم ذهبت لتبدأ حديثًا طويلًا مع جارتها. كان الذئب يراقبها؛ فاتفق مع القنفذ على الذهاب لسرقة اللحم المحفوظ. بدأ الذئب الوليمة وأكل حتى شبع، ثم جاء دور القنفذ، فحمله الذئب ووضعه داخل الجرّة. وأكل القنفذ هو أيضًا ما كتبه الله له، لكن مهما توسّل إلى صاحبه ليخرجه، أبى. فقال له السيد امحمد:</a:t>
                      </a:r>
                    </a:p>
                    <a:p>
                      <a:pPr indent="216000" algn="r" rtl="1"/>
                      <a:r>
                        <a:rPr lang="ar-AE" sz="1400" kern="150" dirty="0">
                          <a:effectLst/>
                          <a:latin typeface="Arial" panose="020B0604020202020204" pitchFamily="34" charset="0"/>
                          <a:cs typeface="Arial" panose="020B0604020202020204" pitchFamily="34" charset="0"/>
                        </a:rPr>
                        <a:t>— هذا جزاء حيلتك بي أمس، يا موحند! ابقَ في الداخل حتى تجدك سيدتك؛ فالقنفذ وجبة شهية!</a:t>
                      </a:r>
                    </a:p>
                    <a:p>
                      <a:pPr indent="216000" algn="r" rtl="1"/>
                      <a:r>
                        <a:rPr lang="ar-AE" sz="1400" kern="150" dirty="0">
                          <a:effectLst/>
                          <a:latin typeface="Arial" panose="020B0604020202020204" pitchFamily="34" charset="0"/>
                          <a:cs typeface="Arial" panose="020B0604020202020204" pitchFamily="34" charset="0"/>
                        </a:rPr>
                        <a:t>— فقال له القنفذ: أما أنا فقد متّ، لكنني أخفيت كنزًا؛ اقترب لأريك إياه، فتقسّمه بينك وبين أولادي.</a:t>
                      </a:r>
                    </a:p>
                    <a:p>
                      <a:pPr indent="216000" algn="r" rtl="1"/>
                      <a:r>
                        <a:rPr lang="ar-AE" sz="1400" kern="150" dirty="0">
                          <a:effectLst/>
                          <a:latin typeface="Arial" panose="020B0604020202020204" pitchFamily="34" charset="0"/>
                          <a:cs typeface="Arial" panose="020B0604020202020204" pitchFamily="34" charset="0"/>
                        </a:rPr>
                        <a:t>— فقال له الذئب: أين؟ أين؟</a:t>
                      </a:r>
                    </a:p>
                    <a:p>
                      <a:pPr indent="216000" algn="r" rtl="1"/>
                      <a:r>
                        <a:rPr lang="ar-AE" sz="1400" kern="150" dirty="0">
                          <a:effectLst/>
                          <a:latin typeface="Arial" panose="020B0604020202020204" pitchFamily="34" charset="0"/>
                          <a:cs typeface="Arial" panose="020B0604020202020204" pitchFamily="34" charset="0"/>
                        </a:rPr>
                        <a:t>— فأجابه القنفذ: ها هو! ها هو... الكنز! قرّب أذنك!</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36714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7B436-0C53-34DA-510A-CF4B088FB74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2BF2F03-A279-CE3F-4587-065B2D5ACAC0}"/>
              </a:ext>
            </a:extLst>
          </p:cNvPr>
          <p:cNvGraphicFramePr>
            <a:graphicFrameLocks noGrp="1"/>
          </p:cNvGraphicFramePr>
          <p:nvPr>
            <p:extLst>
              <p:ext uri="{D42A27DB-BD31-4B8C-83A1-F6EECF244321}">
                <p14:modId xmlns:p14="http://schemas.microsoft.com/office/powerpoint/2010/main" val="305403046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tugad</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mkemmda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قرّب الذئب أذنه، فأطبق عليها القنفذ بأسنانه وعضّها. قفز السيد امحمد إلى الوراء، وخرج موحند من الجرّة معه، ناجيًا سالمًا. أما المرأة، فخوفًا من أن يضربها زوجها، كتمت الأمر كله في أعماقها.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889499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03220656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tdewwiṛt n tzizwa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في منحل النحل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tdewwiṛt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-n ad </a:t>
                      </a:r>
                      <a:r>
                        <a:rPr lang="fr-FR" sz="1100" kern="1200" dirty="0" err="1">
                          <a:solidFill>
                            <a:schemeClr val="tx1"/>
                          </a:solidFill>
                          <a:effectLst/>
                          <a:latin typeface="+mn-lt"/>
                          <a:ea typeface="+mn-ea"/>
                          <a:cs typeface="+mn-cs"/>
                        </a:rPr>
                        <a:t>ilint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teɣrasin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uqeccuc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rsent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tqamtin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ɣumment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udellas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therrew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temdint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Xtaṛen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ǧeɛlen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ttuɛiɣ</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tḥedrin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tadimt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ufus-is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Ẓẓgent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teqqsent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yettemririɣ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rrant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taqerruct-is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yettegliliz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ineqq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أحد الأيام، ذهب القنفذ والذئب لسرقة العسل من منحل. وكان القنفذ ينوي الانتقام من الذئب بسبب ما فعله في جرّة اللحم المحفوظ.</a:t>
                      </a:r>
                    </a:p>
                    <a:p>
                      <a:pPr indent="216000" algn="r" rtl="1"/>
                      <a:r>
                        <a:rPr lang="ar-AE" sz="1400" kern="150" dirty="0">
                          <a:effectLst/>
                          <a:latin typeface="Arial" panose="020B0604020202020204" pitchFamily="34" charset="0"/>
                          <a:cs typeface="Arial" panose="020B0604020202020204" pitchFamily="34" charset="0"/>
                        </a:rPr>
                        <a:t>¶ وجدا ما لا بد أنها مئة خلية من اللحاء، موضوعة على جذوع، ومغطاة بالفلين والقش، وتصدر طنينًا مدويًا كمدينة تعج بالحركة.</a:t>
                      </a:r>
                    </a:p>
                    <a:p>
                      <a:pPr indent="216000" algn="r" rtl="1"/>
                      <a:r>
                        <a:rPr lang="ar-AE" sz="1400" kern="150" dirty="0">
                          <a:effectLst/>
                          <a:latin typeface="Arial" panose="020B0604020202020204" pitchFamily="34" charset="0"/>
                          <a:cs typeface="Arial" panose="020B0604020202020204" pitchFamily="34" charset="0"/>
                        </a:rPr>
                        <a:t>¶ اختارا خلية كبيرة، ظنًا منهما أنها مليئة بالعسل. ثم قال الذئب للقنفذ:</a:t>
                      </a:r>
                    </a:p>
                    <a:p>
                      <a:pPr indent="216000" algn="r" rtl="1"/>
                      <a:r>
                        <a:rPr lang="ar-AE" sz="1400" kern="150" dirty="0">
                          <a:effectLst/>
                          <a:latin typeface="Arial" panose="020B0604020202020204" pitchFamily="34" charset="0"/>
                          <a:cs typeface="Arial" panose="020B0604020202020204" pitchFamily="34" charset="0"/>
                        </a:rPr>
                        <a:t>— اقترب يا موحند؛ فأنت صغير ولن يراك أحد. اجمع لنا بعض العسل.</a:t>
                      </a:r>
                    </a:p>
                    <a:p>
                      <a:pPr indent="216000" algn="r" rtl="1"/>
                      <a:r>
                        <a:rPr lang="ar-AE" sz="1400" kern="150" dirty="0">
                          <a:effectLst/>
                          <a:latin typeface="Arial" panose="020B0604020202020204" pitchFamily="34" charset="0"/>
                          <a:cs typeface="Arial" panose="020B0604020202020204" pitchFamily="34" charset="0"/>
                        </a:rPr>
                        <a:t>فقال له القنفذ:</a:t>
                      </a:r>
                    </a:p>
                    <a:p>
                      <a:pPr indent="216000" algn="r" rtl="1"/>
                      <a:r>
                        <a:rPr lang="ar-AE" sz="1400" kern="150" dirty="0">
                          <a:effectLst/>
                          <a:latin typeface="Arial" panose="020B0604020202020204" pitchFamily="34" charset="0"/>
                          <a:cs typeface="Arial" panose="020B0604020202020204" pitchFamily="34" charset="0"/>
                        </a:rPr>
                        <a:t>— يا سيد امحمد، ذراعي قصيرة، ولست خفيف الحركة؛ سأبقى أترقب، وأنت أخرج لنا بعض الأقراص.</a:t>
                      </a:r>
                    </a:p>
                    <a:p>
                      <a:pPr indent="216000" algn="r" rtl="1"/>
                      <a:r>
                        <a:rPr lang="ar-AE" sz="1400" kern="150" dirty="0">
                          <a:effectLst/>
                          <a:latin typeface="Arial" panose="020B0604020202020204" pitchFamily="34" charset="0"/>
                          <a:cs typeface="Arial" panose="020B0604020202020204" pitchFamily="34" charset="0"/>
                        </a:rPr>
                        <a:t>¶ نزع الذئب سدادة الخلية بأسنانه وأدخل يده ليجمع العسل. فاندفع النحل عليهم في أسراب كثيفة؛ وفرّ الذئب بينما كان النحل يلسعه، وهو يصرخ ويتقلب، حتى انتفخ كقِربة.</a:t>
                      </a:r>
                    </a:p>
                    <a:p>
                      <a:pPr indent="216000" algn="r" rtl="1"/>
                      <a:r>
                        <a:rPr lang="ar-AE" sz="1400" kern="150" dirty="0">
                          <a:effectLst/>
                          <a:latin typeface="Arial" panose="020B0604020202020204" pitchFamily="34" charset="0"/>
                          <a:cs typeface="Arial" panose="020B0604020202020204" pitchFamily="34" charset="0"/>
                        </a:rPr>
                        <a:t>¶ أدخل القنفذ رأسه في درعه وأخذ يضحك ملء شدقيه. ثم تدحرج على الأرض وسحق النحل الذي حطّ عليه؛ ولما انتهى، انقضّ عليها وأكلها، ثم مضى في سبيله.</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3947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E325-66B0-2724-57D7-6BA708C0FB14}"/>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22BBA1-54F8-3EFE-33ED-822344FEB84B}"/>
              </a:ext>
            </a:extLst>
          </p:cNvPr>
          <p:cNvGraphicFramePr>
            <a:graphicFrameLocks noGrp="1"/>
          </p:cNvGraphicFramePr>
          <p:nvPr>
            <p:extLst>
              <p:ext uri="{D42A27DB-BD31-4B8C-83A1-F6EECF244321}">
                <p14:modId xmlns:p14="http://schemas.microsoft.com/office/powerpoint/2010/main" val="49359137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issetḥa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yemmẓer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أما الذئب، فظل أيامًا كثيرة في كهفه لا يخرج منه؛ فقد خجل أن يراه أحد في تلك الحال، وتعلّم الدرس. ومنذ ذلك اليوم، لم يحاول مرة أخرى الإيقاع بالقنفذ.</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09211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5698785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Taseqqart n jjwaǧ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قرعة الزواج</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ufrarent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awen-mleɣ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texṣer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Acimi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awtul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taɣyult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ṣṣwab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ad yawi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ccetla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ɛedlen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mseɛyan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snejmeɛen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tilawin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taseqqart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iṣaḥen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taberkant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taqurent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ixten</a:t>
                      </a:r>
                      <a:r>
                        <a:rPr lang="fr-FR" sz="1100" kern="1200" dirty="0">
                          <a:solidFill>
                            <a:schemeClr val="tx1"/>
                          </a:solidFill>
                          <a:effectLst/>
                          <a:latin typeface="+mn-lt"/>
                          <a:ea typeface="+mn-ea"/>
                          <a:cs typeface="+mn-cs"/>
                        </a:rPr>
                        <a:t>-as.</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أحد الأيام، تشاجر الذئب مع زوجته، وأعرض عنها، وأراد أن يتزوج من جديد. استشار القنفذ، ثم جمع الحيوانات وقال لها:</a:t>
                      </a:r>
                    </a:p>
                    <a:p>
                      <a:pPr indent="216000" algn="r" rtl="1"/>
                      <a:r>
                        <a:rPr lang="ar-AE" sz="1400" kern="150" dirty="0">
                          <a:effectLst/>
                          <a:latin typeface="Arial" panose="020B0604020202020204" pitchFamily="34" charset="0"/>
                          <a:cs typeface="Arial" panose="020B0604020202020204" pitchFamily="34" charset="0"/>
                        </a:rPr>
                        <a:t>— أيها الإخوة، لا بد أن أبيّن لكم عادة سيئة في الزواج حتى نصححها. لماذا، مثلًا، لا يتزوج الأرنب إلا أنثى الأرنب، والحمار إلا أنثى الحمار، والجمل إلا أنثى الجمل؟ هذا الأمر ليس عادلًا ولا سليمًا. علينا أن نتزاوج من سلالات مختلفة؛ فيهب أحدنا الآخر حكمة أو طولًا أو قوة، فتتغير السلالة، ويولد أطفالنا جميعًا صالحين ومتساوين تمامًا.</a:t>
                      </a:r>
                    </a:p>
                    <a:p>
                      <a:pPr indent="216000" algn="r" rtl="1"/>
                      <a:r>
                        <a:rPr lang="ar-AE" sz="1400" kern="150" dirty="0">
                          <a:effectLst/>
                          <a:latin typeface="Arial" panose="020B0604020202020204" pitchFamily="34" charset="0"/>
                          <a:cs typeface="Arial" panose="020B0604020202020204" pitchFamily="34" charset="0"/>
                        </a:rPr>
                        <a:t>¶ كان السيد امحمد بارعًا في الكلام، وصادف أن الحيوانات وافقته، فقبلت هذه العادة الجديدة.</a:t>
                      </a:r>
                    </a:p>
                    <a:p>
                      <a:pPr indent="216000" algn="r" rtl="1"/>
                      <a:r>
                        <a:rPr lang="ar-AE" sz="1400" kern="150" dirty="0">
                          <a:effectLst/>
                          <a:latin typeface="Arial" panose="020B0604020202020204" pitchFamily="34" charset="0"/>
                          <a:cs typeface="Arial" panose="020B0604020202020204" pitchFamily="34" charset="0"/>
                        </a:rPr>
                        <a:t>¶ ثم جمعوا الإناث، وأجرى القنفذ القرعة بينهن. فنال كل واحد ما وقع عليه سهمه: وقعت أنثى الجمل من نصيب الذئب، بينما وقعت أنثى الذئب، السوداء الهزيلة، من نصيب الجمل.</a:t>
                      </a:r>
                    </a:p>
                    <a:p>
                      <a:pPr indent="216000" algn="r" rtl="1"/>
                      <a:r>
                        <a:rPr lang="ar-AE" sz="1400" kern="150" dirty="0">
                          <a:effectLst/>
                          <a:latin typeface="Arial" panose="020B0604020202020204" pitchFamily="34" charset="0"/>
                          <a:cs typeface="Arial" panose="020B0604020202020204" pitchFamily="34" charset="0"/>
                        </a:rPr>
                        <a:t>نهض الجمل رافضًا ذلك، لكن القنفذ قال له:</a:t>
                      </a:r>
                    </a:p>
                    <a:p>
                      <a:pPr indent="216000" algn="r" rtl="1"/>
                      <a:r>
                        <a:rPr lang="ar-AE" sz="1400" kern="150" dirty="0">
                          <a:effectLst/>
                          <a:latin typeface="Arial" panose="020B0604020202020204" pitchFamily="34" charset="0"/>
                          <a:cs typeface="Arial" panose="020B0604020202020204" pitchFamily="34" charset="0"/>
                        </a:rPr>
                        <a:t>— القانون يلزمك!</a:t>
                      </a:r>
                    </a:p>
                    <a:p>
                      <a:pPr indent="216000" algn="r" rtl="1"/>
                      <a:r>
                        <a:rPr lang="ar-AE" sz="1400" kern="150" dirty="0">
                          <a:effectLst/>
                          <a:latin typeface="Arial" panose="020B0604020202020204" pitchFamily="34" charset="0"/>
                          <a:cs typeface="Arial" panose="020B0604020202020204" pitchFamily="34" charset="0"/>
                        </a:rPr>
                        <a:t>سكت، فأخذ الذئب زوجته؛ أما القنفذ، فقد كان يهدهد الجمل بينما كان الذئب يختنه. </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91331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F499-C236-C882-B792-02ABC07C104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91799A0F-00A6-731E-9AAA-18687AC284FA}"/>
              </a:ext>
            </a:extLst>
          </p:cNvPr>
          <p:cNvGraphicFramePr>
            <a:graphicFrameLocks noGrp="1"/>
          </p:cNvGraphicFramePr>
          <p:nvPr>
            <p:extLst>
              <p:ext uri="{D42A27DB-BD31-4B8C-83A1-F6EECF244321}">
                <p14:modId xmlns:p14="http://schemas.microsoft.com/office/powerpoint/2010/main" val="190865861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sshala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teɣleb-it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فرح السيد امحمد بعروسه الجديدة؛ فلم ينقصها طول ولا قوة ولا رفق، لكنه تحيّر تمامًا؛ فقد كانت تفوقه حجمًا بكثير!</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31755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10490428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Tameɣṛa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عرس الذئب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taqbaylit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tameɣbunt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leɛṛas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lḥaṣul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tamessast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sbarken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tteklen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ten-yessečč</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tebliɛ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telqimt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yas-yenna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Mebṛuk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-as-d: Ma </a:t>
                      </a:r>
                      <a:r>
                        <a:rPr lang="fr-FR" sz="1100" kern="1200" dirty="0" err="1">
                          <a:solidFill>
                            <a:schemeClr val="tx1"/>
                          </a:solidFill>
                          <a:effectLst/>
                          <a:latin typeface="+mn-lt"/>
                          <a:ea typeface="+mn-ea"/>
                          <a:cs typeface="+mn-cs"/>
                        </a:rPr>
                        <a:t>tebrek</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yehwi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beggnen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ixelṭ</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ugeffur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wanẓar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lebraq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ṛṛɛud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bbehdeln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 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Lehwa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tafukt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Uccen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yewwi</a:t>
                      </a:r>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tameṭṭut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Ur </a:t>
                      </a:r>
                      <a:r>
                        <a:rPr lang="fr-FR" sz="1100" i="1" kern="1200" dirty="0" err="1">
                          <a:solidFill>
                            <a:schemeClr val="tx1"/>
                          </a:solidFill>
                          <a:effectLst/>
                          <a:latin typeface="+mn-lt"/>
                          <a:ea typeface="+mn-ea"/>
                          <a:cs typeface="+mn-cs"/>
                        </a:rPr>
                        <a:t>aɣ</a:t>
                      </a:r>
                      <a:r>
                        <a:rPr lang="fr-FR" sz="1100" i="1" kern="1200" dirty="0">
                          <a:solidFill>
                            <a:schemeClr val="tx1"/>
                          </a:solidFill>
                          <a:effectLst/>
                          <a:latin typeface="+mn-lt"/>
                          <a:ea typeface="+mn-ea"/>
                          <a:cs typeface="+mn-cs"/>
                        </a:rPr>
                        <a:t>-d-</a:t>
                      </a:r>
                      <a:r>
                        <a:rPr lang="fr-FR" sz="1100" i="1" kern="1200" dirty="0" err="1">
                          <a:solidFill>
                            <a:schemeClr val="tx1"/>
                          </a:solidFill>
                          <a:effectLst/>
                          <a:latin typeface="+mn-lt"/>
                          <a:ea typeface="+mn-ea"/>
                          <a:cs typeface="+mn-cs"/>
                        </a:rPr>
                        <a:t>yefki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taqessult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Ad as-d-</a:t>
                      </a:r>
                      <a:r>
                        <a:rPr lang="fr-FR" sz="1100" i="1" kern="1200" dirty="0" err="1">
                          <a:solidFill>
                            <a:schemeClr val="tx1"/>
                          </a:solidFill>
                          <a:effectLst/>
                          <a:latin typeface="+mn-lt"/>
                          <a:ea typeface="+mn-ea"/>
                          <a:cs typeface="+mn-cs"/>
                        </a:rPr>
                        <a:t>yefk</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Ṛebbi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taqeẓẓult</a:t>
                      </a:r>
                      <a:r>
                        <a:rPr lang="fr-FR" sz="1100" i="1"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أقام الذئب وليمة عرس، لكنه لم يتبع عادات القبائل، ولم يجهز للعروس شيئًا، فتركها بائسة مهملة: لم تكن هناك مواكب زفاف، ولا طعام يُطهى؛ باختصار، كان عرسًا كَئِيبًا.</a:t>
                      </a:r>
                    </a:p>
                    <a:p>
                      <a:pPr indent="216000" algn="r" rtl="1"/>
                      <a:r>
                        <a:rPr lang="ar-AE" sz="1400" kern="150" dirty="0">
                          <a:effectLst/>
                          <a:latin typeface="Arial" panose="020B0604020202020204" pitchFamily="34" charset="0"/>
                          <a:cs typeface="Arial" panose="020B0604020202020204" pitchFamily="34" charset="0"/>
                        </a:rPr>
                        <a:t>¶ جاءت الحيوانات لتهنئه، وكانت تأمل أن يطعمها فتسد جوعها، لكن لم يبتلع أي منها لقمة واحدة. وحين كان أحدهم يقول له: مبارك عليك زوجتك الجديدة، يا سيد امحمد! كان يجيبه: إن جثت على ركبتيها! وهكذا استمر الأمر حتى آخر ضيف.</a:t>
                      </a:r>
                    </a:p>
                    <a:p>
                      <a:pPr indent="216000" algn="r" rtl="1"/>
                      <a:r>
                        <a:rPr lang="ar-AE" sz="1400" kern="150" dirty="0">
                          <a:effectLst/>
                          <a:latin typeface="Arial" panose="020B0604020202020204" pitchFamily="34" charset="0"/>
                          <a:cs typeface="Arial" panose="020B0604020202020204" pitchFamily="34" charset="0"/>
                        </a:rPr>
                        <a:t>¶ وأظهر </a:t>
                      </a:r>
                      <a:r>
                        <a:rPr lang="en-US" sz="1400" dirty="0" err="1"/>
                        <a:t>أهل</a:t>
                      </a:r>
                      <a:r>
                        <a:rPr lang="ar-AE" sz="1400" kern="150" dirty="0">
                          <a:effectLst/>
                          <a:latin typeface="Arial" panose="020B0604020202020204" pitchFamily="34" charset="0"/>
                          <a:cs typeface="Arial" panose="020B0604020202020204" pitchFamily="34" charset="0"/>
                        </a:rPr>
                        <a:t> الله استياءهم من ذلك الزواج في السماء: امتزج المطر بالشمس، وظهرت عروس المطر، ورافقها الريح والبرق والرعد والبَرَد، حتى ظن الناس أن العالم يوشك أن ينتهي.</a:t>
                      </a:r>
                    </a:p>
                    <a:p>
                      <a:pPr indent="216000" algn="r" rtl="1"/>
                      <a:r>
                        <a:rPr lang="ar-AE" sz="1400" kern="150" dirty="0">
                          <a:effectLst/>
                          <a:latin typeface="Arial" panose="020B0604020202020204" pitchFamily="34" charset="0"/>
                          <a:cs typeface="Arial" panose="020B0604020202020204" pitchFamily="34" charset="0"/>
                        </a:rPr>
                        <a:t>¶ ثم خرجت الحيوانات، تفضح الذئب وتهتف له:</a:t>
                      </a:r>
                    </a:p>
                    <a:p>
                      <a:pPr indent="216000" algn="r" rtl="1"/>
                      <a:r>
                        <a:rPr lang="ar-AE" sz="1400" i="1" kern="150" dirty="0">
                          <a:effectLst/>
                          <a:latin typeface="Arial" panose="020B0604020202020204" pitchFamily="34" charset="0"/>
                          <a:cs typeface="Arial" panose="020B0604020202020204" pitchFamily="34" charset="0"/>
                        </a:rPr>
                        <a:t>يا</a:t>
                      </a:r>
                      <a:r>
                        <a:rPr lang="fr-FR" sz="1400" i="1" kern="150" dirty="0">
                          <a:effectLst/>
                          <a:latin typeface="Arial" panose="020B0604020202020204" pitchFamily="34" charset="0"/>
                          <a:cs typeface="Arial" panose="020B0604020202020204" pitchFamily="34" charset="0"/>
                        </a:rPr>
                        <a:t> </a:t>
                      </a:r>
                      <a:r>
                        <a:rPr lang="ar-AE" sz="1400" i="1" kern="150" dirty="0">
                          <a:effectLst/>
                          <a:latin typeface="Arial" panose="020B0604020202020204" pitchFamily="34" charset="0"/>
                          <a:cs typeface="Arial" panose="020B0604020202020204" pitchFamily="34" charset="0"/>
                        </a:rPr>
                        <a:t>لطيف! يا</a:t>
                      </a:r>
                      <a:r>
                        <a:rPr lang="fr-FR" sz="1400" i="1" kern="150" dirty="0">
                          <a:effectLst/>
                          <a:latin typeface="Arial" panose="020B0604020202020204" pitchFamily="34" charset="0"/>
                          <a:cs typeface="Arial" panose="020B0604020202020204" pitchFamily="34" charset="0"/>
                        </a:rPr>
                        <a:t> </a:t>
                      </a:r>
                      <a:r>
                        <a:rPr lang="ar-AE" sz="1400" i="1" kern="150" dirty="0">
                          <a:effectLst/>
                          <a:latin typeface="Arial" panose="020B0604020202020204" pitchFamily="34" charset="0"/>
                          <a:cs typeface="Arial" panose="020B0604020202020204" pitchFamily="34" charset="0"/>
                        </a:rPr>
                        <a:t>لطيف!</a:t>
                      </a:r>
                    </a:p>
                    <a:p>
                      <a:pPr indent="216000" algn="r" rtl="1"/>
                      <a:r>
                        <a:rPr lang="ar-AE" sz="1400" i="1" kern="150" dirty="0">
                          <a:effectLst/>
                          <a:latin typeface="Arial" panose="020B0604020202020204" pitchFamily="34" charset="0"/>
                          <a:cs typeface="Arial" panose="020B0604020202020204" pitchFamily="34" charset="0"/>
                        </a:rPr>
                        <a:t>افروا، افروا!</a:t>
                      </a:r>
                    </a:p>
                    <a:p>
                      <a:pPr indent="216000" algn="r" rtl="1"/>
                      <a:r>
                        <a:rPr lang="ar-AE" sz="1400" i="1" kern="150" dirty="0">
                          <a:effectLst/>
                          <a:latin typeface="Arial" panose="020B0604020202020204" pitchFamily="34" charset="0"/>
                          <a:cs typeface="Arial" panose="020B0604020202020204" pitchFamily="34" charset="0"/>
                        </a:rPr>
                        <a:t>مطر وشمس!</a:t>
                      </a:r>
                    </a:p>
                    <a:p>
                      <a:pPr indent="216000" algn="r" rtl="1"/>
                      <a:r>
                        <a:rPr lang="ar-AE" sz="1400" i="1" kern="150" dirty="0">
                          <a:effectLst/>
                          <a:latin typeface="Arial" panose="020B0604020202020204" pitchFamily="34" charset="0"/>
                          <a:cs typeface="Arial" panose="020B0604020202020204" pitchFamily="34" charset="0"/>
                        </a:rPr>
                        <a:t>اتخذ الذئب امراة!</a:t>
                      </a:r>
                    </a:p>
                    <a:p>
                      <a:pPr indent="216000" algn="r" rtl="1"/>
                      <a:r>
                        <a:rPr lang="ar-AE" sz="1400" i="1" kern="150" dirty="0">
                          <a:effectLst/>
                          <a:latin typeface="Arial" panose="020B0604020202020204" pitchFamily="34" charset="0"/>
                          <a:cs typeface="Arial" panose="020B0604020202020204" pitchFamily="34" charset="0"/>
                        </a:rPr>
                        <a:t>افروا، افروا!</a:t>
                      </a:r>
                    </a:p>
                    <a:p>
                      <a:pPr indent="216000" algn="r" rtl="1"/>
                      <a:r>
                        <a:rPr lang="ar-AE" sz="1400" i="1" kern="150" dirty="0">
                          <a:effectLst/>
                          <a:latin typeface="Arial" panose="020B0604020202020204" pitchFamily="34" charset="0"/>
                          <a:cs typeface="Arial" panose="020B0604020202020204" pitchFamily="34" charset="0"/>
                        </a:rPr>
                        <a:t>لم يعطنا صحنًا من الطعام:</a:t>
                      </a:r>
                    </a:p>
                    <a:p>
                      <a:pPr indent="216000" algn="r" rtl="1"/>
                      <a:r>
                        <a:rPr lang="ar-AE" sz="1400" i="1" kern="150" dirty="0">
                          <a:effectLst/>
                          <a:latin typeface="Arial" panose="020B0604020202020204" pitchFamily="34" charset="0"/>
                          <a:cs typeface="Arial" panose="020B0604020202020204" pitchFamily="34" charset="0"/>
                        </a:rPr>
                        <a:t>ليضربه الله بورم!</a:t>
                      </a:r>
                      <a:endParaRPr lang="en-GB" sz="1400" i="1" strike="sngStrike"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2749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AF47-D020-8555-010A-25E69FDE2C1B}"/>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4E9874D-07F2-44EE-7810-43593CFDC331}"/>
              </a:ext>
            </a:extLst>
          </p:cNvPr>
          <p:cNvGraphicFramePr>
            <a:graphicFrameLocks noGrp="1"/>
          </p:cNvGraphicFramePr>
          <p:nvPr>
            <p:extLst>
              <p:ext uri="{D42A27DB-BD31-4B8C-83A1-F6EECF244321}">
                <p14:modId xmlns:p14="http://schemas.microsoft.com/office/powerpoint/2010/main" val="170522210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tqeslin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tilmawin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ijeqduṛen-is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tɛedda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i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yessin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leḥkaṛ-is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راح الذئب يقذفهم بالأوعية الفارغة، فكسر كل آنية الفخار التي لديه.</a:t>
                      </a:r>
                    </a:p>
                    <a:p>
                      <a:pPr indent="216000" algn="r" rtl="1"/>
                      <a:r>
                        <a:rPr lang="ar-AE" sz="1400" kern="150" dirty="0">
                          <a:effectLst/>
                          <a:latin typeface="Arial" panose="020B0604020202020204" pitchFamily="34" charset="0"/>
                          <a:cs typeface="Arial" panose="020B0604020202020204" pitchFamily="34" charset="0"/>
                        </a:rPr>
                        <a:t>¶ ومنذ ذلك الحين، عاش مع أنثى الجمل حتى أدرك أنها تغلبه تمامًا، فجعلها تجر المحراث؛ فكثيرًا ما تتزوج امرأة فاضلة رجلًا تافهًا لا يعرف قدرها الحقيقي!</a:t>
                      </a:r>
                      <a:endParaRPr lang="en-GB" sz="1400" i="1" strike="sngStrike" dirty="0">
                        <a:solidFill>
                          <a:srgbClr val="FF0000"/>
                        </a:solidFill>
                        <a:latin typeface="Arial" panose="020B0604020202020204" pitchFamily="34" charset="0"/>
                        <a:cs typeface="Arial" panose="020B0604020202020204" pitchFamily="34" charset="0"/>
                      </a:endParaRPr>
                    </a:p>
                    <a:p>
                      <a:pPr algn="r" rtl="1"/>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492416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58675320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lleft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حقل اللفت</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taffellaḥt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tṛemmant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zzerriɛa</a:t>
                      </a:r>
                      <a:r>
                        <a:rPr lang="fr-FR" sz="1100" kern="1200" dirty="0">
                          <a:solidFill>
                            <a:schemeClr val="tx1"/>
                          </a:solidFill>
                          <a:effectLst/>
                          <a:latin typeface="+mn-lt"/>
                          <a:ea typeface="+mn-ea"/>
                          <a:cs typeface="+mn-cs"/>
                        </a:rPr>
                        <a:t>. Heggan-d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tagersa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tazaglutt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tafekkalt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ijebdan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tmazirt</a:t>
                      </a:r>
                      <a:r>
                        <a:rPr lang="fr-FR" sz="1100" kern="1200" dirty="0">
                          <a:solidFill>
                            <a:schemeClr val="tx1"/>
                          </a:solidFill>
                          <a:effectLst/>
                          <a:latin typeface="+mn-lt"/>
                          <a:ea typeface="+mn-ea"/>
                          <a:cs typeface="+mn-cs"/>
                        </a:rPr>
                        <a:t>, bran, </a:t>
                      </a:r>
                      <a:r>
                        <a:rPr lang="fr-FR" sz="1100" kern="1200" dirty="0" err="1">
                          <a:solidFill>
                            <a:schemeClr val="tx1"/>
                          </a:solidFill>
                          <a:effectLst/>
                          <a:latin typeface="+mn-lt"/>
                          <a:ea typeface="+mn-ea"/>
                          <a:cs typeface="+mn-cs"/>
                        </a:rPr>
                        <a:t>steɛfan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yejbed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tamezzurt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yebberber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sserris</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nefreq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Ssextaṛeɣ-k: </a:t>
                      </a:r>
                      <a:r>
                        <a:rPr lang="fr-FR" sz="1100" kern="1200" dirty="0" err="1">
                          <a:solidFill>
                            <a:schemeClr val="tx1"/>
                          </a:solidFill>
                          <a:effectLst/>
                          <a:latin typeface="+mn-lt"/>
                          <a:ea typeface="+mn-ea"/>
                          <a:cs typeface="+mn-cs"/>
                        </a:rPr>
                        <a: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Tɛeǧb-it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tizzegzewt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دخل الذئب في شراكة زراعية مع القنفذ: قدّم الذئب أنثى الجمل، وقدّم القنفذ، الذي كان بيته عامرًا بالخيرات كالرمانة، البذور. وأعدّا الأدوات: نصل المحراث، والنير، والقلادة الخشبية، وأحزمة الجلد.</a:t>
                      </a:r>
                    </a:p>
                    <a:p>
                      <a:pPr indent="216000" algn="r" rtl="1"/>
                      <a:r>
                        <a:rPr lang="ar-AE" sz="1400" kern="150" dirty="0">
                          <a:effectLst/>
                          <a:latin typeface="Arial" panose="020B0604020202020204" pitchFamily="34" charset="0"/>
                          <a:cs typeface="Arial" panose="020B0604020202020204" pitchFamily="34" charset="0"/>
                        </a:rPr>
                        <a:t>¶ وحين هطلت الأمطار الأولى، استعدا لزراعة اللفت. أرسيا النير على الجمل، وبذرا البذور وبدآ الحرث؛ ركب القنفذ ذيل المحراث ليوجهه، بينما أمسك الذئب بالمعول لتفتيت الكتل الترابية.</a:t>
                      </a:r>
                    </a:p>
                    <a:p>
                      <a:pPr indent="216000" algn="r" rtl="1"/>
                      <a:r>
                        <a:rPr lang="ar-AE" sz="1400" kern="150" dirty="0">
                          <a:effectLst/>
                          <a:latin typeface="Arial" panose="020B0604020202020204" pitchFamily="34" charset="0"/>
                          <a:cs typeface="Arial" panose="020B0604020202020204" pitchFamily="34" charset="0"/>
                        </a:rPr>
                        <a:t>¶ ولما انتهى العمل في الحقل كله، نزعا النير واستراحا. وكانت بذور اللفت قد أقسمت ألا تقضي ليلة واحدة في التراب؛ فأنبتت فورًا على طول المسار، وامتدت في صفوف.</a:t>
                      </a:r>
                    </a:p>
                    <a:p>
                      <a:pPr indent="216000" algn="r" rtl="1"/>
                      <a:r>
                        <a:rPr lang="ar-AE" sz="1400" kern="150" dirty="0">
                          <a:effectLst/>
                          <a:latin typeface="Arial" panose="020B0604020202020204" pitchFamily="34" charset="0"/>
                          <a:cs typeface="Arial" panose="020B0604020202020204" pitchFamily="34" charset="0"/>
                        </a:rPr>
                        <a:t>¶ لم تلبث أن انتشرت أوراقها، واخضرّت كالسريس. وحين نضجت، قال القنفذ للذئب:</a:t>
                      </a:r>
                    </a:p>
                    <a:p>
                      <a:pPr indent="216000" algn="r" rtl="1"/>
                      <a:r>
                        <a:rPr lang="ar-AE" sz="1400" kern="150" dirty="0">
                          <a:effectLst/>
                          <a:latin typeface="Arial" panose="020B0604020202020204" pitchFamily="34" charset="0"/>
                          <a:cs typeface="Arial" panose="020B0604020202020204" pitchFamily="34" charset="0"/>
                        </a:rPr>
                        <a:t>— لنجمع المحصول ونقتسمه.</a:t>
                      </a:r>
                    </a:p>
                    <a:p>
                      <a:pPr indent="216000" algn="r" rtl="1"/>
                      <a:r>
                        <a:rPr lang="ar-AE" sz="1400" kern="150" dirty="0">
                          <a:effectLst/>
                          <a:latin typeface="Arial" panose="020B0604020202020204" pitchFamily="34" charset="0"/>
                          <a:cs typeface="Arial" panose="020B0604020202020204" pitchFamily="34" charset="0"/>
                        </a:rPr>
                        <a:t>—</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فقال الذئب:</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لا! لك أن تختار: خذ ما فوق الأرض أو ما تحتها.</a:t>
                      </a:r>
                    </a:p>
                    <a:p>
                      <a:pPr indent="216000" algn="r" rtl="1"/>
                      <a:r>
                        <a:rPr lang="ar-AE" sz="1400" kern="150" dirty="0">
                          <a:effectLst/>
                          <a:latin typeface="Arial" panose="020B0604020202020204" pitchFamily="34" charset="0"/>
                          <a:cs typeface="Arial" panose="020B0604020202020204" pitchFamily="34" charset="0"/>
                        </a:rPr>
                        <a:t>أعجبت الذئب الأوراق الخضراء. فقال له القنفذ:</a:t>
                      </a:r>
                    </a:p>
                    <a:p>
                      <a:pPr indent="216000" algn="r" rtl="1"/>
                      <a:r>
                        <a:rPr lang="ar-AE" sz="1400" kern="150" dirty="0">
                          <a:effectLst/>
                          <a:latin typeface="Arial" panose="020B0604020202020204" pitchFamily="34" charset="0"/>
                          <a:cs typeface="Arial" panose="020B0604020202020204" pitchFamily="34" charset="0"/>
                        </a:rPr>
                        <a:t>— ماذا ستأخذ؟</a:t>
                      </a:r>
                    </a:p>
                    <a:p>
                      <a:pPr indent="216000" algn="r" rtl="1"/>
                      <a:r>
                        <a:rPr lang="ar-AE" sz="1400" kern="150" dirty="0">
                          <a:effectLst/>
                          <a:latin typeface="Arial" panose="020B0604020202020204" pitchFamily="34" charset="0"/>
                          <a:cs typeface="Arial" panose="020B0604020202020204" pitchFamily="34" charset="0"/>
                        </a:rPr>
                        <a:t>— فأجابه الذئب:</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ما فوق الأرض!</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اتفقنا! لقد أخذته!</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8829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7F029-667C-8807-17FC-5BE1438A3F41}"/>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4D5269-9368-7B0A-C9D7-8FA47C3AD520}"/>
              </a:ext>
            </a:extLst>
          </p:cNvPr>
          <p:cNvGraphicFramePr>
            <a:graphicFrameLocks noGrp="1"/>
          </p:cNvGraphicFramePr>
          <p:nvPr>
            <p:extLst>
              <p:ext uri="{D42A27DB-BD31-4B8C-83A1-F6EECF244321}">
                <p14:modId xmlns:p14="http://schemas.microsoft.com/office/powerpoint/2010/main" val="141130627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sellaw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yeqqaz</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tdeggar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جمع الذئب الناس في عونة، فحصدوا له كل تلك الأوراق. ولما جفّت، رماها كلها، وبقي خالي الوفاض تمامًا. أما القنفذ، فأخذ يحفر جذور اللفت ويحملها إلى بيته حتى امتلأ بها.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21036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8739109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nneɛma</a:t>
                      </a: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زراعة الحبوب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Gan </a:t>
                      </a:r>
                      <a:r>
                        <a:rPr lang="fr-FR" sz="1100" kern="1200" dirty="0" err="1">
                          <a:solidFill>
                            <a:schemeClr val="tx1"/>
                          </a:solidFill>
                          <a:effectLst/>
                          <a:latin typeface="+mn-lt"/>
                          <a:ea typeface="+mn-ea"/>
                          <a:cs typeface="+mn-cs"/>
                        </a:rPr>
                        <a:t>asudu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seksu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dehnen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yellexs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sen-</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iḥbiben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lǧiran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ɣran-asen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lfattiḥa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ɛellmen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taferka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timẓin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taɣezzut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ssusun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anɛam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lḥeb</a:t>
                      </a:r>
                      <a:r>
                        <a:rPr lang="fr-FR" sz="1100" kern="1200" dirty="0">
                          <a:solidFill>
                            <a:schemeClr val="tx1"/>
                          </a:solidFill>
                          <a:effectLst/>
                          <a:latin typeface="+mn-lt"/>
                          <a:ea typeface="+mn-ea"/>
                          <a:cs typeface="+mn-cs"/>
                        </a:rPr>
                        <a:t> alim.</a:t>
                      </a:r>
                    </a:p>
                    <a:p>
                      <a:pPr indent="457200"/>
                      <a:r>
                        <a:rPr lang="fr-FR" sz="1100" kern="1200" dirty="0" err="1">
                          <a:solidFill>
                            <a:schemeClr val="tx1"/>
                          </a:solidFill>
                          <a:effectLst/>
                          <a:latin typeface="+mn-lt"/>
                          <a:ea typeface="+mn-ea"/>
                          <a:cs typeface="+mn-cs"/>
                        </a:rPr>
                        <a:t>Cellfen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بعد مرور بعض الوقت، استعدا لزراعة الحبوب. وأعدّا وليمة الحرث التقليدية (أسودو): فتلا الكسكس بالفول وصبّا عليه الزيت حتى تشبّع به، ثم دعوا أقاربهم وأصدقاءهم وجيرانهم. أكلوا حتى شبعوا، ثم قرأوا لهم الفاتحة.</a:t>
                      </a:r>
                    </a:p>
                    <a:p>
                      <a:pPr indent="216000" algn="r" rtl="1"/>
                      <a:r>
                        <a:rPr lang="ar-AE" sz="1400" kern="150" dirty="0">
                          <a:effectLst/>
                          <a:latin typeface="Arial" panose="020B0604020202020204" pitchFamily="34" charset="0"/>
                          <a:cs typeface="Arial" panose="020B0604020202020204" pitchFamily="34" charset="0"/>
                        </a:rPr>
                        <a:t>¶ أرسيا النير على أنثى الجمل وبدآ العمل. وبعد تحديد مساحة الحقل، بذراه قمحًا أو شعيرًا. ثم أمسك أحدهما بذيل المحراث، والآخر بالمعول؛ أخدود يتبع أخدودًا، ويوم يتبع يومًا، حتى حُرثت قطعة الأرض كلها.</a:t>
                      </a:r>
                    </a:p>
                    <a:p>
                      <a:pPr indent="216000" algn="r" rtl="1"/>
                      <a:r>
                        <a:rPr lang="ar-AE" sz="1400" kern="150" dirty="0">
                          <a:effectLst/>
                          <a:latin typeface="Arial" panose="020B0604020202020204" pitchFamily="34" charset="0"/>
                          <a:cs typeface="Arial" panose="020B0604020202020204" pitchFamily="34" charset="0"/>
                        </a:rPr>
                        <a:t>¶ حلّ الربيع فعزقا الزرع، ثم جاء الصيف فنضج. وقد أنعم الله عليهما بالوفرة؛ فكان الحب أكثر من التبن. قطعا بعض السنابل الخضراء وشوياها لصنع أركول، ليتذوقاه، فوجداها ممتازة.</a:t>
                      </a:r>
                    </a:p>
                    <a:p>
                      <a:pPr indent="216000" algn="r" rtl="1"/>
                      <a:r>
                        <a:rPr lang="ar-AE" sz="1400" kern="150" dirty="0">
                          <a:effectLst/>
                          <a:latin typeface="Arial" panose="020B0604020202020204" pitchFamily="34" charset="0"/>
                          <a:cs typeface="Arial" panose="020B0604020202020204" pitchFamily="34" charset="0"/>
                        </a:rPr>
                        <a:t>¶ وحين جفّ المحصول، قال القنفذ للذئب:</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99939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003CE-CC13-6EBD-5A32-E25CCD79583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6F234AAE-1694-11F5-A0ED-71912B61B23C}"/>
              </a:ext>
            </a:extLst>
          </p:cNvPr>
          <p:cNvGraphicFramePr>
            <a:graphicFrameLocks noGrp="1"/>
          </p:cNvGraphicFramePr>
          <p:nvPr>
            <p:extLst>
              <p:ext uri="{D42A27DB-BD31-4B8C-83A1-F6EECF244321}">
                <p14:modId xmlns:p14="http://schemas.microsoft.com/office/powerpoint/2010/main" val="243582428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rreẓq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Awi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tafellaḥt-is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tcadd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tadliwin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irinen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adellas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iẓuran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لنجمع مؤونتنا أولًا، ثم نقتسمها.</a:t>
                      </a:r>
                    </a:p>
                    <a:p>
                      <a:pPr indent="216000" algn="r" rtl="1"/>
                      <a:r>
                        <a:rPr lang="ar-AE" sz="1400" kern="150" dirty="0">
                          <a:effectLst/>
                          <a:latin typeface="Arial" panose="020B0604020202020204" pitchFamily="34" charset="0"/>
                          <a:cs typeface="Arial" panose="020B0604020202020204" pitchFamily="34" charset="0"/>
                        </a:rPr>
                        <a:t>— فقال الذئب:</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لا! خذ ما فوق الأرض أو ما تحتها.</a:t>
                      </a:r>
                    </a:p>
                    <a:p>
                      <a:pPr indent="216000" algn="r" rtl="1"/>
                      <a:r>
                        <a:rPr lang="ar-AE" sz="1400" kern="150" dirty="0">
                          <a:effectLst/>
                          <a:latin typeface="Arial" panose="020B0604020202020204" pitchFamily="34" charset="0"/>
                          <a:cs typeface="Arial" panose="020B0604020202020204" pitchFamily="34" charset="0"/>
                        </a:rPr>
                        <a:t>— فقال القنفذ:</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ماذا ستأخذ؟</a:t>
                      </a:r>
                    </a:p>
                    <a:p>
                      <a:pPr indent="216000" algn="r" rtl="1"/>
                      <a:r>
                        <a:rPr lang="ar-AE" sz="1400" kern="150" dirty="0">
                          <a:effectLst/>
                          <a:latin typeface="Arial" panose="020B0604020202020204" pitchFamily="34" charset="0"/>
                          <a:cs typeface="Arial" panose="020B0604020202020204" pitchFamily="34" charset="0"/>
                        </a:rPr>
                        <a:t>— فأجابه الذئب:</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ما تحت الأرض! (أراد أن ينتقم منه بسبب ما جرى في حقل اللفت).</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اتفقنا! لقد أخذته!</a:t>
                      </a:r>
                    </a:p>
                    <a:p>
                      <a:pPr indent="216000" algn="r" rtl="1"/>
                      <a:r>
                        <a:rPr lang="ar-AE" sz="1400" kern="150" dirty="0">
                          <a:effectLst/>
                          <a:latin typeface="Arial" panose="020B0604020202020204" pitchFamily="34" charset="0"/>
                          <a:cs typeface="Arial" panose="020B0604020202020204" pitchFamily="34" charset="0"/>
                        </a:rPr>
                        <a:t>¶ جمع القنفذ الناس في عونة، فحصدوا زرعه له؛ وربطوا السنابل في حزم صغيرة، ثم جمعوها في حزَم أكبر، حتى وصلت إلى البيدر.</a:t>
                      </a:r>
                    </a:p>
                    <a:p>
                      <a:pPr indent="216000" algn="r" rtl="1"/>
                      <a:r>
                        <a:rPr lang="ar-AE" sz="1400" kern="150" dirty="0">
                          <a:effectLst/>
                          <a:latin typeface="Arial" panose="020B0604020202020204" pitchFamily="34" charset="0"/>
                          <a:cs typeface="Arial" panose="020B0604020202020204" pitchFamily="34" charset="0"/>
                        </a:rPr>
                        <a:t>¶ وجمع الذئب الناس في عونة أيضًا، لكنهم لم يجدوا سوى الأعشاب والجذور. ومرة أخرى، عاد السيد امحمد خالي الوفاض تمامًا.</a:t>
                      </a:r>
                      <a:endParaRPr lang="en-GB" sz="1400" dirty="0">
                        <a:latin typeface="Cascadia Mono" panose="020B0609020000020004" pitchFamily="49" charset="0"/>
                        <a:cs typeface="Cascadia Mono" panose="020B0609020000020004" pitchFamily="49"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1671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3662313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Tazzala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السباق</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acrik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-w: ad </a:t>
                      </a:r>
                      <a:r>
                        <a:rPr lang="fr-FR" sz="1100" kern="1200" dirty="0" err="1">
                          <a:solidFill>
                            <a:schemeClr val="tx1"/>
                          </a:solidFill>
                          <a:effectLst/>
                          <a:latin typeface="+mn-lt"/>
                          <a:ea typeface="+mn-ea"/>
                          <a:cs typeface="+mn-cs"/>
                        </a:rPr>
                        <a:t>nɛiwed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zzazedgen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tazzert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telweḥt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ukerfa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nemzazzal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leflani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yewwḍen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amezwaru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ad yawi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ttemcabin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sin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Netta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usaku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uqerwi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Yemzazzal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yesnukkuf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yettiqi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sbeɛṭac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asaku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tednect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التفت الذئب إلى القنفذ وقال له:</a:t>
                      </a:r>
                    </a:p>
                    <a:p>
                      <a:pPr indent="216000" algn="r" rtl="1"/>
                      <a:r>
                        <a:rPr lang="ar-AE" sz="1400" kern="150" dirty="0">
                          <a:effectLst/>
                          <a:latin typeface="Arial" panose="020B0604020202020204" pitchFamily="34" charset="0"/>
                          <a:cs typeface="Arial" panose="020B0604020202020204" pitchFamily="34" charset="0"/>
                        </a:rPr>
                        <a:t>— يا شريكي، أكلت حصتي وشربت عرقي؛ علينا أن نقتسم المحصول من جديد!</a:t>
                      </a:r>
                    </a:p>
                    <a:p>
                      <a:pPr indent="216000" algn="r" rtl="1"/>
                      <a:r>
                        <a:rPr lang="ar-AE" sz="1400" kern="150" dirty="0">
                          <a:effectLst/>
                          <a:latin typeface="Arial" panose="020B0604020202020204" pitchFamily="34" charset="0"/>
                          <a:cs typeface="Arial" panose="020B0604020202020204" pitchFamily="34" charset="0"/>
                        </a:rPr>
                        <a:t>— فقال له القنفذ:</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اتفقنا!</a:t>
                      </a:r>
                    </a:p>
                    <a:p>
                      <a:pPr indent="216000" algn="r" rtl="1"/>
                      <a:r>
                        <a:rPr lang="ar-AE" sz="1400" kern="150" dirty="0">
                          <a:effectLst/>
                          <a:latin typeface="Arial" panose="020B0604020202020204" pitchFamily="34" charset="0"/>
                          <a:cs typeface="Arial" panose="020B0604020202020204" pitchFamily="34" charset="0"/>
                        </a:rPr>
                        <a:t>¶ درسا المحصول ونقّياه بالغربال والمجرفة الخشبية: كومة عالية من الحبوب النظيفة، وأخرى من التبن. فقال الذئب للقنفذ:</a:t>
                      </a:r>
                    </a:p>
                    <a:p>
                      <a:pPr indent="216000" algn="r" rtl="1"/>
                      <a:r>
                        <a:rPr lang="ar-AE" sz="1400" kern="150" dirty="0">
                          <a:effectLst/>
                          <a:latin typeface="Arial" panose="020B0604020202020204" pitchFamily="34" charset="0"/>
                          <a:cs typeface="Arial" panose="020B0604020202020204" pitchFamily="34" charset="0"/>
                        </a:rPr>
                        <a:t>— لنتسابق من مكان كذا وكذا؛ ومن يصل أولًا إلى البيدر يأخذ المحصول كله لنفسه!</a:t>
                      </a:r>
                    </a:p>
                    <a:p>
                      <a:pPr indent="216000" algn="r" rtl="1"/>
                      <a:r>
                        <a:rPr lang="ar-AE" sz="1400" kern="150" dirty="0">
                          <a:effectLst/>
                          <a:latin typeface="Arial" panose="020B0604020202020204" pitchFamily="34" charset="0"/>
                          <a:cs typeface="Arial" panose="020B0604020202020204" pitchFamily="34" charset="0"/>
                        </a:rPr>
                        <a:t>— فقال القنفذ:</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اتفقنا!</a:t>
                      </a:r>
                    </a:p>
                    <a:p>
                      <a:pPr indent="216000" algn="r" rtl="1"/>
                      <a:r>
                        <a:rPr lang="ar-AE" sz="1400" kern="150" dirty="0">
                          <a:effectLst/>
                          <a:latin typeface="Arial" panose="020B0604020202020204" pitchFamily="34" charset="0"/>
                          <a:cs typeface="Arial" panose="020B0604020202020204" pitchFamily="34" charset="0"/>
                        </a:rPr>
                        <a:t>¶ تتشابه القنافذ جميعها تمامًا. أحضر موحند اثنين من أقاربه؛ أرسل أحدهما مع الذئب إلى نقطة الانطلاق، ووزّع الآخرين على مسافات متباعدة على طول الطريق. أما هو وابنه، فبقيا بجانب كومة الحبوب ومعهما كيس كبير ومكيال خشبي.</a:t>
                      </a:r>
                    </a:p>
                    <a:p>
                      <a:pPr indent="216000" algn="r" rtl="1"/>
                      <a:r>
                        <a:rPr lang="ar-AE" sz="1400" kern="150" dirty="0">
                          <a:effectLst/>
                          <a:latin typeface="Arial" panose="020B0604020202020204" pitchFamily="34" charset="0"/>
                          <a:cs typeface="Arial" panose="020B0604020202020204" pitchFamily="34" charset="0"/>
                        </a:rPr>
                        <a:t>¶ تسابق الذئب مع صاحبه. وانطلق السيد امحمد كالريح، فترك القنفذ وراءه، لكنه وجد قنفذًا آخر أمامه، فتجاوزه أيضًا. وحين وصل أخيرًا إلى البيدر، وهو يلهث بشدة ويتصبب عرقًا، وجد القنفذ وابنه إلى جانب كومة الحبوب يملآن المكيال! وكان الأب يقول له:</a:t>
                      </a:r>
                    </a:p>
                    <a:p>
                      <a:pPr indent="216000" algn="r" rtl="1"/>
                      <a:r>
                        <a:rPr lang="ar-AE" sz="1400" kern="150" dirty="0">
                          <a:effectLst/>
                          <a:latin typeface="Arial" panose="020B0604020202020204" pitchFamily="34" charset="0"/>
                          <a:cs typeface="Arial" panose="020B0604020202020204" pitchFamily="34" charset="0"/>
                        </a:rPr>
                        <a:t>— ستة عشر، ستة عشر، سبعة عشر! هزّ الكيس يا بني!</a:t>
                      </a:r>
                    </a:p>
                    <a:p>
                      <a:pPr indent="216000" algn="r" rtl="1"/>
                      <a:r>
                        <a:rPr lang="ar-AE" sz="1400" kern="150" dirty="0">
                          <a:effectLst/>
                          <a:latin typeface="Arial" panose="020B0604020202020204" pitchFamily="34" charset="0"/>
                          <a:cs typeface="Arial" panose="020B0604020202020204" pitchFamily="34" charset="0"/>
                        </a:rPr>
                        <a:t>وانصرف الذئب، سيد الحيل المئة، من دون أن يأخذ حبة واحدة أو حتى قليلًا من التبن!</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47860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27648121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Tacekkukt n wudi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جرّة الزبدة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bdun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tacekkukt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mmektin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-as: Ad </a:t>
                      </a:r>
                      <a:r>
                        <a:rPr lang="fr-FR" sz="1100" kern="1200" dirty="0" err="1">
                          <a:solidFill>
                            <a:schemeClr val="tx1"/>
                          </a:solidFill>
                          <a:effectLst/>
                          <a:latin typeface="+mn-lt"/>
                          <a:ea typeface="+mn-ea"/>
                          <a:cs typeface="+mn-cs"/>
                        </a:rPr>
                        <a:t>nekfu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neḥlu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wussay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tmegra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werwa</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deqqal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s-d-</a:t>
                      </a:r>
                      <a:r>
                        <a:rPr lang="fr-FR" sz="1100" kern="1200" dirty="0" err="1">
                          <a:solidFill>
                            <a:schemeClr val="tx1"/>
                          </a:solidFill>
                          <a:effectLst/>
                          <a:latin typeface="+mn-lt"/>
                          <a:ea typeface="+mn-ea"/>
                          <a:cs typeface="+mn-cs"/>
                        </a:rPr>
                        <a:t>yessawlen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Anɛ</a:t>
                      </a:r>
                      <a:r>
                        <a:rPr lang="fr-FR" sz="1100" kern="1200" dirty="0">
                          <a:solidFill>
                            <a:schemeClr val="tx1"/>
                          </a:solidFill>
                          <a:effectLst/>
                          <a:latin typeface="+mn-lt"/>
                          <a:ea typeface="+mn-ea"/>
                          <a:cs typeface="+mn-cs"/>
                        </a:rPr>
                        <a:t> ɛ </a:t>
                      </a:r>
                      <a:r>
                        <a:rPr lang="fr-FR" sz="1100" kern="1200" dirty="0" err="1">
                          <a:solidFill>
                            <a:schemeClr val="tx1"/>
                          </a:solidFill>
                          <a:effectLst/>
                          <a:latin typeface="+mn-lt"/>
                          <a:ea typeface="+mn-ea"/>
                          <a:cs typeface="+mn-cs"/>
                        </a:rPr>
                        <a:t>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ixeddem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tzirett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teqcict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nga-yas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Mnaṣfa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Mmelqaɛ</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tcekkukt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taseɛdit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ɣnan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temmečč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anida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neffer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neṭṭes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nsers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nteffeɣ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yuki: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llqeḍ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yeṭṭaxer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حدث أنه قبل أن يبدأ الذئب والقنفذ الزراعة، خبّآ جرّة من الزبدة. وكلما تذكراها قالا: "حين ننتهي من العمل، سنقيم وليمة بها!" وخلال الحرث والعزق والحصاد والدرس، كان القنفذ يجيب فجأة كأن أحدًا ناداه:</a:t>
                      </a:r>
                    </a:p>
                    <a:p>
                      <a:pPr indent="216000" algn="r" rtl="1"/>
                      <a:r>
                        <a:rPr lang="ar-AE" sz="1400" kern="150" dirty="0">
                          <a:effectLst/>
                          <a:latin typeface="Arial" panose="020B0604020202020204" pitchFamily="34" charset="0"/>
                          <a:cs typeface="Arial" panose="020B0604020202020204" pitchFamily="34" charset="0"/>
                        </a:rPr>
                        <a:t>— نعممم!</a:t>
                      </a:r>
                    </a:p>
                    <a:p>
                      <a:pPr indent="216000" algn="r" rtl="1"/>
                      <a:r>
                        <a:rPr lang="ar-AE" sz="1400" kern="150" dirty="0">
                          <a:effectLst/>
                          <a:latin typeface="Arial" panose="020B0604020202020204" pitchFamily="34" charset="0"/>
                          <a:cs typeface="Arial" panose="020B0604020202020204" pitchFamily="34" charset="0"/>
                        </a:rPr>
                        <a:t>¶ ثم يترك الذئب يعمل وحده، ويذهب ليأكل قليلًا من الزبدة في ذلك الإناء الفخاري الصغير، ثم يعود. وإذا سأله صاحبه: ما الأمر الآن يا موحند؟ أجابه:</a:t>
                      </a:r>
                    </a:p>
                    <a:p>
                      <a:pPr indent="216000" algn="r" rtl="1"/>
                      <a:r>
                        <a:rPr lang="ar-AE" sz="1400" kern="150" dirty="0">
                          <a:effectLst/>
                          <a:latin typeface="Arial" panose="020B0604020202020204" pitchFamily="34" charset="0"/>
                          <a:cs typeface="Arial" panose="020B0604020202020204" pitchFamily="34" charset="0"/>
                        </a:rPr>
                        <a:t>— وُلدت لي طفلة أخرى؛ وسميناها البداية... أو النصف، أو القاع. وظل الأمر هكذا حتى فرغت تلك الجرّة المباركة تمامًا.</a:t>
                      </a:r>
                    </a:p>
                    <a:p>
                      <a:pPr indent="216000" algn="r" rtl="1"/>
                      <a:r>
                        <a:rPr lang="ar-AE" sz="1400" kern="150" dirty="0">
                          <a:effectLst/>
                          <a:latin typeface="Arial" panose="020B0604020202020204" pitchFamily="34" charset="0"/>
                          <a:cs typeface="Arial" panose="020B0604020202020204" pitchFamily="34" charset="0"/>
                        </a:rPr>
                        <a:t>¶ وحين انتهيا من العمل، ذهبا ليتفقدا الجرّة فوجداها قد أُكلت. فقال الذئب للقنفذ:</a:t>
                      </a:r>
                    </a:p>
                    <a:p>
                      <a:pPr indent="216000" algn="r" rtl="1"/>
                      <a:r>
                        <a:rPr lang="ar-AE" sz="1400" kern="150" dirty="0">
                          <a:effectLst/>
                          <a:latin typeface="Arial" panose="020B0604020202020204" pitchFamily="34" charset="0"/>
                          <a:cs typeface="Arial" panose="020B0604020202020204" pitchFamily="34" charset="0"/>
                        </a:rPr>
                        <a:t>— يا موحند، أنت من أكلها! لم يكن يعرف مكانها سوانا!</a:t>
                      </a:r>
                    </a:p>
                    <a:p>
                      <a:pPr indent="216000" algn="r" rtl="1"/>
                      <a:r>
                        <a:rPr lang="ar-AE" sz="1400" kern="150" dirty="0">
                          <a:effectLst/>
                          <a:latin typeface="Arial" panose="020B0604020202020204" pitchFamily="34" charset="0"/>
                          <a:cs typeface="Arial" panose="020B0604020202020204" pitchFamily="34" charset="0"/>
                        </a:rPr>
                        <a:t>— وظل القنفذ يقول له:</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بل أنت!</a:t>
                      </a:r>
                    </a:p>
                    <a:p>
                      <a:pPr indent="216000" algn="r" rtl="1"/>
                      <a:r>
                        <a:rPr lang="ar-AE" sz="1400" kern="150" dirty="0">
                          <a:effectLst/>
                          <a:latin typeface="Arial" panose="020B0604020202020204" pitchFamily="34" charset="0"/>
                          <a:cs typeface="Arial" panose="020B0604020202020204" pitchFamily="34" charset="0"/>
                        </a:rPr>
                        <a:t>ثم قالا:</a:t>
                      </a:r>
                    </a:p>
                    <a:p>
                      <a:pPr indent="216000" algn="r" rtl="1"/>
                      <a:r>
                        <a:rPr lang="ar-AE" sz="1400" kern="150" dirty="0">
                          <a:effectLst/>
                          <a:latin typeface="Arial" panose="020B0604020202020204" pitchFamily="34" charset="0"/>
                          <a:cs typeface="Arial" panose="020B0604020202020204" pitchFamily="34" charset="0"/>
                        </a:rPr>
                        <a:t>— من أكل الزبدة ستظهر آثارها عليه؛ سنضع قربنا قبل النوم قطعًا من الفخار لنتبرز فيها، وستنكشف الحقيقة!</a:t>
                      </a:r>
                    </a:p>
                    <a:p>
                      <a:pPr indent="216000" algn="r" rtl="1"/>
                      <a:r>
                        <a:rPr lang="ar-AE" sz="1400" kern="150" dirty="0">
                          <a:effectLst/>
                          <a:latin typeface="Arial" panose="020B0604020202020204" pitchFamily="34" charset="0"/>
                          <a:cs typeface="Arial" panose="020B0604020202020204" pitchFamily="34" charset="0"/>
                        </a:rPr>
                        <a:t>¶ فعلا ذلك، لكن من أكل الزبدة كان يقظًا؛ فنهض في منتصف الليل، بينما كان صاحبه غارقًا في النوم، وبدّل أماكن قطع الفخار.</a:t>
                      </a:r>
                    </a:p>
                    <a:p>
                      <a:pPr indent="216000" algn="r" rtl="1"/>
                      <a:r>
                        <a:rPr lang="ar-AE" sz="1400" kern="150" dirty="0">
                          <a:effectLst/>
                          <a:latin typeface="Arial" panose="020B0604020202020204" pitchFamily="34" charset="0"/>
                          <a:cs typeface="Arial" panose="020B0604020202020204" pitchFamily="34" charset="0"/>
                        </a:rPr>
                        <a:t>¶ وفي صباح اليوم التالي، ظل كل واحد منهما يقول للآخر: "أنت من أكلها!" ولم يستطيعا حسم الأمر بينهما.</a:t>
                      </a:r>
                    </a:p>
                    <a:p>
                      <a:pPr indent="216000" algn="r" rtl="1"/>
                      <a:r>
                        <a:rPr lang="ar-AE" sz="1400" kern="150" dirty="0">
                          <a:effectLst/>
                          <a:latin typeface="Arial" panose="020B0604020202020204" pitchFamily="34" charset="0"/>
                          <a:cs typeface="Arial" panose="020B0604020202020204" pitchFamily="34" charset="0"/>
                        </a:rPr>
                        <a:t>¶ أدرك الذئب أنه لم يعد يجني نفعًا من ملاحقة القنفذ، فابتعد عنه، ومضى كل واحد منهما في طريقه.</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13804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1412808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91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Argaz d wezrem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الرجل والثعبان</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tṣebḥit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igezzem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aqelmun-is</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yecreq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yetḥaya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lxelq</a:t>
                      </a:r>
                      <a:r>
                        <a:rPr lang="fr-FR" sz="1100" kern="1200" dirty="0">
                          <a:solidFill>
                            <a:schemeClr val="tx1"/>
                          </a:solidFill>
                          <a:effectLst/>
                          <a:latin typeface="+mn-lt"/>
                          <a:ea typeface="+mn-ea"/>
                          <a:cs typeface="+mn-cs"/>
                        </a:rPr>
                        <a:t> agi,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iyi-tqaleḍ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xedmeɣ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Anida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wemruj-iw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ddheb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lfeṭṭa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iyi-iwet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iɛiwed-iyi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sneṣleɣ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taslest-iw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tseɛreqḍ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cehhed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temmteḍ</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ḥkan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صباح بارد قارس كأنه يقطع بالمقص، خرج رجل إلى البرية. فوجد ثعبانًا على الطريق قد شلّه الصقيع. أشفق عليه، فحمله ووضعه داخل قلنسوته. وما إن أشرقت الشمس ودفئت الأرض حتى دبّت الحياة في الثعبان؛ فالتفّ حول عنق الرجل وخنقه، حتى جحظت عيناه. فقال له الرجل:</a:t>
                      </a:r>
                    </a:p>
                    <a:p>
                      <a:pPr indent="216000" algn="r" rtl="1"/>
                      <a:r>
                        <a:rPr lang="ar-AE" sz="1400" kern="150" dirty="0">
                          <a:effectLst/>
                          <a:latin typeface="Arial" panose="020B0604020202020204" pitchFamily="34" charset="0"/>
                          <a:cs typeface="Arial" panose="020B0604020202020204" pitchFamily="34" charset="0"/>
                        </a:rPr>
                        <a:t>— أستحلفك بالله أيها المخلوق، ارحمني! وجدتك وقد شلّك الصقيع، وكنت على وشك أن تهلك؛ فأنقذتك من الموت. ما أحسن ما فعلت من أجلك!</a:t>
                      </a:r>
                    </a:p>
                    <a:p>
                      <a:pPr indent="216000" algn="r" rtl="1"/>
                      <a:r>
                        <a:rPr lang="ar-AE" sz="1400" kern="150" dirty="0">
                          <a:effectLst/>
                          <a:latin typeface="Arial" panose="020B0604020202020204" pitchFamily="34" charset="0"/>
                          <a:cs typeface="Arial" panose="020B0604020202020204" pitchFamily="34" charset="0"/>
                        </a:rPr>
                        <a:t>¶ فأجابه الثعبان:</a:t>
                      </a:r>
                    </a:p>
                    <a:p>
                      <a:pPr indent="216000" algn="r" rtl="1"/>
                      <a:r>
                        <a:rPr lang="ar-AE" sz="1400" kern="150" dirty="0">
                          <a:effectLst/>
                          <a:latin typeface="Arial" panose="020B0604020202020204" pitchFamily="34" charset="0"/>
                          <a:cs typeface="Arial" panose="020B0604020202020204" pitchFamily="34" charset="0"/>
                        </a:rPr>
                        <a:t>— وأين الخير الذي فعلته من أجلي؟ خرجت من جحري، وهو من ذهب وفضة، كي يضربني الصقيع ثم تتبعَه الشمس، فأنسلخ عن جلدي القديم، لكنك أبعدتني عن مكاني! كيف سأجد حجرتي؟ لقد أضعتها عليّ! لقد جلبت الموت على نفسك؛ انطق بالشهادة، لأنك ستموت!</a:t>
                      </a:r>
                    </a:p>
                    <a:p>
                      <a:pPr indent="216000" algn="r" rtl="1"/>
                      <a:r>
                        <a:rPr lang="ar-AE" sz="1400" kern="150" dirty="0">
                          <a:effectLst/>
                          <a:latin typeface="Arial" panose="020B0604020202020204" pitchFamily="34" charset="0"/>
                          <a:cs typeface="Arial" panose="020B0604020202020204" pitchFamily="34" charset="0"/>
                        </a:rPr>
                        <a:t>¶ فقال له الرجل:</a:t>
                      </a:r>
                    </a:p>
                    <a:p>
                      <a:pPr indent="216000" algn="r" rtl="1"/>
                      <a:r>
                        <a:rPr lang="ar-AE" sz="1400" kern="150" dirty="0">
                          <a:effectLst/>
                          <a:latin typeface="Arial" panose="020B0604020202020204" pitchFamily="34" charset="0"/>
                          <a:cs typeface="Arial" panose="020B0604020202020204" pitchFamily="34" charset="0"/>
                        </a:rPr>
                        <a:t>— أستحلفك بالله، امنحني فرصة للمحاكمة.</a:t>
                      </a:r>
                    </a:p>
                    <a:p>
                      <a:pPr indent="216000" algn="r" rtl="1"/>
                      <a:r>
                        <a:rPr lang="ar-AE" sz="1400" kern="150" dirty="0">
                          <a:effectLst/>
                          <a:latin typeface="Arial" panose="020B0604020202020204" pitchFamily="34" charset="0"/>
                          <a:cs typeface="Arial" panose="020B0604020202020204" pitchFamily="34" charset="0"/>
                        </a:rPr>
                        <a:t>فمنحه إياها. وذهبا إلى الذئب وأخبراه قصتهما، فقال لهما:</a:t>
                      </a:r>
                    </a:p>
                    <a:p>
                      <a:pPr indent="216000" algn="r" rtl="1"/>
                      <a:r>
                        <a:rPr lang="ar-AE" sz="1400" kern="150" dirty="0">
                          <a:effectLst/>
                          <a:latin typeface="Arial" panose="020B0604020202020204" pitchFamily="34" charset="0"/>
                          <a:cs typeface="Arial" panose="020B0604020202020204" pitchFamily="34" charset="0"/>
                        </a:rPr>
                        <a:t>— لا أعلم شيئًا في هذه الأمور؛ اذهبا إلى القنفذ.</a:t>
                      </a:r>
                    </a:p>
                    <a:p>
                      <a:pPr indent="216000" algn="r" rtl="1"/>
                      <a:r>
                        <a:rPr lang="ar-AE" sz="1400" kern="150" dirty="0">
                          <a:effectLst/>
                          <a:latin typeface="Arial" panose="020B0604020202020204" pitchFamily="34" charset="0"/>
                          <a:cs typeface="Arial" panose="020B0604020202020204" pitchFamily="34" charset="0"/>
                        </a:rPr>
                        <a:t>¶ وما إن وصلا حتى نظر إليهما وفهم أمرهما. وقفا يطلبان منه أن يحكم بينهما، لكنه قال لهما:</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929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2068096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ers-d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 ad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deg-wen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icaṛeɛ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fruɣ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gar-awen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lgn="l"/>
                      <a:r>
                        <a:rPr lang="fr-FR" sz="1100" i="1" kern="1200" dirty="0" err="1">
                          <a:solidFill>
                            <a:schemeClr val="tx1"/>
                          </a:solidFill>
                          <a:effectLst/>
                          <a:latin typeface="+mn-lt"/>
                          <a:ea typeface="+mn-ea"/>
                          <a:cs typeface="+mn-cs"/>
                        </a:rPr>
                        <a:t>W’iṭṭfen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aḥdif</a:t>
                      </a:r>
                      <a:r>
                        <a:rPr lang="fr-FR" sz="1100" i="1" kern="1200" dirty="0">
                          <a:solidFill>
                            <a:schemeClr val="tx1"/>
                          </a:solidFill>
                          <a:effectLst/>
                          <a:latin typeface="+mn-lt"/>
                          <a:ea typeface="+mn-ea"/>
                          <a:cs typeface="+mn-cs"/>
                        </a:rPr>
                        <a:t> yawi </a:t>
                      </a:r>
                      <a:r>
                        <a:rPr lang="fr-FR" sz="1100" i="1" kern="1200" dirty="0" err="1">
                          <a:solidFill>
                            <a:schemeClr val="tx1"/>
                          </a:solidFill>
                          <a:effectLst/>
                          <a:latin typeface="+mn-lt"/>
                          <a:ea typeface="+mn-ea"/>
                          <a:cs typeface="+mn-cs"/>
                        </a:rPr>
                        <a:t>lḥif</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A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yebḍu</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uɣilif</a:t>
                      </a:r>
                      <a:r>
                        <a:rPr lang="fr-FR" sz="1100" i="1" kern="1200" dirty="0">
                          <a:solidFill>
                            <a:schemeClr val="tx1"/>
                          </a:solidFill>
                          <a:effectLst/>
                          <a:latin typeface="+mn-lt"/>
                          <a:ea typeface="+mn-ea"/>
                          <a:cs typeface="+mn-cs"/>
                        </a:rPr>
                        <a:t>!</a:t>
                      </a:r>
                      <a:endParaRPr lang="fr-FR"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mnaṣef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inɣed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iɛeggalen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W’ittamnen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tɣellteḍ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mi t-</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yeqleɛ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لا! لم توجد قط محاكمة في السماء! انزل أنت أيها الثعبان واجلس هنا على الأرض، وليجلس خصمك هناك؛ يعرض كل منكما قضيته، وأنا أفصل بينكما.</a:t>
                      </a:r>
                    </a:p>
                    <a:p>
                      <a:pPr indent="216000" algn="r" rtl="1"/>
                      <a:r>
                        <a:rPr lang="ar-AE" sz="1400" kern="150" dirty="0">
                          <a:effectLst/>
                          <a:latin typeface="Arial" panose="020B0604020202020204" pitchFamily="34" charset="0"/>
                          <a:cs typeface="Arial" panose="020B0604020202020204" pitchFamily="34" charset="0"/>
                        </a:rPr>
                        <a:t>¶ وما إن نزل الثعبان إلى الأرض حتى حثّ القنفذ الرجل على ضربه، قائلًا:</a:t>
                      </a:r>
                    </a:p>
                    <a:p>
                      <a:pPr indent="216000" algn="r" rtl="1"/>
                      <a:r>
                        <a:rPr lang="ar-AE" sz="1400" i="1" kern="150" dirty="0">
                          <a:effectLst/>
                          <a:latin typeface="Arial" panose="020B0604020202020204" pitchFamily="34" charset="0"/>
                          <a:cs typeface="Arial" panose="020B0604020202020204" pitchFamily="34" charset="0"/>
                        </a:rPr>
                        <a:t>من يحمل عصًا ويصيبه الأذى،</a:t>
                      </a:r>
                    </a:p>
                    <a:p>
                      <a:pPr indent="216000" algn="r" rtl="1"/>
                      <a:r>
                        <a:rPr lang="ar-AE" sz="1400" i="1" kern="150" dirty="0">
                          <a:effectLst/>
                          <a:latin typeface="Arial" panose="020B0604020202020204" pitchFamily="34" charset="0"/>
                          <a:cs typeface="Arial" panose="020B0604020202020204" pitchFamily="34" charset="0"/>
                        </a:rPr>
                        <a:t>فلا يبرأ أبدًا من البلاء!</a:t>
                      </a:r>
                    </a:p>
                    <a:p>
                      <a:pPr indent="216000" algn="r" rtl="1"/>
                      <a:r>
                        <a:rPr lang="ar-AE" sz="1400" kern="150" dirty="0">
                          <a:effectLst/>
                          <a:latin typeface="Arial" panose="020B0604020202020204" pitchFamily="34" charset="0"/>
                          <a:cs typeface="Arial" panose="020B0604020202020204" pitchFamily="34" charset="0"/>
                        </a:rPr>
                        <a:t>¶ ضرب الرجل الثعبان وشطره نصفين، ثم أخذ حجرًا وسحق رأسه.</a:t>
                      </a:r>
                    </a:p>
                    <a:p>
                      <a:pPr indent="216000" algn="r" rtl="1"/>
                      <a:r>
                        <a:rPr lang="ar-AE" sz="1400" kern="150" dirty="0">
                          <a:effectLst/>
                          <a:latin typeface="Arial" panose="020B0604020202020204" pitchFamily="34" charset="0"/>
                          <a:cs typeface="Arial" panose="020B0604020202020204" pitchFamily="34" charset="0"/>
                        </a:rPr>
                        <a:t>¶ ثم التفت إلى الوراء، فلم يجد القنفذ؛ فقد فرّ. فصفق بيديه نادمًا وصاح:</a:t>
                      </a:r>
                    </a:p>
                    <a:p>
                      <a:pPr indent="216000" algn="r" rtl="1"/>
                      <a:r>
                        <a:rPr lang="ar-AE" sz="1400" kern="150" dirty="0">
                          <a:effectLst/>
                          <a:latin typeface="Arial" panose="020B0604020202020204" pitchFamily="34" charset="0"/>
                          <a:cs typeface="Arial" panose="020B0604020202020204" pitchFamily="34" charset="0"/>
                        </a:rPr>
                        <a:t>— آه! لقد أفلت عشاء عائلتي!</a:t>
                      </a:r>
                    </a:p>
                    <a:p>
                      <a:pPr indent="216000" algn="r" rtl="1"/>
                      <a:r>
                        <a:rPr lang="ar-AE" sz="1400" kern="150" dirty="0">
                          <a:effectLst/>
                          <a:latin typeface="Arial" panose="020B0604020202020204" pitchFamily="34" charset="0"/>
                          <a:cs typeface="Arial" panose="020B0604020202020204" pitchFamily="34" charset="0"/>
                        </a:rPr>
                        <a:t>يا من يثق بإنسان، أيها المخلوق أسود الرأس!...</a:t>
                      </a:r>
                    </a:p>
                    <a:p>
                      <a:pPr indent="216000" algn="r" rtl="1"/>
                      <a:r>
                        <a:rPr lang="ar-AE" sz="1400" kern="150" dirty="0">
                          <a:effectLst/>
                          <a:latin typeface="Arial" panose="020B0604020202020204" pitchFamily="34" charset="0"/>
                          <a:cs typeface="Arial" panose="020B0604020202020204" pitchFamily="34" charset="0"/>
                        </a:rPr>
                        <a:t>¶ في هذه الدنيا، ما تزرعه تحصده؛ أما الإنسان، فإذا زرعته اقتلعك!</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8970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05462776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#3</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#3</a:t>
                      </a:r>
                    </a:p>
                  </a:txBody>
                  <a:tcPr/>
                </a:tc>
                <a:extLst>
                  <a:ext uri="{0D108BD9-81ED-4DB2-BD59-A6C34878D82A}">
                    <a16:rowId xmlns:a16="http://schemas.microsoft.com/office/drawing/2014/main" val="2196547429"/>
                  </a:ext>
                </a:extLst>
              </a:tr>
              <a:tr h="5700877">
                <a:tc>
                  <a:txBody>
                    <a:bodyPr/>
                    <a:lstStyle/>
                    <a:p>
                      <a:pPr indent="457200" algn="ctr"/>
                      <a:r>
                        <a:rPr lang="fr-FR" sz="1100" kern="1200">
                          <a:solidFill>
                            <a:schemeClr val="tx1"/>
                          </a:solidFill>
                          <a:effectLst/>
                          <a:latin typeface="+mn-lt"/>
                          <a:ea typeface="+mn-ea"/>
                          <a:cs typeface="+mn-cs"/>
                        </a:rPr>
                        <a:t>Tamacahut n wuccen d wegdi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100" kern="150" dirty="0">
                          <a:effectLst/>
                          <a:latin typeface="Arial" panose="020B0604020202020204" pitchFamily="34" charset="0"/>
                          <a:cs typeface="Arial" panose="020B0604020202020204" pitchFamily="34" charset="0"/>
                        </a:rPr>
                        <a:t>حكاية الذئب والكلب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87671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39754952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kern="150">
                          <a:effectLst/>
                          <a:latin typeface="Cascadia Mono" panose="020B0609020000020004" pitchFamily="49" charset="0"/>
                          <a:cs typeface="Cascadia Mono" panose="020B0609020000020004" pitchFamily="49" charset="0"/>
                        </a:rPr>
                        <a:t>Ɣ</a:t>
                      </a:r>
                      <a:r>
                        <a:rPr lang="fr-FR" sz="1200" b="1" kern="150">
                          <a:effectLst/>
                          <a:latin typeface="Cascadia Mono" panose="020B0609020000020004" pitchFamily="49" charset="0"/>
                          <a:cs typeface="Cascadia Mono" panose="020B0609020000020004" pitchFamily="49" charset="0"/>
                        </a:rPr>
                        <a:t>ef tbenɛemmett n wuccen d wegdi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عن العداوة القديمة بين الذئب والكلب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taqdimt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Yiwen, </a:t>
                      </a:r>
                      <a:r>
                        <a:rPr lang="fr-FR" sz="1100" kern="1200" dirty="0" err="1">
                          <a:solidFill>
                            <a:schemeClr val="tx1"/>
                          </a:solidFill>
                          <a:effectLst/>
                          <a:latin typeface="+mn-lt"/>
                          <a:ea typeface="+mn-ea"/>
                          <a:cs typeface="+mn-cs"/>
                        </a:rPr>
                        <a:t>isem-is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Kessen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 ad brun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yeṛwu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irren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yecɣel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-tt-in </a:t>
                      </a:r>
                      <a:r>
                        <a:rPr lang="fr-FR" sz="1100" kern="1200" dirty="0" err="1">
                          <a:solidFill>
                            <a:schemeClr val="tx1"/>
                          </a:solidFill>
                          <a:effectLst/>
                          <a:latin typeface="+mn-lt"/>
                          <a:ea typeface="+mn-ea"/>
                          <a:cs typeface="+mn-cs"/>
                        </a:rPr>
                        <a:t>tejreḥ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bernen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tlemmast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ɛezlen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-as-d i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Amarezg</a:t>
                      </a:r>
                      <a:r>
                        <a:rPr lang="fr-FR" sz="1100" kern="1200" dirty="0">
                          <a:solidFill>
                            <a:schemeClr val="tx1"/>
                          </a:solidFill>
                          <a:effectLst/>
                          <a:latin typeface="+mn-lt"/>
                          <a:ea typeface="+mn-ea"/>
                          <a:cs typeface="+mn-cs"/>
                        </a:rPr>
                        <a:t>-ik, ay </a:t>
                      </a:r>
                      <a:r>
                        <a:rPr lang="fr-FR" sz="1100" kern="1200" dirty="0" err="1">
                          <a:solidFill>
                            <a:schemeClr val="tx1"/>
                          </a:solidFill>
                          <a:effectLst/>
                          <a:latin typeface="+mn-lt"/>
                          <a:ea typeface="+mn-ea"/>
                          <a:cs typeface="+mn-cs"/>
                        </a:rPr>
                        <a:t>agdi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tegganeḍ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leɛmal</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Talli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yaɣ-yurwen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meqqar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nemɛahad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nemyučč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الزمن القديم، كان الذئب والسلوقي أخوين. كان اسم أحدهما امحمد، والآخر رابح. وكانا يرعيان الماشية وحدهما: يخرجان بها صباحًا، ويرعيانها حتى المساء، ثم يعيدانها إلى البيت حين تشبع.</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في ذلك اليوم، كانا يرعيان الماشية، فدخلت نعجة إلى مغارة. فأطلقت صوتًا. وكان السلوقي منشغلًا في مكان آخر، فقال لها الذئب:</a:t>
                      </a:r>
                    </a:p>
                    <a:p>
                      <a:pPr indent="216000" algn="r" rtl="1"/>
                      <a:r>
                        <a:rPr lang="ar-AE" sz="1400" kern="150" dirty="0">
                          <a:effectLst/>
                          <a:latin typeface="Arial" panose="020B0604020202020204" pitchFamily="34" charset="0"/>
                          <a:cs typeface="Arial" panose="020B0604020202020204" pitchFamily="34" charset="0"/>
                        </a:rPr>
                        <a:t>لا تخافي!</a:t>
                      </a:r>
                    </a:p>
                    <a:p>
                      <a:pPr indent="216000" algn="r" rtl="1"/>
                      <a:r>
                        <a:rPr lang="ar-AE" sz="1400" kern="150" dirty="0">
                          <a:effectLst/>
                          <a:latin typeface="Arial" panose="020B0604020202020204" pitchFamily="34" charset="0"/>
                          <a:cs typeface="Arial" panose="020B0604020202020204" pitchFamily="34" charset="0"/>
                        </a:rPr>
                        <a:t>نزل لينقذها، لكنه وجدها جريحة. لحس الدم، ثم أجهز عليها: قتلها وأكلها.</a:t>
                      </a:r>
                    </a:p>
                    <a:p>
                      <a:pPr indent="216000" algn="r" rtl="1"/>
                      <a:r>
                        <a:rPr lang="ar-AE" sz="1400" kern="150" dirty="0">
                          <a:effectLst/>
                          <a:latin typeface="Arial" panose="020B0604020202020204" pitchFamily="34" charset="0"/>
                          <a:cs typeface="Arial" panose="020B0604020202020204" pitchFamily="34" charset="0"/>
                        </a:rPr>
                        <a:t>¶ وفي المساء، حين عادا إلى البيت، سار السلوقي في وسط الماشية، بينما ابتعد الذئب عنها وانعزل.</a:t>
                      </a:r>
                    </a:p>
                    <a:p>
                      <a:pPr indent="216000" algn="r" rtl="1"/>
                      <a:r>
                        <a:rPr lang="ar-AE" sz="1400" kern="150" dirty="0">
                          <a:effectLst/>
                          <a:latin typeface="Arial" panose="020B0604020202020204" pitchFamily="34" charset="0"/>
                          <a:cs typeface="Arial" panose="020B0604020202020204" pitchFamily="34" charset="0"/>
                        </a:rPr>
                        <a:t>¶ وبقي وحيدًا في الغابة. وفي الأيام الأولى، كان الليل يهبط عليه وهو نادم على ما فعل.</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وفي يوم من الأيام، وقف على مرتفع ونادى السلوقي قائلًا:</a:t>
                      </a:r>
                    </a:p>
                    <a:p>
                      <a:pPr indent="216000" algn="r" rtl="1"/>
                      <a:r>
                        <a:rPr lang="ar-AE" sz="1400" kern="150" dirty="0">
                          <a:effectLst/>
                          <a:latin typeface="Arial" panose="020B0604020202020204" pitchFamily="34" charset="0"/>
                          <a:cs typeface="Arial" panose="020B0604020202020204" pitchFamily="34" charset="0"/>
                        </a:rPr>
                        <a:t>هنيئًا لك أيها الكلب:</a:t>
                      </a:r>
                    </a:p>
                    <a:p>
                      <a:pPr indent="216000" algn="r" rtl="1"/>
                      <a:r>
                        <a:rPr lang="ar-AE" sz="1400" kern="150" dirty="0">
                          <a:effectLst/>
                          <a:latin typeface="Arial" panose="020B0604020202020204" pitchFamily="34" charset="0"/>
                          <a:cs typeface="Arial" panose="020B0604020202020204" pitchFamily="34" charset="0"/>
                        </a:rPr>
                        <a:t>تنام بين النعاج!</a:t>
                      </a:r>
                    </a:p>
                    <a:p>
                      <a:pPr indent="216000" algn="r" rtl="1"/>
                      <a:r>
                        <a:rPr lang="ar-AE" sz="1400" kern="150" dirty="0">
                          <a:effectLst/>
                          <a:latin typeface="Arial" panose="020B0604020202020204" pitchFamily="34" charset="0"/>
                          <a:cs typeface="Arial" panose="020B0604020202020204" pitchFamily="34" charset="0"/>
                        </a:rPr>
                        <a:t>فأجابه السلوقي:</a:t>
                      </a:r>
                    </a:p>
                    <a:p>
                      <a:pPr indent="216000" algn="r" rtl="1"/>
                      <a:r>
                        <a:rPr lang="ar-AE" sz="1400" kern="150" dirty="0">
                          <a:effectLst/>
                          <a:latin typeface="Arial" panose="020B0604020202020204" pitchFamily="34" charset="0"/>
                          <a:cs typeface="Arial" panose="020B0604020202020204" pitchFamily="34" charset="0"/>
                        </a:rPr>
                        <a:t>ابتعد عن هنا!</a:t>
                      </a:r>
                    </a:p>
                    <a:p>
                      <a:pPr indent="216000" algn="r" rtl="1"/>
                      <a:r>
                        <a:rPr lang="ar-AE" sz="1400" kern="150" dirty="0">
                          <a:effectLst/>
                          <a:latin typeface="Arial" panose="020B0604020202020204" pitchFamily="34" charset="0"/>
                          <a:cs typeface="Arial" panose="020B0604020202020204" pitchFamily="34" charset="0"/>
                        </a:rPr>
                        <a:t>فأفعالك هي السيئة:</a:t>
                      </a:r>
                    </a:p>
                    <a:p>
                      <a:pPr indent="216000" algn="r" rtl="1"/>
                      <a:r>
                        <a:rPr lang="ar-AE" sz="1400" kern="150" dirty="0">
                          <a:effectLst/>
                          <a:latin typeface="Arial" panose="020B0604020202020204" pitchFamily="34" charset="0"/>
                          <a:cs typeface="Arial" panose="020B0604020202020204" pitchFamily="34" charset="0"/>
                        </a:rPr>
                        <a:t>ولولا ذلك لكنت مثلي تمامًا!</a:t>
                      </a:r>
                    </a:p>
                    <a:p>
                      <a:pPr indent="216000" algn="r" rtl="1"/>
                      <a:r>
                        <a:rPr lang="ar-AE" sz="1400" kern="150" dirty="0">
                          <a:effectLst/>
                          <a:latin typeface="Arial" panose="020B0604020202020204" pitchFamily="34" charset="0"/>
                          <a:cs typeface="Arial" panose="020B0604020202020204" pitchFamily="34" charset="0"/>
                        </a:rPr>
                        <a:t>وأضاف:</a:t>
                      </a:r>
                    </a:p>
                    <a:p>
                      <a:pPr indent="216000" algn="r" rtl="1"/>
                      <a:r>
                        <a:rPr lang="ar-AE" sz="1400" kern="150" dirty="0">
                          <a:effectLst/>
                          <a:latin typeface="Arial" panose="020B0604020202020204" pitchFamily="34" charset="0"/>
                          <a:cs typeface="Arial" panose="020B0604020202020204" pitchFamily="34" charset="0"/>
                        </a:rPr>
                        <a:t>ـ أنا وأنت أخوان؛ فقد وُلدنا من بطن واحدة. تعال، فلنقسم على الأقل بالله ألا يأكل أحدنا الآخر!</a:t>
                      </a:r>
                    </a:p>
                    <a:p>
                      <a:pPr indent="216000" algn="r" rtl="1"/>
                      <a:r>
                        <a:rPr lang="ar-AE" sz="1400" kern="150" dirty="0">
                          <a:effectLst/>
                          <a:latin typeface="Arial" panose="020B0604020202020204" pitchFamily="34" charset="0"/>
                          <a:cs typeface="Arial" panose="020B0604020202020204" pitchFamily="34" charset="0"/>
                        </a:rPr>
                        <a:t>فقال له السلوقي: أقسم لك بالله أنني لن آكلك!</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55075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688C-4C8D-2E73-EEF3-DCB01573F125}"/>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DACF3CF-BBCC-7BF2-6FE1-780980AE0209}"/>
              </a:ext>
            </a:extLst>
          </p:cNvPr>
          <p:cNvGraphicFramePr>
            <a:graphicFrameLocks noGrp="1"/>
          </p:cNvGraphicFramePr>
          <p:nvPr>
            <p:extLst>
              <p:ext uri="{D42A27DB-BD31-4B8C-83A1-F6EECF244321}">
                <p14:modId xmlns:p14="http://schemas.microsoft.com/office/powerpoint/2010/main" val="10120116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dderya-nsen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فضحك الذئب منه وأجابه:</a:t>
                      </a:r>
                    </a:p>
                    <a:p>
                      <a:pPr indent="216000" algn="r" rtl="1"/>
                      <a:r>
                        <a:rPr lang="ar-AE" sz="1400" kern="150" dirty="0">
                          <a:effectLst/>
                          <a:latin typeface="Arial" panose="020B0604020202020204" pitchFamily="34" charset="0"/>
                          <a:cs typeface="Arial" panose="020B0604020202020204" pitchFamily="34" charset="0"/>
                        </a:rPr>
                        <a:t>ـ أقسم لك بالله أنني سآكلك أينما وجدتك!</a:t>
                      </a:r>
                    </a:p>
                    <a:p>
                      <a:pPr indent="216000" algn="r" rtl="1"/>
                      <a:r>
                        <a:rPr lang="ar-AE" sz="1400" kern="150" dirty="0">
                          <a:effectLst/>
                          <a:latin typeface="Arial" panose="020B0604020202020204" pitchFamily="34" charset="0"/>
                          <a:cs typeface="Arial" panose="020B0604020202020204" pitchFamily="34" charset="0"/>
                        </a:rPr>
                        <a:t>¶ ومنذ ذلك الحين، سلك كل واحد منهما طريقه.</a:t>
                      </a:r>
                    </a:p>
                    <a:p>
                      <a:pPr indent="216000" algn="r" rtl="1"/>
                      <a:r>
                        <a:rPr lang="ar-AE" sz="1400" kern="150" dirty="0">
                          <a:effectLst/>
                          <a:latin typeface="Arial" panose="020B0604020202020204" pitchFamily="34" charset="0"/>
                          <a:cs typeface="Arial" panose="020B0604020202020204" pitchFamily="34" charset="0"/>
                        </a:rPr>
                        <a:t>ومنذ ذلك اليوم نشأت العداوة بينهما وبين ذريتيهما.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46732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0326148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taɣaṭ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والعنزة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nnḍeɣ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tqejjiṛt-iw</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kkiɣ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teqḍeɛt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tḍehṛ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sufella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tneqlett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tɣeẓẓ</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ers-d ad </a:t>
                      </a:r>
                      <a:r>
                        <a:rPr lang="fr-FR" sz="1100" kern="1200" dirty="0" err="1">
                          <a:solidFill>
                            <a:schemeClr val="tx1"/>
                          </a:solidFill>
                          <a:effectLst/>
                          <a:latin typeface="+mn-lt"/>
                          <a:ea typeface="+mn-ea"/>
                          <a:cs typeface="+mn-cs"/>
                        </a:rPr>
                        <a:t>neddukel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ɛahed-iyi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Iɛuhed-itt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teḍfeṛ-it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tqejbabin-iw</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قالت النعجة:</a:t>
                      </a:r>
                    </a:p>
                    <a:p>
                      <a:pPr indent="216000" algn="r" rtl="1"/>
                      <a:r>
                        <a:rPr lang="ar-AE" sz="1400" kern="150" dirty="0">
                          <a:effectLst/>
                          <a:latin typeface="Arial" panose="020B0604020202020204" pitchFamily="34" charset="0"/>
                          <a:cs typeface="Arial" panose="020B0604020202020204" pitchFamily="34" charset="0"/>
                        </a:rPr>
                        <a:t>ـ لا أحتاج إلا إلى أن أدير ساقي حولها حتى أشبع.</a:t>
                      </a:r>
                    </a:p>
                    <a:p>
                      <a:pPr indent="216000" algn="r" rtl="1"/>
                      <a:r>
                        <a:rPr lang="ar-AE" sz="1400" kern="150" dirty="0">
                          <a:effectLst/>
                          <a:latin typeface="Arial" panose="020B0604020202020204" pitchFamily="34" charset="0"/>
                          <a:cs typeface="Arial" panose="020B0604020202020204" pitchFamily="34" charset="0"/>
                        </a:rPr>
                        <a:t>فقالت لها العنزة:</a:t>
                      </a:r>
                    </a:p>
                    <a:p>
                      <a:pPr indent="216000" algn="r" rtl="1"/>
                      <a:r>
                        <a:rPr lang="ar-AE" sz="1400" kern="150" dirty="0">
                          <a:effectLst/>
                          <a:latin typeface="Arial" panose="020B0604020202020204" pitchFamily="34" charset="0"/>
                          <a:cs typeface="Arial" panose="020B0604020202020204" pitchFamily="34" charset="0"/>
                        </a:rPr>
                        <a:t>ـ لن أشبع حتى أعبر سبعة بلدان.</a:t>
                      </a:r>
                    </a:p>
                    <a:p>
                      <a:pPr indent="216000" algn="r" rtl="1"/>
                      <a:r>
                        <a:rPr lang="ar-AE" sz="1400" kern="150" dirty="0">
                          <a:effectLst/>
                          <a:latin typeface="Arial" panose="020B0604020202020204" pitchFamily="34" charset="0"/>
                          <a:cs typeface="Arial" panose="020B0604020202020204" pitchFamily="34" charset="0"/>
                        </a:rPr>
                        <a:t>¶ وفي يوم من الأيام، فارقت القطيع وذهبت، في وضح النهار كأنه جوف الليل، إلى ضفة النهر. مرّ الذئب ورأى انعكاسها في الماء، فظنها هي. قفز إلى الغدير العميق ليقبض عليها، لكنه لم يجد شيئًا.</a:t>
                      </a:r>
                    </a:p>
                    <a:p>
                      <a:pPr indent="216000" algn="r" rtl="1"/>
                      <a:r>
                        <a:rPr lang="ar-AE" sz="1400" kern="150" dirty="0">
                          <a:effectLst/>
                          <a:latin typeface="Arial" panose="020B0604020202020204" pitchFamily="34" charset="0"/>
                          <a:cs typeface="Arial" panose="020B0604020202020204" pitchFamily="34" charset="0"/>
                        </a:rPr>
                        <a:t>¶ خرج من الماء، فظهرت له فوق شجرة تين وهي تمضغ طعامها.</a:t>
                      </a:r>
                    </a:p>
                    <a:p>
                      <a:pPr indent="216000" algn="r" rtl="1"/>
                      <a:r>
                        <a:rPr lang="ar-AE" sz="1400" kern="150" dirty="0">
                          <a:effectLst/>
                          <a:latin typeface="Arial" panose="020B0604020202020204" pitchFamily="34" charset="0"/>
                          <a:cs typeface="Arial" panose="020B0604020202020204" pitchFamily="34" charset="0"/>
                        </a:rPr>
                        <a:t>فقال لها:</a:t>
                      </a:r>
                    </a:p>
                    <a:p>
                      <a:pPr indent="216000" algn="r" rtl="1"/>
                      <a:r>
                        <a:rPr lang="ar-AE" sz="1400" kern="150" dirty="0">
                          <a:effectLst/>
                          <a:latin typeface="Arial" panose="020B0604020202020204" pitchFamily="34" charset="0"/>
                          <a:cs typeface="Arial" panose="020B0604020202020204" pitchFamily="34" charset="0"/>
                        </a:rPr>
                        <a:t>ـ الحمد لله! ظننت يا أختي أن الغدير العميق قد ابتلعك. انزلي لنسير معًا!</a:t>
                      </a:r>
                    </a:p>
                    <a:p>
                      <a:pPr indent="216000" algn="r" rtl="1"/>
                      <a:r>
                        <a:rPr lang="ar-AE" sz="1400" kern="150" dirty="0">
                          <a:effectLst/>
                          <a:latin typeface="Arial" panose="020B0604020202020204" pitchFamily="34" charset="0"/>
                          <a:cs typeface="Arial" panose="020B0604020202020204" pitchFamily="34" charset="0"/>
                        </a:rPr>
                        <a:t>فأجابته:</a:t>
                      </a:r>
                    </a:p>
                    <a:p>
                      <a:pPr indent="216000" algn="r" rtl="1"/>
                      <a:r>
                        <a:rPr lang="ar-AE" sz="1400" kern="150" dirty="0">
                          <a:effectLst/>
                          <a:latin typeface="Arial" panose="020B0604020202020204" pitchFamily="34" charset="0"/>
                          <a:cs typeface="Arial" panose="020B0604020202020204" pitchFamily="34" charset="0"/>
                        </a:rPr>
                        <a:t>ـ أخاف أن تأكلني يا سيدي امحمد؛ أقسم لي بالله!</a:t>
                      </a:r>
                    </a:p>
                    <a:p>
                      <a:pPr indent="216000" algn="r" rtl="1"/>
                      <a:r>
                        <a:rPr lang="ar-AE" sz="1400" kern="150" dirty="0">
                          <a:effectLst/>
                          <a:latin typeface="Arial" panose="020B0604020202020204" pitchFamily="34" charset="0"/>
                          <a:cs typeface="Arial" panose="020B0604020202020204" pitchFamily="34" charset="0"/>
                        </a:rPr>
                        <a:t>فأقسم لها، فنزلت وانضمت إليه.</a:t>
                      </a:r>
                    </a:p>
                    <a:p>
                      <a:pPr indent="216000" algn="r" rtl="1"/>
                      <a:r>
                        <a:rPr lang="ar-AE" sz="1400" kern="150" dirty="0">
                          <a:effectLst/>
                          <a:latin typeface="Arial" panose="020B0604020202020204" pitchFamily="34" charset="0"/>
                          <a:cs typeface="Arial" panose="020B0604020202020204" pitchFamily="34" charset="0"/>
                        </a:rPr>
                        <a:t>¶ سار الذئب أمامها وتبعته العنزة. وبعد أن قطعا مسافة قصيرة، التفت إليها؛ فقد خشي أن تهرب. ثم قال لها:</a:t>
                      </a:r>
                    </a:p>
                    <a:p>
                      <a:pPr indent="216000" algn="r" rtl="1"/>
                      <a:r>
                        <a:rPr lang="ar-AE" sz="1400" kern="150" dirty="0">
                          <a:effectLst/>
                          <a:latin typeface="Arial" panose="020B0604020202020204" pitchFamily="34" charset="0"/>
                          <a:cs typeface="Arial" panose="020B0604020202020204" pitchFamily="34" charset="0"/>
                        </a:rPr>
                        <a:t>ـ أتسخرين من مشيتي ومن ساقيّ الخلفيتين؟</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99348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2751795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103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zwireɣ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iḍfeṛ-itt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lefḥul-is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ceṭṭḥen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a:t>
                      </a:r>
                      <a:r>
                        <a:rPr lang="fr-FR" sz="1100" kern="1200" dirty="0">
                          <a:solidFill>
                            <a:schemeClr val="tx1"/>
                          </a:solidFill>
                          <a:effectLst/>
                          <a:latin typeface="+mn-lt"/>
                          <a:ea typeface="+mn-ea"/>
                          <a:cs typeface="+mn-cs"/>
                        </a:rPr>
                        <a:t>-s aman.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Liwelli</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tettafeḍ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tisebbiwin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Armi i tt-</a:t>
                      </a:r>
                      <a:r>
                        <a:rPr lang="fr-FR" sz="1100" kern="1200" dirty="0" err="1">
                          <a:solidFill>
                            <a:schemeClr val="tx1"/>
                          </a:solidFill>
                          <a:effectLst/>
                          <a:latin typeface="+mn-lt"/>
                          <a:ea typeface="+mn-ea"/>
                          <a:cs typeface="+mn-cs"/>
                        </a:rPr>
                        <a:t>yeẓẓemlal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Anida?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leḥḥun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yettqeggil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tamcumt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ـ فقالت له: حاشا لله يا سيدي امحمد! دعني أتقدم.</a:t>
                      </a:r>
                    </a:p>
                    <a:p>
                      <a:pPr indent="216000" algn="r" rtl="1"/>
                      <a:r>
                        <a:rPr lang="ar-AE" sz="1400" kern="150" dirty="0">
                          <a:effectLst/>
                          <a:latin typeface="Arial" panose="020B0604020202020204" pitchFamily="34" charset="0"/>
                          <a:cs typeface="Arial" panose="020B0604020202020204" pitchFamily="34" charset="0"/>
                        </a:rPr>
                        <a:t>¶ فتقدمت، وتبعها الذئب. وحين أخذ يحدق في مؤخرتها وهي تتمايل في مشيتها، سال لعابه. فقال لها:</a:t>
                      </a:r>
                    </a:p>
                    <a:p>
                      <a:pPr indent="216000" algn="r" rtl="1"/>
                      <a:r>
                        <a:rPr lang="ar-AE" sz="1400" kern="150" dirty="0">
                          <a:effectLst/>
                          <a:latin typeface="Arial" panose="020B0604020202020204" pitchFamily="34" charset="0"/>
                          <a:cs typeface="Arial" panose="020B0604020202020204" pitchFamily="34" charset="0"/>
                        </a:rPr>
                        <a:t>ـ أنت تثيرين الغبار في وجهي! سخرتِ مني أولًا، والآن تثيرين الغبار في وجهي؛ سألتهمك!</a:t>
                      </a:r>
                    </a:p>
                    <a:p>
                      <a:pPr indent="216000" algn="r" rtl="1"/>
                      <a:r>
                        <a:rPr lang="ar-AE" sz="1400" kern="150" dirty="0">
                          <a:effectLst/>
                          <a:latin typeface="Arial" panose="020B0604020202020204" pitchFamily="34" charset="0"/>
                          <a:cs typeface="Arial" panose="020B0604020202020204" pitchFamily="34" charset="0"/>
                        </a:rPr>
                        <a:t>ـ فأجابته: حاشا لله يا سيدي امحمد، إنك تبحث لي عن أعذار فقط!</a:t>
                      </a:r>
                    </a:p>
                    <a:p>
                      <a:pPr indent="216000" algn="r" rtl="1"/>
                      <a:r>
                        <a:rPr lang="ar-AE" sz="1400" kern="150" dirty="0">
                          <a:effectLst/>
                          <a:latin typeface="Arial" panose="020B0604020202020204" pitchFamily="34" charset="0"/>
                          <a:cs typeface="Arial" panose="020B0604020202020204" pitchFamily="34" charset="0"/>
                        </a:rPr>
                        <a:t>وحين حاصرها، قالت له:</a:t>
                      </a:r>
                    </a:p>
                    <a:p>
                      <a:pPr indent="216000" algn="r" rtl="1"/>
                      <a:r>
                        <a:rPr lang="ar-AE" sz="1400" kern="150" dirty="0">
                          <a:effectLst/>
                          <a:latin typeface="Arial" panose="020B0604020202020204" pitchFamily="34" charset="0"/>
                          <a:cs typeface="Arial" panose="020B0604020202020204" pitchFamily="34" charset="0"/>
                        </a:rPr>
                        <a:t>ـ أقسم لي، ثم كلني!</a:t>
                      </a:r>
                    </a:p>
                    <a:p>
                      <a:pPr indent="216000" algn="r" rtl="1"/>
                      <a:r>
                        <a:rPr lang="ar-AE" sz="1400" kern="150" dirty="0">
                          <a:effectLst/>
                          <a:latin typeface="Arial" panose="020B0604020202020204" pitchFamily="34" charset="0"/>
                          <a:cs typeface="Arial" panose="020B0604020202020204" pitchFamily="34" charset="0"/>
                        </a:rPr>
                        <a:t>ـ فسألها: أين؟</a:t>
                      </a:r>
                    </a:p>
                    <a:p>
                      <a:pPr indent="216000" algn="r" rtl="1"/>
                      <a:r>
                        <a:rPr lang="ar-AE" sz="1400" kern="150" dirty="0">
                          <a:effectLst/>
                          <a:latin typeface="Arial" panose="020B0604020202020204" pitchFamily="34" charset="0"/>
                          <a:cs typeface="Arial" panose="020B0604020202020204" pitchFamily="34" charset="0"/>
                        </a:rPr>
                        <a:t>ـ قالت له: عند الصخرة البيضاء.</a:t>
                      </a:r>
                    </a:p>
                    <a:p>
                      <a:pPr indent="216000" algn="r" rtl="1"/>
                      <a:r>
                        <a:rPr lang="ar-AE" sz="1400" kern="150" dirty="0">
                          <a:effectLst/>
                          <a:latin typeface="Arial" panose="020B0604020202020204" pitchFamily="34" charset="0"/>
                          <a:cs typeface="Arial" panose="020B0604020202020204" pitchFamily="34" charset="0"/>
                        </a:rPr>
                        <a:t>¶ وظلا يسيران حتى بلغا الصخرة البيضاء ــ المكان الذي تستظل فيه الماشية من الحر ــ فانقضّ عليهما السلوقي. نهشه وتركه في حال يُرثى لها، ففرّ الذئب. ونجت العنزة الماكرة.</a:t>
                      </a:r>
                      <a:endParaRPr lang="en-GB" sz="1400" dirty="0">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18231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16771711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Uccen</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uḥuli</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والجدي</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sin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tesɛa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amalas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Ixutel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Tqubel-it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wacciwen-is</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tberrez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iwexxeṛ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teddun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la tt-</a:t>
                      </a:r>
                      <a:r>
                        <a:rPr lang="fr-FR" sz="1100" kern="1200" dirty="0" err="1">
                          <a:solidFill>
                            <a:schemeClr val="tx1"/>
                          </a:solidFill>
                          <a:effectLst/>
                          <a:latin typeface="+mn-lt"/>
                          <a:ea typeface="+mn-ea"/>
                          <a:cs typeface="+mn-cs"/>
                        </a:rPr>
                        <a:t>ttdarayen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ifureq-itt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mɣint</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tacciwin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neṭṭa</a:t>
                      </a:r>
                      <a:r>
                        <a:rPr lang="fr-FR" sz="1100" kern="1200" dirty="0">
                          <a:solidFill>
                            <a:schemeClr val="tx1"/>
                          </a:solidFill>
                          <a:effectLst/>
                          <a:latin typeface="+mn-lt"/>
                          <a:ea typeface="+mn-ea"/>
                          <a:cs typeface="+mn-cs"/>
                        </a:rPr>
                        <a:t>. Akken i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ifeṛṛed-it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idhem-it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yuzzel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ten-lḥiqen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wuglan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-as-t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iẓur</a:t>
                      </a:r>
                      <a:r>
                        <a:rPr lang="fr-FR" sz="1100" kern="1200" dirty="0">
                          <a:solidFill>
                            <a:schemeClr val="tx1"/>
                          </a:solidFill>
                          <a:effectLst/>
                          <a:latin typeface="+mn-lt"/>
                          <a:ea typeface="+mn-ea"/>
                          <a:cs typeface="+mn-cs"/>
                        </a:rPr>
                        <a:t>-d at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yettawin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يوم من الأيام، </a:t>
                      </a:r>
                      <a:r>
                        <a:rPr lang="ar-AE" sz="1400" kern="150">
                          <a:effectLst/>
                          <a:latin typeface="Arial" panose="020B0604020202020204" pitchFamily="34" charset="0"/>
                          <a:cs typeface="Arial" panose="020B0604020202020204" pitchFamily="34" charset="0"/>
                        </a:rPr>
                        <a:t>كانت العنزة </a:t>
                      </a:r>
                      <a:r>
                        <a:rPr lang="ar-AE" sz="1400" kern="150" dirty="0">
                          <a:effectLst/>
                          <a:latin typeface="Arial" panose="020B0604020202020204" pitchFamily="34" charset="0"/>
                          <a:cs typeface="Arial" panose="020B0604020202020204" pitchFamily="34" charset="0"/>
                        </a:rPr>
                        <a:t>ترعى مع جدييها؛ أحدهما بكرها والآخر أصغرهما.</a:t>
                      </a:r>
                    </a:p>
                    <a:p>
                      <a:pPr indent="216000" algn="r" rtl="1"/>
                      <a:r>
                        <a:rPr lang="ar-AE" sz="1400" kern="150" dirty="0">
                          <a:effectLst/>
                          <a:latin typeface="Arial" panose="020B0604020202020204" pitchFamily="34" charset="0"/>
                          <a:cs typeface="Arial" panose="020B0604020202020204" pitchFamily="34" charset="0"/>
                        </a:rPr>
                        <a:t>تسلل الذئب إليهما وانقضّ عليهما. تصدت له العنزة بقرنيها: كلما تقدم نحو الجديين هاجمته، فيتراجع، فيما ظل صغيراها يتحركان بين ساقيها ويحتميان بها.</a:t>
                      </a:r>
                    </a:p>
                    <a:p>
                      <a:pPr indent="216000" algn="r" rtl="1"/>
                      <a:r>
                        <a:rPr lang="ar-AE" sz="1400" kern="150" dirty="0">
                          <a:effectLst/>
                          <a:latin typeface="Arial" panose="020B0604020202020204" pitchFamily="34" charset="0"/>
                          <a:cs typeface="Arial" panose="020B0604020202020204" pitchFamily="34" charset="0"/>
                        </a:rPr>
                        <a:t>¶ وفي لحظة، انفصل البكر عنهما؛ كان جديًا صغيرًا بدأت قرناه تنموان للتو، وشعر بالشجاعة وأراد أن يهاجم الذئب بنفسه. وما إن وثب عليه حتى قطع سيدي امحمد طريق عودته ودفعه إلى أسفل الوادي. أسرعت العنزة وراءهما، وهرع السلوقي إليهما. لكنهما وجدا أن الأوان قد فات: لم يصلا إلا بعدما خنقه الذئب وعضه عدة عضات.</a:t>
                      </a:r>
                    </a:p>
                    <a:p>
                      <a:pPr indent="216000" algn="r" rtl="1"/>
                      <a:r>
                        <a:rPr lang="ar-AE" sz="1400" kern="150" dirty="0">
                          <a:effectLst/>
                          <a:latin typeface="Arial" panose="020B0604020202020204" pitchFamily="34" charset="0"/>
                          <a:cs typeface="Arial" panose="020B0604020202020204" pitchFamily="34" charset="0"/>
                        </a:rPr>
                        <a:t>¶ انتزعاه منه، فنجا من الموت، لكنه رأى الآخرة رأي العين.</a:t>
                      </a:r>
                    </a:p>
                    <a:p>
                      <a:pPr indent="216000" algn="r" rtl="1"/>
                      <a:r>
                        <a:rPr lang="ar-AE" sz="1400" kern="150" dirty="0">
                          <a:effectLst/>
                          <a:latin typeface="Arial" panose="020B0604020202020204" pitchFamily="34" charset="0"/>
                          <a:cs typeface="Arial" panose="020B0604020202020204" pitchFamily="34" charset="0"/>
                        </a:rPr>
                        <a:t>فقال له السلوقي:</a:t>
                      </a:r>
                    </a:p>
                    <a:p>
                      <a:pPr indent="216000" algn="r" rtl="1"/>
                      <a:r>
                        <a:rPr lang="ar-AE" sz="1400" kern="150" dirty="0">
                          <a:effectLst/>
                          <a:latin typeface="Arial" panose="020B0604020202020204" pitchFamily="34" charset="0"/>
                          <a:cs typeface="Arial" panose="020B0604020202020204" pitchFamily="34" charset="0"/>
                        </a:rPr>
                        <a:t>ـ ما بالك أيها الجدي، تطير عاليًا هكذا؟</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3942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2338609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107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tixsi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والنعجة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Iɛuh</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tettiwriɣ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sswen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teṣbeḥ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tala,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tuɛi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sswan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ucekkuk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tettagem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axlaf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lwin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sseɣren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yehwa-yas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nca-lleh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ihewwu</a:t>
                      </a:r>
                      <a:r>
                        <a:rPr lang="fr-FR" sz="1100" kern="1200" dirty="0">
                          <a:solidFill>
                            <a:schemeClr val="tx1"/>
                          </a:solidFill>
                          <a:effectLst/>
                          <a:latin typeface="+mn-lt"/>
                          <a:ea typeface="+mn-ea"/>
                          <a:cs typeface="+mn-cs"/>
                        </a:rPr>
                        <a:t> ara!</a:t>
                      </a:r>
                    </a:p>
                    <a:p>
                      <a:pPr indent="457200"/>
                      <a:r>
                        <a:rPr lang="en-US" sz="1100" dirty="0"/>
                        <a:t>¶ </a:t>
                      </a:r>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teqbil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mcaṛaɛen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t>
                      </a:r>
                      <a:r>
                        <a:rPr lang="fr-FR" sz="1100" kern="1200" dirty="0" err="1">
                          <a:solidFill>
                            <a:schemeClr val="tx1"/>
                          </a:solidFill>
                          <a:effectLst/>
                          <a:latin typeface="+mn-lt"/>
                          <a:ea typeface="+mn-ea"/>
                          <a:cs typeface="+mn-cs"/>
                        </a:rPr>
                        <a:t>leɛraḍ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d as-</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lekdeb</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اتفق الذئب مع النعجة على زراعة حديقة خضروات. وأقسم لها بالله ألا يأكلها وألا يأخذ نصيبها المستحق. حرثا الأرض، وقلّباها، ثم زرعا الفاصولياء. هطلت الأمطار، ونما الزرع واخضرّ حتى صار بلون البحر.</a:t>
                      </a:r>
                    </a:p>
                    <a:p>
                      <a:pPr indent="216000" algn="r" rtl="1"/>
                      <a:r>
                        <a:rPr lang="ar-AE" sz="1400" kern="150" dirty="0">
                          <a:effectLst/>
                          <a:latin typeface="Arial" panose="020B0604020202020204" pitchFamily="34" charset="0"/>
                          <a:cs typeface="Arial" panose="020B0604020202020204" pitchFamily="34" charset="0"/>
                        </a:rPr>
                        <a:t>¶ حلّ الصيف وبدأت النباتات تصفرّ. فاستعدا لسقيها، لكن الحديقة كانت أعلى من النبع، ولم يكن بالإمكان إيصال الماء إليها بشق قناة. لذلك اضطرّا إلى سقيها بالجرّة.</a:t>
                      </a:r>
                    </a:p>
                    <a:p>
                      <a:pPr indent="216000" algn="r" rtl="1"/>
                      <a:r>
                        <a:rPr lang="ar-AE" sz="1400" kern="150" dirty="0">
                          <a:effectLst/>
                          <a:latin typeface="Arial" panose="020B0604020202020204" pitchFamily="34" charset="0"/>
                          <a:cs typeface="Arial" panose="020B0604020202020204" pitchFamily="34" charset="0"/>
                        </a:rPr>
                        <a:t>¶ ظلت النعجة تجلب الماء حتى كاد قلبها ينفطر، بينما كان سيدي امحمد يسقي ويغني مستمتعًا!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حلّ موسم الحصاد وجاء المحصول وفيرًا. جمعاه وجففاه ودرساه، ولم يبق إلا أن يقتسماه. أحضر الذئب سلة كبيرة، وكال لنفسه ست حصص، ثم كال للنعجة الحصة السابعة قائلًا:</a:t>
                      </a:r>
                    </a:p>
                    <a:p>
                      <a:pPr indent="216000" algn="r" rtl="1"/>
                      <a:r>
                        <a:rPr lang="ar-AE" sz="1400" kern="150" dirty="0">
                          <a:effectLst/>
                          <a:latin typeface="Arial" panose="020B0604020202020204" pitchFamily="34" charset="0"/>
                          <a:cs typeface="Arial" panose="020B0604020202020204" pitchFamily="34" charset="0"/>
                        </a:rPr>
                        <a:t>ـ لتأخذ عمتي هذه إن شاءت؛ إن شاء الله لا تشبع بها!</a:t>
                      </a:r>
                    </a:p>
                    <a:p>
                      <a:pPr indent="216000" algn="r" rtl="1"/>
                      <a:r>
                        <a:rPr lang="ar-AE" sz="1400" kern="150" dirty="0">
                          <a:effectLst/>
                          <a:latin typeface="Arial" panose="020B0604020202020204" pitchFamily="34" charset="0"/>
                          <a:cs typeface="Arial" panose="020B0604020202020204" pitchFamily="34" charset="0"/>
                        </a:rPr>
                        <a:t>¶ رفضت النعجة هذا التقسيم رفضًا قاطعًا. وقالت له:</a:t>
                      </a:r>
                    </a:p>
                    <a:p>
                      <a:pPr indent="216000" algn="r" rtl="1"/>
                      <a:r>
                        <a:rPr lang="ar-AE" sz="1400" kern="150" dirty="0">
                          <a:effectLst/>
                          <a:latin typeface="Arial" panose="020B0604020202020204" pitchFamily="34" charset="0"/>
                          <a:cs typeface="Arial" panose="020B0604020202020204" pitchFamily="34" charset="0"/>
                        </a:rPr>
                        <a:t>ـ أستحلفك بالله أن تمنحني فرصة للاحتكام.</a:t>
                      </a:r>
                    </a:p>
                    <a:p>
                      <a:pPr indent="216000" algn="r" rtl="1"/>
                      <a:r>
                        <a:rPr lang="ar-AE" sz="1400" kern="150" dirty="0">
                          <a:effectLst/>
                          <a:latin typeface="Arial" panose="020B0604020202020204" pitchFamily="34" charset="0"/>
                          <a:cs typeface="Arial" panose="020B0604020202020204" pitchFamily="34" charset="0"/>
                        </a:rPr>
                        <a:t>فوافق. وذهبا لطلب الحكم بينهما من الحيوانات. فقال الذئب لهم:</a:t>
                      </a:r>
                    </a:p>
                    <a:p>
                      <a:pPr indent="216000" algn="r" rtl="1"/>
                      <a:r>
                        <a:rPr lang="ar-AE" sz="1400" kern="150" dirty="0">
                          <a:effectLst/>
                          <a:latin typeface="Arial" panose="020B0604020202020204" pitchFamily="34" charset="0"/>
                          <a:cs typeface="Arial" panose="020B0604020202020204" pitchFamily="34" charset="0"/>
                        </a:rPr>
                        <a:t>ـ أيها الضيوف الكرام، كيف أعطيها نصف المحصول، وأنا الذي جلبت الماء حتى كاد قلبي ينفطر؟</a:t>
                      </a:r>
                    </a:p>
                    <a:p>
                      <a:pPr indent="216000" algn="r" rtl="1"/>
                      <a:r>
                        <a:rPr lang="ar-AE" sz="1400" kern="150" dirty="0">
                          <a:effectLst/>
                          <a:latin typeface="Arial" panose="020B0604020202020204" pitchFamily="34" charset="0"/>
                          <a:cs typeface="Arial" panose="020B0604020202020204" pitchFamily="34" charset="0"/>
                        </a:rPr>
                        <a:t>ـ فقالت لهم: هذا كذب! لقد سمعتم سيدي امحمد يغني؛ فمن يجلب الماء لا يغني!</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140945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6157174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108</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109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Inkeṛ-itt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ccfeṛ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wennar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tanalt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ḍehrent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reqqent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nazir.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teɛteb</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أنكر الأمر تمامًا!</a:t>
                      </a:r>
                    </a:p>
                    <a:p>
                      <a:pPr indent="216000" algn="r" rtl="1"/>
                      <a:r>
                        <a:rPr lang="ar-AE" sz="1400" kern="150" dirty="0">
                          <a:effectLst/>
                          <a:latin typeface="Arial" panose="020B0604020202020204" pitchFamily="34" charset="0"/>
                          <a:cs typeface="Arial" panose="020B0604020202020204" pitchFamily="34" charset="0"/>
                        </a:rPr>
                        <a:t>فذهبت وأحضرت السلوقي داخل كيس من جلد، ووضعته عند طرف البيدر. ظن الذئب أنه مجرد كيس من الحبوب موضوع هناك. تقدم ليأخذه، لكن عيني السلوقي ظهرتا من داخله، تلمعان كالجمر المتقد.</a:t>
                      </a:r>
                    </a:p>
                    <a:p>
                      <a:pPr indent="216000" algn="r" rtl="1"/>
                      <a:r>
                        <a:rPr lang="ar-AE" sz="1400" kern="150" dirty="0">
                          <a:effectLst/>
                          <a:latin typeface="Arial" panose="020B0604020202020204" pitchFamily="34" charset="0"/>
                          <a:cs typeface="Arial" panose="020B0604020202020204" pitchFamily="34" charset="0"/>
                        </a:rPr>
                        <a:t>¶ فأعطاها نصيبها العادل، بل وأكثر مما تستحق: فبينما كان يكيل لنفسه سلة واحدة، كال للنعجة ست سلال، قائلًا:</a:t>
                      </a:r>
                    </a:p>
                    <a:p>
                      <a:pPr indent="216000" algn="r" rtl="1"/>
                      <a:r>
                        <a:rPr lang="ar-AE" sz="1400" kern="150" dirty="0">
                          <a:effectLst/>
                          <a:latin typeface="Arial" panose="020B0604020202020204" pitchFamily="34" charset="0"/>
                          <a:cs typeface="Arial" panose="020B0604020202020204" pitchFamily="34" charset="0"/>
                        </a:rPr>
                        <a:t>ـ يا عمتي المسكينة، لقد تعبت كثيرًا!</a:t>
                      </a:r>
                      <a:endParaRPr lang="en-GB" sz="1400" dirty="0">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464978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84224660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izimer</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والحَمَل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Mṛeḥba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-k,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fudeɣ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usiɣ</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Teskaddbeḍ</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teččêḍ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 Si </a:t>
                      </a:r>
                      <a:r>
                        <a:rPr lang="fr-FR" sz="1100" kern="1200" dirty="0" err="1">
                          <a:solidFill>
                            <a:schemeClr val="tx1"/>
                          </a:solidFill>
                          <a:effectLst/>
                          <a:latin typeface="+mn-lt"/>
                          <a:ea typeface="+mn-ea"/>
                          <a:cs typeface="+mn-cs"/>
                        </a:rPr>
                        <a:t>Mḥemmend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tɣeswatin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iɛemṛen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Sebru</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wagguren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nnerniɣ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qewwiɣ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yezmumeg</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tusiḍ</a:t>
                      </a:r>
                      <a:r>
                        <a:rPr lang="fr-FR" sz="1100" kern="1200" dirty="0">
                          <a:solidFill>
                            <a:schemeClr val="tx1"/>
                          </a:solidFill>
                          <a:effectLst/>
                          <a:latin typeface="+mn-lt"/>
                          <a:ea typeface="+mn-ea"/>
                          <a:cs typeface="+mn-cs"/>
                        </a:rPr>
                        <a:t>-d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yemmaleɛtab</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يوم من الأيام، التقى الذئب بالحمل قرب مجرى ماء.</a:t>
                      </a:r>
                    </a:p>
                    <a:p>
                      <a:pPr indent="216000" algn="r" rtl="1"/>
                      <a:r>
                        <a:rPr lang="ar-AE" sz="1400" kern="150" dirty="0">
                          <a:effectLst/>
                          <a:latin typeface="Arial" panose="020B0604020202020204" pitchFamily="34" charset="0"/>
                          <a:cs typeface="Arial" panose="020B0604020202020204" pitchFamily="34" charset="0"/>
                        </a:rPr>
                        <a:t>فقال له الذئب:</a:t>
                      </a:r>
                    </a:p>
                    <a:p>
                      <a:pPr indent="216000" algn="r" rtl="1"/>
                      <a:r>
                        <a:rPr lang="ar-AE" sz="1400" kern="150" dirty="0">
                          <a:effectLst/>
                          <a:latin typeface="Arial" panose="020B0604020202020204" pitchFamily="34" charset="0"/>
                          <a:cs typeface="Arial" panose="020B0604020202020204" pitchFamily="34" charset="0"/>
                        </a:rPr>
                        <a:t>ـ أهلًا يا ابن عمتي! ما الذي جاء بك إلى هنا؟</a:t>
                      </a:r>
                    </a:p>
                    <a:p>
                      <a:pPr indent="216000" algn="r" rtl="1"/>
                      <a:r>
                        <a:rPr lang="ar-AE" sz="1400" kern="150" dirty="0">
                          <a:effectLst/>
                          <a:latin typeface="Arial" panose="020B0604020202020204" pitchFamily="34" charset="0"/>
                          <a:cs typeface="Arial" panose="020B0604020202020204" pitchFamily="34" charset="0"/>
                        </a:rPr>
                        <a:t>ـ أجابه الحمل: العطش، أنا ظمآن يا سيدي امحمد، جئت لأشرب.</a:t>
                      </a:r>
                    </a:p>
                    <a:p>
                      <a:pPr indent="216000" algn="r" rtl="1"/>
                      <a:r>
                        <a:rPr lang="ar-AE" sz="1400" kern="150" dirty="0">
                          <a:effectLst/>
                          <a:latin typeface="Arial" panose="020B0604020202020204" pitchFamily="34" charset="0"/>
                          <a:cs typeface="Arial" panose="020B0604020202020204" pitchFamily="34" charset="0"/>
                        </a:rPr>
                        <a:t>فقال له الذئب: أنت تكذب! هناك شيء تحت رأسك! وفوق ذلك، أكلت أمك نصيبي من الفاصولياء؛ لقد ساقك الله إلى هنا لأثأر لنفسي!</a:t>
                      </a:r>
                    </a:p>
                    <a:p>
                      <a:pPr indent="216000" algn="r" rtl="1"/>
                      <a:r>
                        <a:rPr lang="ar-AE" sz="1400" kern="150" dirty="0">
                          <a:effectLst/>
                          <a:latin typeface="Arial" panose="020B0604020202020204" pitchFamily="34" charset="0"/>
                          <a:cs typeface="Arial" panose="020B0604020202020204" pitchFamily="34" charset="0"/>
                        </a:rPr>
                        <a:t>ـ فقال له الحمل: أي شيء يمكن أن تأكله مني يا سيدي امحمد؟ انظر، ليس في جسدي سوى الجلد والعظام الصغيرة! أمهلني بضعة أشهر حتى أكبر وأقوى؛ أقسم لك بالله أنني سأعود!</a:t>
                      </a:r>
                    </a:p>
                    <a:p>
                      <a:pPr indent="216000" algn="r" rtl="1"/>
                      <a:r>
                        <a:rPr lang="ar-AE" sz="1400" kern="150" dirty="0">
                          <a:effectLst/>
                          <a:latin typeface="Arial" panose="020B0604020202020204" pitchFamily="34" charset="0"/>
                          <a:cs typeface="Arial" panose="020B0604020202020204" pitchFamily="34" charset="0"/>
                        </a:rPr>
                        <a:t>¶ تركه يذهب، فانصرف الحمل حتى وصل إلى أمه وأخبرها بكل شيء.</a:t>
                      </a:r>
                    </a:p>
                    <a:p>
                      <a:pPr indent="216000" algn="r" rtl="1"/>
                      <a:r>
                        <a:rPr lang="ar-AE" sz="1400" kern="150" dirty="0">
                          <a:effectLst/>
                          <a:latin typeface="Arial" panose="020B0604020202020204" pitchFamily="34" charset="0"/>
                          <a:cs typeface="Arial" panose="020B0604020202020204" pitchFamily="34" charset="0"/>
                        </a:rPr>
                        <a:t>¶ مضى بعض الوقت، وحملوا السلوقي داخل سلة كبيرة من الخوص، ونزلوا إلى الوادي نفسه. وإذا بالذئب قد وصل. وما إن رأى الحمل حتى ابتسم ابتسامة عريضة وقال له:</a:t>
                      </a:r>
                    </a:p>
                    <a:p>
                      <a:pPr indent="216000" algn="r" rtl="1"/>
                      <a:r>
                        <a:rPr lang="ar-AE" sz="1400" kern="150" dirty="0">
                          <a:effectLst/>
                          <a:latin typeface="Arial" panose="020B0604020202020204" pitchFamily="34" charset="0"/>
                          <a:cs typeface="Arial" panose="020B0604020202020204" pitchFamily="34" charset="0"/>
                        </a:rPr>
                        <a:t>ـ إنك رجل تفي بكلمتك؛ جئت كي آكلك...</a:t>
                      </a:r>
                    </a:p>
                    <a:p>
                      <a:pPr indent="216000" algn="r" rtl="1"/>
                      <a:r>
                        <a:rPr lang="ar-AE" sz="1400" kern="150" dirty="0">
                          <a:effectLst/>
                          <a:latin typeface="Arial" panose="020B0604020202020204" pitchFamily="34" charset="0"/>
                          <a:cs typeface="Arial" panose="020B0604020202020204" pitchFamily="34" charset="0"/>
                        </a:rPr>
                        <a:t>ـ فأجابه الحمل: أقسم بهذه السلة المصنوعة من الخوص أن أمي أكلت جزاء تعبك، وبعدها يمكنك أن تأكلني.</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139790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3089E-D933-4644-351D-D213796CFC5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CF17539-B1E8-4AEB-5732-3D5F450F08CB}"/>
              </a:ext>
            </a:extLst>
          </p:cNvPr>
          <p:cNvGraphicFramePr>
            <a:graphicFrameLocks noGrp="1"/>
          </p:cNvGraphicFramePr>
          <p:nvPr>
            <p:extLst>
              <p:ext uri="{D42A27DB-BD31-4B8C-83A1-F6EECF244321}">
                <p14:modId xmlns:p14="http://schemas.microsoft.com/office/powerpoint/2010/main" val="375918683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taqejjiṛt-is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yeggall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yebri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abaḥan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رفع الذئب كفه ووضعها على السلة ليقسم، فانقضّ عليه السلوقي وعضه. أخذ الذئب يئن ويعوي، لكن الكلب لم يتركه حتى تبرز من شدة الرعب.</a:t>
                      </a:r>
                    </a:p>
                    <a:p>
                      <a:pPr indent="216000" algn="r" rtl="1"/>
                      <a:r>
                        <a:rPr lang="ar-AE" sz="1400" kern="150" dirty="0">
                          <a:effectLst/>
                          <a:latin typeface="Arial" panose="020B0604020202020204" pitchFamily="34" charset="0"/>
                          <a:cs typeface="Arial" panose="020B0604020202020204" pitchFamily="34" charset="0"/>
                        </a:rPr>
                        <a:t>¶ عاد سيدي امحمد إلى عرينه على ثلاث قوائم؛ أما الحمل اللطيف فقد نجا.</a:t>
                      </a:r>
                      <a:endParaRPr lang="en-GB" sz="1400" dirty="0">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24369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6866340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uyaẓiḍ</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والديك</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Ḍallen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zegren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qegglen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tɣezza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tluta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tasaft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taɛlayant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yeddari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izewweq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lefjer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afriwen-is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yesɣuggu</a:t>
                      </a:r>
                      <a:r>
                        <a:rPr lang="fr-FR" sz="1100" kern="1200" dirty="0">
                          <a:solidFill>
                            <a:schemeClr val="tx1"/>
                          </a:solidFill>
                          <a:effectLst/>
                          <a:latin typeface="+mn-lt"/>
                          <a:ea typeface="+mn-ea"/>
                          <a:cs typeface="+mn-cs"/>
                        </a:rPr>
                        <a:t>. Mazal </a:t>
                      </a:r>
                      <a:r>
                        <a:rPr lang="fr-FR" sz="1100" kern="1200" dirty="0" err="1">
                          <a:solidFill>
                            <a:schemeClr val="tx1"/>
                          </a:solidFill>
                          <a:effectLst/>
                          <a:latin typeface="+mn-lt"/>
                          <a:ea typeface="+mn-ea"/>
                          <a:cs typeface="+mn-cs"/>
                        </a:rPr>
                        <a:t>werɛed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Ttbarik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taɣect</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i s-d-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yiḥnin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yejjem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taẓallit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ṣṣut-is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ndekwaleɣ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uzzleɣ</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Tura, a </a:t>
                      </a:r>
                      <a:r>
                        <a:rPr lang="fr-FR" sz="1100" kern="1200" dirty="0" err="1">
                          <a:solidFill>
                            <a:schemeClr val="tx1"/>
                          </a:solidFill>
                          <a:effectLst/>
                          <a:latin typeface="+mn-lt"/>
                          <a:ea typeface="+mn-ea"/>
                          <a:cs typeface="+mn-cs"/>
                        </a:rPr>
                        <a:t>lḥaǧ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tuddna</a:t>
                      </a:r>
                      <a:r>
                        <a:rPr lang="fr-FR" sz="1100" kern="1200" dirty="0">
                          <a:solidFill>
                            <a:schemeClr val="tx1"/>
                          </a:solidFill>
                          <a:effectLst/>
                          <a:latin typeface="+mn-lt"/>
                          <a:ea typeface="+mn-ea"/>
                          <a:cs typeface="+mn-cs"/>
                        </a:rPr>
                        <a:t>, ers-d an </a:t>
                      </a:r>
                      <a:r>
                        <a:rPr lang="fr-FR" sz="1100" kern="1200" dirty="0" err="1">
                          <a:solidFill>
                            <a:schemeClr val="tx1"/>
                          </a:solidFill>
                          <a:effectLst/>
                          <a:latin typeface="+mn-lt"/>
                          <a:ea typeface="+mn-ea"/>
                          <a:cs typeface="+mn-cs"/>
                        </a:rPr>
                        <a:t>neẓẓal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Ixẓer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ṭṭaɛa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kan i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A-t-an </a:t>
                      </a:r>
                      <a:r>
                        <a:rPr lang="fr-FR" sz="1100" kern="1200" dirty="0" err="1">
                          <a:solidFill>
                            <a:schemeClr val="tx1"/>
                          </a:solidFill>
                          <a:effectLst/>
                          <a:latin typeface="+mn-lt"/>
                          <a:ea typeface="+mn-ea"/>
                          <a:cs typeface="+mn-cs"/>
                        </a:rPr>
                        <a:t>wemṛabeḍ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ssaki</a:t>
                      </a:r>
                      <a:r>
                        <a:rPr lang="fr-FR" sz="1100" kern="1200" dirty="0">
                          <a:solidFill>
                            <a:schemeClr val="tx1"/>
                          </a:solidFill>
                          <a:effectLst/>
                          <a:latin typeface="+mn-lt"/>
                          <a:ea typeface="+mn-ea"/>
                          <a:cs typeface="+mn-cs"/>
                        </a:rPr>
                        <a:t>-t-id si </a:t>
                      </a:r>
                      <a:r>
                        <a:rPr lang="fr-FR" sz="1100" kern="1200" dirty="0" err="1">
                          <a:solidFill>
                            <a:schemeClr val="tx1"/>
                          </a:solidFill>
                          <a:effectLst/>
                          <a:latin typeface="+mn-lt"/>
                          <a:ea typeface="+mn-ea"/>
                          <a:cs typeface="+mn-cs"/>
                        </a:rPr>
                        <a:t>meɛḍil</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rseɣ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Iga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iɛawez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aǧel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iḥwes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sebɣeɣ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luḍu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Yennser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usaɣur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ذات مرة، انطلق السلوقي والديك في رحلة طويلة. أطلّا على الجبال والمرتفعات، وعبرا الأنهار، واستراحا في الحقول والوديان. وفي ذلك اليوم، أدركهما الليل في غابة. فطار الديك إلى شجرة بلوط عالية، ودخل السلوقي تجويفًا ليحتمي به، وبقي هناك حارسًا.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وما إن بدأ الفجر يلوّن السماء حتى هزّ الديك جناحيه وشرع يصيح. وقبل أن ينتهي، وصل الذئب إلى أسفل الشجرة وقال له:</a:t>
                      </a:r>
                    </a:p>
                    <a:p>
                      <a:pPr indent="216000" algn="r" rtl="1"/>
                      <a:r>
                        <a:rPr lang="ar-AE" sz="1400" kern="150" dirty="0">
                          <a:effectLst/>
                          <a:latin typeface="Arial" panose="020B0604020202020204" pitchFamily="34" charset="0"/>
                          <a:cs typeface="Arial" panose="020B0604020202020204" pitchFamily="34" charset="0"/>
                        </a:rPr>
                        <a:t>ـ تبارك الله على الصوت الذي وهبك إياه! من يسمعه يرقّ قلبه ويؤدي صلاته. وما إن بلغ صوتك أذني هذا الصباح حتى استيقظت من نومي وأسرعت إليك.</a:t>
                      </a:r>
                    </a:p>
                    <a:p>
                      <a:pPr indent="216000" algn="r" rtl="1"/>
                      <a:r>
                        <a:rPr lang="ar-AE" sz="1400" kern="150" dirty="0">
                          <a:effectLst/>
                          <a:latin typeface="Arial" panose="020B0604020202020204" pitchFamily="34" charset="0"/>
                          <a:cs typeface="Arial" panose="020B0604020202020204" pitchFamily="34" charset="0"/>
                        </a:rPr>
                        <a:t>والآن يا حاج، ما دمت قد أتممت الأذان، فانزل لنصلي.</a:t>
                      </a:r>
                    </a:p>
                    <a:p>
                      <a:pPr indent="216000" algn="r" rtl="1"/>
                      <a:r>
                        <a:rPr lang="ar-AE" sz="1400" kern="150" dirty="0">
                          <a:effectLst/>
                          <a:latin typeface="Arial" panose="020B0604020202020204" pitchFamily="34" charset="0"/>
                          <a:cs typeface="Arial" panose="020B0604020202020204" pitchFamily="34" charset="0"/>
                        </a:rPr>
                        <a:t>¶ نظر الديك إليه من أعلى، وأدرك أن ما جاء به لم يكن التقوى، بل رغبته في سحق رأسه. فأجابه:</a:t>
                      </a:r>
                    </a:p>
                    <a:p>
                      <a:pPr indent="216000" algn="r" rtl="1"/>
                      <a:r>
                        <a:rPr lang="ar-AE" sz="1400" kern="150" dirty="0">
                          <a:effectLst/>
                          <a:latin typeface="Arial" panose="020B0604020202020204" pitchFamily="34" charset="0"/>
                          <a:cs typeface="Arial" panose="020B0604020202020204" pitchFamily="34" charset="0"/>
                        </a:rPr>
                        <a:t>ـ الرجل الصالح هناك في التجويف. أيقظه بينما أنزل أنا إلى الأسفل!</a:t>
                      </a:r>
                    </a:p>
                    <a:p>
                      <a:pPr indent="216000" algn="r" rtl="1"/>
                      <a:r>
                        <a:rPr lang="ar-AE" sz="1400" kern="150" dirty="0">
                          <a:effectLst/>
                          <a:latin typeface="Arial" panose="020B0604020202020204" pitchFamily="34" charset="0"/>
                          <a:cs typeface="Arial" panose="020B0604020202020204" pitchFamily="34" charset="0"/>
                        </a:rPr>
                        <a:t>¶ التفت سيدي امحمد نحو تجويف الشجرة فرأى السلوقي نائمًا؛ فقد ظل يحرس طوال الليل، وغلبه النعاس عند اقتراب الصباح.</a:t>
                      </a:r>
                    </a:p>
                    <a:p>
                      <a:pPr indent="216000" algn="r" rtl="1"/>
                      <a:r>
                        <a:rPr lang="ar-AE" sz="1400" kern="150" dirty="0">
                          <a:effectLst/>
                          <a:latin typeface="Arial" panose="020B0604020202020204" pitchFamily="34" charset="0"/>
                          <a:cs typeface="Arial" panose="020B0604020202020204" pitchFamily="34" charset="0"/>
                        </a:rPr>
                        <a:t>أخذ الذئب يرتجف وقال للديك:</a:t>
                      </a:r>
                    </a:p>
                    <a:p>
                      <a:pPr indent="216000" algn="r" rtl="1"/>
                      <a:r>
                        <a:rPr lang="ar-AE" sz="1400" kern="150" dirty="0">
                          <a:effectLst/>
                          <a:latin typeface="Arial" panose="020B0604020202020204" pitchFamily="34" charset="0"/>
                          <a:cs typeface="Arial" panose="020B0604020202020204" pitchFamily="34" charset="0"/>
                        </a:rPr>
                        <a:t>ـ انتظر، انتظر! دعني أتوضأ، ثم أعود!</a:t>
                      </a:r>
                    </a:p>
                    <a:p>
                      <a:pPr indent="216000" algn="r" rtl="1"/>
                      <a:r>
                        <a:rPr lang="ar-AE" sz="1400" kern="150" dirty="0">
                          <a:effectLst/>
                          <a:latin typeface="Arial" panose="020B0604020202020204" pitchFamily="34" charset="0"/>
                          <a:cs typeface="Arial" panose="020B0604020202020204" pitchFamily="34" charset="0"/>
                        </a:rPr>
                        <a:t>وانسلّ كالأفعى بين الأعشاب اليابسة، وسلك طريقه ومضى.</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03178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1001711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wergaz</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والرجل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yesnegr-iyi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ddebb-is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Mesewwaqen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iqewwan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mɛahaden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myexdeɛen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tatiṭuḥt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tkeččem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meẓẓuɣen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lemnaxeṛ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tessufuɣ-it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lɛeql-is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umehbul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yesmar-itt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afrag.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uzeqqur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ameslut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azegzaw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yesseww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يوم من الأيام، ذهب الرجل إلى الذئب وقال له:</a:t>
                      </a:r>
                    </a:p>
                    <a:p>
                      <a:pPr indent="216000" algn="r" rtl="1"/>
                      <a:r>
                        <a:rPr lang="ar-AE" sz="1400" kern="150" dirty="0">
                          <a:effectLst/>
                          <a:latin typeface="Arial" panose="020B0604020202020204" pitchFamily="34" charset="0"/>
                          <a:cs typeface="Arial" panose="020B0604020202020204" pitchFamily="34" charset="0"/>
                        </a:rPr>
                        <a:t>ـ يا سيدي امحمد، الأسد يفتك بماشيتي. لا أنا ولا السلوقي نستطيع أن نفعل شيئًا لمواجهته. إن وجدت لي حلًا، أعطيتك مكافأتك.</a:t>
                      </a:r>
                    </a:p>
                    <a:p>
                      <a:pPr indent="216000" algn="r" rtl="1"/>
                      <a:r>
                        <a:rPr lang="ar-AE" sz="1400" kern="150" dirty="0">
                          <a:effectLst/>
                          <a:latin typeface="Arial" panose="020B0604020202020204" pitchFamily="34" charset="0"/>
                          <a:cs typeface="Arial" panose="020B0604020202020204" pitchFamily="34" charset="0"/>
                        </a:rPr>
                        <a:t>ـ فأجابه الذئب: الأسد موجود، لكن سيده موجود أيضًا!</a:t>
                      </a:r>
                    </a:p>
                    <a:p>
                      <a:pPr indent="216000" algn="r" rtl="1"/>
                      <a:r>
                        <a:rPr lang="ar-AE" sz="1400" kern="150" dirty="0">
                          <a:effectLst/>
                          <a:latin typeface="Arial" panose="020B0604020202020204" pitchFamily="34" charset="0"/>
                          <a:cs typeface="Arial" panose="020B0604020202020204" pitchFamily="34" charset="0"/>
                        </a:rPr>
                        <a:t>¶ اتفقا على أن تكون المكافأة حملًا سمينًا، وأقسما بالله ألا يخون أحدهما الآخر.</a:t>
                      </a:r>
                    </a:p>
                    <a:p>
                      <a:pPr indent="216000" algn="r" rtl="1"/>
                      <a:r>
                        <a:rPr lang="ar-AE" sz="1400" kern="150" dirty="0">
                          <a:effectLst/>
                          <a:latin typeface="Arial" panose="020B0604020202020204" pitchFamily="34" charset="0"/>
                          <a:cs typeface="Arial" panose="020B0604020202020204" pitchFamily="34" charset="0"/>
                        </a:rPr>
                        <a:t>¶ ملأ الذئب كيسًا بتلك الهاموشات الصغيرة اللاسعة التي تتجمع في أسراب في المستنقعات. وحين يطبق الأسد على بعضها بأسنانه، تدخل في أذنيه ومنخريه، فتدفعه إلى الجنون وتخرجه من الغابة، وتجعله يركض هنا وهناك كالمجنون.</a:t>
                      </a:r>
                    </a:p>
                    <a:p>
                      <a:pPr indent="216000" algn="r" rtl="1"/>
                      <a:r>
                        <a:rPr lang="ar-AE" sz="1400" kern="150" dirty="0">
                          <a:effectLst/>
                          <a:latin typeface="Arial" panose="020B0604020202020204" pitchFamily="34" charset="0"/>
                          <a:cs typeface="Arial" panose="020B0604020202020204" pitchFamily="34" charset="0"/>
                        </a:rPr>
                        <a:t>¶ أعطى الذئب ذلك الكيس للرجل، فأفرغه مساءً في فناء البيت.</a:t>
                      </a:r>
                    </a:p>
                    <a:p>
                      <a:pPr indent="216000" algn="r" rtl="1"/>
                      <a:r>
                        <a:rPr lang="ar-AE" sz="1400" kern="150" dirty="0">
                          <a:effectLst/>
                          <a:latin typeface="Arial" panose="020B0604020202020204" pitchFamily="34" charset="0"/>
                          <a:cs typeface="Arial" panose="020B0604020202020204" pitchFamily="34" charset="0"/>
                        </a:rPr>
                        <a:t>¶ وما إن قفز الأسد إلى الداخل حتى وجد الفناء ممتلئًا بالهاموش. فقد صوابه، وانطرح على الأرض كالجذع، وأخذ يرتجف كورقة.</a:t>
                      </a:r>
                    </a:p>
                    <a:p>
                      <a:pPr indent="216000" algn="r" rtl="1"/>
                      <a:r>
                        <a:rPr lang="ar-AE" sz="1400" kern="150" dirty="0">
                          <a:effectLst/>
                          <a:latin typeface="Arial" panose="020B0604020202020204" pitchFamily="34" charset="0"/>
                          <a:cs typeface="Arial" panose="020B0604020202020204" pitchFamily="34" charset="0"/>
                        </a:rPr>
                        <a:t>¶ أمسك الرجل بهراوة خشبية جديدة، وانهال عليه حتى أشبع ظهره ضربًا، ثم تركه يذهب، فانصرف الأسد.</a:t>
                      </a:r>
                    </a:p>
                    <a:p>
                      <a:pPr indent="216000" algn="r" rtl="1"/>
                      <a:r>
                        <a:rPr lang="ar-AE" sz="1400" kern="150" dirty="0">
                          <a:effectLst/>
                          <a:latin typeface="Arial" panose="020B0604020202020204" pitchFamily="34" charset="0"/>
                          <a:cs typeface="Arial" panose="020B0604020202020204" pitchFamily="34" charset="0"/>
                        </a:rPr>
                        <a:t>¶ تأدب الأسد، ومنذ ذلك اليوم لم يعد.</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9124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8676165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Ayen d-</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terr,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terra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Armi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yefsi-yas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iciddi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Y</a:t>
                      </a:r>
                      <a:r>
                        <a:rPr lang="fr-FR" sz="1100" kern="1200" dirty="0" err="1">
                          <a:solidFill>
                            <a:schemeClr val="tx1"/>
                          </a:solidFill>
                          <a:effectLst/>
                          <a:latin typeface="+mn-lt"/>
                          <a:ea typeface="+mn-ea"/>
                          <a:cs typeface="+mn-cs"/>
                        </a:rPr>
                        <a:t>enna-yas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mesḍir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winna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yettarwen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أما الزوجة فقالت في نفسها</a:t>
                      </a:r>
                      <a:r>
                        <a:rPr lang="ar-AE" sz="1400" kern="150">
                          <a:effectLst/>
                          <a:latin typeface="Arial" panose="020B0604020202020204" pitchFamily="34" charset="0"/>
                          <a:cs typeface="Arial" panose="020B0604020202020204" pitchFamily="34" charset="0"/>
                        </a:rPr>
                        <a:t>: يا لها من صفقة رابحة لي! </a:t>
                      </a:r>
                      <a:r>
                        <a:rPr lang="ar-AE" sz="1400" kern="150" dirty="0">
                          <a:effectLst/>
                          <a:latin typeface="Arial" panose="020B0604020202020204" pitchFamily="34" charset="0"/>
                          <a:cs typeface="Arial" panose="020B0604020202020204" pitchFamily="34" charset="0"/>
                        </a:rPr>
                        <a:t>ما يعفو عنه ملك الحيوانات، سيتكفل سيدي امحمد بالقضاء عليه!</a:t>
                      </a:r>
                    </a:p>
                    <a:p>
                      <a:pPr indent="216000" algn="r" rtl="1"/>
                      <a:r>
                        <a:rPr lang="ar-AE" sz="1400" kern="150" dirty="0">
                          <a:effectLst/>
                          <a:latin typeface="Arial" panose="020B0604020202020204" pitchFamily="34" charset="0"/>
                          <a:cs typeface="Arial" panose="020B0604020202020204" pitchFamily="34" charset="0"/>
                        </a:rPr>
                        <a:t>¶ وبدلًا من أن تضع ما أوصاها به زوجها ــ الحمل في الكيس ــ وضعت السلوقي داخله.</a:t>
                      </a:r>
                    </a:p>
                    <a:p>
                      <a:pPr indent="216000" algn="r" rtl="1"/>
                      <a:r>
                        <a:rPr lang="ar-AE" sz="1400" kern="150" dirty="0">
                          <a:effectLst/>
                          <a:latin typeface="Arial" panose="020B0604020202020204" pitchFamily="34" charset="0"/>
                          <a:cs typeface="Arial" panose="020B0604020202020204" pitchFamily="34" charset="0"/>
                        </a:rPr>
                        <a:t>¶ حمل الذئب الكيس معه. وحين بلغ الطريق توقف ليستريح وفكّ عقدته. قفز السلوقي عليه ونهشه ومزق جسده.</a:t>
                      </a:r>
                    </a:p>
                    <a:p>
                      <a:pPr indent="216000" algn="r" rtl="1"/>
                      <a:r>
                        <a:rPr lang="ar-AE" sz="1400" kern="150" dirty="0">
                          <a:effectLst/>
                          <a:latin typeface="Arial" panose="020B0604020202020204" pitchFamily="34" charset="0"/>
                          <a:cs typeface="Arial" panose="020B0604020202020204" pitchFamily="34" charset="0"/>
                        </a:rPr>
                        <a:t>¶ قال سيدي امحمد: إحسانٌ يجلبُ سوءَ الحظ! وكما يقول المثل القديم: بيضةٌ تخصُّ امرأةً وضعتْها ناقةٌ!</a:t>
                      </a:r>
                    </a:p>
                    <a:p>
                      <a:pPr algn="r" rtl="1"/>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653988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83290098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tmeṭṭut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والمرأة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taqabact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yesɣaren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icidden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issiwḍen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lḥenk-is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tettxemmim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tamɣart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ttar</a:t>
                      </a:r>
                      <a:r>
                        <a:rPr lang="fr-FR" sz="1100" kern="1200" dirty="0">
                          <a:solidFill>
                            <a:schemeClr val="tx1"/>
                          </a:solidFill>
                          <a:effectLst/>
                          <a:latin typeface="+mn-lt"/>
                          <a:ea typeface="+mn-ea"/>
                          <a:cs typeface="+mn-cs"/>
                        </a:rPr>
                        <a:t> i s-terra: </a:t>
                      </a:r>
                      <a:r>
                        <a:rPr lang="fr-FR" sz="1100" kern="1200" dirty="0" err="1">
                          <a:solidFill>
                            <a:schemeClr val="tx1"/>
                          </a:solidFill>
                          <a:effectLst/>
                          <a:latin typeface="+mn-lt"/>
                          <a:ea typeface="+mn-ea"/>
                          <a:cs typeface="+mn-cs"/>
                        </a:rPr>
                        <a:t>tɣaḍ-it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f </a:t>
                      </a:r>
                      <a:r>
                        <a:rPr lang="fr-FR" sz="1100" kern="1200" dirty="0" err="1">
                          <a:solidFill>
                            <a:schemeClr val="tx1"/>
                          </a:solidFill>
                          <a:effectLst/>
                          <a:latin typeface="+mn-lt"/>
                          <a:ea typeface="+mn-ea"/>
                          <a:cs typeface="+mn-cs"/>
                        </a:rPr>
                        <a:t>weɛrur-is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ccqayeq</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tsellkeḍ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steqsan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tiniḍ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meɛna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yettfuḥ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nnefs-is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yenneḥcam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yennezrureḍ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في يوم من الأيام، أخذت المرأة فأسًا صغيرة وحبلًا، وذهبت إلى الغابة لتجمع الحطب. وقد أنهكها مشقّة جمع الحطب، فظلت تجمعه وتكسره وتضعه جانبًا في كومة، حتى صنعت حزمة كبيرة قدر ما شاء الله.</a:t>
                      </a:r>
                    </a:p>
                    <a:p>
                      <a:pPr indent="216000" algn="r" rtl="1"/>
                      <a:r>
                        <a:rPr lang="ar-AE" sz="1400" kern="150" dirty="0">
                          <a:effectLst/>
                          <a:latin typeface="Arial" panose="020B0604020202020204" pitchFamily="34" charset="0"/>
                          <a:cs typeface="Arial" panose="020B0604020202020204" pitchFamily="34" charset="0"/>
                        </a:rPr>
                        <a:t>¶ من سيربطها؟ ومن سيحملها إلى البيت؟ عادت وجلست على الأرض، وأسندت خدها إلى يدها، وغرقت في التفكير.</a:t>
                      </a:r>
                    </a:p>
                    <a:p>
                      <a:pPr indent="216000" algn="r" rtl="1"/>
                      <a:r>
                        <a:rPr lang="ar-AE" sz="1400" kern="150" dirty="0">
                          <a:effectLst/>
                          <a:latin typeface="Arial" panose="020B0604020202020204" pitchFamily="34" charset="0"/>
                          <a:cs typeface="Arial" panose="020B0604020202020204" pitchFamily="34" charset="0"/>
                        </a:rPr>
                        <a:t>¶ وجدها الأسد هناك وقال لها:</a:t>
                      </a:r>
                    </a:p>
                    <a:p>
                      <a:pPr indent="216000" algn="r" rtl="1"/>
                      <a:r>
                        <a:rPr lang="ar-AE" sz="1400" kern="150" dirty="0">
                          <a:effectLst/>
                          <a:latin typeface="Arial" panose="020B0604020202020204" pitchFamily="34" charset="0"/>
                          <a:cs typeface="Arial" panose="020B0604020202020204" pitchFamily="34" charset="0"/>
                        </a:rPr>
                        <a:t>— يا أماه العجوز، ما بك؟</a:t>
                      </a:r>
                    </a:p>
                    <a:p>
                      <a:pPr indent="216000" algn="r" rtl="1"/>
                      <a:r>
                        <a:rPr lang="ar-AE" sz="1400" kern="150" dirty="0">
                          <a:effectLst/>
                          <a:latin typeface="Arial" panose="020B0604020202020204" pitchFamily="34" charset="0"/>
                          <a:cs typeface="Arial" panose="020B0604020202020204" pitchFamily="34" charset="0"/>
                        </a:rPr>
                        <a:t>فأخبرته بالمشقة التي تعانيها. وروت له كل شيء من أوله إلى آخره، كما قصّت عليه حكاية الذئب والكيس الجلدي والانتقام الذي أخذته منه؛ فرقّ لها. ثم ربط حزمة الحطب ووضعها على ظهره، وأركب المرأة خلفه، وسار بها حتى باب البيت.</a:t>
                      </a:r>
                    </a:p>
                    <a:p>
                      <a:pPr indent="216000" algn="r" rtl="1"/>
                      <a:r>
                        <a:rPr lang="ar-AE" sz="1400" kern="150" dirty="0">
                          <a:effectLst/>
                          <a:latin typeface="Arial" panose="020B0604020202020204" pitchFamily="34" charset="0"/>
                          <a:cs typeface="Arial" panose="020B0604020202020204" pitchFamily="34" charset="0"/>
                        </a:rPr>
                        <a:t>¶ أدخلت المرأة حزمة الحطب إلى البيت، فيما وضع الأسد أذنه بين شقوق الباب.</a:t>
                      </a:r>
                    </a:p>
                    <a:p>
                      <a:pPr indent="216000" algn="r" rtl="1"/>
                      <a:r>
                        <a:rPr lang="ar-AE" sz="1400" kern="150" dirty="0">
                          <a:effectLst/>
                          <a:latin typeface="Arial" panose="020B0604020202020204" pitchFamily="34" charset="0"/>
                          <a:cs typeface="Arial" panose="020B0604020202020204" pitchFamily="34" charset="0"/>
                        </a:rPr>
                        <a:t>نظر أهل البيت إلى الحزمة؛ فلم يكن من السهل إحضارها من دون أن يلاحظوا. فسألوا المرأة، وروت لهم ما حدث. وسألوها:</a:t>
                      </a:r>
                    </a:p>
                    <a:p>
                      <a:pPr indent="216000" algn="r" rtl="1"/>
                      <a:r>
                        <a:rPr lang="ar-AE" sz="1400" kern="150" dirty="0">
                          <a:effectLst/>
                          <a:latin typeface="Arial" panose="020B0604020202020204" pitchFamily="34" charset="0"/>
                          <a:cs typeface="Arial" panose="020B0604020202020204" pitchFamily="34" charset="0"/>
                        </a:rPr>
                        <a:t>— ما رأيك في ملك الحيوانات؟</a:t>
                      </a:r>
                    </a:p>
                    <a:p>
                      <a:pPr indent="216000" algn="r" rtl="1"/>
                      <a:r>
                        <a:rPr lang="ar-AE" sz="1400" kern="150" dirty="0">
                          <a:effectLst/>
                          <a:latin typeface="Arial" panose="020B0604020202020204" pitchFamily="34" charset="0"/>
                          <a:cs typeface="Arial" panose="020B0604020202020204" pitchFamily="34" charset="0"/>
                        </a:rPr>
                        <a:t>— فقالت لهم: إنه رجل طيب، لكن يا لسوء رائحة أنفاسه!</a:t>
                      </a:r>
                    </a:p>
                    <a:p>
                      <a:pPr indent="216000" algn="r" rtl="1"/>
                      <a:r>
                        <a:rPr lang="ar-AE" sz="1400" kern="150" dirty="0">
                          <a:effectLst/>
                          <a:latin typeface="Arial" panose="020B0604020202020204" pitchFamily="34" charset="0"/>
                          <a:cs typeface="Arial" panose="020B0604020202020204" pitchFamily="34" charset="0"/>
                        </a:rPr>
                        <a:t>¶ وما إن سمع الأسد ذلك حتى خجل كثيرًا، وانسحب خفية ومضى.</a:t>
                      </a:r>
                    </a:p>
                    <a:p>
                      <a:pPr indent="216000" algn="r" rtl="1"/>
                      <a:r>
                        <a:rPr lang="ar-AE" sz="1400" kern="150" dirty="0">
                          <a:effectLst/>
                          <a:latin typeface="Arial" panose="020B0604020202020204" pitchFamily="34" charset="0"/>
                          <a:cs typeface="Arial" panose="020B0604020202020204" pitchFamily="34" charset="0"/>
                        </a:rPr>
                        <a:t>¶ وبعد مرور بعض الوقت، عادت المرأة إلى الغابة لجمع الحطب. فوجدها الأسد هناك وقال لها:</a:t>
                      </a:r>
                    </a:p>
                    <a:p>
                      <a:pPr indent="216000" algn="r" rtl="1"/>
                      <a:r>
                        <a:rPr lang="ar-AE" sz="1400" kern="150" dirty="0">
                          <a:effectLst/>
                          <a:latin typeface="Arial" panose="020B0604020202020204" pitchFamily="34" charset="0"/>
                          <a:cs typeface="Arial" panose="020B0604020202020204" pitchFamily="34" charset="0"/>
                        </a:rPr>
                        <a:t>— اضربيني بالفأس على جبهتي!</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920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5028067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txedmeḍ-iyi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tewteḍ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tewt-it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yezzazzal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Ani-yi-d.</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tettani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temlal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ccama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tyita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 mmi,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teḥliḍ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Leǧruḥ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ḥellun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rennun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فأجابته: لا أستطيع؛ لقد أحسنت إليّ!</a:t>
                      </a:r>
                    </a:p>
                    <a:p>
                      <a:pPr indent="216000" algn="r" rtl="1"/>
                      <a:r>
                        <a:rPr lang="ar-AE" sz="1400" kern="150" dirty="0">
                          <a:effectLst/>
                          <a:latin typeface="Arial" panose="020B0604020202020204" pitchFamily="34" charset="0"/>
                          <a:cs typeface="Arial" panose="020B0604020202020204" pitchFamily="34" charset="0"/>
                        </a:rPr>
                        <a:t>— فقال لها: ستضربينني وإلا أكلتك.</a:t>
                      </a:r>
                    </a:p>
                    <a:p>
                      <a:pPr indent="216000" algn="r" rtl="1"/>
                      <a:r>
                        <a:rPr lang="ar-AE" sz="1400" kern="150" dirty="0">
                          <a:effectLst/>
                          <a:latin typeface="Arial" panose="020B0604020202020204" pitchFamily="34" charset="0"/>
                          <a:cs typeface="Arial" panose="020B0604020202020204" pitchFamily="34" charset="0"/>
                        </a:rPr>
                        <a:t>فضربته بالفأس بين عينيه مباشرة. وانصرف يئن والدم يسيل منه.</a:t>
                      </a:r>
                    </a:p>
                    <a:p>
                      <a:pPr indent="216000" algn="r" rtl="1"/>
                      <a:r>
                        <a:rPr lang="ar-AE" sz="1400" kern="150" dirty="0">
                          <a:effectLst/>
                          <a:latin typeface="Arial" panose="020B0604020202020204" pitchFamily="34" charset="0"/>
                          <a:cs typeface="Arial" panose="020B0604020202020204" pitchFamily="34" charset="0"/>
                        </a:rPr>
                        <a:t>¶ وبعد مضي بعض الوقت، وجدها ثانية في الغابة تجمع الحطب.</a:t>
                      </a:r>
                    </a:p>
                    <a:p>
                      <a:pPr indent="216000" algn="r" rtl="1"/>
                      <a:r>
                        <a:rPr lang="ar-AE" sz="1400" kern="150" dirty="0">
                          <a:effectLst/>
                          <a:latin typeface="Arial" panose="020B0604020202020204" pitchFamily="34" charset="0"/>
                          <a:cs typeface="Arial" panose="020B0604020202020204" pitchFamily="34" charset="0"/>
                        </a:rPr>
                        <a:t>فقال لها:</a:t>
                      </a:r>
                    </a:p>
                    <a:p>
                      <a:pPr indent="216000" algn="r" rtl="1"/>
                      <a:r>
                        <a:rPr lang="ar-AE" sz="1400" kern="150" dirty="0">
                          <a:effectLst/>
                          <a:latin typeface="Arial" panose="020B0604020202020204" pitchFamily="34" charset="0"/>
                          <a:cs typeface="Arial" panose="020B0604020202020204" pitchFamily="34" charset="0"/>
                        </a:rPr>
                        <a:t>— أزيلي القمل عني.</a:t>
                      </a:r>
                    </a:p>
                    <a:p>
                      <a:pPr indent="216000" algn="r" rtl="1"/>
                      <a:r>
                        <a:rPr lang="ar-AE" sz="1400" kern="150" dirty="0">
                          <a:effectLst/>
                          <a:latin typeface="Arial" panose="020B0604020202020204" pitchFamily="34" charset="0"/>
                          <a:cs typeface="Arial" panose="020B0604020202020204" pitchFamily="34" charset="0"/>
                        </a:rPr>
                        <a:t>فأخذت تفتش في شعره حتى عثرت على أثر ضربتها بين عينيه. فقالت له:</a:t>
                      </a:r>
                    </a:p>
                    <a:p>
                      <a:pPr indent="216000" algn="r" rtl="1"/>
                      <a:r>
                        <a:rPr lang="ar-AE" sz="1400" kern="150" dirty="0">
                          <a:effectLst/>
                          <a:latin typeface="Arial" panose="020B0604020202020204" pitchFamily="34" charset="0"/>
                          <a:cs typeface="Arial" panose="020B0604020202020204" pitchFamily="34" charset="0"/>
                        </a:rPr>
                        <a:t>الحمد لله يا بني، لقد شُفيت!</a:t>
                      </a:r>
                    </a:p>
                    <a:p>
                      <a:pPr indent="216000" algn="r" rtl="1"/>
                      <a:r>
                        <a:rPr lang="ar-AE" sz="1400" kern="150" dirty="0">
                          <a:effectLst/>
                          <a:latin typeface="Arial" panose="020B0604020202020204" pitchFamily="34" charset="0"/>
                          <a:cs typeface="Arial" panose="020B0604020202020204" pitchFamily="34" charset="0"/>
                        </a:rPr>
                        <a:t>— فقال لها: الجروح تحفر ثم تلتئم، أما الكلمات فتحفر وتتكاثر!</a:t>
                      </a:r>
                      <a:endParaRPr lang="fr-FR" sz="1400" kern="150" dirty="0">
                        <a:effectLst/>
                        <a:latin typeface="Arial" panose="020B0604020202020204" pitchFamily="34" charset="0"/>
                        <a:cs typeface="Arial" panose="020B0604020202020204" pitchFamily="34" charset="0"/>
                      </a:endParaRPr>
                    </a:p>
                    <a:p>
                      <a:pPr indent="216000" algn="r" rtl="1"/>
                      <a:r>
                        <a:rPr lang="ar-AE" sz="1400" kern="150" dirty="0">
                          <a:effectLst/>
                          <a:latin typeface="Arial" panose="020B0604020202020204" pitchFamily="34" charset="0"/>
                          <a:cs typeface="Arial" panose="020B0604020202020204" pitchFamily="34" charset="0"/>
                        </a:rPr>
                        <a:t>ثم وثب عليها وأكلها.</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617126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1706938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nnesba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مسألة التحالف</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Tdiwa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ḍebbreɣ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taqcict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ten-nsemyejwaǧ</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aɛebbuḍ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aɣ-ttnasaben</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Armi i t-</a:t>
                      </a:r>
                      <a:r>
                        <a:rPr lang="fr-FR" sz="1100" kern="1200" dirty="0" err="1">
                          <a:solidFill>
                            <a:schemeClr val="tx1"/>
                          </a:solidFill>
                          <a:effectLst/>
                          <a:latin typeface="+mn-lt"/>
                          <a:ea typeface="+mn-ea"/>
                          <a:cs typeface="+mn-cs"/>
                        </a:rPr>
                        <a:t>teḥṛes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ɛreḍ</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Tcebbeḥ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tnawel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texḍeb</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Tberra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ssemḥessen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bezbazen</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abbu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sxenzeren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lkanun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tteqqed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وصل الذئب إلى عرينه في حالة يُرثى لها. فاعتنت به الذئبة حتى تعافى، بعد جهد كبير. ثم قالت له:</a:t>
                      </a:r>
                    </a:p>
                    <a:p>
                      <a:pPr indent="216000" algn="r" rtl="1"/>
                      <a:r>
                        <a:rPr lang="ar-AE" sz="1400" kern="150" dirty="0">
                          <a:effectLst/>
                          <a:latin typeface="Arial" panose="020B0604020202020204" pitchFamily="34" charset="0"/>
                          <a:cs typeface="Arial" panose="020B0604020202020204" pitchFamily="34" charset="0"/>
                        </a:rPr>
                        <a:t>ـ تعال يا زوجي، دعني أقترح خطة. الكلاب إخوتنا؛ لدينا صبي ولديهم فتاة. لنزوّجهما، ولتمحَ العداوة بيننا.</a:t>
                      </a:r>
                    </a:p>
                    <a:p>
                      <a:pPr indent="216000" algn="r" rtl="1"/>
                      <a:r>
                        <a:rPr lang="ar-AE" sz="1400" kern="150" dirty="0">
                          <a:effectLst/>
                          <a:latin typeface="Arial" panose="020B0604020202020204" pitchFamily="34" charset="0"/>
                          <a:cs typeface="Arial" panose="020B0604020202020204" pitchFamily="34" charset="0"/>
                        </a:rPr>
                        <a:t>ـ فأجابها: الإخوة إخوة، لكن الأرحام تفرّق بينهم. لن يقبلوا أبدًا التحالف معنا.</a:t>
                      </a:r>
                    </a:p>
                    <a:p>
                      <a:pPr indent="216000" algn="r" rtl="1"/>
                      <a:r>
                        <a:rPr lang="ar-AE" sz="1400" kern="150" dirty="0">
                          <a:effectLst/>
                          <a:latin typeface="Arial" panose="020B0604020202020204" pitchFamily="34" charset="0"/>
                          <a:cs typeface="Arial" panose="020B0604020202020204" pitchFamily="34" charset="0"/>
                        </a:rPr>
                        <a:t>ولم يقل لها إلا بعد أن ألحّت عليه بلا هوادة:</a:t>
                      </a:r>
                    </a:p>
                    <a:p>
                      <a:pPr indent="216000" algn="r" rtl="1"/>
                      <a:r>
                        <a:rPr lang="ar-AE" sz="1400" kern="150" dirty="0">
                          <a:effectLst/>
                          <a:latin typeface="Arial" panose="020B0604020202020204" pitchFamily="34" charset="0"/>
                          <a:cs typeface="Arial" panose="020B0604020202020204" pitchFamily="34" charset="0"/>
                        </a:rPr>
                        <a:t>ـ حسنًا، جرّبي الأمر بنفسك!</a:t>
                      </a:r>
                    </a:p>
                    <a:p>
                      <a:pPr indent="216000" algn="r" rtl="1"/>
                      <a:r>
                        <a:rPr lang="ar-AE" sz="1400" kern="150" dirty="0">
                          <a:effectLst/>
                          <a:latin typeface="Arial" panose="020B0604020202020204" pitchFamily="34" charset="0"/>
                          <a:cs typeface="Arial" panose="020B0604020202020204" pitchFamily="34" charset="0"/>
                        </a:rPr>
                        <a:t>¶ تزينت الذئبة، وأعدّت طعامًا، وخرجت لتقترح الزواج. وما إن وصلت حتى خرجوا لمواجهتها. فاحتجت قائلة:</a:t>
                      </a:r>
                    </a:p>
                    <a:p>
                      <a:pPr indent="216000" algn="r" rtl="1"/>
                      <a:r>
                        <a:rPr lang="ar-AE" sz="1400" kern="150" dirty="0">
                          <a:effectLst/>
                          <a:latin typeface="Arial" panose="020B0604020202020204" pitchFamily="34" charset="0"/>
                          <a:cs typeface="Arial" panose="020B0604020202020204" pitchFamily="34" charset="0"/>
                        </a:rPr>
                        <a:t>ـ لم آتِ إلا لأن التحالف على اسم الله هو ما جلبني إلى هنا!</a:t>
                      </a:r>
                    </a:p>
                    <a:p>
                      <a:pPr indent="216000" algn="r" rtl="1"/>
                      <a:r>
                        <a:rPr lang="ar-AE" sz="1400" kern="150" dirty="0">
                          <a:effectLst/>
                          <a:latin typeface="Arial" panose="020B0604020202020204" pitchFamily="34" charset="0"/>
                          <a:cs typeface="Arial" panose="020B0604020202020204" pitchFamily="34" charset="0"/>
                        </a:rPr>
                        <a:t>¶ لم يصغوا إلى كلمة مما قالت؛ بل هجموا عليها ومزقوها. وضاع الطعام الذي أعدته، وانهالوا عليها جميعًا بشراسة؛ ولم تنجُ إلا بفضل ساقيها.</a:t>
                      </a:r>
                    </a:p>
                    <a:p>
                      <a:pPr indent="216000" algn="r" rtl="1"/>
                      <a:r>
                        <a:rPr lang="ar-AE" sz="1400" kern="150" dirty="0">
                          <a:effectLst/>
                          <a:latin typeface="Arial" panose="020B0604020202020204" pitchFamily="34" charset="0"/>
                          <a:cs typeface="Arial" panose="020B0604020202020204" pitchFamily="34" charset="0"/>
                        </a:rPr>
                        <a:t>¶ وجدها الذئب قرب الموقد تكوي جروحها بالنار. نظر إليها ونظرت إليه؛ لم يقل لها شيئًا ولم تقل له شيئًا. لقد ذاقت تمامًا عاقبة مشورتها.</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81830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0746502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Lmut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wuccay</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موت السلوقي</a:t>
                      </a:r>
                      <a:endParaRPr lang="en-GB"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Ya </a:t>
                      </a:r>
                      <a:r>
                        <a:rPr lang="fr-FR" sz="1100" kern="1200" dirty="0" err="1">
                          <a:solidFill>
                            <a:schemeClr val="tx1"/>
                          </a:solidFill>
                          <a:effectLst/>
                          <a:latin typeface="+mn-lt"/>
                          <a:ea typeface="+mn-ea"/>
                          <a:cs typeface="+mn-cs"/>
                        </a:rPr>
                        <a:t>ɛǧaba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Lewlegga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yeḍrun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taneggarut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Ayen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sser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yettwakksen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i </a:t>
                      </a:r>
                      <a:r>
                        <a:rPr lang="fr-FR" sz="1100" kern="1200" dirty="0" err="1">
                          <a:solidFill>
                            <a:schemeClr val="tx1"/>
                          </a:solidFill>
                          <a:effectLst/>
                          <a:latin typeface="+mn-lt"/>
                          <a:ea typeface="+mn-ea"/>
                          <a:cs typeface="+mn-cs"/>
                        </a:rPr>
                        <a:t>wegdi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yiɣil-is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ijbed</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lxalayeq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imeddukal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ečč</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-d.</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tameḍrurt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iyi-tɛiwneḍ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en-US" sz="1100" dirty="0"/>
                        <a:t>¶ </a:t>
                      </a:r>
                      <a:r>
                        <a:rPr lang="fr-FR" sz="1100" kern="1200" dirty="0">
                          <a:solidFill>
                            <a:schemeClr val="tx1"/>
                          </a:solidFill>
                          <a:effectLst/>
                          <a:latin typeface="+mn-lt"/>
                          <a:ea typeface="+mn-ea"/>
                          <a:cs typeface="+mn-cs"/>
                        </a:rPr>
                        <a:t>Iqbel-as </a:t>
                      </a:r>
                      <a:r>
                        <a:rPr lang="fr-FR" sz="1100" kern="1200" dirty="0" err="1">
                          <a:solidFill>
                            <a:schemeClr val="tx1"/>
                          </a:solidFill>
                          <a:effectLst/>
                          <a:latin typeface="+mn-lt"/>
                          <a:ea typeface="+mn-ea"/>
                          <a:cs typeface="+mn-cs"/>
                        </a:rPr>
                        <a:t>ufuḥan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asulef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qesden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yessleqḍ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a:t>
                      </a:r>
                    </a:p>
                    <a:p>
                      <a:pPr indent="457200"/>
                      <a:r>
                        <a:rPr lang="en-US"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Ssyenna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nehṛen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tbaqit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wammas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 Asmi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aɛewẓal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Akka i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yettɛassan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agugam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Isewweq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gma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yendeq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جلس الذئب وحده وقال: يا للعجب! ذهبت تلك المسكينة تطلب التحالف باسم الله، ولم تنجُ إلا بساقيها؛ فمن يدري ما الذي كان سيحدث لها! لقد انتهى أمري مع السلوقي.</a:t>
                      </a:r>
                    </a:p>
                    <a:p>
                      <a:pPr indent="216000" algn="r" rtl="1"/>
                      <a:r>
                        <a:rPr lang="ar-AE" sz="1400" kern="150" dirty="0">
                          <a:effectLst/>
                          <a:latin typeface="Arial" panose="020B0604020202020204" pitchFamily="34" charset="0"/>
                          <a:cs typeface="Arial" panose="020B0604020202020204" pitchFamily="34" charset="0"/>
                        </a:rPr>
                        <a:t>¶ لم يسبق له أن شعر، من بين كل ما جرى له قبل ذلك اليوم، بمثل ما شعر به من إهانة لكرامته بسبب ما أصاب زوجته. ولأنه لم يكن قويًا بما يكفي لمواجهة الكلب بالقوة، استعان بمعرفته بالضبع ــ ذلك المنبوذ البائس! أحطّ المخلوقات كلها! وصارا رفيقين يأكلان معًا.</a:t>
                      </a:r>
                    </a:p>
                    <a:p>
                      <a:pPr indent="216000" algn="r" rtl="1"/>
                      <a:r>
                        <a:rPr lang="ar-AE" sz="1400" kern="150" dirty="0">
                          <a:effectLst/>
                          <a:latin typeface="Arial" panose="020B0604020202020204" pitchFamily="34" charset="0"/>
                          <a:cs typeface="Arial" panose="020B0604020202020204" pitchFamily="34" charset="0"/>
                        </a:rPr>
                        <a:t>¶ وفي يوم من الأيام، شكا له المصيبة والمشقة اللتين حلّتا به، وقال:</a:t>
                      </a:r>
                    </a:p>
                    <a:p>
                      <a:pPr indent="216000" algn="r" rtl="1"/>
                      <a:r>
                        <a:rPr lang="ar-AE" sz="1400" kern="150" dirty="0">
                          <a:effectLst/>
                          <a:latin typeface="Arial" panose="020B0604020202020204" pitchFamily="34" charset="0"/>
                          <a:cs typeface="Arial" panose="020B0604020202020204" pitchFamily="34" charset="0"/>
                        </a:rPr>
                        <a:t>ـ أعنّي على السلوقي كي أنتقم منه، وأعطيك نصيبك.</a:t>
                      </a:r>
                    </a:p>
                    <a:p>
                      <a:pPr indent="216000" algn="r" rtl="1"/>
                      <a:r>
                        <a:rPr lang="ar-AE" sz="1400" kern="150" dirty="0">
                          <a:effectLst/>
                          <a:latin typeface="Arial" panose="020B0604020202020204" pitchFamily="34" charset="0"/>
                          <a:cs typeface="Arial" panose="020B0604020202020204" pitchFamily="34" charset="0"/>
                        </a:rPr>
                        <a:t>¶ وافق ذلك الوحش كريه الرائحة. وراقباه حتى سنحت لهما الفرصة، ثم انقضا عليه. استدرجه الذئب، فصرعه الضبع وقتله، ثم أكلاه.</a:t>
                      </a:r>
                    </a:p>
                    <a:p>
                      <a:pPr indent="216000" algn="r" rtl="1"/>
                      <a:r>
                        <a:rPr lang="ar-AE" sz="1400" kern="150" dirty="0">
                          <a:effectLst/>
                          <a:latin typeface="Arial" panose="020B0604020202020204" pitchFamily="34" charset="0"/>
                          <a:cs typeface="Arial" panose="020B0604020202020204" pitchFamily="34" charset="0"/>
                        </a:rPr>
                        <a:t>¶ ومن هناك، ساقا الماشية بعيدًا حتى صادفا الأسد في الطريق.</a:t>
                      </a:r>
                    </a:p>
                    <a:p>
                      <a:pPr indent="216000" algn="r" rtl="1"/>
                      <a:r>
                        <a:rPr lang="ar-AE" sz="1400" kern="150" dirty="0">
                          <a:effectLst/>
                          <a:latin typeface="Arial" panose="020B0604020202020204" pitchFamily="34" charset="0"/>
                          <a:cs typeface="Arial" panose="020B0604020202020204" pitchFamily="34" charset="0"/>
                        </a:rPr>
                        <a:t>قفز الذئب وفرّ. أما الضبع، فأخذ الله حقه منه: ضربه الأسد فكسر أسفل ظهره وتركه. وحين شُفي، قصرت ساقه وظل أعرج؛ لذلك يسميه الناس ذا الأرجل الثلاث.</a:t>
                      </a:r>
                    </a:p>
                    <a:p>
                      <a:pPr indent="216000" algn="r" rtl="1"/>
                      <a:r>
                        <a:rPr lang="ar-AE" sz="1400" kern="150" dirty="0">
                          <a:effectLst/>
                          <a:latin typeface="Arial" panose="020B0604020202020204" pitchFamily="34" charset="0"/>
                          <a:cs typeface="Arial" panose="020B0604020202020204" pitchFamily="34" charset="0"/>
                        </a:rPr>
                        <a:t>¶ هكذا مات السلوقي المسكين، الذي اعتاد حراسة الماشية البكماء.</a:t>
                      </a:r>
                    </a:p>
                    <a:p>
                      <a:pPr indent="216000" algn="r" rtl="1"/>
                      <a:r>
                        <a:rPr lang="ar-AE" sz="1400" kern="150" dirty="0">
                          <a:effectLst/>
                          <a:latin typeface="Arial" panose="020B0604020202020204" pitchFamily="34" charset="0"/>
                          <a:cs typeface="Arial" panose="020B0604020202020204" pitchFamily="34" charset="0"/>
                        </a:rPr>
                        <a:t>تآمر عليه أخوه، وقتله الضبع الذي لا شرف له! ومنذ ذلك اليوم بالذات، اختفى الخير.</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5924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97770271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tmelqubeɛt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والقُبّرة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tezdel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tsefṛuṛx</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ifṛax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yenqer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tesselqaḍ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yefṛax-is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ččewčiwen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lizar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tenqeb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ttkellixen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tqejjiṛt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tferrett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iruḥ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بنت قُبّرة عشها في تجويف صخرة. ووضعت فيه بيضًا كثيرًا وفقّسته. ومنذ ذلك الحين، كانت تروح وتجيء من شروق الشمس حتى غروبها في البحر، تحت قيظ الظهيرة كالنار، تجمع الطعام لصغارها.</a:t>
                      </a:r>
                    </a:p>
                    <a:p>
                      <a:pPr indent="216000" algn="r" rtl="1"/>
                      <a:r>
                        <a:rPr lang="ar-AE" sz="1400" kern="150" dirty="0">
                          <a:effectLst/>
                          <a:latin typeface="Arial" panose="020B0604020202020204" pitchFamily="34" charset="0"/>
                          <a:cs typeface="Arial" panose="020B0604020202020204" pitchFamily="34" charset="0"/>
                        </a:rPr>
                        <a:t>¶ مرّ الذئب ذات يوم فرآها وسمع زقزقة فراخها. فقال لها:</a:t>
                      </a:r>
                    </a:p>
                    <a:p>
                      <a:pPr indent="216000" algn="r" rtl="1"/>
                      <a:r>
                        <a:rPr lang="ar-AE" sz="1400" kern="150" dirty="0">
                          <a:effectLst/>
                          <a:latin typeface="Arial" panose="020B0604020202020204" pitchFamily="34" charset="0"/>
                          <a:cs typeface="Arial" panose="020B0604020202020204" pitchFamily="34" charset="0"/>
                        </a:rPr>
                        <a:t>ـ ألقي إليّ واحدًا، وإلا صعدت إليك!</a:t>
                      </a:r>
                    </a:p>
                    <a:p>
                      <a:pPr indent="216000" algn="r" rtl="1"/>
                      <a:r>
                        <a:rPr lang="ar-AE" sz="1400" kern="150" dirty="0">
                          <a:effectLst/>
                          <a:latin typeface="Arial" panose="020B0604020202020204" pitchFamily="34" charset="0"/>
                          <a:cs typeface="Arial" panose="020B0604020202020204" pitchFamily="34" charset="0"/>
                        </a:rPr>
                        <a:t>أخذت القبرة تطلق صرخة استغاثة، وترفرف بجنون وتهوي نحوه لتنقره. فضحك الذئب وقال:</a:t>
                      </a:r>
                    </a:p>
                    <a:p>
                      <a:pPr indent="216000" algn="r" rtl="1"/>
                      <a:r>
                        <a:rPr lang="ar-AE" sz="1400" kern="150" dirty="0">
                          <a:effectLst/>
                          <a:latin typeface="Arial" panose="020B0604020202020204" pitchFamily="34" charset="0"/>
                          <a:cs typeface="Arial" panose="020B0604020202020204" pitchFamily="34" charset="0"/>
                        </a:rPr>
                        <a:t>ـ ليس سيدي امحمد ممن يُخدع بهذه السهولة! ألقي إليّ واحدًا، وإلا صعدت إليك!</a:t>
                      </a:r>
                    </a:p>
                    <a:p>
                      <a:pPr indent="216000" algn="r" rtl="1"/>
                      <a:r>
                        <a:rPr lang="ar-AE" sz="1400" kern="150" dirty="0">
                          <a:effectLst/>
                          <a:latin typeface="Arial" panose="020B0604020202020204" pitchFamily="34" charset="0"/>
                          <a:cs typeface="Arial" panose="020B0604020202020204" pitchFamily="34" charset="0"/>
                        </a:rPr>
                        <a:t>فأمسكت بأحد صغارها من ساقه وألقته إليه؛ فأكله ومضى.</a:t>
                      </a:r>
                    </a:p>
                    <a:p>
                      <a:pPr indent="216000" algn="r" rtl="1"/>
                      <a:r>
                        <a:rPr lang="ar-AE" sz="1400" kern="150" dirty="0">
                          <a:effectLst/>
                          <a:latin typeface="Arial" panose="020B0604020202020204" pitchFamily="34" charset="0"/>
                          <a:cs typeface="Arial" panose="020B0604020202020204" pitchFamily="34" charset="0"/>
                        </a:rPr>
                        <a:t>¶ عاد في اليوم التالي وقال لها:</a:t>
                      </a:r>
                    </a:p>
                    <a:p>
                      <a:pPr indent="216000" algn="r" rtl="1"/>
                      <a:r>
                        <a:rPr lang="ar-AE" sz="1400" kern="150" dirty="0">
                          <a:effectLst/>
                          <a:latin typeface="Arial" panose="020B0604020202020204" pitchFamily="34" charset="0"/>
                          <a:cs typeface="Arial" panose="020B0604020202020204" pitchFamily="34" charset="0"/>
                        </a:rPr>
                        <a:t>ـ ألقي إليّ واحدًا، وإلا صعدت إليك!</a:t>
                      </a:r>
                    </a:p>
                    <a:p>
                      <a:pPr indent="216000" algn="r" rtl="1"/>
                      <a:r>
                        <a:rPr lang="ar-AE" sz="1400" kern="150" dirty="0">
                          <a:effectLst/>
                          <a:latin typeface="Arial" panose="020B0604020202020204" pitchFamily="34" charset="0"/>
                          <a:cs typeface="Arial" panose="020B0604020202020204" pitchFamily="34" charset="0"/>
                        </a:rPr>
                        <a:t>توسلت وبكت، لكن دون جدوى! فأمسكت بأحد صغارها من جناحه وألقته إليه؛ فأكله ومضى.</a:t>
                      </a:r>
                    </a:p>
                    <a:p>
                      <a:pPr indent="216000" algn="r" rtl="1"/>
                      <a:r>
                        <a:rPr lang="ar-AE" sz="1400" kern="150" dirty="0">
                          <a:effectLst/>
                          <a:latin typeface="Arial" panose="020B0604020202020204" pitchFamily="34" charset="0"/>
                          <a:cs typeface="Arial" panose="020B0604020202020204" pitchFamily="34" charset="0"/>
                        </a:rPr>
                        <a:t>وبقيت القبرة تبكي دمًا، وقلبها مكسور تمامًا.</a:t>
                      </a:r>
                    </a:p>
                    <a:p>
                      <a:pPr indent="216000" algn="r" rtl="1"/>
                      <a:r>
                        <a:rPr lang="ar-AE" sz="1400" kern="150" dirty="0">
                          <a:effectLst/>
                          <a:latin typeface="Arial" panose="020B0604020202020204" pitchFamily="34" charset="0"/>
                          <a:cs typeface="Arial" panose="020B0604020202020204" pitchFamily="34" charset="0"/>
                        </a:rPr>
                        <a:t>¶ مرّ اللقلق فوجدها في حالة يُرثى لها. وقال لها:</a:t>
                      </a:r>
                    </a:p>
                    <a:p>
                      <a:pPr indent="216000" algn="r" rtl="1"/>
                      <a:r>
                        <a:rPr lang="ar-AE" sz="1400" kern="150" dirty="0">
                          <a:effectLst/>
                          <a:latin typeface="Arial" panose="020B0604020202020204" pitchFamily="34" charset="0"/>
                          <a:cs typeface="Arial" panose="020B0604020202020204" pitchFamily="34" charset="0"/>
                        </a:rPr>
                        <a:t>ـ ما بك يا أختي؟</a:t>
                      </a:r>
                    </a:p>
                    <a:p>
                      <a:pPr indent="216000" algn="r" rtl="1"/>
                      <a:r>
                        <a:rPr lang="ar-AE" sz="1400" kern="150" dirty="0">
                          <a:effectLst/>
                          <a:latin typeface="Arial" panose="020B0604020202020204" pitchFamily="34" charset="0"/>
                          <a:cs typeface="Arial" panose="020B0604020202020204" pitchFamily="34" charset="0"/>
                        </a:rPr>
                        <a:t>فروت له الظلم الذي وقع عليها والمشقة التي تعانيها.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584454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2400852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Ikellex-ikem</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ad n-yali,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i m-</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s-</a:t>
                      </a:r>
                      <a:r>
                        <a:rPr lang="fr-FR" sz="1100" kern="1200" dirty="0" err="1">
                          <a:solidFill>
                            <a:schemeClr val="tx1"/>
                          </a:solidFill>
                          <a:effectLst/>
                          <a:latin typeface="+mn-lt"/>
                          <a:ea typeface="+mn-ea"/>
                          <a:cs typeface="+mn-cs"/>
                        </a:rPr>
                        <a:t>temmaleḍ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Tugi.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yettagges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uberwaq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yettcebbib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ukellex</a:t>
                      </a:r>
                      <a:r>
                        <a:rPr lang="fr-FR" sz="1100" kern="1200" dirty="0">
                          <a:solidFill>
                            <a:schemeClr val="tx1"/>
                          </a:solidFill>
                          <a:effectLst/>
                          <a:latin typeface="+mn-lt"/>
                          <a:ea typeface="+mn-ea"/>
                          <a:cs typeface="+mn-cs"/>
                        </a:rPr>
                        <a:t>! Yenna-yi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tezmireḍ</a:t>
                      </a:r>
                      <a:r>
                        <a:rPr lang="fr-FR" sz="1100" kern="1200" dirty="0">
                          <a:solidFill>
                            <a:schemeClr val="tx1"/>
                          </a:solidFill>
                          <a:effectLst/>
                          <a:latin typeface="+mn-lt"/>
                          <a:ea typeface="+mn-ea"/>
                          <a:cs typeface="+mn-cs"/>
                        </a:rPr>
                        <a:t> ara ad d-</a:t>
                      </a:r>
                      <a:r>
                        <a:rPr lang="fr-FR" sz="1100" kern="1200" dirty="0" err="1">
                          <a:solidFill>
                            <a:schemeClr val="tx1"/>
                          </a:solidFill>
                          <a:effectLst/>
                          <a:latin typeface="+mn-lt"/>
                          <a:ea typeface="+mn-ea"/>
                          <a:cs typeface="+mn-cs"/>
                        </a:rPr>
                        <a:t>taliḍ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txedɛeḍ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d bu </a:t>
                      </a:r>
                      <a:r>
                        <a:rPr lang="fr-FR" sz="1100" kern="1200" dirty="0" err="1">
                          <a:solidFill>
                            <a:schemeClr val="tx1"/>
                          </a:solidFill>
                          <a:effectLst/>
                          <a:latin typeface="+mn-lt"/>
                          <a:ea typeface="+mn-ea"/>
                          <a:cs typeface="+mn-cs"/>
                        </a:rPr>
                        <a:t>iɛejquren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kem-yesḥeṛcen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iɛefnaḍ</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mleɣ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Netta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tɛeggen</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فقال لها:</a:t>
                      </a:r>
                    </a:p>
                    <a:p>
                      <a:pPr indent="216000" algn="r" rtl="1"/>
                      <a:r>
                        <a:rPr lang="ar-AE" sz="1400" kern="150" dirty="0">
                          <a:effectLst/>
                          <a:latin typeface="Arial" panose="020B0604020202020204" pitchFamily="34" charset="0"/>
                          <a:cs typeface="Arial" panose="020B0604020202020204" pitchFamily="34" charset="0"/>
                        </a:rPr>
                        <a:t>ـ لقد خدعك ذلك المحتال! لو كان قادرًا على الصعود لأكلهم جميعًا دفعة واحدة. لكن إياك أن تظهري له أنك عرفتِ ذلك!</a:t>
                      </a:r>
                    </a:p>
                    <a:p>
                      <a:pPr indent="216000" algn="r" rtl="1"/>
                      <a:r>
                        <a:rPr lang="ar-AE" sz="1400" kern="150" dirty="0">
                          <a:effectLst/>
                          <a:latin typeface="Arial" panose="020B0604020202020204" pitchFamily="34" charset="0"/>
                          <a:cs typeface="Arial" panose="020B0604020202020204" pitchFamily="34" charset="0"/>
                        </a:rPr>
                        <a:t>ثم مضى لشأنه.</a:t>
                      </a:r>
                    </a:p>
                    <a:p>
                      <a:pPr indent="216000" algn="r" rtl="1"/>
                      <a:r>
                        <a:rPr lang="ar-AE" sz="1400" kern="150" dirty="0">
                          <a:effectLst/>
                          <a:latin typeface="Arial" panose="020B0604020202020204" pitchFamily="34" charset="0"/>
                          <a:cs typeface="Arial" panose="020B0604020202020204" pitchFamily="34" charset="0"/>
                        </a:rPr>
                        <a:t>¶ وصل سيدي امحمد في اليوم التالي وقال لها:</a:t>
                      </a:r>
                    </a:p>
                    <a:p>
                      <a:pPr indent="216000" algn="r" rtl="1"/>
                      <a:r>
                        <a:rPr lang="ar-AE" sz="1400" kern="150" dirty="0">
                          <a:effectLst/>
                          <a:latin typeface="Arial" panose="020B0604020202020204" pitchFamily="34" charset="0"/>
                          <a:cs typeface="Arial" panose="020B0604020202020204" pitchFamily="34" charset="0"/>
                        </a:rPr>
                        <a:t>ـ ألقي إليّ واحدًا، وإلا صعدت إليك!</a:t>
                      </a:r>
                    </a:p>
                    <a:p>
                      <a:pPr indent="216000" algn="r" rtl="1"/>
                      <a:r>
                        <a:rPr lang="ar-AE" sz="1400" kern="150" dirty="0">
                          <a:effectLst/>
                          <a:latin typeface="Arial" panose="020B0604020202020204" pitchFamily="34" charset="0"/>
                          <a:cs typeface="Arial" panose="020B0604020202020204" pitchFamily="34" charset="0"/>
                        </a:rPr>
                        <a:t>رفضت. فجرّب كل ما بوسعه لإخافتها، متظاهرًا بالتسلق وهو يحرك سيقان نبات الحلفاء ويصعد على الصخرة، لكنه لم يفلح. فقالت له القبرة البريئة:</a:t>
                      </a:r>
                    </a:p>
                    <a:p>
                      <a:pPr indent="216000" algn="r" rtl="1"/>
                      <a:r>
                        <a:rPr lang="ar-AE" sz="1400" kern="150" dirty="0">
                          <a:effectLst/>
                          <a:latin typeface="Arial" panose="020B0604020202020204" pitchFamily="34" charset="0"/>
                          <a:cs typeface="Arial" panose="020B0604020202020204" pitchFamily="34" charset="0"/>
                        </a:rPr>
                        <a:t>ـ امضِ في طريقك؛ انتهى الخداع! أخبرني عمّي لقلق أنك لا تستطيع الصعود. ليت الله يخدعك كما خدعتني في أمر صغاري!</a:t>
                      </a:r>
                    </a:p>
                    <a:p>
                      <a:pPr indent="216000" algn="r" rtl="1"/>
                      <a:r>
                        <a:rPr lang="ar-AE" sz="1400" kern="150" dirty="0">
                          <a:effectLst/>
                          <a:latin typeface="Arial" panose="020B0604020202020204" pitchFamily="34" charset="0"/>
                          <a:cs typeface="Arial" panose="020B0604020202020204" pitchFamily="34" charset="0"/>
                        </a:rPr>
                        <a:t>فأجابها الذئب:</a:t>
                      </a:r>
                    </a:p>
                    <a:p>
                      <a:pPr indent="216000" algn="r" rtl="1"/>
                      <a:r>
                        <a:rPr lang="ar-AE" sz="1400" kern="150" dirty="0">
                          <a:effectLst/>
                          <a:latin typeface="Arial" panose="020B0604020202020204" pitchFamily="34" charset="0"/>
                          <a:cs typeface="Arial" panose="020B0604020202020204" pitchFamily="34" charset="0"/>
                        </a:rPr>
                        <a:t>ـ آه! إذًا ذلك طويل الساقين هو من جعلك ذكية؟ دعيني أمسك به، ذلك آكل القاذورات؛ سأريه!</a:t>
                      </a:r>
                    </a:p>
                    <a:p>
                      <a:pPr indent="216000" algn="r" rtl="1"/>
                      <a:r>
                        <a:rPr lang="ar-AE" sz="1400" kern="150" dirty="0">
                          <a:effectLst/>
                          <a:latin typeface="Arial" panose="020B0604020202020204" pitchFamily="34" charset="0"/>
                          <a:cs typeface="Arial" panose="020B0604020202020204" pitchFamily="34" charset="0"/>
                        </a:rPr>
                        <a:t>وانصرف، فأرسلت القبرة تحذيرًا إلى اللقلق فورًا.</a:t>
                      </a:r>
                      <a:endParaRPr lang="fr-FR" sz="1100" kern="150" dirty="0">
                        <a:effectLst/>
                        <a:latin typeface="Cascadia Mono" panose="020B0609020000020004" pitchFamily="49" charset="0"/>
                        <a:cs typeface="Cascadia Mono" panose="020B0609020000020004" pitchFamily="49"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05985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8244599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Ibellireǧ d yemqerqren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اللقلق والضفادع</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imqurqren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yessebges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xlun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Yenna-yasen:</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ttmettaten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asen-teččuṛ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tqeblem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ken-ikeffu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ujenwi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Ixuṣṣ-aɣ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lluɣa-nsen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mtafaqen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nexlu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lfetna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tiɣugga</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tiẓẓift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gellid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lemḥella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umenqar-is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yettissix</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Abbuh</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nenna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imerjan-nsen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yeɣmes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ذهب الذئب إلى الضفادع ليحرّضها على إهلاك اللقلق. وقال لها:</a:t>
                      </a:r>
                    </a:p>
                    <a:p>
                      <a:pPr indent="216000" algn="r" rtl="1"/>
                      <a:r>
                        <a:rPr lang="ar-AE" sz="1400" kern="150" dirty="0">
                          <a:effectLst/>
                          <a:latin typeface="Arial" panose="020B0604020202020204" pitchFamily="34" charset="0"/>
                          <a:cs typeface="Arial" panose="020B0604020202020204" pitchFamily="34" charset="0"/>
                        </a:rPr>
                        <a:t>ـ يا إخوتي، لقد أكل اللقلق أكبادكم؛ أطفالكم يموتون قبل أن يكتمل نموهم. كيف ترضون بهذا الحال، وهو وحده، بينما لا يكفي وادٍ كامل ليتسع لكم جميعًا؟</a:t>
                      </a:r>
                    </a:p>
                    <a:p>
                      <a:pPr indent="216000" algn="r" rtl="1"/>
                      <a:r>
                        <a:rPr lang="ar-AE" sz="1400" kern="150" dirty="0">
                          <a:effectLst/>
                          <a:latin typeface="Arial" panose="020B0604020202020204" pitchFamily="34" charset="0"/>
                          <a:cs typeface="Arial" panose="020B0604020202020204" pitchFamily="34" charset="0"/>
                        </a:rPr>
                        <a:t>فقالت له:</a:t>
                      </a:r>
                    </a:p>
                    <a:p>
                      <a:pPr indent="216000" algn="r" rtl="1"/>
                      <a:r>
                        <a:rPr lang="ar-AE" sz="1400" kern="150" dirty="0">
                          <a:effectLst/>
                          <a:latin typeface="Arial" panose="020B0604020202020204" pitchFamily="34" charset="0"/>
                          <a:cs typeface="Arial" panose="020B0604020202020204" pitchFamily="34" charset="0"/>
                        </a:rPr>
                        <a:t>ـ تنقصنا المشورة الحكيمة. أرشدنا يا سيدي امحمد.</a:t>
                      </a:r>
                    </a:p>
                    <a:p>
                      <a:pPr indent="216000" algn="r" rtl="1"/>
                      <a:r>
                        <a:rPr lang="ar-AE" sz="1400" kern="150" dirty="0">
                          <a:effectLst/>
                          <a:latin typeface="Arial" panose="020B0604020202020204" pitchFamily="34" charset="0"/>
                          <a:cs typeface="Arial" panose="020B0604020202020204" pitchFamily="34" charset="0"/>
                        </a:rPr>
                        <a:t>¶ فجمعها ليلًا، وأخذت تنطق بلغتها: قاق! قاق! قاق! وتكلمت كل واحدة بما تريد، حتى اتفقت على كلمة واحدة: غدًا سنهلك عمي لقلق!</a:t>
                      </a:r>
                    </a:p>
                    <a:p>
                      <a:pPr indent="216000" algn="r" rtl="1"/>
                      <a:r>
                        <a:rPr lang="ar-AE" sz="1400" kern="150" dirty="0">
                          <a:effectLst/>
                          <a:latin typeface="Arial" panose="020B0604020202020204" pitchFamily="34" charset="0"/>
                          <a:cs typeface="Arial" panose="020B0604020202020204" pitchFamily="34" charset="0"/>
                        </a:rPr>
                        <a:t>¶ وفي اليوم التالي، تجهزت للقتال وانقسمت إلى فرق. وما إن حطّ اللقلق في النهر حتى تقدمت نحوه بنقيق خافت. وصادف أن تقدم أمامها واحد منها، سيد الشرف والقوة، كملك يقود جيشه. فانقضّ عليه اللقلق بمنقاره وأمسكه؛ فتراجعت البقية. عندئذ أخذ يصيح:</a:t>
                      </a:r>
                    </a:p>
                    <a:p>
                      <a:pPr indent="216000" algn="r" rtl="1"/>
                      <a:r>
                        <a:rPr lang="ar-AE" sz="1400" kern="150" dirty="0">
                          <a:effectLst/>
                          <a:latin typeface="Arial" panose="020B0604020202020204" pitchFamily="34" charset="0"/>
                          <a:cs typeface="Arial" panose="020B0604020202020204" pitchFamily="34" charset="0"/>
                        </a:rPr>
                        <a:t>ـ الرحمة يا إخوتي! أقسم بالله، لم يكن هذا ما اتفقنا عليه!</a:t>
                      </a:r>
                    </a:p>
                    <a:p>
                      <a:pPr indent="216000" algn="r" rtl="1"/>
                      <a:r>
                        <a:rPr lang="ar-AE" sz="1400" kern="150" dirty="0">
                          <a:effectLst/>
                          <a:latin typeface="Arial" panose="020B0604020202020204" pitchFamily="34" charset="0"/>
                          <a:cs typeface="Arial" panose="020B0604020202020204" pitchFamily="34" charset="0"/>
                        </a:rPr>
                        <a:t>لكنها لم تصغ إليه، وهربت إلى مستنقعاتها متناثرة كالجبناء. وكل واحدة منها، وهي تغوص في أعماق الماء، كانت تقول: فليدبّر ذلك البائس أمر رأسه! فليدبّر ذلك البائس أمر رأسه!</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27370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BFCC-9589-C595-B673-83A9F65729CF}"/>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5A834E1-31F2-F275-7E11-C44842830BD7}"/>
              </a:ext>
            </a:extLst>
          </p:cNvPr>
          <p:cNvGraphicFramePr>
            <a:graphicFrameLocks noGrp="1"/>
          </p:cNvGraphicFramePr>
          <p:nvPr>
            <p:extLst>
              <p:ext uri="{D42A27DB-BD31-4B8C-83A1-F6EECF244321}">
                <p14:modId xmlns:p14="http://schemas.microsoft.com/office/powerpoint/2010/main" val="226319087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imqerqren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wezduz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حمل اللقلق ذلك المتصدر للشرف إلى عشه ومزقه، فأكله صغاره. أما الضفادع فبقيت وراءه كالمطرقة التي لا مقبض لها.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08372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65560607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ibellireǧ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واللقلق</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Iɛass-it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yesseɣfel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uselsul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ixella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izuɣar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calwaw</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wallen-iw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frizeɣ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mliḥ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tamurt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Nxella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asigna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yeqber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 d-</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aḍiḥan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Sidi </a:t>
                      </a:r>
                      <a:r>
                        <a:rPr lang="fr-FR" sz="1100" kern="1200" dirty="0" err="1">
                          <a:solidFill>
                            <a:schemeClr val="tx1"/>
                          </a:solidFill>
                          <a:effectLst/>
                          <a:latin typeface="+mn-lt"/>
                          <a:ea typeface="+mn-ea"/>
                          <a:cs typeface="+mn-cs"/>
                        </a:rPr>
                        <a:t>ɛebdelqader</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لم يمهل اللقلق الذئب ليعدّ له فخًا آخر. وظل يراقبه حتى باغته، ثم انقضّ عليه وأمسكه من عموده الفقري، وطار به عاليًا حتى حمله إلى السماء.</a:t>
                      </a:r>
                    </a:p>
                    <a:p>
                      <a:pPr indent="216000" algn="r" rtl="1"/>
                      <a:r>
                        <a:rPr lang="ar-AE" sz="1400" kern="150" dirty="0">
                          <a:effectLst/>
                          <a:latin typeface="Arial" panose="020B0604020202020204" pitchFamily="34" charset="0"/>
                          <a:cs typeface="Arial" panose="020B0604020202020204" pitchFamily="34" charset="0"/>
                        </a:rPr>
                        <a:t>¶ ظل يدور ويرتفع، يدور ويرتفع، حتى ترك الجبال الشاهقة بعيدة تحته. ثم قال له:</a:t>
                      </a:r>
                    </a:p>
                    <a:p>
                      <a:pPr indent="216000" algn="r" rtl="1"/>
                      <a:r>
                        <a:rPr lang="ar-AE" sz="1400" kern="150" dirty="0">
                          <a:effectLst/>
                          <a:latin typeface="Arial" panose="020B0604020202020204" pitchFamily="34" charset="0"/>
                          <a:cs typeface="Arial" panose="020B0604020202020204" pitchFamily="34" charset="0"/>
                        </a:rPr>
                        <a:t>ـ ماذا ترى يا امحمد؟</a:t>
                      </a:r>
                    </a:p>
                    <a:p>
                      <a:pPr indent="216000" algn="r" rtl="1"/>
                      <a:r>
                        <a:rPr lang="ar-AE" sz="1400" kern="150" dirty="0">
                          <a:effectLst/>
                          <a:latin typeface="Arial" panose="020B0604020202020204" pitchFamily="34" charset="0"/>
                          <a:cs typeface="Arial" panose="020B0604020202020204" pitchFamily="34" charset="0"/>
                        </a:rPr>
                        <a:t>ـ فأجابه الذئب: الجبال والسهول والأنهار، ها هي كلها تحتنا!</a:t>
                      </a:r>
                    </a:p>
                    <a:p>
                      <a:pPr indent="216000" algn="r" rtl="1"/>
                      <a:r>
                        <a:rPr lang="ar-AE" sz="1400" kern="150" dirty="0">
                          <a:effectLst/>
                          <a:latin typeface="Arial" panose="020B0604020202020204" pitchFamily="34" charset="0"/>
                          <a:cs typeface="Arial" panose="020B0604020202020204" pitchFamily="34" charset="0"/>
                        </a:rPr>
                        <a:t>فارتفع به أكثر وقال له:</a:t>
                      </a:r>
                    </a:p>
                    <a:p>
                      <a:pPr indent="216000" algn="r" rtl="1"/>
                      <a:r>
                        <a:rPr lang="ar-AE" sz="1400" kern="150" dirty="0">
                          <a:effectLst/>
                          <a:latin typeface="Arial" panose="020B0604020202020204" pitchFamily="34" charset="0"/>
                          <a:cs typeface="Arial" panose="020B0604020202020204" pitchFamily="34" charset="0"/>
                        </a:rPr>
                        <a:t>ـ ماذا ترى؟</a:t>
                      </a:r>
                    </a:p>
                    <a:p>
                      <a:pPr indent="216000" algn="r" rtl="1"/>
                      <a:r>
                        <a:rPr lang="ar-AE" sz="1400" kern="150" dirty="0">
                          <a:effectLst/>
                          <a:latin typeface="Arial" panose="020B0604020202020204" pitchFamily="34" charset="0"/>
                          <a:cs typeface="Arial" panose="020B0604020202020204" pitchFamily="34" charset="0"/>
                        </a:rPr>
                        <a:t>ـ فأجابه: غشاوة تغطي عينيّ؛ لم أعد أتبين الأرض بوضوح!</a:t>
                      </a:r>
                    </a:p>
                    <a:p>
                      <a:pPr indent="216000" algn="r" rtl="1"/>
                      <a:r>
                        <a:rPr lang="ar-AE" sz="1400" kern="150" dirty="0">
                          <a:effectLst/>
                          <a:latin typeface="Arial" panose="020B0604020202020204" pitchFamily="34" charset="0"/>
                          <a:cs typeface="Arial" panose="020B0604020202020204" pitchFamily="34" charset="0"/>
                        </a:rPr>
                        <a:t>فارتفع به أعلى وقال له:</a:t>
                      </a:r>
                    </a:p>
                    <a:p>
                      <a:pPr indent="216000" algn="r" rtl="1"/>
                      <a:r>
                        <a:rPr lang="ar-AE" sz="1400" kern="150" dirty="0">
                          <a:effectLst/>
                          <a:latin typeface="Arial" panose="020B0604020202020204" pitchFamily="34" charset="0"/>
                          <a:cs typeface="Arial" panose="020B0604020202020204" pitchFamily="34" charset="0"/>
                        </a:rPr>
                        <a:t>ـ والآن، ماذا ترى؟</a:t>
                      </a:r>
                    </a:p>
                    <a:p>
                      <a:pPr indent="216000" algn="r" rtl="1"/>
                      <a:r>
                        <a:rPr lang="ar-AE" sz="1400" kern="150" dirty="0">
                          <a:effectLst/>
                          <a:latin typeface="Arial" panose="020B0604020202020204" pitchFamily="34" charset="0"/>
                          <a:cs typeface="Arial" panose="020B0604020202020204" pitchFamily="34" charset="0"/>
                        </a:rPr>
                        <a:t>ـ فأجابه: لقد تركنا الغيوم خلفنا!</a:t>
                      </a:r>
                    </a:p>
                    <a:p>
                      <a:pPr indent="216000" algn="r" rtl="1"/>
                      <a:r>
                        <a:rPr lang="ar-AE" sz="1400" kern="150" dirty="0">
                          <a:effectLst/>
                          <a:latin typeface="Arial" panose="020B0604020202020204" pitchFamily="34" charset="0"/>
                          <a:cs typeface="Arial" panose="020B0604020202020204" pitchFamily="34" charset="0"/>
                        </a:rPr>
                        <a:t>¶ وفي تلك اللحظة، أفلت اللقلق الذئب، لكي يهوي من السماء السابعة ويتحطم ويموت.</a:t>
                      </a:r>
                    </a:p>
                    <a:p>
                      <a:pPr indent="216000" algn="r" rtl="1"/>
                      <a:r>
                        <a:rPr lang="ar-AE" sz="1400" kern="150" dirty="0">
                          <a:effectLst/>
                          <a:latin typeface="Arial" panose="020B0604020202020204" pitchFamily="34" charset="0"/>
                          <a:cs typeface="Arial" panose="020B0604020202020204" pitchFamily="34" charset="0"/>
                        </a:rPr>
                        <a:t>وظل الذئب يتلوى في سقوطه، يتلوى في سقوطه، حتى تمزق كبده وانفجر طحاله من شدة الرعب.</a:t>
                      </a:r>
                    </a:p>
                    <a:p>
                      <a:pPr indent="216000" algn="r" rtl="1"/>
                      <a:r>
                        <a:rPr lang="ar-AE" sz="1400" kern="150" dirty="0">
                          <a:effectLst/>
                          <a:latin typeface="Arial" panose="020B0604020202020204" pitchFamily="34" charset="0"/>
                          <a:cs typeface="Arial" panose="020B0604020202020204" pitchFamily="34" charset="0"/>
                        </a:rPr>
                        <a:t>وفقد صوابه تمامًا؛ وإذ نسي الولي عبد القادر، ظل يناديه:</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90491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282B-A304-7352-CE3B-5D8378A2762A}"/>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D4F4C2-60AD-9038-95E2-51F762645AE0}"/>
              </a:ext>
            </a:extLst>
          </p:cNvPr>
          <p:cNvGraphicFramePr>
            <a:graphicFrameLocks noGrp="1"/>
          </p:cNvGraphicFramePr>
          <p:nvPr>
            <p:extLst>
              <p:ext uri="{D42A27DB-BD31-4B8C-83A1-F6EECF244321}">
                <p14:modId xmlns:p14="http://schemas.microsoft.com/office/powerpoint/2010/main" val="293216705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endParaRPr lang="fr-FR" sz="1100" i="1" kern="1200" dirty="0">
                        <a:solidFill>
                          <a:schemeClr val="tx1"/>
                        </a:solidFill>
                        <a:effectLst/>
                        <a:latin typeface="+mn-lt"/>
                        <a:ea typeface="+mn-ea"/>
                        <a:cs typeface="+mn-cs"/>
                      </a:endParaRP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Yeṭṭerḍq</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yecɣil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r" rtl="1"/>
                      <a:r>
                        <a:rPr lang="ar-AE" sz="1400" i="1" kern="150" dirty="0">
                          <a:effectLst/>
                          <a:latin typeface="Arial" panose="020B0604020202020204" pitchFamily="34" charset="0"/>
                          <a:cs typeface="Arial" panose="020B0604020202020204" pitchFamily="34" charset="0"/>
                        </a:rPr>
                        <a:t>يا سيدي عبد القرنين!</a:t>
                      </a:r>
                    </a:p>
                    <a:p>
                      <a:pPr indent="216000" algn="r" rtl="1"/>
                      <a:r>
                        <a:rPr lang="ar-AE" sz="1400" i="1" kern="150" dirty="0">
                          <a:effectLst/>
                          <a:latin typeface="Arial" panose="020B0604020202020204" pitchFamily="34" charset="0"/>
                          <a:cs typeface="Arial" panose="020B0604020202020204" pitchFamily="34" charset="0"/>
                        </a:rPr>
                        <a:t>في الغدير أو في التبن!</a:t>
                      </a:r>
                    </a:p>
                    <a:p>
                      <a:pPr indent="216000" algn="r" rtl="1"/>
                      <a:r>
                        <a:rPr lang="ar-AE" sz="1400" i="1" kern="150" dirty="0">
                          <a:effectLst/>
                          <a:latin typeface="Arial" panose="020B0604020202020204" pitchFamily="34" charset="0"/>
                          <a:cs typeface="Arial" panose="020B0604020202020204" pitchFamily="34" charset="0"/>
                        </a:rPr>
                        <a:t>يا سيدي عبد القرنين!</a:t>
                      </a:r>
                    </a:p>
                    <a:p>
                      <a:pPr indent="216000" algn="r" rtl="1"/>
                      <a:r>
                        <a:rPr lang="ar-AE" sz="1400" i="1" kern="150" dirty="0">
                          <a:effectLst/>
                          <a:latin typeface="Arial" panose="020B0604020202020204" pitchFamily="34" charset="0"/>
                          <a:cs typeface="Arial" panose="020B0604020202020204" pitchFamily="34" charset="0"/>
                        </a:rPr>
                        <a:t>في الغدير أو في التبن!</a:t>
                      </a:r>
                    </a:p>
                    <a:p>
                      <a:pPr indent="216000" algn="r" rtl="1"/>
                      <a:r>
                        <a:rPr lang="ar-AE" sz="1400" kern="150" dirty="0">
                          <a:effectLst/>
                          <a:latin typeface="Arial" panose="020B0604020202020204" pitchFamily="34" charset="0"/>
                          <a:cs typeface="Arial" panose="020B0604020202020204" pitchFamily="34" charset="0"/>
                        </a:rPr>
                        <a:t>¶ سقط مباشرة في غدير، فتطاير الماء عاليًا حتى بلغ السماء. نجا من الموت، لكنه تحمل عقابًا شديدًا!</a:t>
                      </a:r>
                    </a:p>
                    <a:p>
                      <a:pPr indent="216000" algn="r" rtl="1"/>
                      <a:r>
                        <a:rPr lang="ar-AE" sz="1400" kern="150" dirty="0">
                          <a:effectLst/>
                          <a:latin typeface="Arial" panose="020B0604020202020204" pitchFamily="34" charset="0"/>
                          <a:cs typeface="Arial" panose="020B0604020202020204" pitchFamily="34" charset="0"/>
                        </a:rPr>
                        <a:t>وقد تعلّم الدرس: فمنذ ذلك اليوم، لم يعد يضايق اللقلق.</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580959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9179444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extLst>
                  <a:ext uri="{0D108BD9-81ED-4DB2-BD59-A6C34878D82A}">
                    <a16:rowId xmlns:a16="http://schemas.microsoft.com/office/drawing/2014/main" val="2196547429"/>
                  </a:ext>
                </a:extLst>
              </a:tr>
              <a:tr h="5700877">
                <a:tc>
                  <a:txBody>
                    <a:bodyPr/>
                    <a:lstStyle/>
                    <a:p>
                      <a:pPr indent="457200" algn="ctr"/>
                      <a:r>
                        <a:rPr lang="fr-FR" sz="1100" kern="1200">
                          <a:solidFill>
                            <a:schemeClr val="tx1"/>
                          </a:solidFill>
                          <a:effectLst/>
                          <a:latin typeface="+mn-lt"/>
                          <a:ea typeface="+mn-ea"/>
                          <a:cs typeface="+mn-cs"/>
                        </a:rPr>
                        <a:t>Tamacahut n wuccen d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100" kern="150" dirty="0">
                          <a:effectLst/>
                          <a:latin typeface="Arial" panose="020B0604020202020204" pitchFamily="34" charset="0"/>
                          <a:cs typeface="Arial" panose="020B0604020202020204" pitchFamily="34" charset="0"/>
                        </a:rPr>
                        <a:t>حكاية الذئب والأسد</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091960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68490726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Leqṛaya</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wuccen</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تعليم الذئب</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aɣerbal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amendayer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    Ta </a:t>
                      </a:r>
                      <a:r>
                        <a:rPr lang="fr-FR" sz="1100" i="1" kern="1200" dirty="0" err="1">
                          <a:solidFill>
                            <a:schemeClr val="tx1"/>
                          </a:solidFill>
                          <a:effectLst/>
                          <a:latin typeface="+mn-lt"/>
                          <a:ea typeface="+mn-ea"/>
                          <a:cs typeface="+mn-cs"/>
                        </a:rPr>
                        <a:t>tefla</a:t>
                      </a:r>
                      <a:r>
                        <a:rPr lang="fr-FR" sz="1100" i="1" kern="1200" dirty="0">
                          <a:solidFill>
                            <a:schemeClr val="tx1"/>
                          </a:solidFill>
                          <a:effectLst/>
                          <a:latin typeface="+mn-lt"/>
                          <a:ea typeface="+mn-ea"/>
                          <a:cs typeface="+mn-cs"/>
                        </a:rPr>
                        <a:t>, ta </a:t>
                      </a:r>
                      <a:r>
                        <a:rPr lang="fr-FR" sz="1100" i="1" kern="1200" dirty="0" err="1">
                          <a:solidFill>
                            <a:schemeClr val="tx1"/>
                          </a:solidFill>
                          <a:effectLst/>
                          <a:latin typeface="+mn-lt"/>
                          <a:ea typeface="+mn-ea"/>
                          <a:cs typeface="+mn-cs"/>
                        </a:rPr>
                        <a:t>ur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tefli</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ajdid</a:t>
                      </a:r>
                      <a:r>
                        <a:rPr lang="fr-FR" sz="1100" i="1" kern="1200" dirty="0">
                          <a:solidFill>
                            <a:schemeClr val="tx1"/>
                          </a:solidFill>
                          <a:effectLst/>
                          <a:latin typeface="+mn-lt"/>
                          <a:ea typeface="+mn-ea"/>
                          <a:cs typeface="+mn-cs"/>
                        </a:rPr>
                        <a:t> i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nufi</a:t>
                      </a:r>
                      <a:r>
                        <a:rPr lang="fr-FR" sz="1100" i="1"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Twala-t-id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Teɣriḍ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usenfuf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teẓriḍ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ɣriɣ</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tqubbett-is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inna</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Tumen-</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Fran ad as-</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iṛebbi-ten</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tefk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leɛtab-is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tnac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ibelkuken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yemmatsen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Yesself-asen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خرج الذئب من البركة وهو يرتجف كالورقة. وقد انقلبت الدنيا في عينيه من شدة الخوف والبرد.</a:t>
                      </a:r>
                    </a:p>
                    <a:p>
                      <a:pPr indent="216000" algn="r" rtl="1"/>
                      <a:r>
                        <a:rPr lang="ar-AE" sz="1400" kern="150" dirty="0">
                          <a:effectLst/>
                          <a:latin typeface="Arial" panose="020B0604020202020204" pitchFamily="34" charset="0"/>
                          <a:cs typeface="Arial" panose="020B0604020202020204" pitchFamily="34" charset="0"/>
                        </a:rPr>
                        <a:t>¶ وجد غربالًا قديمًا. ولما رأى الخنزيرة تقترب، أمسكه كأنه بندير وراح يضرب عليه وينشد:</a:t>
                      </a:r>
                      <a:endParaRPr lang="ar-AE" sz="1400" i="1" kern="150" dirty="0">
                        <a:effectLst/>
                        <a:latin typeface="Arial" panose="020B0604020202020204" pitchFamily="34" charset="0"/>
                        <a:cs typeface="Arial" panose="020B0604020202020204" pitchFamily="34" charset="0"/>
                      </a:endParaRPr>
                    </a:p>
                    <a:p>
                      <a:pPr indent="216000" algn="r" rtl="1"/>
                      <a:r>
                        <a:rPr lang="ar-AE" sz="1400" i="1" kern="150" dirty="0">
                          <a:effectLst/>
                          <a:latin typeface="Arial" panose="020B0604020202020204" pitchFamily="34" charset="0"/>
                          <a:cs typeface="Arial" panose="020B0604020202020204" pitchFamily="34" charset="0"/>
                        </a:rPr>
                        <a:t>هذه مثقوبة، وتلك غير مثقوبة:</a:t>
                      </a:r>
                    </a:p>
                    <a:p>
                      <a:pPr indent="216000" algn="r" rtl="1"/>
                      <a:r>
                        <a:rPr lang="ar-AE" sz="1400" i="1" kern="150" dirty="0">
                          <a:effectLst/>
                          <a:latin typeface="Arial" panose="020B0604020202020204" pitchFamily="34" charset="0"/>
                          <a:cs typeface="Arial" panose="020B0604020202020204" pitchFamily="34" charset="0"/>
                        </a:rPr>
                        <a:t>لم نجد ما هو أحدث منها!</a:t>
                      </a:r>
                    </a:p>
                    <a:p>
                      <a:pPr indent="216000" algn="r" rtl="1"/>
                      <a:r>
                        <a:rPr lang="ar-AE" sz="1400" kern="150" dirty="0">
                          <a:effectLst/>
                          <a:latin typeface="Arial" panose="020B0604020202020204" pitchFamily="34" charset="0"/>
                          <a:cs typeface="Arial" panose="020B0604020202020204" pitchFamily="34" charset="0"/>
                        </a:rPr>
                        <a:t>¶ رأته الخنزيرة يرتجف ويذكر كأنه في حالة وجد صوفي، فسألته:</a:t>
                      </a:r>
                    </a:p>
                    <a:p>
                      <a:pPr indent="216000" algn="r" rtl="1"/>
                      <a:r>
                        <a:rPr lang="ar-AE" sz="1400" kern="150" dirty="0">
                          <a:effectLst/>
                          <a:latin typeface="Arial" panose="020B0604020202020204" pitchFamily="34" charset="0"/>
                          <a:cs typeface="Arial" panose="020B0604020202020204" pitchFamily="34" charset="0"/>
                        </a:rPr>
                        <a:t>‑ أأنت متعلم يا سيدي امحمد؟</a:t>
                      </a:r>
                    </a:p>
                    <a:p>
                      <a:pPr indent="216000" algn="r" rtl="1"/>
                      <a:r>
                        <a:rPr lang="ar-AE" sz="1400" kern="150" dirty="0">
                          <a:effectLst/>
                          <a:latin typeface="Arial" panose="020B0604020202020204" pitchFamily="34" charset="0"/>
                          <a:cs typeface="Arial" panose="020B0604020202020204" pitchFamily="34" charset="0"/>
                        </a:rPr>
                        <a:t>‑ فأجابها: يا ذات الخطم والفم، ألا تعلمين أنني متعلم؟ كان أبي متعلمًا، وجدي أيضًا. انظري، ذلك ضريحه ذو القبة على ذلك التل!</a:t>
                      </a:r>
                    </a:p>
                    <a:p>
                      <a:pPr indent="216000" algn="r" rtl="1"/>
                      <a:r>
                        <a:rPr lang="ar-AE" sz="1400" kern="150" dirty="0">
                          <a:effectLst/>
                          <a:latin typeface="Arial" panose="020B0604020202020204" pitchFamily="34" charset="0"/>
                          <a:cs typeface="Arial" panose="020B0604020202020204" pitchFamily="34" charset="0"/>
                        </a:rPr>
                        <a:t>¶ صدّقته الخنزيرة. واتفقا على أن يعلّم صغارها ويربيهم، وأن تدفع له أجر عمله. وجاءت بهم إلى كهفه: اثني عشر خنزيرًا صغيرًا ممتلئ الجسم. وكلما نظرت إليهم أمهم، ازدهر قلبها فرحًا، كأنها أكلت وشربت حتى شبعت.</a:t>
                      </a:r>
                    </a:p>
                    <a:p>
                      <a:pPr indent="216000" algn="r" rtl="1"/>
                      <a:r>
                        <a:rPr lang="ar-AE" sz="1400" kern="150" dirty="0">
                          <a:effectLst/>
                          <a:latin typeface="Arial" panose="020B0604020202020204" pitchFamily="34" charset="0"/>
                          <a:cs typeface="Arial" panose="020B0604020202020204" pitchFamily="34" charset="0"/>
                        </a:rPr>
                        <a:t>¶ ربّت السيد امحمد على كل واحد منهم. وحين انتهى، تبرأ من أمر الخنزيرة وقال لها: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638775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7444310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ttṛuḥu</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ten-tettcewwileḍ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kull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mi sen-d-</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efk</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mi n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ttbeɛṛuṛucent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imeṭṭawen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yečč-iten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Yerra </a:t>
                      </a:r>
                      <a:r>
                        <a:rPr lang="fr-FR" sz="1100" kern="1200" dirty="0" err="1">
                          <a:solidFill>
                            <a:schemeClr val="tx1"/>
                          </a:solidFill>
                          <a:effectLst/>
                          <a:latin typeface="+mn-lt"/>
                          <a:ea typeface="+mn-ea"/>
                          <a:cs typeface="+mn-cs"/>
                        </a:rPr>
                        <a:t>iɣsan-nsen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tebḍanin-nsen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iɛelleq-itent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ttẓenẓunen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wareẓẓen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izegzawen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Sel! Sel! Akken la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sel!</a:t>
                      </a:r>
                    </a:p>
                    <a:p>
                      <a:pPr indent="457200"/>
                      <a:r>
                        <a:rPr lang="en-US" sz="1100" dirty="0"/>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tejjem-iten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thenna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tedhem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ten-tẓer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ṭṭlam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marL="171450" indent="-171450">
                        <a:buFontTx/>
                        <a:buChar char="-"/>
                      </a:pPr>
                      <a:r>
                        <a:rPr lang="fr-FR" sz="1100" kern="1200" dirty="0" err="1">
                          <a:solidFill>
                            <a:schemeClr val="tx1"/>
                          </a:solidFill>
                          <a:effectLst/>
                          <a:latin typeface="+mn-lt"/>
                          <a:ea typeface="+mn-ea"/>
                          <a:cs typeface="+mn-cs"/>
                        </a:rPr>
                        <a:t>Uh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p>
                    <a:p>
                      <a:pPr marL="0" indent="0">
                        <a:buFontTx/>
                        <a:buNone/>
                      </a:pPr>
                      <a:r>
                        <a:rPr lang="en-US" sz="1100" dirty="0"/>
                        <a:t>¶ </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tebra-ya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يا سيدتي، لكي يتعلم الصغار جيدًا، ينبغي ألا تأتي كل يوم فتزعجيهم. حين تحضرين مؤونتهم، اتركيها عند عتبة الباب واذهبي.</a:t>
                      </a:r>
                    </a:p>
                    <a:p>
                      <a:pPr indent="216000" algn="r" rtl="1"/>
                      <a:r>
                        <a:rPr lang="ar-AE" sz="1400" kern="150" dirty="0">
                          <a:effectLst/>
                          <a:latin typeface="Arial" panose="020B0604020202020204" pitchFamily="34" charset="0"/>
                          <a:cs typeface="Arial" panose="020B0604020202020204" pitchFamily="34" charset="0"/>
                        </a:rPr>
                        <a:t>‑ فقالت له: اتفقنا!</a:t>
                      </a:r>
                    </a:p>
                    <a:p>
                      <a:pPr indent="216000" algn="r" rtl="1"/>
                      <a:r>
                        <a:rPr lang="ar-AE" sz="1400" kern="150" dirty="0">
                          <a:effectLst/>
                          <a:latin typeface="Arial" panose="020B0604020202020204" pitchFamily="34" charset="0"/>
                          <a:cs typeface="Arial" panose="020B0604020202020204" pitchFamily="34" charset="0"/>
                        </a:rPr>
                        <a:t>¶ تركت صغارها وراءها، والدموع تغشي عينيها.</a:t>
                      </a:r>
                    </a:p>
                    <a:p>
                      <a:pPr indent="216000" algn="r" rtl="1"/>
                      <a:r>
                        <a:rPr lang="ar-AE" sz="1400" kern="150" dirty="0">
                          <a:effectLst/>
                          <a:latin typeface="Arial" panose="020B0604020202020204" pitchFamily="34" charset="0"/>
                          <a:cs typeface="Arial" panose="020B0604020202020204" pitchFamily="34" charset="0"/>
                        </a:rPr>
                        <a:t>¶ انقض الذئب على صغار الخنزيرة وأكلهم جميعًا.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وضع عظامهم في جلودهم المجوفة وعلّقها. وراحت أسراب الدبابير والذباب الأخضر تحوم حولها.</a:t>
                      </a:r>
                    </a:p>
                    <a:p>
                      <a:pPr indent="216000" algn="r" rtl="1"/>
                      <a:r>
                        <a:rPr lang="ar-AE" sz="1400" kern="150" dirty="0">
                          <a:effectLst/>
                          <a:latin typeface="Arial" panose="020B0604020202020204" pitchFamily="34" charset="0"/>
                          <a:cs typeface="Arial" panose="020B0604020202020204" pitchFamily="34" charset="0"/>
                        </a:rPr>
                        <a:t>¶ وكلما وقفت الخنزيرة في الخارج ومعها المؤونة، قال لها الذئب:</a:t>
                      </a:r>
                    </a:p>
                    <a:p>
                      <a:pPr indent="216000" algn="r" rtl="1"/>
                      <a:r>
                        <a:rPr lang="ar-AE" sz="1400" kern="150" dirty="0">
                          <a:effectLst/>
                          <a:latin typeface="Arial" panose="020B0604020202020204" pitchFamily="34" charset="0"/>
                          <a:cs typeface="Arial" panose="020B0604020202020204" pitchFamily="34" charset="0"/>
                        </a:rPr>
                        <a:t>‑ اسمعي! اسمعي! أتسمعين كيف يتلون؟ اسمعي!</a:t>
                      </a:r>
                    </a:p>
                    <a:p>
                      <a:pPr indent="216000" algn="r" rtl="1"/>
                      <a:r>
                        <a:rPr lang="ar-AE" sz="1400" kern="150" dirty="0">
                          <a:effectLst/>
                          <a:latin typeface="Arial" panose="020B0604020202020204" pitchFamily="34" charset="0"/>
                          <a:cs typeface="Arial" panose="020B0604020202020204" pitchFamily="34" charset="0"/>
                        </a:rPr>
                        <a:t>¶ وفي أحد الأيام، اشتاقت إليهم كثيرًا ولم يهدأ لها بال. أسرعت إلى الداخل لتراهم، فرأت ما رأته! قفز الذئب واندفع هاربًا إلى عمق الكهف. طاردته الخنزيرة وأمسكته من ساقه في الظلام. فراح يضحك ويقول:</a:t>
                      </a:r>
                    </a:p>
                    <a:p>
                      <a:pPr indent="216000" algn="r" rtl="1"/>
                      <a:r>
                        <a:rPr lang="ar-AE" sz="1400" kern="150" dirty="0">
                          <a:effectLst/>
                          <a:latin typeface="Arial" panose="020B0604020202020204" pitchFamily="34" charset="0"/>
                          <a:cs typeface="Arial" panose="020B0604020202020204" pitchFamily="34" charset="0"/>
                        </a:rPr>
                        <a:t>‑ آه! أمسكت جذرًا وظنته ساقًا! أمسكت جذرًا وظنته ساقًا!</a:t>
                      </a:r>
                    </a:p>
                    <a:p>
                      <a:pPr indent="216000" algn="r" rtl="1"/>
                      <a:r>
                        <a:rPr lang="ar-AE" sz="1400" kern="150" dirty="0">
                          <a:effectLst/>
                          <a:latin typeface="Arial" panose="020B0604020202020204" pitchFamily="34" charset="0"/>
                          <a:cs typeface="Arial" panose="020B0604020202020204" pitchFamily="34" charset="0"/>
                        </a:rPr>
                        <a:t>¶ خدعها، فأفلتته، وهرب من الجهة الأخرى ونجا سالمًا.</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8775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1086725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tileft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والخنزيرة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lehwa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Acu ara </a:t>
                      </a:r>
                      <a:r>
                        <a:rPr lang="fr-FR" sz="1100" kern="1200" dirty="0" err="1">
                          <a:solidFill>
                            <a:schemeClr val="tx1"/>
                          </a:solidFill>
                          <a:effectLst/>
                          <a:latin typeface="+mn-lt"/>
                          <a:ea typeface="+mn-ea"/>
                          <a:cs typeface="+mn-cs"/>
                        </a:rPr>
                        <a:t>texdem</a:t>
                      </a:r>
                      <a:r>
                        <a:rPr lang="fr-FR" sz="1100" kern="1200" dirty="0">
                          <a:solidFill>
                            <a:schemeClr val="tx1"/>
                          </a:solidFill>
                          <a:effectLst/>
                          <a:latin typeface="+mn-lt"/>
                          <a:ea typeface="+mn-ea"/>
                          <a:cs typeface="+mn-cs"/>
                        </a:rPr>
                        <a:t>? Acu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txeddem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tcetki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ɛzizen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tessɛac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ten-yečča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aɣeddaṛ</a:t>
                      </a:r>
                      <a:r>
                        <a:rPr lang="fr-FR" sz="1100" kern="1200" dirty="0">
                          <a:solidFill>
                            <a:schemeClr val="tx1"/>
                          </a:solidFill>
                          <a:effectLst/>
                          <a:latin typeface="+mn-lt"/>
                          <a:ea typeface="+mn-ea"/>
                          <a:cs typeface="+mn-cs"/>
                        </a:rPr>
                        <a:t>. Nella </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aneɣ</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texdeɛ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tgella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lemleḥ</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tesseččeḍ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afus-is</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tɛemleḍ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lemzegga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iyi-tefkeḍ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ɣeẓẓeɣ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taṣwiɛt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tḥemmel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tessemḥes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yeɣdeṛ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أُكل صغارها، وأفلت منها الذئب؛ فبقيت الخنزيرة هناك تبكي كالمطر، وقلبها محطم تمامًا. ماذا عساها أن تفعل؟ وماذا عساها ألا تفعل؟</a:t>
                      </a:r>
                    </a:p>
                    <a:p>
                      <a:pPr indent="216000" algn="r" rtl="1"/>
                      <a:r>
                        <a:rPr lang="ar-AE" sz="1400" kern="150" dirty="0">
                          <a:effectLst/>
                          <a:latin typeface="Arial" panose="020B0604020202020204" pitchFamily="34" charset="0"/>
                          <a:cs typeface="Arial" panose="020B0604020202020204" pitchFamily="34" charset="0"/>
                        </a:rPr>
                        <a:t>¶ ذهبت تشتكي إلى الأسد، ملك الحيوانات، وروت له كيف خدعها السيد امحمد حتى سلّمته صغارها الأحباء ليعلّمهم، وكم وفّرت له من أسباب العيش، وكيف أكلهم ثم أفلت منها. فقال لها الأسد:</a:t>
                      </a:r>
                    </a:p>
                    <a:p>
                      <a:pPr indent="216000" algn="r" rtl="1"/>
                      <a:r>
                        <a:rPr lang="ar-AE" sz="1400" kern="150" dirty="0">
                          <a:effectLst/>
                          <a:latin typeface="Arial" panose="020B0604020202020204" pitchFamily="34" charset="0"/>
                          <a:cs typeface="Arial" panose="020B0604020202020204" pitchFamily="34" charset="0"/>
                        </a:rPr>
                        <a:t>‑ يا ابنتي، إن امحمد خائن منذ قديم الزمان. كنا قد أصلحنا الدنيا، فأفسدها علينا. وليخنه الخبز والملح اللذان أطعمتِه إياهما! لقد نقض عهود الله، وستبطش به يده لا محالة! لا تخافي، سأنتقم لك.</a:t>
                      </a:r>
                    </a:p>
                    <a:p>
                      <a:pPr indent="216000" algn="r" rtl="1"/>
                      <a:r>
                        <a:rPr lang="ar-AE" sz="1400" kern="150" dirty="0">
                          <a:effectLst/>
                          <a:latin typeface="Arial" panose="020B0604020202020204" pitchFamily="34" charset="0"/>
                          <a:cs typeface="Arial" panose="020B0604020202020204" pitchFamily="34" charset="0"/>
                        </a:rPr>
                        <a:t>¶ ثم قال لها:</a:t>
                      </a:r>
                    </a:p>
                    <a:p>
                      <a:pPr indent="216000" algn="r" rtl="1"/>
                      <a:r>
                        <a:rPr lang="ar-AE" sz="1400" kern="150" dirty="0">
                          <a:effectLst/>
                          <a:latin typeface="Arial" panose="020B0604020202020204" pitchFamily="34" charset="0"/>
                          <a:cs typeface="Arial" panose="020B0604020202020204" pitchFamily="34" charset="0"/>
                        </a:rPr>
                        <a:t>‑ لكنني جائع؛ فإن أسديتِ إليّ معروفًا، فأعطيني رأسك أمضغه، وأعطيك مكيالًا من الفول في الصيف.</a:t>
                      </a:r>
                    </a:p>
                    <a:p>
                      <a:pPr indent="216000" algn="r" rtl="1"/>
                      <a:r>
                        <a:rPr lang="ar-AE" sz="1400" kern="150" dirty="0">
                          <a:effectLst/>
                          <a:latin typeface="Arial" panose="020B0604020202020204" pitchFamily="34" charset="0"/>
                          <a:cs typeface="Arial" panose="020B0604020202020204" pitchFamily="34" charset="0"/>
                        </a:rPr>
                        <a:t>¶ كانت الخنزيرة تحب الفول؛ فاستمعت إلى عرضه، لكن الذئب خانها في أمر صغارها، ومنذ ذلك الحين جرف الماء كل ثقة.</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64582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405D-F627-5DA0-786D-CC5B056CAB5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1370DAE-4DBB-EEC3-1B52-2AE6D833AD02}"/>
              </a:ext>
            </a:extLst>
          </p:cNvPr>
          <p:cNvGraphicFramePr>
            <a:graphicFrameLocks noGrp="1"/>
          </p:cNvGraphicFramePr>
          <p:nvPr>
            <p:extLst>
              <p:ext uri="{D42A27DB-BD31-4B8C-83A1-F6EECF244321}">
                <p14:modId xmlns:p14="http://schemas.microsoft.com/office/powerpoint/2010/main" val="174476916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148</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-i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iyi-tanfeḍ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uyaleɣ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فأجابته:</a:t>
                      </a:r>
                    </a:p>
                    <a:p>
                      <a:pPr indent="216000" algn="r" rtl="1"/>
                      <a:r>
                        <a:rPr lang="ar-AE" sz="1400" kern="150" dirty="0">
                          <a:effectLst/>
                          <a:latin typeface="Arial" panose="020B0604020202020204" pitchFamily="34" charset="0"/>
                          <a:cs typeface="Arial" panose="020B0604020202020204" pitchFamily="34" charset="0"/>
                        </a:rPr>
                        <a:t>‑ يا ملك الحيوانات، أنا في حال مزرية؛ دعني حتى أستجمع قواي. أستحلفك بالله أنني سأعود وأخبرك.</a:t>
                      </a:r>
                    </a:p>
                    <a:p>
                      <a:pPr indent="216000" algn="r" rtl="1"/>
                      <a:r>
                        <a:rPr lang="ar-AE" sz="1400" kern="150" dirty="0">
                          <a:effectLst/>
                          <a:latin typeface="Arial" panose="020B0604020202020204" pitchFamily="34" charset="0"/>
                          <a:cs typeface="Arial" panose="020B0604020202020204" pitchFamily="34" charset="0"/>
                        </a:rPr>
                        <a:t>فتركها تذهب، وانصرفت.</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61582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0710816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tileft d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الذئب والخنزيرة والأسد</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tin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la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yettagad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iɛass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ten-yettɛassa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refden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i </a:t>
                      </a:r>
                      <a:r>
                        <a:rPr lang="fr-FR" sz="1100" kern="1200" dirty="0" err="1">
                          <a:solidFill>
                            <a:schemeClr val="tx1"/>
                          </a:solidFill>
                          <a:effectLst/>
                          <a:latin typeface="+mn-lt"/>
                          <a:ea typeface="+mn-ea"/>
                          <a:cs typeface="+mn-cs"/>
                        </a:rPr>
                        <a:t>tcetka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uzenfuf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i m-d-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Tergem-it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tedɛa-yas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kem-menɛeɣ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tamehbult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tamebhult</a:t>
                      </a:r>
                      <a:r>
                        <a:rPr lang="fr-FR" sz="1100" kern="1200" dirty="0">
                          <a:solidFill>
                            <a:schemeClr val="tx1"/>
                          </a:solidFill>
                          <a:effectLst/>
                          <a:latin typeface="+mn-lt"/>
                          <a:ea typeface="+mn-ea"/>
                          <a:cs typeface="+mn-cs"/>
                        </a:rPr>
                        <a:t>! Imi ara d as-</a:t>
                      </a:r>
                      <a:r>
                        <a:rPr lang="fr-FR" sz="1100" kern="1200" dirty="0" err="1">
                          <a:solidFill>
                            <a:schemeClr val="tx1"/>
                          </a:solidFill>
                          <a:effectLst/>
                          <a:latin typeface="+mn-lt"/>
                          <a:ea typeface="+mn-ea"/>
                          <a:cs typeface="+mn-cs"/>
                        </a:rPr>
                        <a:t>tekfeḍ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teẓdeḍ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ibawen-is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nger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wessreɣ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aselli</a:t>
                      </a:r>
                      <a:r>
                        <a:rPr lang="fr-FR" sz="1100" kern="1200" dirty="0">
                          <a:solidFill>
                            <a:schemeClr val="tx1"/>
                          </a:solidFill>
                          <a:effectLst/>
                          <a:latin typeface="+mn-lt"/>
                          <a:ea typeface="+mn-ea"/>
                          <a:cs typeface="+mn-cs"/>
                        </a:rPr>
                        <a:t>-w…</a:t>
                      </a:r>
                    </a:p>
                    <a:p>
                      <a:pPr indent="457200"/>
                      <a:r>
                        <a:rPr lang="fr-FR" sz="1100" kern="1200" dirty="0" err="1">
                          <a:solidFill>
                            <a:schemeClr val="tx1"/>
                          </a:solidFill>
                          <a:effectLst/>
                          <a:latin typeface="+mn-lt"/>
                          <a:ea typeface="+mn-ea"/>
                          <a:cs typeface="+mn-cs"/>
                        </a:rPr>
                        <a:t>Tkukra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ara 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-w ad t-</a:t>
                      </a:r>
                      <a:r>
                        <a:rPr lang="fr-FR" sz="1100" kern="1200" dirty="0" err="1">
                          <a:solidFill>
                            <a:schemeClr val="tx1"/>
                          </a:solidFill>
                          <a:effectLst/>
                          <a:latin typeface="+mn-lt"/>
                          <a:ea typeface="+mn-ea"/>
                          <a:cs typeface="+mn-cs"/>
                        </a:rPr>
                        <a:t>tɣeẓẓeḍ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ẓdeɣ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-ik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Mmeggreɣ</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Terwel.</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كان الذئب يعرف ما فعله بالأسد والخنزيرة، فأصبح يخاف حتى من ظله. كيف يحمي نفسه؟ ظل يراقبهما باستمرار: كلما رفع أحدهما قدمًا، وضع هو قدمه.</a:t>
                      </a:r>
                    </a:p>
                    <a:p>
                      <a:pPr indent="216000" algn="r" rtl="1"/>
                      <a:r>
                        <a:rPr lang="ar-AE" sz="1400" kern="150" dirty="0">
                          <a:effectLst/>
                          <a:latin typeface="Arial" panose="020B0604020202020204" pitchFamily="34" charset="0"/>
                          <a:cs typeface="Arial" panose="020B0604020202020204" pitchFamily="34" charset="0"/>
                        </a:rPr>
                        <a:t>¶ وحين ذهبت الخنزيرة تشتكي إلى الأسد، راقبهما. وانتظر الخنزيرة في طريقها، ولما كانت عائدة قال لها:</a:t>
                      </a:r>
                    </a:p>
                    <a:p>
                      <a:pPr indent="216000" algn="r" rtl="1"/>
                      <a:r>
                        <a:rPr lang="ar-AE" sz="1400" kern="150" dirty="0">
                          <a:effectLst/>
                          <a:latin typeface="Arial" panose="020B0604020202020204" pitchFamily="34" charset="0"/>
                          <a:cs typeface="Arial" panose="020B0604020202020204" pitchFamily="34" charset="0"/>
                        </a:rPr>
                        <a:t>‑ يا ذات الخطم والفم، ماذا قال لك ملك الحيوانات؟</a:t>
                      </a:r>
                    </a:p>
                    <a:p>
                      <a:pPr indent="216000" algn="r" rtl="1"/>
                      <a:r>
                        <a:rPr lang="ar-AE" sz="1400" kern="150" dirty="0">
                          <a:effectLst/>
                          <a:latin typeface="Arial" panose="020B0604020202020204" pitchFamily="34" charset="0"/>
                          <a:cs typeface="Arial" panose="020B0604020202020204" pitchFamily="34" charset="0"/>
                        </a:rPr>
                        <a:t>شتمته ولعنته، وحين تعبت روت له ما حدث. فقال لها السيد امحمد:</a:t>
                      </a:r>
                    </a:p>
                    <a:p>
                      <a:pPr indent="216000" algn="r" rtl="1"/>
                      <a:r>
                        <a:rPr lang="ar-AE" sz="1400" kern="150" dirty="0">
                          <a:effectLst/>
                          <a:latin typeface="Arial" panose="020B0604020202020204" pitchFamily="34" charset="0"/>
                          <a:cs typeface="Arial" panose="020B0604020202020204" pitchFamily="34" charset="0"/>
                        </a:rPr>
                        <a:t>سأنقذك من الموت، ونتعادل. يا امرأة حمقاء، يا امرأة حمقاء! إذا أعطيته رأسك ليمضغه، فبماذا ستطحنين فوله في الصيف؟</a:t>
                      </a:r>
                    </a:p>
                    <a:p>
                      <a:pPr indent="216000" algn="r" rtl="1"/>
                      <a:r>
                        <a:rPr lang="ar-AE" sz="1400" kern="150" dirty="0">
                          <a:effectLst/>
                          <a:latin typeface="Arial" panose="020B0604020202020204" pitchFamily="34" charset="0"/>
                          <a:cs typeface="Arial" panose="020B0604020202020204" pitchFamily="34" charset="0"/>
                        </a:rPr>
                        <a:t>¶ انتظرت الخنزيرة قليلًا، ثم عادت إلى الأسد كيلا تنقض عهدها مع الله. نادته وقالت:</a:t>
                      </a:r>
                    </a:p>
                    <a:p>
                      <a:pPr indent="216000" algn="r" rtl="1"/>
                      <a:r>
                        <a:rPr lang="ar-AE" sz="1400" kern="150" dirty="0">
                          <a:effectLst/>
                          <a:latin typeface="Arial" panose="020B0604020202020204" pitchFamily="34" charset="0"/>
                          <a:cs typeface="Arial" panose="020B0604020202020204" pitchFamily="34" charset="0"/>
                        </a:rPr>
                        <a:t>‑ يا ملك الحيوانات، لن يتم ما تحدثنا عنه!</a:t>
                      </a:r>
                    </a:p>
                    <a:p>
                      <a:pPr indent="216000" algn="r" rtl="1"/>
                      <a:r>
                        <a:rPr lang="ar-AE" sz="1400" kern="150" dirty="0">
                          <a:effectLst/>
                          <a:latin typeface="Arial" panose="020B0604020202020204" pitchFamily="34" charset="0"/>
                          <a:cs typeface="Arial" panose="020B0604020202020204" pitchFamily="34" charset="0"/>
                        </a:rPr>
                        <a:t>فأجابها قائلًا:</a:t>
                      </a:r>
                    </a:p>
                    <a:p>
                      <a:pPr indent="216000" algn="r" rtl="1"/>
                      <a:r>
                        <a:rPr lang="ar-AE" sz="1400" kern="150" dirty="0">
                          <a:effectLst/>
                          <a:latin typeface="Arial" panose="020B0604020202020204" pitchFamily="34" charset="0"/>
                          <a:cs typeface="Arial" panose="020B0604020202020204" pitchFamily="34" charset="0"/>
                        </a:rPr>
                        <a:t>‑ يا ابنتي، اقتربي؛ فقد شخت الآن، وضعف بصري وكذلك سمعي…</a:t>
                      </a:r>
                    </a:p>
                    <a:p>
                      <a:pPr indent="216000" algn="r" rtl="1"/>
                      <a:r>
                        <a:rPr lang="ar-AE" sz="1400" kern="150" dirty="0">
                          <a:effectLst/>
                          <a:latin typeface="Arial" panose="020B0604020202020204" pitchFamily="34" charset="0"/>
                          <a:cs typeface="Arial" panose="020B0604020202020204" pitchFamily="34" charset="0"/>
                        </a:rPr>
                        <a:t>ترددت وقالت له:</a:t>
                      </a:r>
                    </a:p>
                    <a:p>
                      <a:pPr indent="216000" algn="r" rtl="1"/>
                      <a:r>
                        <a:rPr lang="ar-AE" sz="1400" kern="150" dirty="0">
                          <a:effectLst/>
                          <a:latin typeface="Arial" panose="020B0604020202020204" pitchFamily="34" charset="0"/>
                          <a:cs typeface="Arial" panose="020B0604020202020204" pitchFamily="34" charset="0"/>
                        </a:rPr>
                        <a:t>‑ إذا أعطيتك رأسي لتمضغه، فبماذا سأطحن فولك في الصيف؟</a:t>
                      </a:r>
                    </a:p>
                    <a:p>
                      <a:pPr indent="216000" algn="r" rtl="1"/>
                      <a:r>
                        <a:rPr lang="ar-AE" sz="1400" kern="150" dirty="0">
                          <a:effectLst/>
                          <a:latin typeface="Arial" panose="020B0604020202020204" pitchFamily="34" charset="0"/>
                          <a:cs typeface="Arial" panose="020B0604020202020204" pitchFamily="34" charset="0"/>
                        </a:rPr>
                        <a:t>زأر كالزوبعة وقال لها:</a:t>
                      </a:r>
                    </a:p>
                    <a:p>
                      <a:pPr indent="216000" algn="r" rtl="1"/>
                      <a:r>
                        <a:rPr lang="ar-AE" sz="1400" kern="150" dirty="0">
                          <a:effectLst/>
                          <a:latin typeface="Arial" panose="020B0604020202020204" pitchFamily="34" charset="0"/>
                          <a:cs typeface="Arial" panose="020B0604020202020204" pitchFamily="34" charset="0"/>
                        </a:rPr>
                        <a:t>‑ لقد التقيت امحمد!</a:t>
                      </a:r>
                    </a:p>
                    <a:p>
                      <a:pPr indent="216000" algn="r" rtl="1"/>
                      <a:r>
                        <a:rPr lang="ar-AE" sz="1400" kern="150" dirty="0">
                          <a:effectLst/>
                          <a:latin typeface="Arial" panose="020B0604020202020204" pitchFamily="34" charset="0"/>
                          <a:cs typeface="Arial" panose="020B0604020202020204" pitchFamily="34" charset="0"/>
                        </a:rPr>
                        <a:t>‑ فأجابته: نعم، التقيته!</a:t>
                      </a:r>
                    </a:p>
                    <a:p>
                      <a:pPr indent="216000" algn="r" rtl="1"/>
                      <a:r>
                        <a:rPr lang="ar-AE" sz="1400" kern="150" dirty="0">
                          <a:effectLst/>
                          <a:latin typeface="Arial" panose="020B0604020202020204" pitchFamily="34" charset="0"/>
                          <a:cs typeface="Arial" panose="020B0604020202020204" pitchFamily="34" charset="0"/>
                        </a:rPr>
                        <a:t>ثم هربت.</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70906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4862303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welɣem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والجمل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irwel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iyi-tsellkeḍ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leɛnaya</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Yerra-t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a:t>
                      </a:r>
                    </a:p>
                    <a:p>
                      <a:pPr indent="457200"/>
                      <a:r>
                        <a:rPr lang="en-US" sz="1100" dirty="0"/>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temmeggerḍ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ibges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lmuḥal</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tḍelbeḍ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Xedmeɣ-ak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aɛlaxaṭer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iyi-tunifeḍ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berneɣ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yeḥku-yas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600" kern="150" dirty="0">
                          <a:effectLst/>
                          <a:latin typeface="Arial" panose="020B0604020202020204" pitchFamily="34" charset="0"/>
                          <a:cs typeface="Arial" panose="020B0604020202020204" pitchFamily="34" charset="0"/>
                        </a:rPr>
                        <a:t>¶ في يوم من الأيام هرب الأسد، وكان الصيادون يطاردونه. وصادف الجمل فقال له:</a:t>
                      </a:r>
                    </a:p>
                    <a:p>
                      <a:pPr indent="216000" algn="r" rtl="1"/>
                      <a:r>
                        <a:rPr lang="ar-AE" sz="1600" kern="150" dirty="0">
                          <a:effectLst/>
                          <a:latin typeface="Arial" panose="020B0604020202020204" pitchFamily="34" charset="0"/>
                          <a:cs typeface="Arial" panose="020B0604020202020204" pitchFamily="34" charset="0"/>
                        </a:rPr>
                        <a:t>‑ أستحلفك بالله، أنقذني واجعلني في حماك!</a:t>
                      </a:r>
                    </a:p>
                    <a:p>
                      <a:pPr indent="216000" algn="r" rtl="1"/>
                      <a:r>
                        <a:rPr lang="ar-AE" sz="1600" kern="150" dirty="0">
                          <a:effectLst/>
                          <a:latin typeface="Arial" panose="020B0604020202020204" pitchFamily="34" charset="0"/>
                          <a:cs typeface="Arial" panose="020B0604020202020204" pitchFamily="34" charset="0"/>
                        </a:rPr>
                        <a:t>فأدخله الجمل في كيس كبير، وحمله على ظهره ومضى به.</a:t>
                      </a:r>
                    </a:p>
                    <a:p>
                      <a:pPr indent="216000" algn="r" rtl="1"/>
                      <a:r>
                        <a:rPr lang="ar-AE" sz="1600" kern="150" dirty="0">
                          <a:effectLst/>
                          <a:latin typeface="Arial" panose="020B0604020202020204" pitchFamily="34" charset="0"/>
                          <a:cs typeface="Arial" panose="020B0604020202020204" pitchFamily="34" charset="0"/>
                        </a:rPr>
                        <a:t>¶ وفي الطريق، صادف الصيادين فسألوه:</a:t>
                      </a:r>
                    </a:p>
                    <a:p>
                      <a:pPr indent="216000" algn="r" rtl="1"/>
                      <a:r>
                        <a:rPr lang="ar-AE" sz="1600" kern="150" dirty="0">
                          <a:effectLst/>
                          <a:latin typeface="Arial" panose="020B0604020202020204" pitchFamily="34" charset="0"/>
                          <a:cs typeface="Arial" panose="020B0604020202020204" pitchFamily="34" charset="0"/>
                        </a:rPr>
                        <a:t>‑ أيها الجمل، ألم تصادف الأسد وهو مارّ؟</a:t>
                      </a:r>
                    </a:p>
                    <a:p>
                      <a:pPr indent="216000" algn="r" rtl="1"/>
                      <a:r>
                        <a:rPr lang="ar-AE" sz="1600" kern="150" dirty="0">
                          <a:effectLst/>
                          <a:latin typeface="Arial" panose="020B0604020202020204" pitchFamily="34" charset="0"/>
                          <a:cs typeface="Arial" panose="020B0604020202020204" pitchFamily="34" charset="0"/>
                        </a:rPr>
                        <a:t>‑ فأجابهم: لقد مرّ!</a:t>
                      </a:r>
                    </a:p>
                    <a:p>
                      <a:pPr indent="216000" algn="r" rtl="1"/>
                      <a:r>
                        <a:rPr lang="ar-AE" sz="1600" kern="150" dirty="0">
                          <a:effectLst/>
                          <a:latin typeface="Arial" panose="020B0604020202020204" pitchFamily="34" charset="0"/>
                          <a:cs typeface="Arial" panose="020B0604020202020204" pitchFamily="34" charset="0"/>
                        </a:rPr>
                        <a:t>ومضوا في طريقهم. وظل الجمل يحمله حتى أوصله إلى مكان آمن، ثم أنزله. وفي الحال، تقدم الأسد نحوه وقال:</a:t>
                      </a:r>
                    </a:p>
                    <a:p>
                      <a:pPr indent="216000" algn="r" rtl="1"/>
                      <a:r>
                        <a:rPr lang="ar-AE" sz="1600" kern="150" dirty="0">
                          <a:effectLst/>
                          <a:latin typeface="Arial" panose="020B0604020202020204" pitchFamily="34" charset="0"/>
                          <a:cs typeface="Arial" panose="020B0604020202020204" pitchFamily="34" charset="0"/>
                        </a:rPr>
                        <a:t>‑ سألتهمك!</a:t>
                      </a:r>
                    </a:p>
                    <a:p>
                      <a:pPr indent="216000" algn="r" rtl="1"/>
                      <a:r>
                        <a:rPr lang="ar-AE" sz="1600" kern="150" dirty="0">
                          <a:effectLst/>
                          <a:latin typeface="Arial" panose="020B0604020202020204" pitchFamily="34" charset="0"/>
                          <a:cs typeface="Arial" panose="020B0604020202020204" pitchFamily="34" charset="0"/>
                        </a:rPr>
                        <a:t>‑ فأجابه الجمل: هذا مطلب لا يُعقل! كان الصيادون يطاردونك ليقتلوك، وأنقذتك من الموت، والآن تريد أن تأكلني؟ لقد أحسنت إليك، فردّ لي إحساني.</a:t>
                      </a:r>
                    </a:p>
                    <a:p>
                      <a:pPr indent="216000" algn="r" rtl="1"/>
                      <a:r>
                        <a:rPr lang="ar-AE" sz="1600" kern="150" dirty="0">
                          <a:effectLst/>
                          <a:latin typeface="Arial" panose="020B0604020202020204" pitchFamily="34" charset="0"/>
                          <a:cs typeface="Arial" panose="020B0604020202020204" pitchFamily="34" charset="0"/>
                        </a:rPr>
                        <a:t>‑ فقال له الأسد: سآكلك، لأن الإحسان لا يُردّ أبدًا.</a:t>
                      </a:r>
                    </a:p>
                    <a:p>
                      <a:pPr indent="216000" algn="r" rtl="1"/>
                      <a:r>
                        <a:rPr lang="ar-AE" sz="1600" kern="150" dirty="0">
                          <a:effectLst/>
                          <a:latin typeface="Arial" panose="020B0604020202020204" pitchFamily="34" charset="0"/>
                          <a:cs typeface="Arial" panose="020B0604020202020204" pitchFamily="34" charset="0"/>
                        </a:rPr>
                        <a:t>فقال له الجمل:</a:t>
                      </a:r>
                    </a:p>
                    <a:p>
                      <a:pPr indent="216000" algn="r" rtl="1"/>
                      <a:r>
                        <a:rPr lang="ar-AE" sz="1600" kern="150" dirty="0">
                          <a:effectLst/>
                          <a:latin typeface="Arial" panose="020B0604020202020204" pitchFamily="34" charset="0"/>
                          <a:cs typeface="Arial" panose="020B0604020202020204" pitchFamily="34" charset="0"/>
                        </a:rPr>
                        <a:t>‑ أستحلفك بالله، دعني أذهب وأسأل! وأعاهدك بالله، إن وجدت أن الإحسان لا يُردّ، فسأعود لتأكلني!</a:t>
                      </a:r>
                    </a:p>
                    <a:p>
                      <a:pPr indent="216000" algn="r" rtl="1"/>
                      <a:r>
                        <a:rPr lang="ar-AE" sz="1600" kern="150" dirty="0">
                          <a:effectLst/>
                          <a:latin typeface="Arial" panose="020B0604020202020204" pitchFamily="34" charset="0"/>
                          <a:cs typeface="Arial" panose="020B0604020202020204" pitchFamily="34" charset="0"/>
                        </a:rPr>
                        <a:t>فتركه يذهب، وانصرف.</a:t>
                      </a:r>
                    </a:p>
                    <a:p>
                      <a:pPr indent="216000" algn="r" rtl="1"/>
                      <a:r>
                        <a:rPr lang="ar-AE" sz="1600" kern="150" dirty="0">
                          <a:effectLst/>
                          <a:latin typeface="Arial" panose="020B0604020202020204" pitchFamily="34" charset="0"/>
                          <a:cs typeface="Arial" panose="020B0604020202020204" pitchFamily="34" charset="0"/>
                        </a:rPr>
                        <a:t>¶ ذهب الجمل إلى الحيوانات. وكان يروي قصته لكل من يصادفه؛ لكن لم ينصفه أحد، ولو لوجه الله. فقال له الحمار:</a:t>
                      </a:r>
                      <a:endParaRPr lang="en-GB" sz="16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09444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4071397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ɛebbiɣ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srekbeɣ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tmecḥa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yisem-iw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taselqubt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taduṭ</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arweɣ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izamaren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ten-zlun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zlun-iyi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ḍḍalem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kerzeɣ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temẓin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meggleɣ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izemran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wurtan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ara d </a:t>
                      </a:r>
                      <a:r>
                        <a:rPr lang="fr-FR" sz="1100" kern="1200" dirty="0" err="1">
                          <a:solidFill>
                            <a:schemeClr val="tx1"/>
                          </a:solidFill>
                          <a:effectLst/>
                          <a:latin typeface="+mn-lt"/>
                          <a:ea typeface="+mn-ea"/>
                          <a:cs typeface="+mn-cs"/>
                        </a:rPr>
                        <a:t>iyi-rren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iyi-qeddmen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aɛric</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uɣilif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yettmečča</a:t>
                      </a:r>
                      <a:r>
                        <a:rPr lang="fr-FR" sz="1100" kern="1200" dirty="0">
                          <a:solidFill>
                            <a:schemeClr val="tx1"/>
                          </a:solidFill>
                          <a:effectLst/>
                          <a:latin typeface="+mn-lt"/>
                          <a:ea typeface="+mn-ea"/>
                          <a:cs typeface="+mn-cs"/>
                        </a:rPr>
                        <a:t>, ad as-t-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i d-yuki!</a:t>
                      </a:r>
                    </a:p>
                    <a:p>
                      <a:pPr indent="457200"/>
                      <a:r>
                        <a:rPr lang="en-US" sz="1100" dirty="0"/>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Bumgerḍ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yettreɛreɛ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Tettalaseḍ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ad k-</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600" kern="150" dirty="0">
                          <a:effectLst/>
                          <a:latin typeface="Arial" panose="020B0604020202020204" pitchFamily="34" charset="0"/>
                          <a:cs typeface="Arial" panose="020B0604020202020204" pitchFamily="34" charset="0"/>
                        </a:rPr>
                        <a:t>‑ الأسد لم يظلمك؛ فأنا عبد الدار، أحمل الأثقال والركاب، وآكل طعامًا رديئًا، وفوق ذلك أتلقى الضرب بالعصا. ثم يجعلون اسمي شتيمة: فالإحسان لا يُردّ أبدًا.</a:t>
                      </a:r>
                    </a:p>
                    <a:p>
                      <a:pPr indent="216000" algn="r" rtl="1"/>
                      <a:r>
                        <a:rPr lang="ar-AE" sz="1600" kern="150" dirty="0">
                          <a:effectLst/>
                          <a:latin typeface="Arial" panose="020B0604020202020204" pitchFamily="34" charset="0"/>
                          <a:cs typeface="Arial" panose="020B0604020202020204" pitchFamily="34" charset="0"/>
                        </a:rPr>
                        <a:t>‑ وقالت له النعجة: الأسد لم يظلمك؛ فأنا أعطي الحليب والصوف، وألد الحملان، فيذبحونها ويذبحونني؛ يأكلونها ويأكلونني: فالإحسان لا يُردّ أبدًا.</a:t>
                      </a:r>
                    </a:p>
                    <a:p>
                      <a:pPr indent="216000" algn="r" rtl="1"/>
                      <a:r>
                        <a:rPr lang="ar-AE" sz="1600" kern="150" dirty="0">
                          <a:effectLst/>
                          <a:latin typeface="Arial" panose="020B0604020202020204" pitchFamily="34" charset="0"/>
                          <a:cs typeface="Arial" panose="020B0604020202020204" pitchFamily="34" charset="0"/>
                        </a:rPr>
                        <a:t>‑ وقال له الثور: أنت الظالم؛ فأنا أحرث القمح والشعير، وأفلح أشجار الزيتون والبساتين: فأي إحسان يردّونه إليّ؟ إنهم يقودونني مباشرة إلى مسلخ الجزار! لو كان الإحسان يُردّ يومًا، لَرُدّ إلى الثور.</a:t>
                      </a:r>
                    </a:p>
                    <a:p>
                      <a:pPr indent="216000" algn="r" rtl="1"/>
                      <a:r>
                        <a:rPr lang="ar-AE" sz="1600" kern="150" dirty="0">
                          <a:effectLst/>
                          <a:latin typeface="Arial" panose="020B0604020202020204" pitchFamily="34" charset="0"/>
                          <a:cs typeface="Arial" panose="020B0604020202020204" pitchFamily="34" charset="0"/>
                        </a:rPr>
                        <a:t>¶ عاد الجمل حزينًا حزنًا شديدًا؛ فلم تجرِ الأمور كما تخيل، فبعد أن ذهب إحسانه، لم يبقَ أمام الأسد سوى أن يأكله ويقضي عليه تمامًا.</a:t>
                      </a:r>
                    </a:p>
                    <a:p>
                      <a:pPr indent="216000" algn="r" rtl="1"/>
                      <a:r>
                        <a:rPr lang="ar-AE" sz="1600" kern="150" dirty="0">
                          <a:effectLst/>
                          <a:latin typeface="Arial" panose="020B0604020202020204" pitchFamily="34" charset="0"/>
                          <a:cs typeface="Arial" panose="020B0604020202020204" pitchFamily="34" charset="0"/>
                        </a:rPr>
                        <a:t>مشى الجمل باكيًا؛ فلم يستيقظ على ما كان يتوقعه!</a:t>
                      </a:r>
                    </a:p>
                    <a:p>
                      <a:pPr indent="216000" algn="r" rtl="1"/>
                      <a:r>
                        <a:rPr lang="ar-AE" sz="1600" kern="150" dirty="0">
                          <a:effectLst/>
                          <a:latin typeface="Arial" panose="020B0604020202020204" pitchFamily="34" charset="0"/>
                          <a:cs typeface="Arial" panose="020B0604020202020204" pitchFamily="34" charset="0"/>
                        </a:rPr>
                        <a:t>¶ وفي الطريق صادف الذئب، فقال له:</a:t>
                      </a:r>
                    </a:p>
                    <a:p>
                      <a:pPr indent="216000" algn="r" rtl="1"/>
                      <a:r>
                        <a:rPr lang="ar-AE" sz="1600" kern="150" dirty="0">
                          <a:effectLst/>
                          <a:latin typeface="Arial" panose="020B0604020202020204" pitchFamily="34" charset="0"/>
                          <a:cs typeface="Arial" panose="020B0604020202020204" pitchFamily="34" charset="0"/>
                        </a:rPr>
                        <a:t>‑ ما بك يا عمّي أبورقبة؟</a:t>
                      </a:r>
                    </a:p>
                    <a:p>
                      <a:pPr indent="216000" algn="r" rtl="1"/>
                      <a:r>
                        <a:rPr lang="ar-AE" sz="1600" kern="150" dirty="0">
                          <a:effectLst/>
                          <a:latin typeface="Arial" panose="020B0604020202020204" pitchFamily="34" charset="0"/>
                          <a:cs typeface="Arial" panose="020B0604020202020204" pitchFamily="34" charset="0"/>
                        </a:rPr>
                        <a:t>روى له الجمل ما جرى. فقال له الذئب:</a:t>
                      </a:r>
                    </a:p>
                    <a:p>
                      <a:pPr indent="216000" algn="r" rtl="1"/>
                      <a:r>
                        <a:rPr lang="ar-AE" sz="1600" kern="150" dirty="0">
                          <a:effectLst/>
                          <a:latin typeface="Arial" panose="020B0604020202020204" pitchFamily="34" charset="0"/>
                          <a:cs typeface="Arial" panose="020B0604020202020204" pitchFamily="34" charset="0"/>
                        </a:rPr>
                        <a:t>‑ هذا هو الحق: الإحسان لا يُردّ أبدًا. والآن سيأكلك، يا مسكين.</a:t>
                      </a:r>
                    </a:p>
                    <a:p>
                      <a:pPr indent="216000" algn="r" rtl="1"/>
                      <a:r>
                        <a:rPr lang="ar-AE" sz="1600" kern="150" dirty="0">
                          <a:effectLst/>
                          <a:latin typeface="Arial" panose="020B0604020202020204" pitchFamily="34" charset="0"/>
                          <a:cs typeface="Arial" panose="020B0604020202020204" pitchFamily="34" charset="0"/>
                        </a:rPr>
                        <a:t>¶ ثم أخذ الجمل يئن. فقال له الذئب:</a:t>
                      </a:r>
                    </a:p>
                    <a:p>
                      <a:pPr indent="216000" algn="r" rtl="1"/>
                      <a:r>
                        <a:rPr lang="ar-AE" sz="1600" kern="150" dirty="0">
                          <a:effectLst/>
                          <a:latin typeface="Arial" panose="020B0604020202020204" pitchFamily="34" charset="0"/>
                          <a:cs typeface="Arial" panose="020B0604020202020204" pitchFamily="34" charset="0"/>
                        </a:rPr>
                        <a:t>‑ لك عندي معروف؛ سأنقذك، إن أنقذك الله، ونتعادل. وفي الحال همس في أذنه.</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941117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6884792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156</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lewḥyc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yettmiẓẓid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Ssiweḍ-iyi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tarrawt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Yedduqqes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yessemsu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Mmugreɣ</a:t>
                      </a:r>
                      <a:r>
                        <a:rPr lang="fr-FR" sz="1100" kern="1200" dirty="0">
                          <a:solidFill>
                            <a:schemeClr val="tx1"/>
                          </a:solidFill>
                          <a:effectLst/>
                          <a:latin typeface="+mn-lt"/>
                          <a:ea typeface="+mn-ea"/>
                          <a:cs typeface="+mn-cs"/>
                        </a:rPr>
                        <a:t>-t,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ḍman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مضى الجمل حتى بلغ الأسد وقال له:</a:t>
                      </a:r>
                    </a:p>
                    <a:p>
                      <a:pPr indent="216000" algn="r" rtl="1"/>
                      <a:r>
                        <a:rPr lang="ar-AE" sz="1400" kern="150" dirty="0">
                          <a:effectLst/>
                          <a:latin typeface="Arial" panose="020B0604020202020204" pitchFamily="34" charset="0"/>
                          <a:cs typeface="Arial" panose="020B0604020202020204" pitchFamily="34" charset="0"/>
                        </a:rPr>
                        <a:t>‑ يا ملك الحيوانات، هذا هو الحق: الإحسان لا يُردّ أبدًا.</a:t>
                      </a:r>
                    </a:p>
                    <a:p>
                      <a:pPr indent="216000" algn="r" rtl="1"/>
                      <a:r>
                        <a:rPr lang="ar-AE" sz="1400" kern="150" dirty="0">
                          <a:effectLst/>
                          <a:latin typeface="Arial" panose="020B0604020202020204" pitchFamily="34" charset="0"/>
                          <a:cs typeface="Arial" panose="020B0604020202020204" pitchFamily="34" charset="0"/>
                        </a:rPr>
                        <a:t>فأخذ الأسد يتمدد وقال له:</a:t>
                      </a:r>
                    </a:p>
                    <a:p>
                      <a:pPr indent="216000" algn="r" rtl="1"/>
                      <a:r>
                        <a:rPr lang="ar-AE" sz="1400" kern="150" dirty="0">
                          <a:effectLst/>
                          <a:latin typeface="Arial" panose="020B0604020202020204" pitchFamily="34" charset="0"/>
                          <a:cs typeface="Arial" panose="020B0604020202020204" pitchFamily="34" charset="0"/>
                        </a:rPr>
                        <a:t>‑ إذن سآكلك!</a:t>
                      </a:r>
                    </a:p>
                    <a:p>
                      <a:pPr indent="216000" algn="r" rtl="1"/>
                      <a:r>
                        <a:rPr lang="ar-AE" sz="1400" kern="150" dirty="0">
                          <a:effectLst/>
                          <a:latin typeface="Arial" panose="020B0604020202020204" pitchFamily="34" charset="0"/>
                          <a:cs typeface="Arial" panose="020B0604020202020204" pitchFamily="34" charset="0"/>
                        </a:rPr>
                        <a:t>فقال له الجمل: رويدك يا ملك الحيوانات! دعني أتم كلامي: الإحسان لا يُردّ إلى ذي الأصل الخبيث؛ أما ذوو الأصل النبيل، فيُردّ إليهم الإحسان دائمًا.</a:t>
                      </a:r>
                    </a:p>
                    <a:p>
                      <a:pPr indent="216000" algn="r" rtl="1"/>
                      <a:r>
                        <a:rPr lang="ar-AE" sz="1400" kern="150" dirty="0">
                          <a:effectLst/>
                          <a:latin typeface="Arial" panose="020B0604020202020204" pitchFamily="34" charset="0"/>
                          <a:cs typeface="Arial" panose="020B0604020202020204" pitchFamily="34" charset="0"/>
                        </a:rPr>
                        <a:t>¶ فوجئ الأسد، وزأر كالزوبعة؛ إذ لم يقبل أن يُدنّس نسبه. وقال للجمل:</a:t>
                      </a:r>
                    </a:p>
                    <a:p>
                      <a:pPr indent="216000" algn="r" rtl="1"/>
                      <a:r>
                        <a:rPr lang="ar-AE" sz="1400" kern="150" dirty="0">
                          <a:effectLst/>
                          <a:latin typeface="Arial" panose="020B0604020202020204" pitchFamily="34" charset="0"/>
                          <a:cs typeface="Arial" panose="020B0604020202020204" pitchFamily="34" charset="0"/>
                        </a:rPr>
                        <a:t>‑ لقد التقيت الذئب!</a:t>
                      </a:r>
                    </a:p>
                    <a:p>
                      <a:pPr indent="216000" algn="r" rtl="1"/>
                      <a:r>
                        <a:rPr lang="ar-AE" sz="1400" kern="150" dirty="0">
                          <a:effectLst/>
                          <a:latin typeface="Arial" panose="020B0604020202020204" pitchFamily="34" charset="0"/>
                          <a:cs typeface="Arial" panose="020B0604020202020204" pitchFamily="34" charset="0"/>
                        </a:rPr>
                        <a:t>‑ فأجابه: نعم، التقيته يا ملك الحيوانات.</a:t>
                      </a:r>
                    </a:p>
                    <a:p>
                      <a:pPr indent="216000" algn="r" rtl="1"/>
                      <a:r>
                        <a:rPr lang="ar-AE" sz="1400" kern="150" dirty="0">
                          <a:effectLst/>
                          <a:latin typeface="Arial" panose="020B0604020202020204" pitchFamily="34" charset="0"/>
                          <a:cs typeface="Arial" panose="020B0604020202020204" pitchFamily="34" charset="0"/>
                        </a:rPr>
                        <a:t>‑ فقال له الأسد: اذهب؛ لقد أنقذك صاحب الحيل المئة!</a:t>
                      </a:r>
                    </a:p>
                    <a:p>
                      <a:pPr indent="216000" algn="r" rtl="1"/>
                      <a:r>
                        <a:rPr lang="ar-AE" sz="1400" kern="150" dirty="0">
                          <a:effectLst/>
                          <a:latin typeface="Arial" panose="020B0604020202020204" pitchFamily="34" charset="0"/>
                          <a:cs typeface="Arial" panose="020B0604020202020204" pitchFamily="34" charset="0"/>
                        </a:rPr>
                        <a:t>وانصرف الجمل آمنًا مطمئنًا.</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4905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A89A-D6D6-9203-984C-1834E267923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A139746-3106-F029-BF55-00DC0C0E6FFF}"/>
              </a:ext>
            </a:extLst>
          </p:cNvPr>
          <p:cNvGraphicFramePr>
            <a:graphicFrameLocks noGrp="1"/>
          </p:cNvGraphicFramePr>
          <p:nvPr>
            <p:extLst>
              <p:ext uri="{D42A27DB-BD31-4B8C-83A1-F6EECF244321}">
                <p14:modId xmlns:p14="http://schemas.microsoft.com/office/powerpoint/2010/main" val="222681212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err="1">
                          <a:solidFill>
                            <a:schemeClr val="accent6">
                              <a:lumMod val="75000"/>
                            </a:schemeClr>
                          </a:solidFill>
                          <a:latin typeface="Cascadia Mono" panose="020B0609020000020004" pitchFamily="49" charset="0"/>
                          <a:cs typeface="Cascadia Mono" panose="020B0609020000020004" pitchFamily="49" charset="0"/>
                        </a:rPr>
                        <a:t>Tlata</a:t>
                      </a:r>
                      <a:r>
                        <a:rPr lang="en-GB" dirty="0">
                          <a:solidFill>
                            <a:schemeClr val="accent6">
                              <a:lumMod val="75000"/>
                            </a:schemeClr>
                          </a:solidFill>
                          <a:latin typeface="Cascadia Mono" panose="020B0609020000020004" pitchFamily="49" charset="0"/>
                          <a:cs typeface="Cascadia Mono" panose="020B0609020000020004" pitchFamily="49" charset="0"/>
                        </a:rPr>
                        <a:t> </a:t>
                      </a:r>
                      <a:r>
                        <a:rPr lang="en-GB" dirty="0" err="1">
                          <a:solidFill>
                            <a:schemeClr val="accent6">
                              <a:lumMod val="75000"/>
                            </a:schemeClr>
                          </a:solidFill>
                          <a:latin typeface="Cascadia Mono" panose="020B0609020000020004" pitchFamily="49" charset="0"/>
                          <a:cs typeface="Cascadia Mono" panose="020B0609020000020004" pitchFamily="49" charset="0"/>
                        </a:rPr>
                        <a:t>yezgaren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wuccen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yizem</a:t>
                      </a:r>
                      <a:endParaRPr lang="en-GB" dirty="0">
                        <a:solidFill>
                          <a:schemeClr val="accent6">
                            <a:lumMod val="75000"/>
                          </a:schemeClr>
                        </a:solidFill>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800" b="1" kern="150" dirty="0">
                          <a:solidFill>
                            <a:schemeClr val="tx1"/>
                          </a:solidFill>
                          <a:effectLst/>
                          <a:latin typeface="Arial" panose="020B0604020202020204" pitchFamily="34" charset="0"/>
                          <a:cs typeface="Arial" panose="020B0604020202020204" pitchFamily="34" charset="0"/>
                        </a:rPr>
                        <a:t>الثيران الثلاثة والذئب والأسد</a:t>
                      </a:r>
                      <a:endParaRPr lang="en-GB"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yezgaren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weqmen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tagmatt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yussa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iqurɛ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-s: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assen-yezmir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Sliɣ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watmaten</a:t>
                      </a:r>
                      <a:r>
                        <a:rPr lang="fr-FR" sz="1100" kern="1200" dirty="0">
                          <a:solidFill>
                            <a:schemeClr val="tx1"/>
                          </a:solidFill>
                          <a:effectLst/>
                          <a:latin typeface="+mn-lt"/>
                          <a:ea typeface="+mn-ea"/>
                          <a:cs typeface="+mn-cs"/>
                        </a:rPr>
                        <a:t>-ik la </a:t>
                      </a:r>
                      <a:r>
                        <a:rPr lang="fr-FR" sz="1100" kern="1200" dirty="0" err="1">
                          <a:solidFill>
                            <a:schemeClr val="tx1"/>
                          </a:solidFill>
                          <a:effectLst/>
                          <a:latin typeface="+mn-lt"/>
                          <a:ea typeface="+mn-ea"/>
                          <a:cs typeface="+mn-cs"/>
                        </a:rPr>
                        <a:t>ttsewwiqen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ad k-</a:t>
                      </a:r>
                      <a:r>
                        <a:rPr lang="fr-FR" sz="1100" kern="1200" dirty="0" err="1">
                          <a:solidFill>
                            <a:schemeClr val="tx1"/>
                          </a:solidFill>
                          <a:effectLst/>
                          <a:latin typeface="+mn-lt"/>
                          <a:ea typeface="+mn-ea"/>
                          <a:cs typeface="+mn-cs"/>
                        </a:rPr>
                        <a:t>sebblen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كان هناك ثلاثة ثيران: أحدها أبيض، والثاني أسود، والثالث أحمر؛ وقد عقدوا إخاءً في الغابة. كانوا يرعون معًا حتى المساء، ثم يلصقون مؤخراتهم بعضها ببعض، ويوجهون قرونهم إلى الخارج وينامون. وحين يأتي الأسد، يجد كل واحد منهم يحرس جهته؛ فيدور حولهم ثم ينصرف، إذ لم يكن قويًا بما يكفي لمواجهتهم.</a:t>
                      </a:r>
                    </a:p>
                    <a:p>
                      <a:pPr indent="216000" algn="r" rtl="1"/>
                      <a:r>
                        <a:rPr lang="ar-AE" sz="1400" kern="150" dirty="0">
                          <a:effectLst/>
                          <a:latin typeface="Arial" panose="020B0604020202020204" pitchFamily="34" charset="0"/>
                          <a:cs typeface="Arial" panose="020B0604020202020204" pitchFamily="34" charset="0"/>
                        </a:rPr>
                        <a:t>¶ وفي يوم من الأيام، ذهب الذئب إلى الثور الأسود وقال له:</a:t>
                      </a:r>
                    </a:p>
                    <a:p>
                      <a:pPr indent="216000" algn="r" rtl="1"/>
                      <a:r>
                        <a:rPr lang="ar-AE" sz="1400" kern="150" dirty="0">
                          <a:effectLst/>
                          <a:latin typeface="Arial" panose="020B0604020202020204" pitchFamily="34" charset="0"/>
                          <a:cs typeface="Arial" panose="020B0604020202020204" pitchFamily="34" charset="0"/>
                        </a:rPr>
                        <a:t>‑ سمعت إخوتك يتآمرون عليك؛ سيقدمونك قربانًا للأسد ليأكلك، ثم تستأثر الغابة بهم وحدهم.</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76586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62363661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yeḍmeɛ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ten-yessemneɣ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err="1">
                          <a:solidFill>
                            <a:schemeClr val="tx1"/>
                          </a:solidFill>
                          <a:effectLst/>
                          <a:latin typeface="+mn-lt"/>
                          <a:ea typeface="+mn-ea"/>
                          <a:cs typeface="+mn-cs"/>
                        </a:rPr>
                        <a:t>Yessekcem-asen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ttemyexẓaren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ttemyenfasen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ssemlilin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ttemɛassan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gujil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ewt-it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eǧǧ-it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Ihuz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 s-</a:t>
                      </a:r>
                      <a:r>
                        <a:rPr lang="fr-FR" sz="1100" kern="1200" dirty="0" err="1">
                          <a:solidFill>
                            <a:schemeClr val="tx1"/>
                          </a:solidFill>
                          <a:effectLst/>
                          <a:latin typeface="+mn-lt"/>
                          <a:ea typeface="+mn-ea"/>
                          <a:cs typeface="+mn-cs"/>
                        </a:rPr>
                        <a:t>yessefhem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tazurant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وكرر الكلام نفسه على الثور الأحمر، ثم فعل الأمر ذاته مع الثور الأبيض، آملًا أن يوقع الشقاق بينهم كي يأكل من بقاياهم.</a:t>
                      </a:r>
                    </a:p>
                    <a:p>
                      <a:pPr indent="216000" algn="r" rtl="1"/>
                      <a:r>
                        <a:rPr lang="ar-AE" sz="1400" kern="150" dirty="0">
                          <a:effectLst/>
                          <a:latin typeface="Arial" panose="020B0604020202020204" pitchFamily="34" charset="0"/>
                          <a:cs typeface="Arial" panose="020B0604020202020204" pitchFamily="34" charset="0"/>
                        </a:rPr>
                        <a:t>¶ زرع الشك بينهم، ومنذ ذلك الحين انتهت الثقة بينهم؛ فراحوا يرمق بعضهم بعضًا بالعداء والريبة. وحين أقبل الليل، بدلًا من أن يلصقوا مؤخراتهم كما اعتادوا ويوجهوا قرونهم إلى الخارج، جعلوا قرونهم متقابلة إلى الداخل، يراقب بعضهم بعضًا مترقبين أي غدر مفاجئ.</a:t>
                      </a:r>
                    </a:p>
                    <a:p>
                      <a:pPr indent="216000" algn="r" rtl="1"/>
                      <a:r>
                        <a:rPr lang="ar-AE" sz="1400" kern="150" dirty="0">
                          <a:effectLst/>
                          <a:latin typeface="Arial" panose="020B0604020202020204" pitchFamily="34" charset="0"/>
                          <a:cs typeface="Arial" panose="020B0604020202020204" pitchFamily="34" charset="0"/>
                        </a:rPr>
                        <a:t>¶ وفي يوم من الأيام، هجم الأسد على الثور الأسود، فكسر عموده الفقري وحمله وأكله. وفي يوم آخر، هجم على الثور الأحمر، فكسر عموده الفقري وحمله وأكله. وبقي الثور الأبيض وحيدًا تمامًا، كاليتيم: اضربوه، لوجه الله؛ اتركوه، لوجه الله!</a:t>
                      </a:r>
                    </a:p>
                    <a:p>
                      <a:pPr indent="216000" algn="r" rtl="1"/>
                      <a:r>
                        <a:rPr lang="ar-AE" sz="1400" kern="150" dirty="0">
                          <a:effectLst/>
                          <a:latin typeface="Arial" panose="020B0604020202020204" pitchFamily="34" charset="0"/>
                          <a:cs typeface="Arial" panose="020B0604020202020204" pitchFamily="34" charset="0"/>
                        </a:rPr>
                        <a:t>¶ بقي الثور الأبيض هناك يبكي على إخوته ويرتجف خوفًا على جلده. وذهب إلى الذئب يلتمس مشورته. وقال له:</a:t>
                      </a:r>
                    </a:p>
                    <a:p>
                      <a:pPr indent="216000" algn="r" rtl="1"/>
                      <a:r>
                        <a:rPr lang="ar-AE" sz="1400" kern="150" dirty="0">
                          <a:effectLst/>
                          <a:latin typeface="Arial" panose="020B0604020202020204" pitchFamily="34" charset="0"/>
                          <a:cs typeface="Arial" panose="020B0604020202020204" pitchFamily="34" charset="0"/>
                        </a:rPr>
                        <a:t>‑ أستحلفك بالله، انصحني كما نصحت الجمل والخنزيرة، وإلا أكلني الأسد!</a:t>
                      </a:r>
                    </a:p>
                    <a:p>
                      <a:pPr indent="216000" algn="r" rtl="1"/>
                      <a:r>
                        <a:rPr lang="ar-AE" sz="1400" kern="150" dirty="0">
                          <a:effectLst/>
                          <a:latin typeface="Arial" panose="020B0604020202020204" pitchFamily="34" charset="0"/>
                          <a:cs typeface="Arial" panose="020B0604020202020204" pitchFamily="34" charset="0"/>
                        </a:rPr>
                        <a:t>هز الذئب رأسه وأجابه:</a:t>
                      </a:r>
                    </a:p>
                    <a:p>
                      <a:pPr indent="216000" algn="r" rtl="1"/>
                      <a:r>
                        <a:rPr lang="ar-AE" sz="1400" kern="150" dirty="0">
                          <a:effectLst/>
                          <a:latin typeface="Arial" panose="020B0604020202020204" pitchFamily="34" charset="0"/>
                          <a:cs typeface="Arial" panose="020B0604020202020204" pitchFamily="34" charset="0"/>
                        </a:rPr>
                        <a:t>‑ أمرك عسير!</a:t>
                      </a:r>
                    </a:p>
                    <a:p>
                      <a:pPr indent="216000" algn="r" rtl="1"/>
                      <a:r>
                        <a:rPr lang="ar-AE" sz="1400" kern="150" dirty="0">
                          <a:effectLst/>
                          <a:latin typeface="Arial" panose="020B0604020202020204" pitchFamily="34" charset="0"/>
                          <a:cs typeface="Arial" panose="020B0604020202020204" pitchFamily="34" charset="0"/>
                        </a:rPr>
                        <a:t>حاول صاحب الحيل المئة أن يشرح له الأمر، لكن سذاجة الثور كانت مفرطة، فلم يجد الذئب سبيلًا إلى إفهامه. وأخيرًا حذّره قائلًا:</a:t>
                      </a:r>
                    </a:p>
                    <a:p>
                      <a:pPr indent="216000" algn="r" rtl="1"/>
                      <a:r>
                        <a:rPr lang="ar-AE" sz="1400" kern="150" dirty="0">
                          <a:effectLst/>
                          <a:latin typeface="Arial" panose="020B0604020202020204" pitchFamily="34" charset="0"/>
                          <a:cs typeface="Arial" panose="020B0604020202020204" pitchFamily="34" charset="0"/>
                        </a:rPr>
                        <a:t>‑ حين تصادف ملك الحيوانات، قل له الحقيقة.</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830961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014029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ṭikkuk</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taseṭṭa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yesruhmut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tettak-it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tsawleḍ-iyi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yeskiddeb</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uɛerrum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lukan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ẓriɣ</a:t>
                      </a:r>
                      <a:r>
                        <a:rPr lang="fr-FR" sz="1100" kern="1200" dirty="0">
                          <a:solidFill>
                            <a:schemeClr val="tx1"/>
                          </a:solidFill>
                          <a:effectLst/>
                          <a:latin typeface="+mn-lt"/>
                          <a:ea typeface="+mn-ea"/>
                          <a:cs typeface="+mn-cs"/>
                        </a:rPr>
                        <a:t> ad k-id-</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rwileɣ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-w! Yenna-yi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Tselkeḍ</a:t>
                      </a:r>
                      <a:r>
                        <a:rPr lang="fr-FR" sz="1100" kern="1200" dirty="0">
                          <a:solidFill>
                            <a:schemeClr val="tx1"/>
                          </a:solidFill>
                          <a:effectLst/>
                          <a:latin typeface="+mn-lt"/>
                          <a:ea typeface="+mn-ea"/>
                          <a:cs typeface="+mn-cs"/>
                        </a:rPr>
                        <a:t> a bu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tessineḍ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teskiddbeḍ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tesserbaḥ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tessukkus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وفي يوم من الأيام، في فصلٍ بين الصيف والربيع، حين اخضرّت الدنيا وأزهرت وكان طائر الوقواق ينادي، لسعت ذبابة الخيل الثور الأبيض. فانطلق مذعورًا، وذيله مرفوع عاليًا في الهواء، يخور ويركض بلا هدى؛ يدفعه وادٍ إلى وادٍ، وشِعب إلى شِعب، وحافة إلى حافة، حتى ارتطم بالأسد مباشرة من غير أن يتوقع وجوده.</a:t>
                      </a:r>
                    </a:p>
                    <a:p>
                      <a:pPr indent="216000" algn="r" rtl="1"/>
                      <a:r>
                        <a:rPr lang="ar-AE" sz="1400" kern="150" dirty="0">
                          <a:effectLst/>
                          <a:latin typeface="Arial" panose="020B0604020202020204" pitchFamily="34" charset="0"/>
                          <a:cs typeface="Arial" panose="020B0604020202020204" pitchFamily="34" charset="0"/>
                        </a:rPr>
                        <a:t>فقال له الأسد:</a:t>
                      </a:r>
                    </a:p>
                    <a:p>
                      <a:pPr indent="216000" algn="r" rtl="1"/>
                      <a:r>
                        <a:rPr lang="ar-AE" sz="1400" kern="150" dirty="0">
                          <a:effectLst/>
                          <a:latin typeface="Arial" panose="020B0604020202020204" pitchFamily="34" charset="0"/>
                          <a:cs typeface="Arial" panose="020B0604020202020204" pitchFamily="34" charset="0"/>
                        </a:rPr>
                        <a:t>‑ ما الذي جاء بك إلى هنا يا ابن البقرة؟ لا بد أن أمرًا سيئًا يُدبّر فوق رأسك! لكنني أعاهدك بالله ألا آكلك إن قلت لي الحقيقة.</a:t>
                      </a:r>
                    </a:p>
                    <a:p>
                      <a:pPr indent="216000" algn="r" rtl="1"/>
                      <a:r>
                        <a:rPr lang="ar-AE" sz="1400" kern="150" dirty="0">
                          <a:effectLst/>
                          <a:latin typeface="Arial" panose="020B0604020202020204" pitchFamily="34" charset="0"/>
                          <a:cs typeface="Arial" panose="020B0604020202020204" pitchFamily="34" charset="0"/>
                        </a:rPr>
                        <a:t>ظن الأسد أنه سيوقعه في الكذب ثم يأكله. فأجابه البريء الساذج:</a:t>
                      </a:r>
                    </a:p>
                    <a:p>
                      <a:pPr indent="216000" algn="r" rtl="1"/>
                      <a:r>
                        <a:rPr lang="ar-AE" sz="1400" kern="150" dirty="0">
                          <a:effectLst/>
                          <a:latin typeface="Arial" panose="020B0604020202020204" pitchFamily="34" charset="0"/>
                          <a:cs typeface="Arial" panose="020B0604020202020204" pitchFamily="34" charset="0"/>
                        </a:rPr>
                        <a:t>‑ بحق هذا… وهذا… يا ملك الحيوانات، لو علمت أنني سأجدك هنا، لما غادرت بيتي أبدًا، حتى لو أكلت ذبابة الخيل كبدي! قال لي السيد امحمد: قل له الحقيقة!</a:t>
                      </a:r>
                    </a:p>
                    <a:p>
                      <a:pPr indent="216000" algn="r" rtl="1"/>
                      <a:r>
                        <a:rPr lang="ar-AE" sz="1400" kern="150" dirty="0">
                          <a:effectLst/>
                          <a:latin typeface="Arial" panose="020B0604020202020204" pitchFamily="34" charset="0"/>
                          <a:cs typeface="Arial" panose="020B0604020202020204" pitchFamily="34" charset="0"/>
                        </a:rPr>
                        <a:t>زأر الأسد كالزوبعة وقال له:</a:t>
                      </a:r>
                    </a:p>
                    <a:p>
                      <a:pPr indent="216000" algn="r" rtl="1"/>
                      <a:r>
                        <a:rPr lang="ar-AE" sz="1400" kern="150" dirty="0">
                          <a:effectLst/>
                          <a:latin typeface="Arial" panose="020B0604020202020204" pitchFamily="34" charset="0"/>
                          <a:cs typeface="Arial" panose="020B0604020202020204" pitchFamily="34" charset="0"/>
                        </a:rPr>
                        <a:t>‑ اذهب! لقد أنقذتك سذاجتك يا سيد البسطاء.</a:t>
                      </a:r>
                    </a:p>
                    <a:p>
                      <a:pPr indent="216000" algn="r" rtl="1"/>
                      <a:r>
                        <a:rPr lang="ar-AE" sz="1400" kern="150" dirty="0">
                          <a:effectLst/>
                          <a:latin typeface="Arial" panose="020B0604020202020204" pitchFamily="34" charset="0"/>
                          <a:cs typeface="Arial" panose="020B0604020202020204" pitchFamily="34" charset="0"/>
                        </a:rPr>
                        <a:t>¶ إن كنت لا تعرف الكذب، فقل الحقيقة؛ فالبساطة تجلب الحظ الطيب أو تنجي من الهلاك.</a:t>
                      </a:r>
                      <a:endParaRPr lang="en-GB" sz="1400" dirty="0">
                        <a:latin typeface="Cascadia Mono" panose="020B0609020000020004" pitchFamily="49" charset="0"/>
                        <a:cs typeface="Cascadia Mono" panose="020B0609020000020004" pitchFamily="49"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14437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88419352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yifis</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والذئب والضبع</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tent-iger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la t-</a:t>
                      </a:r>
                      <a:r>
                        <a:rPr lang="fr-FR" sz="1100" kern="1200" dirty="0" err="1">
                          <a:solidFill>
                            <a:schemeClr val="tx1"/>
                          </a:solidFill>
                          <a:effectLst/>
                          <a:latin typeface="+mn-lt"/>
                          <a:ea typeface="+mn-ea"/>
                          <a:cs typeface="+mn-cs"/>
                        </a:rPr>
                        <a:t>ttabaɛen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yemṣalaḥ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i sin, </a:t>
                      </a:r>
                      <a:r>
                        <a:rPr lang="fr-FR" sz="1100" kern="1200" dirty="0" err="1">
                          <a:solidFill>
                            <a:schemeClr val="tx1"/>
                          </a:solidFill>
                          <a:effectLst/>
                          <a:latin typeface="+mn-lt"/>
                          <a:ea typeface="+mn-ea"/>
                          <a:cs typeface="+mn-cs"/>
                        </a:rPr>
                        <a:t>iɛahed-iten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ten-yečči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Yya</a:t>
                      </a:r>
                      <a:r>
                        <a:rPr lang="fr-FR" sz="1100" i="1" kern="1200" dirty="0">
                          <a:solidFill>
                            <a:schemeClr val="tx1"/>
                          </a:solidFill>
                          <a:effectLst/>
                          <a:latin typeface="+mn-lt"/>
                          <a:ea typeface="+mn-ea"/>
                          <a:cs typeface="+mn-cs"/>
                        </a:rPr>
                        <a:t>, a </a:t>
                      </a:r>
                      <a:r>
                        <a:rPr lang="fr-FR" sz="1100" i="1" kern="1200" dirty="0" err="1">
                          <a:solidFill>
                            <a:schemeClr val="tx1"/>
                          </a:solidFill>
                          <a:effectLst/>
                          <a:latin typeface="+mn-lt"/>
                          <a:ea typeface="+mn-ea"/>
                          <a:cs typeface="+mn-cs"/>
                        </a:rPr>
                        <a:t>ddib</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nṣafeṛ</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rrbeḥ</a:t>
                      </a:r>
                      <a:r>
                        <a:rPr lang="fr-FR" sz="1100" i="1" kern="1200" dirty="0">
                          <a:solidFill>
                            <a:schemeClr val="tx1"/>
                          </a:solidFill>
                          <a:effectLst/>
                          <a:latin typeface="+mn-lt"/>
                          <a:ea typeface="+mn-ea"/>
                          <a:cs typeface="+mn-cs"/>
                        </a:rPr>
                        <a:t>-ik </a:t>
                      </a:r>
                      <a:r>
                        <a:rPr lang="fr-FR" sz="1100" i="1" kern="1200" dirty="0" err="1">
                          <a:solidFill>
                            <a:schemeClr val="tx1"/>
                          </a:solidFill>
                          <a:effectLst/>
                          <a:latin typeface="+mn-lt"/>
                          <a:ea typeface="+mn-ea"/>
                          <a:cs typeface="+mn-cs"/>
                        </a:rPr>
                        <a:t>iban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fell</a:t>
                      </a:r>
                      <a:r>
                        <a:rPr lang="fr-FR" sz="1100" i="1" kern="1200" dirty="0">
                          <a:solidFill>
                            <a:schemeClr val="tx1"/>
                          </a:solidFill>
                          <a:effectLst/>
                          <a:latin typeface="+mn-lt"/>
                          <a:ea typeface="+mn-ea"/>
                          <a:cs typeface="+mn-cs"/>
                        </a:rPr>
                        <a:t>-i:</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nɣiɣ</a:t>
                      </a:r>
                      <a:r>
                        <a:rPr lang="fr-FR" sz="1100" i="1" kern="1200" dirty="0">
                          <a:solidFill>
                            <a:schemeClr val="tx1"/>
                          </a:solidFill>
                          <a:effectLst/>
                          <a:latin typeface="+mn-lt"/>
                          <a:ea typeface="+mn-ea"/>
                          <a:cs typeface="+mn-cs"/>
                        </a:rPr>
                        <a:t> si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nɣan</a:t>
                      </a:r>
                      <a:r>
                        <a:rPr lang="fr-FR" sz="1100" i="1" kern="1200" dirty="0">
                          <a:solidFill>
                            <a:schemeClr val="tx1"/>
                          </a:solidFill>
                          <a:effectLst/>
                          <a:latin typeface="+mn-lt"/>
                          <a:ea typeface="+mn-ea"/>
                          <a:cs typeface="+mn-cs"/>
                        </a:rPr>
                        <a:t>-i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-i!</a:t>
                      </a:r>
                    </a:p>
                    <a:p>
                      <a:pPr indent="457200"/>
                      <a:r>
                        <a:rPr lang="en-US" sz="1100" dirty="0"/>
                        <a:t>¶ </a:t>
                      </a:r>
                      <a:r>
                        <a:rPr lang="fr-FR" sz="1100" kern="1200" dirty="0" err="1">
                          <a:solidFill>
                            <a:schemeClr val="tx1"/>
                          </a:solidFill>
                          <a:effectLst/>
                          <a:latin typeface="+mn-lt"/>
                          <a:ea typeface="+mn-ea"/>
                          <a:cs typeface="+mn-cs"/>
                        </a:rPr>
                        <a:t>Cerken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taxerraẓt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ttqeddimen</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yettɣimi-yas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yettruẓu</a:t>
                      </a:r>
                      <a:r>
                        <a:rPr lang="fr-FR" sz="1100" kern="1200" dirty="0">
                          <a:solidFill>
                            <a:schemeClr val="tx1"/>
                          </a:solidFill>
                          <a:effectLst/>
                          <a:latin typeface="+mn-lt"/>
                          <a:ea typeface="+mn-ea"/>
                          <a:cs typeface="+mn-cs"/>
                        </a:rPr>
                        <a:t>-tt. Mi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lmakla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tisigar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Iḍleb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leɛmeṛ-is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لما أدرك الأسد أن كل محاولاته ضد الذئب قد باءت بالفشل، وأن كل فريسة يتركها يأكلها الذئب والضبع، اللذان كانا يتبعانه دائمًا، عقد الصلح معهما. واستحلفهما بالله ألا يأكلهما أبدًا. وقال الأسد للذئب:</a:t>
                      </a:r>
                      <a:endParaRPr lang="ar-AE" sz="1400" i="1" kern="150" dirty="0">
                        <a:effectLst/>
                        <a:latin typeface="Arial" panose="020B0604020202020204" pitchFamily="34" charset="0"/>
                        <a:cs typeface="Arial" panose="020B0604020202020204" pitchFamily="34" charset="0"/>
                      </a:endParaRPr>
                    </a:p>
                    <a:p>
                      <a:pPr indent="216000" algn="r" rtl="1"/>
                      <a:r>
                        <a:rPr lang="ar-AE" sz="1400" i="1" kern="150" dirty="0">
                          <a:effectLst/>
                          <a:latin typeface="Arial" panose="020B0604020202020204" pitchFamily="34" charset="0"/>
                          <a:cs typeface="Arial" panose="020B0604020202020204" pitchFamily="34" charset="0"/>
                        </a:rPr>
                        <a:t>تعال يا ذئب، لنسافر معًا،</a:t>
                      </a:r>
                    </a:p>
                    <a:p>
                      <a:pPr indent="216000" algn="r" rtl="1"/>
                      <a:r>
                        <a:rPr lang="ar-AE" sz="1400" i="1" kern="150" dirty="0">
                          <a:effectLst/>
                          <a:latin typeface="Arial" panose="020B0604020202020204" pitchFamily="34" charset="0"/>
                          <a:cs typeface="Arial" panose="020B0604020202020204" pitchFamily="34" charset="0"/>
                        </a:rPr>
                        <a:t>ونصيبك مضمون معي:</a:t>
                      </a:r>
                    </a:p>
                    <a:p>
                      <a:pPr indent="216000" algn="r" rtl="1"/>
                      <a:r>
                        <a:rPr lang="ar-AE" sz="1400" i="1" kern="150" dirty="0">
                          <a:effectLst/>
                          <a:latin typeface="Arial" panose="020B0604020202020204" pitchFamily="34" charset="0"/>
                          <a:cs typeface="Arial" panose="020B0604020202020204" pitchFamily="34" charset="0"/>
                        </a:rPr>
                        <a:t>إن قتلتُ أحدًا، أكلتَ أنت؛</a:t>
                      </a:r>
                    </a:p>
                    <a:p>
                      <a:pPr indent="216000" algn="r" rtl="1"/>
                      <a:r>
                        <a:rPr lang="ar-AE" sz="1400" i="1" kern="150" dirty="0">
                          <a:effectLst/>
                          <a:latin typeface="Arial" panose="020B0604020202020204" pitchFamily="34" charset="0"/>
                          <a:cs typeface="Arial" panose="020B0604020202020204" pitchFamily="34" charset="0"/>
                        </a:rPr>
                        <a:t>وإن قتلني أحد، أكلتني أنت!</a:t>
                      </a:r>
                    </a:p>
                    <a:p>
                      <a:pPr indent="216000" algn="r" rtl="1"/>
                      <a:r>
                        <a:rPr lang="ar-AE" sz="1400" kern="150" dirty="0">
                          <a:effectLst/>
                          <a:latin typeface="Arial" panose="020B0604020202020204" pitchFamily="34" charset="0"/>
                          <a:cs typeface="Arial" panose="020B0604020202020204" pitchFamily="34" charset="0"/>
                        </a:rPr>
                        <a:t>¶ ومنذ ذلك اليوم، اجتمعوا على السلب والنهب: كانا يطردان الفريسة نحوه، فينتظرها في مكانه وينقض عليها. وحين يفرغ من الأكل، يأكلان ما تبقى. واستمروا على هذا الحال مدة من الزمن.</a:t>
                      </a:r>
                    </a:p>
                    <a:p>
                      <a:pPr indent="216000" algn="r" rtl="1"/>
                      <a:r>
                        <a:rPr lang="ar-AE" sz="1400" kern="150" dirty="0">
                          <a:effectLst/>
                          <a:latin typeface="Arial" panose="020B0604020202020204" pitchFamily="34" charset="0"/>
                          <a:cs typeface="Arial" panose="020B0604020202020204" pitchFamily="34" charset="0"/>
                        </a:rPr>
                        <a:t>¶ وفي يوم من الأيام، قتلوا كبشًا ونعجة وحملًا صغيرًا. وطالب الضبع بتقسيم الغنيمة. فقال له الأسد:</a:t>
                      </a:r>
                    </a:p>
                    <a:p>
                      <a:pPr indent="216000" algn="r" rtl="1"/>
                      <a:r>
                        <a:rPr lang="ar-AE" sz="1400" kern="150" dirty="0">
                          <a:effectLst/>
                          <a:latin typeface="Arial" panose="020B0604020202020204" pitchFamily="34" charset="0"/>
                          <a:cs typeface="Arial" panose="020B0604020202020204" pitchFamily="34" charset="0"/>
                        </a:rPr>
                        <a:t>‑ اقسمها بيننا.</a:t>
                      </a:r>
                    </a:p>
                    <a:p>
                      <a:pPr indent="216000" algn="r" rtl="1"/>
                      <a:r>
                        <a:rPr lang="ar-AE" sz="1400" kern="150" dirty="0">
                          <a:effectLst/>
                          <a:latin typeface="Arial" panose="020B0604020202020204" pitchFamily="34" charset="0"/>
                          <a:cs typeface="Arial" panose="020B0604020202020204" pitchFamily="34" charset="0"/>
                        </a:rPr>
                        <a:t>فقسمها الضبع: الكبش للأسد، والنعجة لنفسه، والحمل للذئب. فضربه الأسد، وغاصت مخالبه عميقًا في كبده، فزهقت روحه. ثم قال للذئب:</a:t>
                      </a:r>
                    </a:p>
                    <a:p>
                      <a:pPr indent="216000" algn="r" rtl="1"/>
                      <a:r>
                        <a:rPr lang="ar-AE" sz="1400" kern="150" dirty="0">
                          <a:effectLst/>
                          <a:latin typeface="Arial" panose="020B0604020202020204" pitchFamily="34" charset="0"/>
                          <a:cs typeface="Arial" panose="020B0604020202020204" pitchFamily="34" charset="0"/>
                        </a:rPr>
                        <a:t>‑ تولَّ أنت التقسيم.</a:t>
                      </a:r>
                      <a:endParaRPr lang="fr-FR" sz="1400" kern="15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56113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F2F6B-4852-3567-B55C-B019D209FB26}"/>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C5407BC-13C6-20A1-036C-816F9E30B9DD}"/>
              </a:ext>
            </a:extLst>
          </p:cNvPr>
          <p:cNvGraphicFramePr>
            <a:graphicFrameLocks noGrp="1"/>
          </p:cNvGraphicFramePr>
          <p:nvPr>
            <p:extLst>
              <p:ext uri="{D42A27DB-BD31-4B8C-83A1-F6EECF244321}">
                <p14:modId xmlns:p14="http://schemas.microsoft.com/office/powerpoint/2010/main" val="143166956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tsefsuḍ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tfetreḍ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Wi k-</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D </a:t>
                      </a:r>
                      <a:r>
                        <a:rPr lang="fr-FR" sz="1100" kern="1200" dirty="0" err="1">
                          <a:solidFill>
                            <a:schemeClr val="tx1"/>
                          </a:solidFill>
                          <a:effectLst/>
                          <a:latin typeface="+mn-lt"/>
                          <a:ea typeface="+mn-ea"/>
                          <a:cs typeface="+mn-cs"/>
                        </a:rPr>
                        <a:t>accaren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yentan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فقال له الذئب: يا ملك الحيوانات، أما الحمل فتفتتح به طعامك؛ وأما الكبش فتتناوله على الغداء؛ وأما النعجة فتأكلها على العشاء.</a:t>
                      </a:r>
                    </a:p>
                    <a:p>
                      <a:pPr indent="216000" algn="r" rtl="1"/>
                      <a:r>
                        <a:rPr lang="ar-AE" sz="1400" kern="150" dirty="0">
                          <a:effectLst/>
                          <a:latin typeface="Arial" panose="020B0604020202020204" pitchFamily="34" charset="0"/>
                          <a:cs typeface="Arial" panose="020B0604020202020204" pitchFamily="34" charset="0"/>
                        </a:rPr>
                        <a:t>‑ فقال له الأسد: من أين لك كل هذه الحكمة يا امحمد؟</a:t>
                      </a:r>
                    </a:p>
                    <a:p>
                      <a:pPr indent="216000" algn="r" rtl="1"/>
                      <a:r>
                        <a:rPr lang="ar-AE" sz="1400" kern="150" dirty="0">
                          <a:effectLst/>
                          <a:latin typeface="Arial" panose="020B0604020202020204" pitchFamily="34" charset="0"/>
                          <a:cs typeface="Arial" panose="020B0604020202020204" pitchFamily="34" charset="0"/>
                        </a:rPr>
                        <a:t>‑ فأجابه: من مخالِبك التي غرستها في كبد الضبع!</a:t>
                      </a:r>
                      <a:endParaRPr lang="fr-FR" sz="1400" kern="150" dirty="0">
                        <a:effectLst/>
                        <a:latin typeface="Arial" panose="020B0604020202020204" pitchFamily="34" charset="0"/>
                        <a:cs typeface="Arial" panose="020B0604020202020204" pitchFamily="34" charset="0"/>
                      </a:endParaRP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8259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4577699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userdun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الأسد والذئب والبغل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Ɛuhden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ččin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idewweṛ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yellemlem</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tedhen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Mi </a:t>
                      </a:r>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imeddukal-is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yimi-nsen</a:t>
                      </a:r>
                      <a:r>
                        <a:rPr lang="fr-FR" sz="1100" kern="1200" dirty="0">
                          <a:solidFill>
                            <a:schemeClr val="tx1"/>
                          </a:solidFill>
                          <a:effectLst/>
                          <a:latin typeface="+mn-lt"/>
                          <a:ea typeface="+mn-ea"/>
                          <a:cs typeface="+mn-cs"/>
                        </a:rPr>
                        <a:t> aman. </a:t>
                      </a:r>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mcawaṛen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nemmut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isebbel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selken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Tura,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tagmart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xali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aɛudiw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Ini-</a:t>
                      </a:r>
                      <a:r>
                        <a:rPr lang="fr-FR" sz="1100" kern="1200" dirty="0" err="1">
                          <a:solidFill>
                            <a:schemeClr val="tx1"/>
                          </a:solidFill>
                          <a:effectLst/>
                          <a:latin typeface="+mn-lt"/>
                          <a:ea typeface="+mn-ea"/>
                          <a:cs typeface="+mn-cs"/>
                        </a:rPr>
                        <a:t>yaneɣ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Serrḥet-iyi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err="1">
                          <a:solidFill>
                            <a:schemeClr val="tx1"/>
                          </a:solidFill>
                          <a:effectLst/>
                          <a:latin typeface="+mn-lt"/>
                          <a:ea typeface="+mn-ea"/>
                          <a:cs typeface="+mn-cs"/>
                        </a:rPr>
                        <a:t>Cubkeɣ-kwen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awiɣ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Serrḥen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واصل الأسد والذئب سيرهما مدة من الزمن، وصادفا البغل.</a:t>
                      </a:r>
                    </a:p>
                    <a:p>
                      <a:pPr indent="216000" algn="r" rtl="1"/>
                      <a:r>
                        <a:rPr lang="ar-AE" sz="1400" kern="150" dirty="0">
                          <a:effectLst/>
                          <a:latin typeface="Arial" panose="020B0604020202020204" pitchFamily="34" charset="0"/>
                          <a:cs typeface="Arial" panose="020B0604020202020204" pitchFamily="34" charset="0"/>
                        </a:rPr>
                        <a:t>فعاهداه بالله ألا يأكلاه، ومنذ ذلك الحين سافروا معًا.</a:t>
                      </a:r>
                    </a:p>
                    <a:p>
                      <a:pPr indent="216000" algn="r" rtl="1"/>
                      <a:r>
                        <a:rPr lang="ar-AE" sz="1400" kern="150" dirty="0">
                          <a:effectLst/>
                          <a:latin typeface="Arial" panose="020B0604020202020204" pitchFamily="34" charset="0"/>
                          <a:cs typeface="Arial" panose="020B0604020202020204" pitchFamily="34" charset="0"/>
                        </a:rPr>
                        <a:t>¶ أكل البغل من العشب حتى شبع؛ فاستدار جسمه وامتلأ، وصار الدهن ينزلق عن وبره اللامع.</a:t>
                      </a:r>
                      <a:r>
                        <a:rPr lang="fr-FR"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كلما نظر إليه رفيقاه، سال لعابهما.</a:t>
                      </a:r>
                      <a:r>
                        <a:rPr lang="en-US" sz="1400" kern="150" dirty="0">
                          <a:effectLst/>
                          <a:latin typeface="Arial" panose="020B0604020202020204" pitchFamily="34" charset="0"/>
                          <a:cs typeface="Arial" panose="020B0604020202020204" pitchFamily="34" charset="0"/>
                        </a:rPr>
                        <a:t> </a:t>
                      </a:r>
                      <a:r>
                        <a:rPr lang="ar-AE" sz="1400" kern="150" dirty="0">
                          <a:effectLst/>
                          <a:latin typeface="Arial" panose="020B0604020202020204" pitchFamily="34" charset="0"/>
                          <a:cs typeface="Arial" panose="020B0604020202020204" pitchFamily="34" charset="0"/>
                        </a:rPr>
                        <a:t>¶ وفي النهاية تآمرا عليه ليأكلاه، ناقضين عهود الله. فقال له الذئب:</a:t>
                      </a:r>
                    </a:p>
                    <a:p>
                      <a:pPr indent="216000" algn="r" rtl="1"/>
                      <a:r>
                        <a:rPr lang="ar-AE" sz="1400" kern="150" dirty="0">
                          <a:effectLst/>
                          <a:latin typeface="Arial" panose="020B0604020202020204" pitchFamily="34" charset="0"/>
                          <a:cs typeface="Arial" panose="020B0604020202020204" pitchFamily="34" charset="0"/>
                        </a:rPr>
                        <a:t>‑ نحن نموت جوعًا؛ لا بد أن يضحّي أحدنا بنفسه لينجو الآخران! لذلك، سنأكل من كان أصلُه خبيثًا بيننا.</a:t>
                      </a:r>
                    </a:p>
                    <a:p>
                      <a:pPr indent="216000" algn="r" rtl="1"/>
                      <a:r>
                        <a:rPr lang="ar-AE" sz="1400" kern="150" dirty="0">
                          <a:effectLst/>
                          <a:latin typeface="Arial" panose="020B0604020202020204" pitchFamily="34" charset="0"/>
                          <a:cs typeface="Arial" panose="020B0604020202020204" pitchFamily="34" charset="0"/>
                        </a:rPr>
                        <a:t>فقال الأسد:</a:t>
                      </a:r>
                    </a:p>
                    <a:p>
                      <a:pPr indent="216000" algn="r" rtl="1"/>
                      <a:r>
                        <a:rPr lang="ar-AE" sz="1400" kern="150" dirty="0">
                          <a:effectLst/>
                          <a:latin typeface="Arial" panose="020B0604020202020204" pitchFamily="34" charset="0"/>
                          <a:cs typeface="Arial" panose="020B0604020202020204" pitchFamily="34" charset="0"/>
                        </a:rPr>
                        <a:t>‑ أما أنا، فأبي أسد وأمي لبؤة!</a:t>
                      </a:r>
                    </a:p>
                    <a:p>
                      <a:pPr indent="216000" algn="r" rtl="1"/>
                      <a:r>
                        <a:rPr lang="ar-AE" sz="1400" kern="150" dirty="0">
                          <a:effectLst/>
                          <a:latin typeface="Arial" panose="020B0604020202020204" pitchFamily="34" charset="0"/>
                          <a:cs typeface="Arial" panose="020B0604020202020204" pitchFamily="34" charset="0"/>
                        </a:rPr>
                        <a:t>فقال الذئب مؤيدًا:</a:t>
                      </a:r>
                    </a:p>
                    <a:p>
                      <a:pPr indent="216000" algn="r" rtl="1"/>
                      <a:r>
                        <a:rPr lang="ar-AE" sz="1400" kern="150" dirty="0">
                          <a:effectLst/>
                          <a:latin typeface="Arial" panose="020B0604020202020204" pitchFamily="34" charset="0"/>
                          <a:cs typeface="Arial" panose="020B0604020202020204" pitchFamily="34" charset="0"/>
                        </a:rPr>
                        <a:t>‑ لا نسب أرفع من نسب بيت ملك الحيوانات!</a:t>
                      </a:r>
                    </a:p>
                    <a:p>
                      <a:pPr indent="216000" algn="r" rtl="1"/>
                      <a:r>
                        <a:rPr lang="ar-AE" sz="1400" kern="150" dirty="0">
                          <a:effectLst/>
                          <a:latin typeface="Arial" panose="020B0604020202020204" pitchFamily="34" charset="0"/>
                          <a:cs typeface="Arial" panose="020B0604020202020204" pitchFamily="34" charset="0"/>
                        </a:rPr>
                        <a:t>ثم قال الذئب:</a:t>
                      </a:r>
                    </a:p>
                    <a:p>
                      <a:pPr indent="216000" algn="r" rtl="1"/>
                      <a:r>
                        <a:rPr lang="ar-AE" sz="1400" kern="150" dirty="0">
                          <a:effectLst/>
                          <a:latin typeface="Arial" panose="020B0604020202020204" pitchFamily="34" charset="0"/>
                          <a:cs typeface="Arial" panose="020B0604020202020204" pitchFamily="34" charset="0"/>
                        </a:rPr>
                        <a:t>‑ أما أنا، فأبي ذئب وأمي ذئبة.</a:t>
                      </a:r>
                    </a:p>
                    <a:p>
                      <a:pPr indent="216000" algn="r" rtl="1"/>
                      <a:r>
                        <a:rPr lang="ar-AE" sz="1400" kern="150" dirty="0">
                          <a:effectLst/>
                          <a:latin typeface="Arial" panose="020B0604020202020204" pitchFamily="34" charset="0"/>
                          <a:cs typeface="Arial" panose="020B0604020202020204" pitchFamily="34" charset="0"/>
                        </a:rPr>
                        <a:t>فقال الأسد مؤيدًا:</a:t>
                      </a:r>
                    </a:p>
                    <a:p>
                      <a:pPr indent="216000" algn="r" rtl="1"/>
                      <a:r>
                        <a:rPr lang="ar-AE" sz="1400" kern="150" dirty="0">
                          <a:effectLst/>
                          <a:latin typeface="Arial" panose="020B0604020202020204" pitchFamily="34" charset="0"/>
                          <a:cs typeface="Arial" panose="020B0604020202020204" pitchFamily="34" charset="0"/>
                        </a:rPr>
                        <a:t>‑ يا له من نسب!</a:t>
                      </a:r>
                    </a:p>
                    <a:p>
                      <a:pPr indent="216000" algn="r" rtl="1"/>
                      <a:r>
                        <a:rPr lang="ar-AE" sz="1400" kern="150" dirty="0">
                          <a:effectLst/>
                          <a:latin typeface="Arial" panose="020B0604020202020204" pitchFamily="34" charset="0"/>
                          <a:cs typeface="Arial" panose="020B0604020202020204" pitchFamily="34" charset="0"/>
                        </a:rPr>
                        <a:t>ولم يبقَ سوى البغل، فقال لهما:</a:t>
                      </a:r>
                    </a:p>
                    <a:p>
                      <a:pPr indent="216000" algn="r" rtl="1"/>
                      <a:r>
                        <a:rPr lang="ar-AE" sz="1400" kern="150" dirty="0">
                          <a:effectLst/>
                          <a:latin typeface="Arial" panose="020B0604020202020204" pitchFamily="34" charset="0"/>
                          <a:cs typeface="Arial" panose="020B0604020202020204" pitchFamily="34" charset="0"/>
                        </a:rPr>
                        <a:t>‑ أما أمي ففرس، وخالي حصان؛ لكنني لم أعرف أبي قط. (خاف أن يقول إنه حمار.)</a:t>
                      </a:r>
                    </a:p>
                    <a:p>
                      <a:pPr indent="216000" algn="r" rtl="1"/>
                      <a:r>
                        <a:rPr lang="ar-AE" sz="1400" kern="150" dirty="0">
                          <a:effectLst/>
                          <a:latin typeface="Arial" panose="020B0604020202020204" pitchFamily="34" charset="0"/>
                          <a:cs typeface="Arial" panose="020B0604020202020204" pitchFamily="34" charset="0"/>
                        </a:rPr>
                        <a:t>فقالا له:</a:t>
                      </a:r>
                    </a:p>
                    <a:p>
                      <a:pPr indent="216000" algn="r" rtl="1"/>
                      <a:r>
                        <a:rPr lang="ar-AE" sz="1400" kern="150" dirty="0">
                          <a:effectLst/>
                          <a:latin typeface="Arial" panose="020B0604020202020204" pitchFamily="34" charset="0"/>
                          <a:cs typeface="Arial" panose="020B0604020202020204" pitchFamily="34" charset="0"/>
                        </a:rPr>
                        <a:t>‑ كلا! أخبرنا من أبوك، وإلا أكلناك!</a:t>
                      </a:r>
                    </a:p>
                    <a:p>
                      <a:pPr indent="216000" algn="r" rtl="1"/>
                      <a:r>
                        <a:rPr lang="ar-AE" sz="1400" kern="150" dirty="0">
                          <a:effectLst/>
                          <a:latin typeface="Arial" panose="020B0604020202020204" pitchFamily="34" charset="0"/>
                          <a:cs typeface="Arial" panose="020B0604020202020204" pitchFamily="34" charset="0"/>
                        </a:rPr>
                        <a:t>‑ فأجابهما: اسمحا لي أن أذهب وأسأل عنه. أعاهدكما بالله أنني سأعود وأخبركما بالحقيقة.</a:t>
                      </a:r>
                    </a:p>
                    <a:p>
                      <a:pPr indent="216000" algn="r" rtl="1"/>
                      <a:r>
                        <a:rPr lang="ar-AE" sz="1400" kern="150" dirty="0">
                          <a:effectLst/>
                          <a:latin typeface="Arial" panose="020B0604020202020204" pitchFamily="34" charset="0"/>
                          <a:cs typeface="Arial" panose="020B0604020202020204" pitchFamily="34" charset="0"/>
                        </a:rPr>
                        <a:t>فتركاه يذهب، وانصرف.</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60934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2303323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موت الأسد</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sewwqen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aḥeddad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igerrez</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tasmiṛt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inqec</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yesɣezf</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imddukal-is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t>
                      </a:r>
                      <a:r>
                        <a:rPr lang="fr-FR" sz="1100" kern="1200" dirty="0" err="1">
                          <a:solidFill>
                            <a:schemeClr val="tx1"/>
                          </a:solidFill>
                          <a:effectLst/>
                          <a:latin typeface="+mn-lt"/>
                          <a:ea typeface="+mn-ea"/>
                          <a:cs typeface="+mn-cs"/>
                        </a:rPr>
                        <a:t>anwa</a:t>
                      </a:r>
                      <a:r>
                        <a:rPr lang="fr-FR" sz="1100" kern="1200" dirty="0">
                          <a:solidFill>
                            <a:schemeClr val="tx1"/>
                          </a:solidFill>
                          <a:effectLst/>
                          <a:latin typeface="+mn-lt"/>
                          <a:ea typeface="+mn-ea"/>
                          <a:cs typeface="+mn-cs"/>
                        </a:rPr>
                        <a:t> i d baba-k?</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lexbaṛ-is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-yi-d </a:t>
                      </a:r>
                      <a:r>
                        <a:rPr lang="fr-FR" sz="1100" kern="1200" dirty="0" err="1">
                          <a:solidFill>
                            <a:schemeClr val="tx1"/>
                          </a:solidFill>
                          <a:effectLst/>
                          <a:latin typeface="+mn-lt"/>
                          <a:ea typeface="+mn-ea"/>
                          <a:cs typeface="+mn-cs"/>
                        </a:rPr>
                        <a:t>ttajiṛa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ḍarren-iw</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tebɣam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imawlan-iw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iyi-fkin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tessenḍ</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axencuc-is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yesteɛmel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leɛmaṛa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s </a:t>
                      </a:r>
                      <a:r>
                        <a:rPr lang="fr-FR" sz="1100" kern="1200" dirty="0" err="1">
                          <a:solidFill>
                            <a:schemeClr val="tx1"/>
                          </a:solidFill>
                          <a:effectLst/>
                          <a:latin typeface="+mn-lt"/>
                          <a:ea typeface="+mn-ea"/>
                          <a:cs typeface="+mn-cs"/>
                        </a:rPr>
                        <a:t>ineggura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Werɛad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acekkab</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bu tissas,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txab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a:t>
                      </a:r>
                      <a:r>
                        <a:rPr lang="en-US" sz="1400" dirty="0" err="1"/>
                        <a:t>عِنْدَئِذٍ</a:t>
                      </a:r>
                      <a:r>
                        <a:rPr lang="ar-AE" sz="1400" kern="150" dirty="0">
                          <a:effectLst/>
                          <a:latin typeface="Arial" panose="020B0604020202020204" pitchFamily="34" charset="0"/>
                          <a:cs typeface="Arial" panose="020B0604020202020204" pitchFamily="34" charset="0"/>
                        </a:rPr>
                        <a:t>، أخذ الذئب البغل جانبًا، وتآمرا على رأس الأسد، كي يهوي كحزمة قش أكلها خنزير.</a:t>
                      </a:r>
                    </a:p>
                    <a:p>
                      <a:pPr indent="216000" algn="r" rtl="1"/>
                      <a:r>
                        <a:rPr lang="ar-AE" sz="1400" kern="150" dirty="0">
                          <a:effectLst/>
                          <a:latin typeface="Arial" panose="020B0604020202020204" pitchFamily="34" charset="0"/>
                          <a:cs typeface="Arial" panose="020B0604020202020204" pitchFamily="34" charset="0"/>
                        </a:rPr>
                        <a:t>¶ ذهب البغل إلى حدّاد، فركّب له حدوة جميلة ونقشها، وترك المسامير طويلة بارزة. ثم عاد إلى رفيقيه. فقال له الأسد:</a:t>
                      </a:r>
                    </a:p>
                    <a:p>
                      <a:pPr indent="216000" algn="r" rtl="1"/>
                      <a:r>
                        <a:rPr lang="ar-AE" sz="1400" kern="150" dirty="0">
                          <a:effectLst/>
                          <a:latin typeface="Arial" panose="020B0604020202020204" pitchFamily="34" charset="0"/>
                          <a:cs typeface="Arial" panose="020B0604020202020204" pitchFamily="34" charset="0"/>
                        </a:rPr>
                        <a:t>‑ حسنًا، من يكون أبوك؟</a:t>
                      </a:r>
                    </a:p>
                    <a:p>
                      <a:pPr indent="216000" algn="r" rtl="1"/>
                      <a:r>
                        <a:rPr lang="ar-AE" sz="1400" kern="150" dirty="0">
                          <a:effectLst/>
                          <a:latin typeface="Arial" panose="020B0604020202020204" pitchFamily="34" charset="0"/>
                          <a:cs typeface="Arial" panose="020B0604020202020204" pitchFamily="34" charset="0"/>
                        </a:rPr>
                        <a:t>‑ فأجابه البغل: "لم أجد أي كلمة عنه، لكنه ترك لي نقشًا تحت حوافري؛ إن شئت، فاقرأه.</a:t>
                      </a:r>
                    </a:p>
                    <a:p>
                      <a:pPr indent="216000" algn="r" rtl="1"/>
                      <a:r>
                        <a:rPr lang="ar-AE" sz="1400" kern="150" dirty="0">
                          <a:effectLst/>
                          <a:latin typeface="Arial" panose="020B0604020202020204" pitchFamily="34" charset="0"/>
                          <a:cs typeface="Arial" panose="020B0604020202020204" pitchFamily="34" charset="0"/>
                        </a:rPr>
                        <a:t>فقال الأسد للذئب:</a:t>
                      </a:r>
                    </a:p>
                    <a:p>
                      <a:pPr indent="216000" algn="r" rtl="1"/>
                      <a:r>
                        <a:rPr lang="ar-AE" sz="1400" kern="150" dirty="0">
                          <a:effectLst/>
                          <a:latin typeface="Arial" panose="020B0604020202020204" pitchFamily="34" charset="0"/>
                          <a:cs typeface="Arial" panose="020B0604020202020204" pitchFamily="34" charset="0"/>
                        </a:rPr>
                        <a:t>‑ اقترب واقرأه يا امحمد.</a:t>
                      </a:r>
                    </a:p>
                    <a:p>
                      <a:pPr indent="216000" algn="r" rtl="1"/>
                      <a:r>
                        <a:rPr lang="ar-AE" sz="1400" kern="150" dirty="0">
                          <a:effectLst/>
                          <a:latin typeface="Arial" panose="020B0604020202020204" pitchFamily="34" charset="0"/>
                          <a:cs typeface="Arial" panose="020B0604020202020204" pitchFamily="34" charset="0"/>
                        </a:rPr>
                        <a:t>‑ فأجابه الذئب: يا ملك الحيوانات، كان والداي من الفقراء؛ ولم يرسلاني قط إلى المدرسة. أما أنت، فأنت ابن بيت عريق وتعرف القراءة.</a:t>
                      </a:r>
                    </a:p>
                    <a:p>
                      <a:pPr indent="216000" algn="r" rtl="1"/>
                      <a:r>
                        <a:rPr lang="ar-AE" sz="1400" kern="150" dirty="0">
                          <a:effectLst/>
                          <a:latin typeface="Arial" panose="020B0604020202020204" pitchFamily="34" charset="0"/>
                          <a:cs typeface="Arial" panose="020B0604020202020204" pitchFamily="34" charset="0"/>
                        </a:rPr>
                        <a:t>¶ قرّب الأسد خطمه </a:t>
                      </a:r>
                      <a:r>
                        <a:rPr lang="ar-AE" sz="1400" kern="150">
                          <a:effectLst/>
                          <a:latin typeface="Arial" panose="020B0604020202020204" pitchFamily="34" charset="0"/>
                          <a:cs typeface="Arial" panose="020B0604020202020204" pitchFamily="34" charset="0"/>
                        </a:rPr>
                        <a:t>متظاهرًا بالقراءة؛ </a:t>
                      </a:r>
                      <a:r>
                        <a:rPr lang="ar-AE" sz="1400" kern="150" dirty="0">
                          <a:effectLst/>
                          <a:latin typeface="Arial" panose="020B0604020202020204" pitchFamily="34" charset="0"/>
                          <a:cs typeface="Arial" panose="020B0604020202020204" pitchFamily="34" charset="0"/>
                        </a:rPr>
                        <a:t>فقد حان وقت التنفيذ. ثبت البغل قائمتيه الأماميتين ورفس بقائمتَيه الخلفيتَين؛ فدخلت المسامير مباشرة في دماغ الأسد، فسقط.</a:t>
                      </a:r>
                    </a:p>
                    <a:p>
                      <a:pPr indent="216000" algn="r" rtl="1"/>
                      <a:r>
                        <a:rPr lang="ar-AE" sz="1400" kern="150" dirty="0">
                          <a:effectLst/>
                          <a:latin typeface="Arial" panose="020B0604020202020204" pitchFamily="34" charset="0"/>
                          <a:cs typeface="Arial" panose="020B0604020202020204" pitchFamily="34" charset="0"/>
                        </a:rPr>
                        <a:t>¶ وقبل أن يلفظ الأسد أنفاسه، كان الذئب عند عرقوبه يعضه.</a:t>
                      </a:r>
                    </a:p>
                    <a:p>
                      <a:pPr indent="216000" algn="r" rtl="1"/>
                      <a:r>
                        <a:rPr lang="ar-AE" sz="1400" kern="150" dirty="0">
                          <a:effectLst/>
                          <a:latin typeface="Arial" panose="020B0604020202020204" pitchFamily="34" charset="0"/>
                          <a:cs typeface="Arial" panose="020B0604020202020204" pitchFamily="34" charset="0"/>
                        </a:rPr>
                        <a:t>فقال له الأسد:</a:t>
                      </a:r>
                    </a:p>
                    <a:p>
                      <a:pPr indent="216000" algn="r" rtl="1"/>
                      <a:r>
                        <a:rPr lang="ar-AE" sz="1400" kern="150" dirty="0">
                          <a:effectLst/>
                          <a:latin typeface="Arial" panose="020B0604020202020204" pitchFamily="34" charset="0"/>
                          <a:cs typeface="Arial" panose="020B0604020202020204" pitchFamily="34" charset="0"/>
                        </a:rPr>
                        <a:t>‑ آه! الدنيا لمن يقف قويًا، حتى لو كان أبوه حمارًا!</a:t>
                      </a:r>
                    </a:p>
                    <a:p>
                      <a:pPr indent="216000" algn="r" rtl="1"/>
                      <a:r>
                        <a:rPr lang="ar-AE" sz="1400" kern="150" dirty="0">
                          <a:effectLst/>
                          <a:latin typeface="Arial" panose="020B0604020202020204" pitchFamily="34" charset="0"/>
                          <a:cs typeface="Arial" panose="020B0604020202020204" pitchFamily="34" charset="0"/>
                        </a:rPr>
                        <a:t>¶ وهكذا مات الأسد، سيد الشجاعة وملك الحيوانات؛ قتله البغل، ابن الحمار، وأكلته الذئاب.</a:t>
                      </a:r>
                    </a:p>
                    <a:p>
                      <a:pPr indent="216000" algn="r" rtl="1"/>
                      <a:r>
                        <a:rPr lang="ar-AE" sz="1400" kern="150" dirty="0">
                          <a:effectLst/>
                          <a:latin typeface="Arial" panose="020B0604020202020204" pitchFamily="34" charset="0"/>
                          <a:cs typeface="Arial" panose="020B0604020202020204" pitchFamily="34" charset="0"/>
                        </a:rPr>
                        <a:t>ومنذ ذلك اليوم خربت البلاد.</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280701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3803520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96753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492544618"/>
              </p:ext>
            </p:extLst>
          </p:nvPr>
        </p:nvGraphicFramePr>
        <p:xfrm>
          <a:off x="296561" y="148280"/>
          <a:ext cx="11631828" cy="6831346"/>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 warrac</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إلى الأطفال</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Tamacahut-iw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Sawleɣ</a:t>
                      </a:r>
                      <a:r>
                        <a:rPr lang="fr-FR" sz="1100" kern="1200" dirty="0">
                          <a:solidFill>
                            <a:schemeClr val="tx1"/>
                          </a:solidFill>
                          <a:effectLst/>
                          <a:latin typeface="+mn-lt"/>
                          <a:ea typeface="+mn-ea"/>
                          <a:cs typeface="+mn-cs"/>
                        </a:rPr>
                        <a:t>-tt-id i </a:t>
                      </a:r>
                      <a:r>
                        <a:rPr lang="fr-FR" sz="1100" kern="1200" dirty="0" err="1">
                          <a:solidFill>
                            <a:schemeClr val="tx1"/>
                          </a:solidFill>
                          <a:effectLst/>
                          <a:latin typeface="+mn-lt"/>
                          <a:ea typeface="+mn-ea"/>
                          <a:cs typeface="+mn-cs"/>
                        </a:rPr>
                        <a:t>tarrawt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leǧwad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tesfenǧett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nečča</a:t>
                      </a:r>
                      <a:r>
                        <a:rPr lang="fr-FR" sz="1100" kern="1200" dirty="0">
                          <a:solidFill>
                            <a:schemeClr val="tx1"/>
                          </a:solidFill>
                          <a:effectLst/>
                          <a:latin typeface="+mn-lt"/>
                          <a:ea typeface="+mn-ea"/>
                          <a:cs typeface="+mn-cs"/>
                        </a:rPr>
                        <a:t>-tt;</a:t>
                      </a:r>
                    </a:p>
                    <a:p>
                      <a:pPr indent="457200"/>
                      <a:r>
                        <a:rPr lang="fr-FR" sz="1100" kern="1200" dirty="0">
                          <a:solidFill>
                            <a:schemeClr val="tx1"/>
                          </a:solidFill>
                          <a:effectLst/>
                          <a:latin typeface="+mn-lt"/>
                          <a:ea typeface="+mn-ea"/>
                          <a:cs typeface="+mn-cs"/>
                        </a:rPr>
                        <a:t>Newt-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nerẓa</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aɣ-yeṛḥem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ten-yeḥreq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Tasekkurt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tezreɛ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tineqqict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ijeǧǧigen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Teglalez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Telsa-d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Tkeḥḥel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ṭiṭṭuct-is</a:t>
                      </a:r>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Tezger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tiɣẓert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Teqqen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lḥenni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Tṣubb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takessart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Terkeb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tserdunt-is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yezreɛ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tineqqict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isennanen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Yeglalez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Tedda-d </a:t>
                      </a:r>
                      <a:r>
                        <a:rPr lang="fr-FR" sz="1100" kern="1200" dirty="0" err="1">
                          <a:solidFill>
                            <a:schemeClr val="tx1"/>
                          </a:solidFill>
                          <a:effectLst/>
                          <a:latin typeface="+mn-lt"/>
                          <a:ea typeface="+mn-ea"/>
                          <a:cs typeface="+mn-cs"/>
                        </a:rPr>
                        <a:t>tebḍant-is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Tedderɣel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tṭiṭṭuct-is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tiɣẓert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Tedda-d </a:t>
                      </a:r>
                      <a:r>
                        <a:rPr lang="fr-FR" sz="1100" kern="1200" dirty="0" err="1">
                          <a:solidFill>
                            <a:schemeClr val="tx1"/>
                          </a:solidFill>
                          <a:effectLst/>
                          <a:latin typeface="+mn-lt"/>
                          <a:ea typeface="+mn-ea"/>
                          <a:cs typeface="+mn-cs"/>
                        </a:rPr>
                        <a:t>tmessaṭ-is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Yuli-d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tẓemmumt-is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تسير حكايتي مع النهر، مع النهر:</a:t>
                      </a:r>
                    </a:p>
                    <a:p>
                      <a:pPr indent="216000" algn="r" rtl="1"/>
                      <a:r>
                        <a:rPr lang="ar-AE" sz="1400" kern="150" dirty="0">
                          <a:effectLst/>
                          <a:latin typeface="Arial" panose="020B0604020202020204" pitchFamily="34" charset="0"/>
                          <a:cs typeface="Arial" panose="020B0604020202020204" pitchFamily="34" charset="0"/>
                        </a:rPr>
                        <a:t>وقد رويتها لأطفال النفوس النبيلة.</a:t>
                      </a:r>
                    </a:p>
                    <a:p>
                      <a:pPr indent="216000" algn="r" rtl="1"/>
                      <a:r>
                        <a:rPr lang="ar-AE" sz="1400" kern="150" dirty="0">
                          <a:effectLst/>
                          <a:latin typeface="Arial" panose="020B0604020202020204" pitchFamily="34" charset="0"/>
                          <a:cs typeface="Arial" panose="020B0604020202020204" pitchFamily="34" charset="0"/>
                        </a:rPr>
                        <a:t>سرنا في الطريق، في الطريق،</a:t>
                      </a:r>
                    </a:p>
                    <a:p>
                      <a:pPr indent="216000" algn="r" rtl="1"/>
                      <a:r>
                        <a:rPr lang="ar-AE" sz="1400" kern="150" dirty="0">
                          <a:effectLst/>
                          <a:latin typeface="Arial" panose="020B0604020202020204" pitchFamily="34" charset="0"/>
                          <a:cs typeface="Arial" panose="020B0604020202020204" pitchFamily="34" charset="0"/>
                        </a:rPr>
                        <a:t>فيما اتجه الذئب إلى البرية، إلى البرية:</a:t>
                      </a:r>
                    </a:p>
                    <a:p>
                      <a:pPr indent="216000" algn="r" rtl="1"/>
                      <a:r>
                        <a:rPr lang="ar-AE" sz="1400" kern="150" dirty="0">
                          <a:effectLst/>
                          <a:latin typeface="Arial" panose="020B0604020202020204" pitchFamily="34" charset="0"/>
                          <a:cs typeface="Arial" panose="020B0604020202020204" pitchFamily="34" charset="0"/>
                        </a:rPr>
                        <a:t>رمى لنا فطيرة فأكلناها؛</a:t>
                      </a:r>
                    </a:p>
                    <a:p>
                      <a:pPr indent="216000" algn="r" rtl="1"/>
                      <a:r>
                        <a:rPr lang="ar-AE" sz="1400" kern="150" dirty="0">
                          <a:effectLst/>
                          <a:latin typeface="Arial" panose="020B0604020202020204" pitchFamily="34" charset="0"/>
                          <a:cs typeface="Arial" panose="020B0604020202020204" pitchFamily="34" charset="0"/>
                        </a:rPr>
                        <a:t>ورمينا عليه حجرًا فحطمناه!</a:t>
                      </a:r>
                    </a:p>
                    <a:p>
                      <a:pPr indent="216000" algn="r" rtl="1"/>
                      <a:r>
                        <a:rPr lang="ar-AE" sz="1400" kern="150" dirty="0">
                          <a:effectLst/>
                          <a:latin typeface="Arial" panose="020B0604020202020204" pitchFamily="34" charset="0"/>
                          <a:cs typeface="Arial" panose="020B0604020202020204" pitchFamily="34" charset="0"/>
                        </a:rPr>
                        <a:t>أما نحن، فليرحمنا الله؛</a:t>
                      </a:r>
                    </a:p>
                    <a:p>
                      <a:pPr indent="216000" algn="r" rtl="1"/>
                      <a:r>
                        <a:rPr lang="ar-AE" sz="1400" kern="150" dirty="0">
                          <a:effectLst/>
                          <a:latin typeface="Arial" panose="020B0604020202020204" pitchFamily="34" charset="0"/>
                          <a:cs typeface="Arial" panose="020B0604020202020204" pitchFamily="34" charset="0"/>
                        </a:rPr>
                        <a:t>وأما الذئاب، فليحرقها الله!</a:t>
                      </a:r>
                    </a:p>
                    <a:p>
                      <a:pPr indent="216000" algn="r" rtl="1"/>
                      <a:r>
                        <a:rPr lang="ar-AE" sz="1400" kern="150" dirty="0">
                          <a:effectLst/>
                          <a:latin typeface="Arial" panose="020B0604020202020204" pitchFamily="34" charset="0"/>
                          <a:cs typeface="Arial" panose="020B0604020202020204" pitchFamily="34" charset="0"/>
                        </a:rPr>
                        <a:t>¶ زرعت الحجلة قطعة أرض صغيرة،</a:t>
                      </a:r>
                    </a:p>
                    <a:p>
                      <a:pPr indent="216000" algn="r" rtl="1"/>
                      <a:r>
                        <a:rPr lang="ar-AE" sz="1400" kern="150" dirty="0">
                          <a:effectLst/>
                          <a:latin typeface="Arial" panose="020B0604020202020204" pitchFamily="34" charset="0"/>
                          <a:cs typeface="Arial" panose="020B0604020202020204" pitchFamily="34" charset="0"/>
                        </a:rPr>
                        <a:t>فأنبتت أزهارًا:</a:t>
                      </a:r>
                    </a:p>
                    <a:p>
                      <a:pPr indent="216000" algn="r" rtl="1"/>
                      <a:r>
                        <a:rPr lang="ar-AE" sz="1400" kern="150" dirty="0">
                          <a:effectLst/>
                          <a:latin typeface="Arial" panose="020B0604020202020204" pitchFamily="34" charset="0"/>
                          <a:cs typeface="Arial" panose="020B0604020202020204" pitchFamily="34" charset="0"/>
                        </a:rPr>
                        <a:t>تقلبت وتمددت فيها،</a:t>
                      </a:r>
                    </a:p>
                    <a:p>
                      <a:pPr indent="216000" algn="r" rtl="1"/>
                      <a:r>
                        <a:rPr lang="ar-AE" sz="1400" kern="150" dirty="0">
                          <a:effectLst/>
                          <a:latin typeface="Arial" panose="020B0604020202020204" pitchFamily="34" charset="0"/>
                          <a:cs typeface="Arial" panose="020B0604020202020204" pitchFamily="34" charset="0"/>
                        </a:rPr>
                        <a:t>وتزّينت كالعروس.</a:t>
                      </a:r>
                    </a:p>
                    <a:p>
                      <a:pPr indent="216000" algn="r" rtl="1"/>
                      <a:r>
                        <a:rPr lang="ar-AE" sz="1400" kern="150" dirty="0">
                          <a:effectLst/>
                          <a:latin typeface="Arial" panose="020B0604020202020204" pitchFamily="34" charset="0"/>
                          <a:cs typeface="Arial" panose="020B0604020202020204" pitchFamily="34" charset="0"/>
                        </a:rPr>
                        <a:t>رفعت بصرها نحو السماء،</a:t>
                      </a:r>
                    </a:p>
                    <a:p>
                      <a:pPr indent="216000" algn="r" rtl="1"/>
                      <a:r>
                        <a:rPr lang="ar-AE" sz="1400" kern="150" dirty="0">
                          <a:effectLst/>
                          <a:latin typeface="Arial" panose="020B0604020202020204" pitchFamily="34" charset="0"/>
                          <a:cs typeface="Arial" panose="020B0604020202020204" pitchFamily="34" charset="0"/>
                        </a:rPr>
                        <a:t>فكحّلت عينها الحلوة.</a:t>
                      </a:r>
                    </a:p>
                    <a:p>
                      <a:pPr indent="216000" algn="r" rtl="1"/>
                      <a:r>
                        <a:rPr lang="ar-AE" sz="1400" kern="150" dirty="0">
                          <a:effectLst/>
                          <a:latin typeface="Arial" panose="020B0604020202020204" pitchFamily="34" charset="0"/>
                          <a:cs typeface="Arial" panose="020B0604020202020204" pitchFamily="34" charset="0"/>
                        </a:rPr>
                        <a:t>عبرت جدول الجبل،</a:t>
                      </a:r>
                    </a:p>
                    <a:p>
                      <a:pPr indent="216000" algn="r" rtl="1"/>
                      <a:r>
                        <a:rPr lang="ar-AE" sz="1400" kern="150" dirty="0">
                          <a:effectLst/>
                          <a:latin typeface="Arial" panose="020B0604020202020204" pitchFamily="34" charset="0"/>
                          <a:cs typeface="Arial" panose="020B0604020202020204" pitchFamily="34" charset="0"/>
                        </a:rPr>
                        <a:t>فحنّت قدميها.</a:t>
                      </a:r>
                    </a:p>
                    <a:p>
                      <a:pPr indent="216000" algn="r" rtl="1"/>
                      <a:r>
                        <a:rPr lang="ar-AE" sz="1400" kern="150" dirty="0">
                          <a:effectLst/>
                          <a:latin typeface="Arial" panose="020B0604020202020204" pitchFamily="34" charset="0"/>
                          <a:cs typeface="Arial" panose="020B0604020202020204" pitchFamily="34" charset="0"/>
                        </a:rPr>
                        <a:t>ونزلت المنحدر،</a:t>
                      </a:r>
                    </a:p>
                    <a:p>
                      <a:pPr indent="216000" algn="r" rtl="1"/>
                      <a:r>
                        <a:rPr lang="ar-AE" sz="1400" kern="150" dirty="0">
                          <a:effectLst/>
                          <a:latin typeface="Arial" panose="020B0604020202020204" pitchFamily="34" charset="0"/>
                          <a:cs typeface="Arial" panose="020B0604020202020204" pitchFamily="34" charset="0"/>
                        </a:rPr>
                        <a:t>راكبة بغلتها.</a:t>
                      </a:r>
                    </a:p>
                    <a:p>
                      <a:pPr indent="216000" algn="r" rtl="1"/>
                      <a:r>
                        <a:rPr lang="ar-AE" sz="1400" kern="150" dirty="0">
                          <a:effectLst/>
                          <a:latin typeface="Arial" panose="020B0604020202020204" pitchFamily="34" charset="0"/>
                          <a:cs typeface="Arial" panose="020B0604020202020204" pitchFamily="34" charset="0"/>
                        </a:rPr>
                        <a:t>¶ زرع الذئب قطعة أرض صغيرة،</a:t>
                      </a:r>
                    </a:p>
                    <a:p>
                      <a:pPr indent="216000" algn="r" rtl="1"/>
                      <a:r>
                        <a:rPr lang="ar-AE" sz="1400" kern="150" dirty="0">
                          <a:effectLst/>
                          <a:latin typeface="Arial" panose="020B0604020202020204" pitchFamily="34" charset="0"/>
                          <a:cs typeface="Arial" panose="020B0604020202020204" pitchFamily="34" charset="0"/>
                        </a:rPr>
                        <a:t>فأنبتت أشواكًا:</a:t>
                      </a:r>
                    </a:p>
                    <a:p>
                      <a:pPr indent="216000" algn="r" rtl="1"/>
                      <a:r>
                        <a:rPr lang="ar-AE" sz="1400" kern="150" dirty="0">
                          <a:effectLst/>
                          <a:latin typeface="Arial" panose="020B0604020202020204" pitchFamily="34" charset="0"/>
                          <a:cs typeface="Arial" panose="020B0604020202020204" pitchFamily="34" charset="0"/>
                        </a:rPr>
                        <a:t>تقلب فيها وتمدد،</a:t>
                      </a:r>
                    </a:p>
                    <a:p>
                      <a:pPr indent="216000" algn="r" rtl="1"/>
                      <a:r>
                        <a:rPr lang="ar-AE" sz="1400" kern="150" dirty="0">
                          <a:effectLst/>
                          <a:latin typeface="Arial" panose="020B0604020202020204" pitchFamily="34" charset="0"/>
                          <a:cs typeface="Arial" panose="020B0604020202020204" pitchFamily="34" charset="0"/>
                        </a:rPr>
                        <a:t>فانسَلخ جلده.</a:t>
                      </a:r>
                    </a:p>
                    <a:p>
                      <a:pPr indent="216000" algn="r" rtl="1"/>
                      <a:r>
                        <a:rPr lang="ar-AE" sz="1400" kern="150" dirty="0">
                          <a:effectLst/>
                          <a:latin typeface="Arial" panose="020B0604020202020204" pitchFamily="34" charset="0"/>
                          <a:cs typeface="Arial" panose="020B0604020202020204" pitchFamily="34" charset="0"/>
                        </a:rPr>
                        <a:t>ورفع بصره نحو السماء،</a:t>
                      </a:r>
                    </a:p>
                    <a:p>
                      <a:pPr indent="216000" algn="r" rtl="1"/>
                      <a:r>
                        <a:rPr lang="ar-AE" sz="1400" kern="150" dirty="0">
                          <a:effectLst/>
                          <a:latin typeface="Arial" panose="020B0604020202020204" pitchFamily="34" charset="0"/>
                          <a:cs typeface="Arial" panose="020B0604020202020204" pitchFamily="34" charset="0"/>
                        </a:rPr>
                        <a:t>فعميت عينه الحلوة.</a:t>
                      </a:r>
                    </a:p>
                    <a:p>
                      <a:pPr indent="216000" algn="r" rtl="1"/>
                      <a:r>
                        <a:rPr lang="ar-AE" sz="1400" kern="150" dirty="0">
                          <a:effectLst/>
                          <a:latin typeface="Arial" panose="020B0604020202020204" pitchFamily="34" charset="0"/>
                          <a:cs typeface="Arial" panose="020B0604020202020204" pitchFamily="34" charset="0"/>
                        </a:rPr>
                        <a:t>وعبر جدول الجبل،</a:t>
                      </a:r>
                    </a:p>
                    <a:p>
                      <a:pPr indent="216000" algn="r" rtl="1"/>
                      <a:r>
                        <a:rPr lang="ar-AE" sz="1400" kern="150" dirty="0">
                          <a:effectLst/>
                          <a:latin typeface="Arial" panose="020B0604020202020204" pitchFamily="34" charset="0"/>
                          <a:cs typeface="Arial" panose="020B0604020202020204" pitchFamily="34" charset="0"/>
                        </a:rPr>
                        <a:t>فانتُزع فخذه.</a:t>
                      </a:r>
                    </a:p>
                    <a:p>
                      <a:pPr indent="216000" algn="r" rtl="1"/>
                      <a:r>
                        <a:rPr lang="ar-AE" sz="1400" kern="150" dirty="0">
                          <a:effectLst/>
                          <a:latin typeface="Arial" panose="020B0604020202020204" pitchFamily="34" charset="0"/>
                          <a:cs typeface="Arial" panose="020B0604020202020204" pitchFamily="34" charset="0"/>
                        </a:rPr>
                        <a:t>وصعد المنحدر الوعر،</a:t>
                      </a:r>
                    </a:p>
                    <a:p>
                      <a:pPr indent="216000" algn="r" rtl="1"/>
                      <a:r>
                        <a:rPr lang="ar-AE" sz="1400" kern="150" dirty="0">
                          <a:effectLst/>
                          <a:latin typeface="Arial" panose="020B0604020202020204" pitchFamily="34" charset="0"/>
                          <a:cs typeface="Arial" panose="020B0604020202020204" pitchFamily="34" charset="0"/>
                        </a:rPr>
                        <a:t>فانفجر خطمه.</a:t>
                      </a:r>
                      <a:endParaRPr lang="en-GB" sz="14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00686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7164320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Lxattima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200" b="1" kern="150" dirty="0">
                          <a:effectLst/>
                          <a:latin typeface="Arial" panose="020B0604020202020204" pitchFamily="34" charset="0"/>
                          <a:cs typeface="Arial" panose="020B0604020202020204" pitchFamily="34" charset="0"/>
                        </a:rPr>
                        <a:t>الخاتمة</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nelli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imunan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tmeyyzem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taḥkayt</a:t>
                      </a:r>
                      <a:r>
                        <a:rPr lang="fr-FR" sz="1100" kern="1200" dirty="0">
                          <a:solidFill>
                            <a:schemeClr val="tx1"/>
                          </a:solidFill>
                          <a:effectLst/>
                          <a:latin typeface="+mn-lt"/>
                          <a:ea typeface="+mn-ea"/>
                          <a:cs typeface="+mn-cs"/>
                        </a:rPr>
                        <a:t> agi.</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yakk</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lhaɣ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ken-menɛeɣ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tyitwin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lḥekma</a:t>
                      </a:r>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lewqama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Bac ad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yettrus</a:t>
                      </a:r>
                      <a:r>
                        <a:rPr lang="fr-FR" sz="1100" kern="120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leqdeṛ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Iḥader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Fell-as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Izem,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Izemren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ccwal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Ssemrarɣen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ɛad</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Ha kan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yenjaḥ</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w’illan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menwala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Iḍuɛen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ddewla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yettili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alemmam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Ma la </a:t>
                      </a:r>
                      <a:r>
                        <a:rPr lang="fr-FR" sz="1100" kern="1200" dirty="0" err="1">
                          <a:solidFill>
                            <a:schemeClr val="tx1"/>
                          </a:solidFill>
                          <a:effectLst/>
                          <a:latin typeface="+mn-lt"/>
                          <a:ea typeface="+mn-ea"/>
                          <a:cs typeface="+mn-cs"/>
                        </a:rPr>
                        <a:t>yettɛanad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Yesnaɣa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Kulwa </a:t>
                      </a:r>
                      <a:r>
                        <a:rPr lang="fr-FR" sz="1100" kern="1200" dirty="0" err="1">
                          <a:solidFill>
                            <a:schemeClr val="tx1"/>
                          </a:solidFill>
                          <a:effectLst/>
                          <a:latin typeface="+mn-lt"/>
                          <a:ea typeface="+mn-ea"/>
                          <a:cs typeface="+mn-cs"/>
                        </a:rPr>
                        <a:t>yesɣab</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إلى كل من أصغى إليّ،</a:t>
                      </a:r>
                    </a:p>
                    <a:p>
                      <a:pPr indent="216000" algn="r" rtl="1"/>
                      <a:r>
                        <a:rPr lang="ar-AE" sz="1400" kern="150" dirty="0">
                          <a:effectLst/>
                          <a:latin typeface="Arial" panose="020B0604020202020204" pitchFamily="34" charset="0"/>
                          <a:cs typeface="Arial" panose="020B0604020202020204" pitchFamily="34" charset="0"/>
                        </a:rPr>
                        <a:t>يا من لستم غافلين ولا قليلي الفهم،</a:t>
                      </a:r>
                    </a:p>
                    <a:p>
                      <a:pPr indent="216000" algn="r" rtl="1"/>
                      <a:r>
                        <a:rPr lang="ar-AE" sz="1400" kern="150" dirty="0">
                          <a:effectLst/>
                          <a:latin typeface="Arial" panose="020B0604020202020204" pitchFamily="34" charset="0"/>
                          <a:cs typeface="Arial" panose="020B0604020202020204" pitchFamily="34" charset="0"/>
                        </a:rPr>
                        <a:t>تأملوا هذه الحكاية مليًا.</a:t>
                      </a:r>
                    </a:p>
                    <a:p>
                      <a:pPr indent="216000" algn="r" rtl="1"/>
                      <a:r>
                        <a:rPr lang="ar-AE" sz="1400" kern="150" dirty="0">
                          <a:effectLst/>
                          <a:latin typeface="Arial" panose="020B0604020202020204" pitchFamily="34" charset="0"/>
                          <a:cs typeface="Arial" panose="020B0604020202020204" pitchFamily="34" charset="0"/>
                        </a:rPr>
                        <a:t>فلأجلكم جميعًا بذلت جهدي،</a:t>
                      </a:r>
                    </a:p>
                    <a:p>
                      <a:pPr indent="216000" algn="r" rtl="1"/>
                      <a:r>
                        <a:rPr lang="ar-AE" sz="1400" kern="150" dirty="0">
                          <a:effectLst/>
                          <a:latin typeface="Arial" panose="020B0604020202020204" pitchFamily="34" charset="0"/>
                          <a:cs typeface="Arial" panose="020B0604020202020204" pitchFamily="34" charset="0"/>
                        </a:rPr>
                        <a:t>كي أحميكم</a:t>
                      </a:r>
                    </a:p>
                    <a:p>
                      <a:pPr indent="216000" algn="r" rtl="1"/>
                      <a:r>
                        <a:rPr lang="ar-AE" sz="1400" kern="150" dirty="0">
                          <a:effectLst/>
                          <a:latin typeface="Arial" panose="020B0604020202020204" pitchFamily="34" charset="0"/>
                          <a:cs typeface="Arial" panose="020B0604020202020204" pitchFamily="34" charset="0"/>
                        </a:rPr>
                        <a:t>من ضربات الله القاصمة.</a:t>
                      </a:r>
                    </a:p>
                    <a:p>
                      <a:pPr indent="216000" algn="r" rtl="1"/>
                      <a:r>
                        <a:rPr lang="ar-AE" sz="1400" kern="150" dirty="0">
                          <a:effectLst/>
                          <a:latin typeface="Arial" panose="020B0604020202020204" pitchFamily="34" charset="0"/>
                          <a:cs typeface="Arial" panose="020B0604020202020204" pitchFamily="34" charset="0"/>
                        </a:rPr>
                        <a:t>¶ من كان في موضع سلطة،</a:t>
                      </a:r>
                    </a:p>
                    <a:p>
                      <a:pPr indent="216000" algn="r" rtl="1"/>
                      <a:r>
                        <a:rPr lang="ar-AE" sz="1400" kern="150" dirty="0">
                          <a:effectLst/>
                          <a:latin typeface="Arial" panose="020B0604020202020204" pitchFamily="34" charset="0"/>
                          <a:cs typeface="Arial" panose="020B0604020202020204" pitchFamily="34" charset="0"/>
                        </a:rPr>
                        <a:t>فليتصرف في غاية الاستقامة،</a:t>
                      </a:r>
                    </a:p>
                    <a:p>
                      <a:pPr indent="216000" algn="r" rtl="1"/>
                      <a:r>
                        <a:rPr lang="ar-AE" sz="1400" kern="150" dirty="0">
                          <a:effectLst/>
                          <a:latin typeface="Arial" panose="020B0604020202020204" pitchFamily="34" charset="0"/>
                          <a:cs typeface="Arial" panose="020B0604020202020204" pitchFamily="34" charset="0"/>
                        </a:rPr>
                        <a:t>كي يبقى مرفوع المقام ولا يُذل أبدًا.</a:t>
                      </a:r>
                    </a:p>
                    <a:p>
                      <a:pPr indent="216000" algn="r" rtl="1"/>
                      <a:r>
                        <a:rPr lang="ar-AE" sz="1400" kern="150" dirty="0">
                          <a:effectLst/>
                          <a:latin typeface="Arial" panose="020B0604020202020204" pitchFamily="34" charset="0"/>
                          <a:cs typeface="Arial" panose="020B0604020202020204" pitchFamily="34" charset="0"/>
                        </a:rPr>
                        <a:t>وليوقّر ذوي الشأن،</a:t>
                      </a:r>
                    </a:p>
                    <a:p>
                      <a:pPr indent="216000" algn="r" rtl="1"/>
                      <a:r>
                        <a:rPr lang="ar-AE" sz="1400" kern="150" dirty="0">
                          <a:effectLst/>
                          <a:latin typeface="Arial" panose="020B0604020202020204" pitchFamily="34" charset="0"/>
                          <a:cs typeface="Arial" panose="020B0604020202020204" pitchFamily="34" charset="0"/>
                        </a:rPr>
                        <a:t>وليحمِ الضعفاء،</a:t>
                      </a:r>
                    </a:p>
                    <a:p>
                      <a:pPr indent="216000" algn="r" rtl="1"/>
                      <a:r>
                        <a:rPr lang="ar-AE" sz="1400" kern="150" dirty="0">
                          <a:effectLst/>
                          <a:latin typeface="Arial" panose="020B0604020202020204" pitchFamily="34" charset="0"/>
                          <a:cs typeface="Arial" panose="020B0604020202020204" pitchFamily="34" charset="0"/>
                        </a:rPr>
                        <a:t>حتى لا تُرفع عليه يد قط.</a:t>
                      </a:r>
                    </a:p>
                    <a:p>
                      <a:pPr indent="216000" algn="r" rtl="1"/>
                      <a:r>
                        <a:rPr lang="ar-AE" sz="1400" kern="150" dirty="0">
                          <a:effectLst/>
                          <a:latin typeface="Arial" panose="020B0604020202020204" pitchFamily="34" charset="0"/>
                          <a:cs typeface="Arial" panose="020B0604020202020204" pitchFamily="34" charset="0"/>
                        </a:rPr>
                        <a:t>¶ حتى الأسد، كما هو معلوم،</a:t>
                      </a:r>
                    </a:p>
                    <a:p>
                      <a:pPr indent="216000" algn="r" rtl="1"/>
                      <a:r>
                        <a:rPr lang="ar-AE" sz="1400" kern="150" dirty="0">
                          <a:effectLst/>
                          <a:latin typeface="Arial" panose="020B0604020202020204" pitchFamily="34" charset="0"/>
                          <a:cs typeface="Arial" panose="020B0604020202020204" pitchFamily="34" charset="0"/>
                        </a:rPr>
                        <a:t>الذي كان قويًا على كل صراع،</a:t>
                      </a:r>
                    </a:p>
                    <a:p>
                      <a:pPr indent="216000" algn="r" rtl="1"/>
                      <a:r>
                        <a:rPr lang="ar-AE" sz="1400" kern="150" dirty="0">
                          <a:effectLst/>
                          <a:latin typeface="Arial" panose="020B0604020202020204" pitchFamily="34" charset="0"/>
                          <a:cs typeface="Arial" panose="020B0604020202020204" pitchFamily="34" charset="0"/>
                        </a:rPr>
                        <a:t>مُدّ ميتًا على الأرض.</a:t>
                      </a:r>
                    </a:p>
                    <a:p>
                      <a:pPr indent="216000" algn="r" rtl="1"/>
                      <a:r>
                        <a:rPr lang="ar-AE" sz="1400" kern="150" dirty="0">
                          <a:effectLst/>
                          <a:latin typeface="Arial" panose="020B0604020202020204" pitchFamily="34" charset="0"/>
                          <a:cs typeface="Arial" panose="020B0604020202020204" pitchFamily="34" charset="0"/>
                        </a:rPr>
                        <a:t>فما بال ابن آدم،</a:t>
                      </a:r>
                    </a:p>
                    <a:p>
                      <a:pPr indent="216000" algn="r" rtl="1"/>
                      <a:r>
                        <a:rPr lang="ar-AE" sz="1400" kern="150" dirty="0">
                          <a:effectLst/>
                          <a:latin typeface="Arial" panose="020B0604020202020204" pitchFamily="34" charset="0"/>
                          <a:cs typeface="Arial" panose="020B0604020202020204" pitchFamily="34" charset="0"/>
                        </a:rPr>
                        <a:t>المجبول من محض الضعف،</a:t>
                      </a:r>
                    </a:p>
                    <a:p>
                      <a:pPr indent="216000" algn="r" rtl="1"/>
                      <a:r>
                        <a:rPr lang="ar-AE" sz="1400" kern="150" dirty="0">
                          <a:effectLst/>
                          <a:latin typeface="Arial" panose="020B0604020202020204" pitchFamily="34" charset="0"/>
                          <a:cs typeface="Arial" panose="020B0604020202020204" pitchFamily="34" charset="0"/>
                        </a:rPr>
                        <a:t>يظن أنه قادر على الانتصار بسهولة؟</a:t>
                      </a:r>
                    </a:p>
                    <a:p>
                      <a:pPr indent="216000" algn="r" rtl="1"/>
                      <a:r>
                        <a:rPr lang="ar-AE" sz="1400" kern="150" dirty="0">
                          <a:effectLst/>
                          <a:latin typeface="Arial" panose="020B0604020202020204" pitchFamily="34" charset="0"/>
                          <a:cs typeface="Arial" panose="020B0604020202020204" pitchFamily="34" charset="0"/>
                        </a:rPr>
                        <a:t>¶ أما الرجل العادي،</a:t>
                      </a:r>
                    </a:p>
                    <a:p>
                      <a:pPr indent="216000" algn="r" rtl="1"/>
                      <a:r>
                        <a:rPr lang="ar-AE" sz="1400" kern="150" dirty="0">
                          <a:effectLst/>
                          <a:latin typeface="Arial" panose="020B0604020202020204" pitchFamily="34" charset="0"/>
                          <a:cs typeface="Arial" panose="020B0604020202020204" pitchFamily="34" charset="0"/>
                        </a:rPr>
                        <a:t>الذي يطيع سلطة البلاد،</a:t>
                      </a:r>
                    </a:p>
                    <a:p>
                      <a:pPr indent="216000" algn="r" rtl="1"/>
                      <a:r>
                        <a:rPr lang="ar-AE" sz="1400" kern="150" dirty="0">
                          <a:effectLst/>
                          <a:latin typeface="Arial" panose="020B0604020202020204" pitchFamily="34" charset="0"/>
                          <a:cs typeface="Arial" panose="020B0604020202020204" pitchFamily="34" charset="0"/>
                        </a:rPr>
                        <a:t>فلا يصِرنّ مخادعًا مكّارًا.</a:t>
                      </a:r>
                    </a:p>
                    <a:p>
                      <a:pPr indent="216000" algn="r" rtl="1"/>
                      <a:r>
                        <a:rPr lang="ar-AE" sz="1400" kern="150" dirty="0">
                          <a:effectLst/>
                          <a:latin typeface="Arial" panose="020B0604020202020204" pitchFamily="34" charset="0"/>
                          <a:cs typeface="Arial" panose="020B0604020202020204" pitchFamily="34" charset="0"/>
                        </a:rPr>
                        <a:t>إن أخذ يقلّد الذئب،</a:t>
                      </a:r>
                    </a:p>
                    <a:p>
                      <a:pPr indent="216000" algn="r" rtl="1"/>
                      <a:r>
                        <a:rPr lang="ar-AE" sz="1400" kern="150" dirty="0">
                          <a:effectLst/>
                          <a:latin typeface="Arial" panose="020B0604020202020204" pitchFamily="34" charset="0"/>
                          <a:cs typeface="Arial" panose="020B0604020202020204" pitchFamily="34" charset="0"/>
                        </a:rPr>
                        <a:t>ويوقع الناس بعضهم ببعض،</a:t>
                      </a:r>
                    </a:p>
                    <a:p>
                      <a:pPr indent="216000" algn="r" rtl="1"/>
                      <a:r>
                        <a:rPr lang="ar-AE" sz="1400" kern="150" dirty="0">
                          <a:effectLst/>
                          <a:latin typeface="Arial" panose="020B0604020202020204" pitchFamily="34" charset="0"/>
                          <a:cs typeface="Arial" panose="020B0604020202020204" pitchFamily="34" charset="0"/>
                        </a:rPr>
                        <a:t>فسيسلب النوم من عيون الجميع.</a:t>
                      </a:r>
                      <a:endParaRPr lang="en-GB" sz="14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838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7918077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Lemqassa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tegguni</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Lḥirfa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tesdull-it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Ttgammin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walin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Ad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uɛessas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ɣunfun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ilawin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Times ad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Yeblis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yessexsin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nncaf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lxeṭṭ</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nendem</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Imi d </a:t>
                      </a:r>
                      <a:r>
                        <a:rPr lang="fr-FR" sz="1100" kern="1200" dirty="0" err="1">
                          <a:solidFill>
                            <a:schemeClr val="tx1"/>
                          </a:solidFill>
                          <a:effectLst/>
                          <a:latin typeface="+mn-lt"/>
                          <a:ea typeface="+mn-ea"/>
                          <a:cs typeface="+mn-cs"/>
                        </a:rPr>
                        <a:t>lfahem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teṣfa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Yessakay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iɣeflen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Ttafen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yeḥbiben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lfayda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Akka ay d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Iḍefren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iberdan</a:t>
                      </a:r>
                      <a:endParaRPr lang="fr-FR" sz="1100" kern="1200" dirty="0">
                        <a:solidFill>
                          <a:schemeClr val="tx1"/>
                        </a:solidFill>
                        <a:effectLst/>
                        <a:latin typeface="+mn-lt"/>
                        <a:ea typeface="+mn-ea"/>
                        <a:cs typeface="+mn-cs"/>
                      </a:endParaRPr>
                    </a:p>
                    <a:p>
                      <a:pPr indent="457200"/>
                      <a:r>
                        <a:rPr lang="en-GB" sz="1100" kern="1200" dirty="0">
                          <a:solidFill>
                            <a:schemeClr val="tx1"/>
                          </a:solidFill>
                          <a:effectLst/>
                          <a:latin typeface="+mn-lt"/>
                          <a:ea typeface="+mn-ea"/>
                          <a:cs typeface="+mn-cs"/>
                        </a:rPr>
                        <a:t>Ɣ</a:t>
                      </a:r>
                      <a:r>
                        <a:rPr lang="fr-FR" sz="1100" kern="1200" dirty="0" err="1">
                          <a:solidFill>
                            <a:schemeClr val="tx1"/>
                          </a:solidFill>
                          <a:effectLst/>
                          <a:latin typeface="+mn-lt"/>
                          <a:ea typeface="+mn-ea"/>
                          <a:cs typeface="+mn-cs"/>
                        </a:rPr>
                        <a:t>ef</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ccaṛiɛa</a:t>
                      </a:r>
                      <a:r>
                        <a:rPr lang="fr-FR" sz="1100" kern="1200" dirty="0">
                          <a:solidFill>
                            <a:schemeClr val="tx1"/>
                          </a:solidFill>
                          <a:effectLst/>
                          <a:latin typeface="+mn-lt"/>
                          <a:ea typeface="+mn-ea"/>
                          <a:cs typeface="+mn-cs"/>
                        </a:rPr>
                        <a:t>.</a:t>
                      </a:r>
                    </a:p>
                    <a:p>
                      <a:pPr indent="457200"/>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targit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Lxattima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ṛṛeḥma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r" rtl="1"/>
                      <a:r>
                        <a:rPr lang="ar-AE" sz="1400" kern="150" dirty="0">
                          <a:effectLst/>
                          <a:latin typeface="Arial" panose="020B0604020202020204" pitchFamily="34" charset="0"/>
                          <a:cs typeface="Arial" panose="020B0604020202020204" pitchFamily="34" charset="0"/>
                        </a:rPr>
                        <a:t>¶ إن الجزاء الأخير ينتظره،</a:t>
                      </a:r>
                    </a:p>
                    <a:p>
                      <a:pPr indent="216000" algn="r" rtl="1"/>
                      <a:r>
                        <a:rPr lang="ar-AE" sz="1400" kern="150" dirty="0">
                          <a:effectLst/>
                          <a:latin typeface="Arial" panose="020B0604020202020204" pitchFamily="34" charset="0"/>
                          <a:cs typeface="Arial" panose="020B0604020202020204" pitchFamily="34" charset="0"/>
                        </a:rPr>
                        <a:t>وستذله حرفته الغادرة،</a:t>
                      </a:r>
                    </a:p>
                    <a:p>
                      <a:pPr indent="216000" algn="r" rtl="1"/>
                      <a:r>
                        <a:rPr lang="ar-AE" sz="1400" kern="150" dirty="0">
                          <a:effectLst/>
                          <a:latin typeface="Arial" panose="020B0604020202020204" pitchFamily="34" charset="0"/>
                          <a:cs typeface="Arial" panose="020B0604020202020204" pitchFamily="34" charset="0"/>
                        </a:rPr>
                        <a:t>وسيرفض الناس حتى النظر إليه.</a:t>
                      </a:r>
                    </a:p>
                    <a:p>
                      <a:pPr indent="216000" algn="r" rtl="1"/>
                      <a:r>
                        <a:rPr lang="ar-AE" sz="1400" kern="150" dirty="0">
                          <a:effectLst/>
                          <a:latin typeface="Arial" panose="020B0604020202020204" pitchFamily="34" charset="0"/>
                          <a:cs typeface="Arial" panose="020B0604020202020204" pitchFamily="34" charset="0"/>
                        </a:rPr>
                        <a:t>وسيحل به يومٌ شرير،</a:t>
                      </a:r>
                    </a:p>
                    <a:p>
                      <a:pPr indent="216000" algn="r" rtl="1"/>
                      <a:r>
                        <a:rPr lang="ar-AE" sz="1400" kern="150" dirty="0">
                          <a:effectLst/>
                          <a:latin typeface="Arial" panose="020B0604020202020204" pitchFamily="34" charset="0"/>
                          <a:cs typeface="Arial" panose="020B0604020202020204" pitchFamily="34" charset="0"/>
                        </a:rPr>
                        <a:t>فيصرعه الحفيظ،</a:t>
                      </a:r>
                    </a:p>
                    <a:p>
                      <a:pPr indent="216000" algn="r" rtl="1"/>
                      <a:r>
                        <a:rPr lang="ar-AE" sz="1400" kern="150" dirty="0">
                          <a:effectLst/>
                          <a:latin typeface="Arial" panose="020B0604020202020204" pitchFamily="34" charset="0"/>
                          <a:cs typeface="Arial" panose="020B0604020202020204" pitchFamily="34" charset="0"/>
                        </a:rPr>
                        <a:t>وينفر منه الرجال والنساء اشمئزازًا.</a:t>
                      </a:r>
                    </a:p>
                    <a:p>
                      <a:pPr indent="216000" algn="r" rtl="1"/>
                      <a:r>
                        <a:rPr lang="ar-AE" sz="1400" kern="150" dirty="0">
                          <a:effectLst/>
                          <a:latin typeface="Arial" panose="020B0604020202020204" pitchFamily="34" charset="0"/>
                          <a:cs typeface="Arial" panose="020B0604020202020204" pitchFamily="34" charset="0"/>
                        </a:rPr>
                        <a:t>¶ ستشتعل في قلبه نار حارقة،</a:t>
                      </a:r>
                    </a:p>
                    <a:p>
                      <a:pPr indent="216000" algn="r" rtl="1"/>
                      <a:r>
                        <a:rPr lang="ar-AE" sz="1400" kern="150" dirty="0">
                          <a:effectLst/>
                          <a:latin typeface="Arial" panose="020B0604020202020204" pitchFamily="34" charset="0"/>
                          <a:cs typeface="Arial" panose="020B0604020202020204" pitchFamily="34" charset="0"/>
                        </a:rPr>
                        <a:t>كأنه الشيطان نفسه،</a:t>
                      </a:r>
                    </a:p>
                    <a:p>
                      <a:pPr indent="216000" algn="r" rtl="1"/>
                      <a:r>
                        <a:rPr lang="ar-AE" sz="1400" kern="150" dirty="0">
                          <a:effectLst/>
                          <a:latin typeface="Arial" panose="020B0604020202020204" pitchFamily="34" charset="0"/>
                          <a:cs typeface="Arial" panose="020B0604020202020204" pitchFamily="34" charset="0"/>
                        </a:rPr>
                        <a:t>ولن يجد من يطفئها.</a:t>
                      </a:r>
                    </a:p>
                    <a:p>
                      <a:pPr indent="216000" algn="r" rtl="1"/>
                      <a:r>
                        <a:rPr lang="ar-AE" sz="1400" kern="150" dirty="0">
                          <a:effectLst/>
                          <a:latin typeface="Arial" panose="020B0604020202020204" pitchFamily="34" charset="0"/>
                          <a:cs typeface="Arial" panose="020B0604020202020204" pitchFamily="34" charset="0"/>
                        </a:rPr>
                        <a:t>وسيجد نفسه عالقًا في هوة عميقة،</a:t>
                      </a:r>
                    </a:p>
                    <a:p>
                      <a:pPr indent="216000" algn="r" rtl="1"/>
                      <a:r>
                        <a:rPr lang="ar-AE" sz="1400" kern="150" dirty="0">
                          <a:effectLst/>
                          <a:latin typeface="Arial" panose="020B0604020202020204" pitchFamily="34" charset="0"/>
                          <a:cs typeface="Arial" panose="020B0604020202020204" pitchFamily="34" charset="0"/>
                        </a:rPr>
                        <a:t>يموت عطشانًا ميتة مؤلمة:</a:t>
                      </a:r>
                    </a:p>
                    <a:p>
                      <a:pPr indent="216000" algn="r" rtl="1"/>
                      <a:r>
                        <a:rPr lang="ar-AE" sz="1400" kern="150" dirty="0">
                          <a:effectLst/>
                          <a:latin typeface="Arial" panose="020B0604020202020204" pitchFamily="34" charset="0"/>
                          <a:cs typeface="Arial" panose="020B0604020202020204" pitchFamily="34" charset="0"/>
                        </a:rPr>
                        <a:t>بقضاء الله الرحمن الحازم.</a:t>
                      </a:r>
                    </a:p>
                    <a:p>
                      <a:pPr indent="216000" algn="r" rtl="1"/>
                      <a:r>
                        <a:rPr lang="ar-AE" sz="1400" kern="150" dirty="0">
                          <a:effectLst/>
                          <a:latin typeface="Arial" panose="020B0604020202020204" pitchFamily="34" charset="0"/>
                          <a:cs typeface="Arial" panose="020B0604020202020204" pitchFamily="34" charset="0"/>
                        </a:rPr>
                        <a:t>¶ سنحزن على السيد رابح،</a:t>
                      </a:r>
                    </a:p>
                    <a:p>
                      <a:pPr indent="216000" algn="r" rtl="1"/>
                      <a:r>
                        <a:rPr lang="ar-AE" sz="1400" kern="150" dirty="0">
                          <a:effectLst/>
                          <a:latin typeface="Arial" panose="020B0604020202020204" pitchFamily="34" charset="0"/>
                          <a:cs typeface="Arial" panose="020B0604020202020204" pitchFamily="34" charset="0"/>
                        </a:rPr>
                        <a:t>فقد كان رجلًا عميق الفهم:</a:t>
                      </a:r>
                    </a:p>
                    <a:p>
                      <a:pPr indent="216000" algn="r" rtl="1"/>
                      <a:r>
                        <a:rPr lang="ar-AE" sz="1400" kern="150" dirty="0">
                          <a:effectLst/>
                          <a:latin typeface="Arial" panose="020B0604020202020204" pitchFamily="34" charset="0"/>
                          <a:cs typeface="Arial" panose="020B0604020202020204" pitchFamily="34" charset="0"/>
                        </a:rPr>
                        <a:t>وكان دربه دائمًا طاهرًا لا شائبة فيه.</a:t>
                      </a:r>
                    </a:p>
                    <a:p>
                      <a:pPr indent="216000" algn="r" rtl="1"/>
                      <a:r>
                        <a:rPr lang="ar-AE" sz="1400" kern="150" dirty="0">
                          <a:effectLst/>
                          <a:latin typeface="Arial" panose="020B0604020202020204" pitchFamily="34" charset="0"/>
                          <a:cs typeface="Arial" panose="020B0604020202020204" pitchFamily="34" charset="0"/>
                        </a:rPr>
                        <a:t>أيقظ الغافلين،</a:t>
                      </a:r>
                    </a:p>
                    <a:p>
                      <a:pPr indent="216000" algn="r" rtl="1"/>
                      <a:r>
                        <a:rPr lang="ar-AE" sz="1400" kern="150" dirty="0">
                          <a:effectLst/>
                          <a:latin typeface="Arial" panose="020B0604020202020204" pitchFamily="34" charset="0"/>
                          <a:cs typeface="Arial" panose="020B0604020202020204" pitchFamily="34" charset="0"/>
                        </a:rPr>
                        <a:t>وكان أصدقاؤه يجدونه وفيًّا على الدوام،</a:t>
                      </a:r>
                    </a:p>
                    <a:p>
                      <a:pPr indent="216000" algn="r" rtl="1"/>
                      <a:r>
                        <a:rPr lang="ar-AE" sz="1400" kern="150" dirty="0">
                          <a:effectLst/>
                          <a:latin typeface="Arial" panose="020B0604020202020204" pitchFamily="34" charset="0"/>
                          <a:cs typeface="Arial" panose="020B0604020202020204" pitchFamily="34" charset="0"/>
                        </a:rPr>
                        <a:t>وكان التعامل معه لا يجلب إلا البركة.</a:t>
                      </a:r>
                    </a:p>
                    <a:p>
                      <a:pPr indent="216000" algn="r" rtl="1"/>
                      <a:r>
                        <a:rPr lang="ar-AE" sz="1400" kern="150" dirty="0">
                          <a:effectLst/>
                          <a:latin typeface="Arial" panose="020B0604020202020204" pitchFamily="34" charset="0"/>
                          <a:cs typeface="Arial" panose="020B0604020202020204" pitchFamily="34" charset="0"/>
                        </a:rPr>
                        <a:t>¶ هكذا يكون ابن آدم المستقيم،</a:t>
                      </a:r>
                    </a:p>
                    <a:p>
                      <a:pPr indent="216000" algn="r" rtl="1"/>
                      <a:r>
                        <a:rPr lang="ar-AE" sz="1400" kern="150" dirty="0">
                          <a:effectLst/>
                          <a:latin typeface="Arial" panose="020B0604020202020204" pitchFamily="34" charset="0"/>
                          <a:cs typeface="Arial" panose="020B0604020202020204" pitchFamily="34" charset="0"/>
                        </a:rPr>
                        <a:t>الذي يسلك السبل القويمة</a:t>
                      </a:r>
                    </a:p>
                    <a:p>
                      <a:pPr indent="216000" algn="r" rtl="1"/>
                      <a:r>
                        <a:rPr lang="ar-AE" sz="1400" kern="150" dirty="0">
                          <a:effectLst/>
                          <a:latin typeface="Arial" panose="020B0604020202020204" pitchFamily="34" charset="0"/>
                          <a:cs typeface="Arial" panose="020B0604020202020204" pitchFamily="34" charset="0"/>
                        </a:rPr>
                        <a:t>التي رسمتها الشريعة المقدسة.</a:t>
                      </a:r>
                    </a:p>
                    <a:p>
                      <a:pPr indent="216000" algn="r" rtl="1"/>
                      <a:r>
                        <a:rPr lang="ar-AE" sz="1400" kern="150" dirty="0">
                          <a:effectLst/>
                          <a:latin typeface="Arial" panose="020B0604020202020204" pitchFamily="34" charset="0"/>
                          <a:cs typeface="Arial" panose="020B0604020202020204" pitchFamily="34" charset="0"/>
                        </a:rPr>
                        <a:t>وإن قست عليه الدنيا ولم تلن له،</a:t>
                      </a:r>
                    </a:p>
                    <a:p>
                      <a:pPr indent="216000" algn="r" rtl="1"/>
                      <a:r>
                        <a:rPr lang="ar-AE" sz="1400" kern="150" dirty="0">
                          <a:effectLst/>
                          <a:latin typeface="Arial" panose="020B0604020202020204" pitchFamily="34" charset="0"/>
                          <a:cs typeface="Arial" panose="020B0604020202020204" pitchFamily="34" charset="0"/>
                        </a:rPr>
                        <a:t>فإنها تمضي كالحلم،</a:t>
                      </a:r>
                    </a:p>
                    <a:p>
                      <a:pPr indent="216000" algn="r" rtl="1"/>
                      <a:r>
                        <a:rPr lang="ar-AE" sz="1400" kern="150" dirty="0">
                          <a:effectLst/>
                          <a:latin typeface="Arial" panose="020B0604020202020204" pitchFamily="34" charset="0"/>
                          <a:cs typeface="Arial" panose="020B0604020202020204" pitchFamily="34" charset="0"/>
                        </a:rPr>
                        <a:t>وتكون عاقبته الرحمة.</a:t>
                      </a:r>
                    </a:p>
                    <a:p>
                      <a:pPr algn="r" rtl="1"/>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8584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ascadia Mono"/>
        <a:ea typeface=""/>
        <a:cs typeface=""/>
      </a:majorFont>
      <a:minorFont>
        <a:latin typeface="Cascadia Mon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11255</TotalTime>
  <Words>23818</Words>
  <Application>Microsoft Office PowerPoint</Application>
  <PresentationFormat>Widescreen</PresentationFormat>
  <Paragraphs>1639</Paragraphs>
  <Slides>85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sferhah</dc:creator>
  <cp:lastModifiedBy>sferhah</cp:lastModifiedBy>
  <cp:revision>1775</cp:revision>
  <dcterms:created xsi:type="dcterms:W3CDTF">2023-02-08T10:37:07Z</dcterms:created>
  <dcterms:modified xsi:type="dcterms:W3CDTF">2026-10-26T04:21:30Z</dcterms:modified>
</cp:coreProperties>
</file>