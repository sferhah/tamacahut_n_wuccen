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21/10/2026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21/10/2026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45616217"/>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p>
                    <a:p>
                      <a:pPr indent="216000" algn="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p>
                    <a:p>
                      <a:pPr indent="216000" algn="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00372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p>
                    <a:p>
                      <a:pPr indent="216000" algn="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a:r>
                        <a:rPr lang="ar-AE" sz="1400" kern="150" dirty="0">
                          <a:effectLst/>
                          <a:latin typeface="Arial" panose="020B0604020202020204" pitchFamily="34" charset="0"/>
                          <a:cs typeface="Arial" panose="020B0604020202020204" pitchFamily="34" charset="0"/>
                        </a:rPr>
                        <a:t>قال الثعلب:</a:t>
                      </a:r>
                    </a:p>
                    <a:p>
                      <a:pPr indent="216000" algn="r"/>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a:r>
                        <a:rPr lang="ar-AE" sz="1400" kern="150" dirty="0">
                          <a:effectLst/>
                          <a:latin typeface="Arial" panose="020B0604020202020204" pitchFamily="34" charset="0"/>
                          <a:cs typeface="Arial" panose="020B0604020202020204" pitchFamily="34" charset="0"/>
                        </a:rPr>
                        <a:t>— خذه يا بن يعقوب وادفنه!</a:t>
                      </a:r>
                    </a:p>
                    <a:p>
                      <a:pPr indent="216000" algn="r"/>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914825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p>
                    <a:p>
                      <a:pPr indent="216000" algn="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a:r>
                        <a:rPr lang="ar-AE" sz="1400" kern="150" dirty="0">
                          <a:effectLst/>
                          <a:latin typeface="Arial" panose="020B0604020202020204" pitchFamily="34" charset="0"/>
                          <a:cs typeface="Arial" panose="020B0604020202020204" pitchFamily="34" charset="0"/>
                        </a:rPr>
                        <a:t>— خذها يا بن يعقوب وادفنها!</a:t>
                      </a:r>
                    </a:p>
                    <a:p>
                      <a:pPr indent="216000" algn="r"/>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4992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الكتاكيت، تقودها أمهاتها المباركات عبر أكوام الروث والحدائق والبساتين، وكلها جميلة وتغرد. وحين يتعب الصغار من المشي ونبش الأرض والحراسة، أو يؤذيهم البرد، يجمعونهم تحت أجنحتهم ليدفأوا ويستريحوا؛ ثم يكبرون ويصيرون جميعًا دجاجات صغيرة ذات أعراف!</a:t>
                      </a:r>
                    </a:p>
                    <a:p>
                      <a:pPr indent="216000" algn="r"/>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31406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وسمنوا وأخذوا يرفسون، ولا يطالبهم أحد بشيء. أما أنت فتبقى هنا لتؤدي أعمال السخرة!</a:t>
                      </a:r>
                    </a:p>
                    <a:p>
                      <a:pPr indent="216000" algn="r"/>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a:r>
                        <a:rPr lang="ar-AE" sz="1400" kern="150" dirty="0">
                          <a:effectLst/>
                          <a:latin typeface="Arial" panose="020B0604020202020204" pitchFamily="34" charset="0"/>
                          <a:cs typeface="Arial" panose="020B0604020202020204" pitchFamily="34" charset="0"/>
                        </a:rPr>
                        <a:t>¶ ذهب إلى الأسد وقال له:</a:t>
                      </a:r>
                    </a:p>
                    <a:p>
                      <a:pPr indent="216000" algn="r"/>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a:r>
                        <a:rPr lang="ar-AE" sz="1400" kern="150" dirty="0">
                          <a:effectLst/>
                          <a:latin typeface="Arial" panose="020B0604020202020204" pitchFamily="34" charset="0"/>
                          <a:cs typeface="Arial" panose="020B0604020202020204" pitchFamily="34" charset="0"/>
                        </a:rPr>
                        <a:t>¶ وعندما عاد، قال له الأسد:</a:t>
                      </a:r>
                    </a:p>
                    <a:p>
                      <a:pPr indent="216000" algn="r"/>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a:r>
                        <a:rPr lang="ar-AE" sz="1400" kern="150" dirty="0">
                          <a:effectLst/>
                          <a:latin typeface="Arial" panose="020B0604020202020204" pitchFamily="34" charset="0"/>
                          <a:cs typeface="Arial" panose="020B0604020202020204" pitchFamily="34" charset="0"/>
                        </a:rPr>
                        <a:t>قال له الأسد:</a:t>
                      </a:r>
                    </a:p>
                    <a:p>
                      <a:pPr indent="216000" algn="r"/>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a:r>
                        <a:rPr lang="ar-AE" sz="1400" kern="150" dirty="0">
                          <a:effectLst/>
                          <a:latin typeface="Arial" panose="020B0604020202020204" pitchFamily="34" charset="0"/>
                          <a:cs typeface="Arial" panose="020B0604020202020204" pitchFamily="34" charset="0"/>
                        </a:rPr>
                        <a:t>أجابه الذئب:</a:t>
                      </a:r>
                    </a:p>
                    <a:p>
                      <a:pPr indent="216000" algn="r"/>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a:r>
                        <a:rPr lang="ar-AE" sz="1400" kern="150" dirty="0">
                          <a:effectLst/>
                          <a:latin typeface="Arial" panose="020B0604020202020204" pitchFamily="34" charset="0"/>
                          <a:cs typeface="Arial" panose="020B0604020202020204" pitchFamily="34" charset="0"/>
                        </a:rPr>
                        <a:t>ثم عاد إلى الخنزيروقال له:</a:t>
                      </a:r>
                    </a:p>
                    <a:p>
                      <a:pPr indent="216000" algn="r"/>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a:r>
                        <a:rPr lang="ar-AE" sz="1400" kern="150" dirty="0">
                          <a:effectLst/>
                          <a:latin typeface="Arial" panose="020B0604020202020204" pitchFamily="34" charset="0"/>
                          <a:cs typeface="Arial" panose="020B0604020202020204" pitchFamily="34" charset="0"/>
                        </a:rPr>
                        <a:t>فسأله الخنزير:</a:t>
                      </a:r>
                    </a:p>
                    <a:p>
                      <a:pPr indent="216000" algn="r"/>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a:r>
                        <a:rPr lang="ar-AE" sz="1400" kern="150" dirty="0">
                          <a:effectLst/>
                          <a:latin typeface="Arial" panose="020B0604020202020204" pitchFamily="34" charset="0"/>
                          <a:cs typeface="Arial" panose="020B0604020202020204" pitchFamily="34" charset="0"/>
                        </a:rPr>
                        <a:t>أجابه الذئب:</a:t>
                      </a:r>
                    </a:p>
                    <a:p>
                      <a:pPr indent="216000" algn="r"/>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a:r>
                        <a:rPr lang="ar-AE" sz="1400" kern="150" dirty="0">
                          <a:effectLst/>
                          <a:latin typeface="Arial" panose="020B0604020202020204" pitchFamily="34" charset="0"/>
                          <a:cs typeface="Arial" panose="020B0604020202020204" pitchFamily="34" charset="0"/>
                        </a:rPr>
                        <a:t>¶ قفز الذئب جانبًا وهو يصيح:</a:t>
                      </a:r>
                    </a:p>
                    <a:p>
                      <a:pPr indent="216000" algn="r"/>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758426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a:r>
                        <a:rPr lang="ar-AE" sz="1400" kern="150" dirty="0">
                          <a:effectLst/>
                          <a:latin typeface="Arial" panose="020B0604020202020204" pitchFamily="34" charset="0"/>
                          <a:cs typeface="Arial" panose="020B0604020202020204" pitchFamily="34" charset="0"/>
                        </a:rPr>
                        <a:t>فاحتار الذئب ولزم الصمت.</a:t>
                      </a:r>
                    </a:p>
                    <a:p>
                      <a:pPr indent="216000" algn="r"/>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يليق بملك الحيوانات أن يصير راعيًا أو أن يدعه الجوع يهلك.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a:r>
                        <a:rPr lang="ar-AE" sz="1400" kern="150" dirty="0">
                          <a:effectLst/>
                          <a:latin typeface="Arial" panose="020B0604020202020204" pitchFamily="34" charset="0"/>
                          <a:cs typeface="Arial" panose="020B0604020202020204" pitchFamily="34" charset="0"/>
                        </a:rPr>
                        <a:t>— كلما زاد الألم، زاد النفع!</a:t>
                      </a:r>
                    </a:p>
                    <a:p>
                      <a:pPr indent="216000" algn="r"/>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a:r>
                        <a:rPr lang="ar-AE" sz="1400" kern="150" dirty="0">
                          <a:effectLst/>
                          <a:latin typeface="Arial" panose="020B0604020202020204" pitchFamily="34" charset="0"/>
                          <a:cs typeface="Arial" panose="020B0604020202020204" pitchFamily="34" charset="0"/>
                        </a:rPr>
                        <a:t>— كلما زاد الألم، زاد النفع!</a:t>
                      </a:r>
                    </a:p>
                    <a:p>
                      <a:pPr indent="216000" algn="r"/>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a:r>
                        <a:rPr lang="ar-AE" sz="1400" kern="150" dirty="0">
                          <a:effectLst/>
                          <a:latin typeface="Arial" panose="020B0604020202020204" pitchFamily="34" charset="0"/>
                          <a:cs typeface="Arial" panose="020B0604020202020204" pitchFamily="34" charset="0"/>
                        </a:rPr>
                        <a:t>قالت له طيور الحجل:</a:t>
                      </a:r>
                    </a:p>
                    <a:p>
                      <a:pPr indent="216000" algn="r"/>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988329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570406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a:r>
                        <a:rPr lang="ar-AE" sz="1400" kern="150" dirty="0">
                          <a:effectLst/>
                          <a:latin typeface="Arial" panose="020B0604020202020204" pitchFamily="34" charset="0"/>
                          <a:cs typeface="Arial" panose="020B0604020202020204" pitchFamily="34" charset="0"/>
                        </a:rPr>
                        <a:t>¶ أخذ الذئب الغصن وغرسه في السهل الصحراوي. وفي لحظة اخضرّ، وتفتحت براعمه، وأورق، وامتدت أغصانه، وصار شجرة تين فتية. ثم نضج التين، واختمرت الثمار الباكورة، وأخذت الثمار الطرية الحلوة تتساقط قبل أوانها.</a:t>
                      </a:r>
                    </a:p>
                    <a:p>
                      <a:pPr indent="216000" algn="r"/>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2039233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a:r>
                        <a:rPr lang="ar-AE" sz="1400" kern="150" dirty="0">
                          <a:effectLst/>
                          <a:latin typeface="Arial" panose="020B0604020202020204" pitchFamily="34" charset="0"/>
                          <a:cs typeface="Arial" panose="020B0604020202020204" pitchFamily="34" charset="0"/>
                        </a:rPr>
                        <a:t>— كلاب الصيد! الفرسان! يا بن يعقوب، ها هم أولاء!</a:t>
                      </a:r>
                    </a:p>
                    <a:p>
                      <a:pPr indent="216000" algn="r"/>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278149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حَ ح!» فهو عدوك!</a:t>
                      </a:r>
                    </a:p>
                    <a:p>
                      <a:pPr indent="216000" algn="r"/>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165048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endParaRPr lang="ar-AE" sz="1400" kern="150" dirty="0">
                        <a:effectLst/>
                        <a:latin typeface="Arial" panose="020B0604020202020204" pitchFamily="34" charset="0"/>
                        <a:cs typeface="Arial" panose="020B0604020202020204" pitchFamily="34" charset="0"/>
                      </a:endParaRPr>
                    </a:p>
                    <a:p>
                      <a:pPr indent="216000" algn="r"/>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a:r>
                        <a:rPr lang="ar-AE" sz="1400" kern="150" dirty="0">
                          <a:effectLst/>
                          <a:latin typeface="Arial" panose="020B0604020202020204" pitchFamily="34" charset="0"/>
                          <a:cs typeface="Arial" panose="020B0604020202020204" pitchFamily="34" charset="0"/>
                        </a:rPr>
                        <a:t>أجابه الأسد:</a:t>
                      </a:r>
                    </a:p>
                    <a:p>
                      <a:pPr indent="216000" algn="r"/>
                      <a:r>
                        <a:rPr lang="ar-AE" sz="1400" kern="150" dirty="0">
                          <a:effectLst/>
                          <a:latin typeface="Arial" panose="020B0604020202020204" pitchFamily="34" charset="0"/>
                          <a:cs typeface="Arial" panose="020B0604020202020204" pitchFamily="34" charset="0"/>
                        </a:rPr>
                        <a:t>— تماماً!</a:t>
                      </a:r>
                    </a:p>
                    <a:p>
                      <a:pPr indent="216000" algn="r"/>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a:r>
                        <a:rPr lang="ar-AE" sz="1400" kern="150" dirty="0">
                          <a:effectLst/>
                          <a:latin typeface="Arial" panose="020B0604020202020204" pitchFamily="34" charset="0"/>
                          <a:cs typeface="Arial" panose="020B0604020202020204" pitchFamily="34" charset="0"/>
                        </a:rPr>
                        <a:t>فكانت تجيبه:</a:t>
                      </a:r>
                    </a:p>
                    <a:p>
                      <a:pPr indent="216000" algn="r"/>
                      <a:r>
                        <a:rPr lang="ar-AE" sz="1400" kern="150" dirty="0">
                          <a:effectLst/>
                          <a:latin typeface="Arial" panose="020B0604020202020204" pitchFamily="34" charset="0"/>
                          <a:cs typeface="Arial" panose="020B0604020202020204" pitchFamily="34" charset="0"/>
                        </a:rPr>
                        <a:t>— تماماً!</a:t>
                      </a:r>
                    </a:p>
                    <a:p>
                      <a:pPr indent="216000" algn="r"/>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423631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p>
                    <a:p>
                      <a:pPr indent="216000" algn="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a:r>
                        <a:rPr lang="ar-AE" sz="1400" kern="150" dirty="0">
                          <a:effectLst/>
                          <a:latin typeface="Arial" panose="020B0604020202020204" pitchFamily="34" charset="0"/>
                          <a:cs typeface="Arial" panose="020B0604020202020204" pitchFamily="34" charset="0"/>
                        </a:rPr>
                        <a:t>¶ رفض الذئب، وأجابه:</a:t>
                      </a:r>
                    </a:p>
                    <a:p>
                      <a:pPr indent="216000" algn="r"/>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7914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endParaRPr lang="ar-AE" sz="1400" kern="150" dirty="0">
                        <a:effectLst/>
                        <a:latin typeface="Arial" panose="020B0604020202020204" pitchFamily="34" charset="0"/>
                        <a:cs typeface="Arial" panose="020B0604020202020204" pitchFamily="34" charset="0"/>
                      </a:endParaRPr>
                    </a:p>
                    <a:p>
                      <a:pPr indent="216000" algn="r"/>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ذنب كل من ساقهم إلى السوق — حتى قتلتهم — معلقًا وحده في عنقك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342865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وعزقها وسقاها، ثم أحاطها بسياج محكم لا يستطيع الذئب حتى أن ينظر من خلاله.</a:t>
                      </a:r>
                    </a:p>
                    <a:p>
                      <a:pPr indent="216000" algn="r"/>
                      <a:r>
                        <a:rPr lang="ar-AE" sz="1400" kern="150" dirty="0">
                          <a:effectLst/>
                          <a:latin typeface="Arial" panose="020B0604020202020204" pitchFamily="34" charset="0"/>
                          <a:cs typeface="Arial" panose="020B0604020202020204" pitchFamily="34" charset="0"/>
                        </a:rPr>
                        <a:t>¶ وجدا فتحة بين الأوتاد ودخلا منها. أكلا حتى شبعا من القرع والخيار والفاصولياء، وخلطا بها الطماطم والفلفل الحار والبصل والثوم والريحان.</a:t>
                      </a:r>
                    </a:p>
                    <a:p>
                      <a:pPr indent="216000" algn="r"/>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a:r>
                        <a:rPr lang="ar-AE" sz="1400" kern="150" dirty="0">
                          <a:effectLst/>
                          <a:latin typeface="Arial" panose="020B0604020202020204" pitchFamily="34" charset="0"/>
                          <a:cs typeface="Arial" panose="020B0604020202020204" pitchFamily="34" charset="0"/>
                        </a:rPr>
                        <a:t>— تظاهر بأنك ميت!</a:t>
                      </a:r>
                    </a:p>
                    <a:p>
                      <a:pPr indent="216000" algn="r"/>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ثم أعاد البصق، وأمسكه من ساقه ورماه خارج البستان، فهرب.</a:t>
                      </a:r>
                    </a:p>
                    <a:p>
                      <a:pPr indent="216000" algn="r"/>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200625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a:r>
                        <a:rPr lang="ar-AE" sz="1400" kern="150" dirty="0">
                          <a:effectLst/>
                          <a:latin typeface="Arial" panose="020B0604020202020204" pitchFamily="34" charset="0"/>
                          <a:cs typeface="Arial" panose="020B0604020202020204" pitchFamily="34" charset="0"/>
                        </a:rPr>
                        <a:t>¶ عندها فقط أصاب الذئبَ الذعر؛ فقضى المساء يقفز محاولًا الفرار، لكنه لم يجد سبيلًا.</a:t>
                      </a:r>
                    </a:p>
                    <a:p>
                      <a:pPr indent="216000" algn="r"/>
                      <a:r>
                        <a:rPr lang="ar-AE" sz="1400" kern="150" dirty="0">
                          <a:effectLst/>
                          <a:latin typeface="Arial" panose="020B0604020202020204" pitchFamily="34" charset="0"/>
                          <a:cs typeface="Arial" panose="020B0604020202020204" pitchFamily="34" charset="0"/>
                        </a:rPr>
                        <a:t>¶ سمع الفلاح يقترب، فاستولى عليه الخوف. ثم تمدد وتظاهر بأنه ميت، كما فعل في بستان الخضروات.</a:t>
                      </a:r>
                    </a:p>
                    <a:p>
                      <a:pPr indent="216000" algn="r"/>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a:r>
                        <a:rPr lang="ar-AE" sz="1400" kern="150" dirty="0">
                          <a:effectLst/>
                          <a:latin typeface="Arial" panose="020B0604020202020204" pitchFamily="34" charset="0"/>
                          <a:cs typeface="Arial" panose="020B0604020202020204" pitchFamily="34" charset="0"/>
                        </a:rPr>
                        <a:t>— يا لسوء حظي!</a:t>
                      </a:r>
                    </a:p>
                    <a:p>
                      <a:pPr indent="216000" algn="r"/>
                      <a:r>
                        <a:rPr lang="ar-AE" sz="1400" kern="150" dirty="0">
                          <a:effectLst/>
                          <a:latin typeface="Arial" panose="020B0604020202020204" pitchFamily="34" charset="0"/>
                          <a:cs typeface="Arial" panose="020B0604020202020204" pitchFamily="34" charset="0"/>
                        </a:rPr>
                        <a:t>¶ ثم نزل إلى الصومعة، واستدار، وبصق، وأمسك الذئب بخرقة وقذفه إلى الخارج؛ فهرب!</a:t>
                      </a:r>
                    </a:p>
                    <a:p>
                      <a:pPr indent="216000" algn="r"/>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23708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a:r>
                        <a:rPr lang="ar-AE" sz="1400" kern="150" dirty="0">
                          <a:effectLst/>
                          <a:latin typeface="Arial" panose="020B0604020202020204" pitchFamily="34" charset="0"/>
                          <a:cs typeface="Arial" panose="020B0604020202020204" pitchFamily="34" charset="0"/>
                        </a:rPr>
                        <a:t>¶ وجدا ثمرة تين طازجة على الطريق، أسقطها بعض الرعاة. فقال القنفذ له:</a:t>
                      </a:r>
                    </a:p>
                    <a:p>
                      <a:pPr indent="216000" algn="r"/>
                      <a:r>
                        <a:rPr lang="ar-AE" sz="1400" kern="150" dirty="0">
                          <a:effectLst/>
                          <a:latin typeface="Arial" panose="020B0604020202020204" pitchFamily="34" charset="0"/>
                          <a:cs typeface="Arial" panose="020B0604020202020204" pitchFamily="34" charset="0"/>
                        </a:rPr>
                        <a:t>— لنتقاسمها.</a:t>
                      </a:r>
                    </a:p>
                    <a:p>
                      <a:pPr indent="216000" algn="r"/>
                      <a:r>
                        <a:rPr lang="ar-AE" sz="1400" kern="150" dirty="0">
                          <a:effectLst/>
                          <a:latin typeface="Arial" panose="020B0604020202020204" pitchFamily="34" charset="0"/>
                          <a:cs typeface="Arial" panose="020B0604020202020204" pitchFamily="34" charset="0"/>
                        </a:rPr>
                        <a:t>فقال له الذئب:</a:t>
                      </a:r>
                    </a:p>
                    <a:p>
                      <a:pPr indent="216000" algn="r"/>
                      <a:r>
                        <a:rPr lang="ar-AE" sz="1400" kern="150" dirty="0">
                          <a:effectLst/>
                          <a:latin typeface="Arial" panose="020B0604020202020204" pitchFamily="34" charset="0"/>
                          <a:cs typeface="Arial" panose="020B0604020202020204" pitchFamily="34" charset="0"/>
                        </a:rPr>
                        <a:t>— لا! يأكلها الأكبر سنًا منا!</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متى وُلدت؟</a:t>
                      </a:r>
                    </a:p>
                    <a:p>
                      <a:pPr indent="216000" algn="r"/>
                      <a:r>
                        <a:rPr lang="ar-AE" sz="1400" kern="150" dirty="0">
                          <a:effectLst/>
                          <a:latin typeface="Arial" panose="020B0604020202020204" pitchFamily="34" charset="0"/>
                          <a:cs typeface="Arial" panose="020B0604020202020204" pitchFamily="34" charset="0"/>
                        </a:rPr>
                        <a:t>فقال له الذئب:</a:t>
                      </a:r>
                    </a:p>
                    <a:p>
                      <a:pPr indent="216000" algn="r"/>
                      <a:r>
                        <a:rPr lang="ar-AE" sz="1400" kern="150" dirty="0">
                          <a:effectLst/>
                          <a:latin typeface="Arial" panose="020B0604020202020204" pitchFamily="34" charset="0"/>
                          <a:cs typeface="Arial" panose="020B0604020202020204" pitchFamily="34" charset="0"/>
                        </a:rPr>
                        <a:t>— يوم احترق البحر (من يتذكر يوم احترق البحر؟).</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أنا من أشعل النار فيه!</a:t>
                      </a:r>
                    </a:p>
                    <a:p>
                      <a:pPr indent="216000" algn="r"/>
                      <a:r>
                        <a:rPr lang="ar-AE" sz="1400" kern="150" dirty="0">
                          <a:effectLst/>
                          <a:latin typeface="Arial" panose="020B0604020202020204" pitchFamily="34" charset="0"/>
                          <a:cs typeface="Arial" panose="020B0604020202020204" pitchFamily="34" charset="0"/>
                        </a:rPr>
                        <a:t>وهكذا أكل التين كله وحده.</a:t>
                      </a:r>
                    </a:p>
                    <a:p>
                      <a:pPr indent="216000" algn="r"/>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23813341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فقال له الذئب:</a:t>
                      </a:r>
                    </a:p>
                    <a:p>
                      <a:pPr indent="216000" algn="r"/>
                      <a:r>
                        <a:rPr lang="ar-AE" sz="1400" kern="150" dirty="0">
                          <a:effectLst/>
                          <a:latin typeface="Arial" panose="020B0604020202020204" pitchFamily="34" charset="0"/>
                          <a:cs typeface="Arial" panose="020B0604020202020204" pitchFamily="34" charset="0"/>
                        </a:rPr>
                        <a:t>— لا! يأكلها الأصغر سنًا منا!</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متى وُلدت؟</a:t>
                      </a:r>
                    </a:p>
                    <a:p>
                      <a:pPr indent="216000" algn="r"/>
                      <a:r>
                        <a:rPr lang="ar-AE" sz="1400" kern="150" dirty="0">
                          <a:effectLst/>
                          <a:latin typeface="Arial" panose="020B0604020202020204" pitchFamily="34" charset="0"/>
                          <a:cs typeface="Arial" panose="020B0604020202020204" pitchFamily="34" charset="0"/>
                        </a:rPr>
                        <a:t>فقال له الذئب:</a:t>
                      </a:r>
                    </a:p>
                    <a:p>
                      <a:pPr indent="216000" algn="r"/>
                      <a:r>
                        <a:rPr lang="ar-AE" sz="1400" kern="150" dirty="0">
                          <a:effectLst/>
                          <a:latin typeface="Arial" panose="020B0604020202020204" pitchFamily="34" charset="0"/>
                          <a:cs typeface="Arial" panose="020B0604020202020204" pitchFamily="34" charset="0"/>
                        </a:rPr>
                        <a:t>— البارحة!</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أمسك بي، فقد أوشكت أن أولد!</a:t>
                      </a:r>
                    </a:p>
                    <a:p>
                      <a:pPr indent="216000" algn="r"/>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a:r>
                        <a:rPr lang="ar-AE" sz="1400" kern="150" dirty="0">
                          <a:effectLst/>
                          <a:latin typeface="Arial" panose="020B0604020202020204" pitchFamily="34" charset="0"/>
                          <a:cs typeface="Arial" panose="020B0604020202020204" pitchFamily="34" charset="0"/>
                        </a:rPr>
                        <a:t>— فقال له الذئب: أين؟ أين؟</a:t>
                      </a:r>
                    </a:p>
                    <a:p>
                      <a:pPr indent="216000" algn="r"/>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2921243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endParaRPr lang="ar-AE" sz="1400" kern="150" dirty="0">
                        <a:effectLst/>
                        <a:latin typeface="Arial" panose="020B0604020202020204" pitchFamily="34" charset="0"/>
                        <a:cs typeface="Arial" panose="020B0604020202020204" pitchFamily="34" charset="0"/>
                      </a:endParaRPr>
                    </a:p>
                    <a:p>
                      <a:pPr indent="216000" algn="r"/>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56779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يا سيد امحمد، ذراعي قصيرة، ولست خفيف الحركة؛ سأبقى أترقب، وأنت أخرج لنا بعض الأقراص.</a:t>
                      </a:r>
                    </a:p>
                    <a:p>
                      <a:pPr indent="216000" algn="r"/>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39963507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endParaRPr lang="ar-AE" sz="1400" kern="150" dirty="0">
                        <a:effectLst/>
                        <a:latin typeface="Arial" panose="020B0604020202020204" pitchFamily="34" charset="0"/>
                        <a:cs typeface="Arial" panose="020B0604020202020204" pitchFamily="34" charset="0"/>
                      </a:endParaRPr>
                    </a:p>
                    <a:p>
                      <a:pPr indent="216000" algn="r"/>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6987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الهزيلة، من نصيب الجمل.</a:t>
                      </a:r>
                    </a:p>
                    <a:p>
                      <a:pPr indent="216000" algn="r"/>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a:r>
                        <a:rPr lang="ar-AE" sz="1400" kern="150" dirty="0">
                          <a:effectLst/>
                          <a:latin typeface="Arial" panose="020B0604020202020204" pitchFamily="34" charset="0"/>
                          <a:cs typeface="Arial" panose="020B0604020202020204" pitchFamily="34" charset="0"/>
                        </a:rPr>
                        <a:t>— القانون يلزمك!</a:t>
                      </a:r>
                    </a:p>
                    <a:p>
                      <a:pPr indent="216000" algn="r"/>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89030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بلا طعم.</a:t>
                      </a:r>
                    </a:p>
                    <a:p>
                      <a:pPr indent="216000" algn="r"/>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a:r>
                        <a:rPr lang="ar-AE" sz="1400" kern="150" dirty="0">
                          <a:effectLst/>
                          <a:latin typeface="Arial" panose="020B0604020202020204" pitchFamily="34" charset="0"/>
                          <a:cs typeface="Arial" panose="020B0604020202020204" pitchFamily="34" charset="0"/>
                        </a:rPr>
                        <a:t>¶ وأظهر عباد الله استياءهم من ذلك الزواج في السماء: امتزج المطر بالشمس، وظهرت عروس المطر، ورافقها الريح والبرق والرعد والبَرَد، حتى ظن الناس أن العالم يوشك أن ينتهي.</a:t>
                      </a:r>
                    </a:p>
                    <a:p>
                      <a:pPr indent="216000" algn="r"/>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a:r>
                        <a:rPr lang="ar-AE" sz="1400" i="1" kern="150" dirty="0">
                          <a:effectLst/>
                          <a:latin typeface="Arial" panose="020B0604020202020204" pitchFamily="34" charset="0"/>
                          <a:cs typeface="Arial" panose="020B0604020202020204" pitchFamily="34" charset="0"/>
                        </a:rPr>
                        <a:t>يا الله الرحيم! يا الله الرحيم!</a:t>
                      </a:r>
                    </a:p>
                    <a:p>
                      <a:pPr indent="216000" algn="r"/>
                      <a:r>
                        <a:rPr lang="ar-AE" sz="1400" i="1" kern="150" dirty="0">
                          <a:effectLst/>
                          <a:latin typeface="Arial" panose="020B0604020202020204" pitchFamily="34" charset="0"/>
                          <a:cs typeface="Arial" panose="020B0604020202020204" pitchFamily="34" charset="0"/>
                        </a:rPr>
                        <a:t>اهرب، اهرب!</a:t>
                      </a:r>
                    </a:p>
                    <a:p>
                      <a:pPr indent="216000" algn="r"/>
                      <a:r>
                        <a:rPr lang="ar-AE" sz="1400" i="1" kern="150" dirty="0">
                          <a:effectLst/>
                          <a:latin typeface="Arial" panose="020B0604020202020204" pitchFamily="34" charset="0"/>
                          <a:cs typeface="Arial" panose="020B0604020202020204" pitchFamily="34" charset="0"/>
                        </a:rPr>
                        <a:t>مطر وشمس!</a:t>
                      </a:r>
                    </a:p>
                    <a:p>
                      <a:pPr indent="216000" algn="r"/>
                      <a:r>
                        <a:rPr lang="ar-AE" sz="1400" i="1" kern="150" dirty="0">
                          <a:effectLst/>
                          <a:latin typeface="Arial" panose="020B0604020202020204" pitchFamily="34" charset="0"/>
                          <a:cs typeface="Arial" panose="020B0604020202020204" pitchFamily="34" charset="0"/>
                        </a:rPr>
                        <a:t>تزوج الذئب!</a:t>
                      </a:r>
                    </a:p>
                    <a:p>
                      <a:pPr indent="216000" algn="r"/>
                      <a:r>
                        <a:rPr lang="ar-AE" sz="1400" i="1" kern="150" dirty="0">
                          <a:effectLst/>
                          <a:latin typeface="Arial" panose="020B0604020202020204" pitchFamily="34" charset="0"/>
                          <a:cs typeface="Arial" panose="020B0604020202020204" pitchFamily="34" charset="0"/>
                        </a:rPr>
                        <a:t>اهرب، اهرب!</a:t>
                      </a:r>
                    </a:p>
                    <a:p>
                      <a:pPr indent="216000" algn="r"/>
                      <a:r>
                        <a:rPr lang="ar-AE" sz="1400" i="1" kern="150" dirty="0">
                          <a:effectLst/>
                          <a:latin typeface="Arial" panose="020B0604020202020204" pitchFamily="34" charset="0"/>
                          <a:cs typeface="Arial" panose="020B0604020202020204" pitchFamily="34" charset="0"/>
                        </a:rPr>
                        <a:t>لم يعطنا صحنًا من الطعام:</a:t>
                      </a:r>
                    </a:p>
                    <a:p>
                      <a:pPr indent="216000" algn="r"/>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108575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a:r>
                        <a:rPr lang="ar-AE" sz="1400" kern="150" dirty="0">
                          <a:effectLst/>
                          <a:latin typeface="Arial" panose="020B0604020202020204" pitchFamily="34" charset="0"/>
                          <a:cs typeface="Arial" panose="020B0604020202020204" pitchFamily="34" charset="0"/>
                        </a:rPr>
                        <a:t>— لنجمع المحصول ونقتسمه.</a:t>
                      </a:r>
                    </a:p>
                    <a:p>
                      <a:pPr indent="216000" algn="r"/>
                      <a:r>
                        <a:rPr lang="ar-AE" sz="1400" kern="150" dirty="0">
                          <a:effectLst/>
                          <a:latin typeface="Arial" panose="020B0604020202020204" pitchFamily="34" charset="0"/>
                          <a:cs typeface="Arial" panose="020B0604020202020204" pitchFamily="34" charset="0"/>
                        </a:rPr>
                        <a:t>فقال الذئب:</a:t>
                      </a:r>
                    </a:p>
                    <a:p>
                      <a:pPr indent="216000" algn="r"/>
                      <a:r>
                        <a:rPr lang="ar-AE" sz="1400" kern="150" dirty="0">
                          <a:effectLst/>
                          <a:latin typeface="Arial" panose="020B0604020202020204" pitchFamily="34" charset="0"/>
                          <a:cs typeface="Arial" panose="020B0604020202020204" pitchFamily="34" charset="0"/>
                        </a:rPr>
                        <a:t>— لا! لك أن تختار: خذ ما فوق الأرض أو ما تحتها.</a:t>
                      </a:r>
                    </a:p>
                    <a:p>
                      <a:pPr indent="216000" algn="r"/>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a:r>
                        <a:rPr lang="ar-AE" sz="1400" kern="150" dirty="0">
                          <a:effectLst/>
                          <a:latin typeface="Arial" panose="020B0604020202020204" pitchFamily="34" charset="0"/>
                          <a:cs typeface="Arial" panose="020B0604020202020204" pitchFamily="34" charset="0"/>
                        </a:rPr>
                        <a:t>— ماذا ستأخذ؟</a:t>
                      </a:r>
                    </a:p>
                    <a:p>
                      <a:pPr indent="216000" algn="r"/>
                      <a:r>
                        <a:rPr lang="ar-AE" sz="1400" kern="150" dirty="0">
                          <a:effectLst/>
                          <a:latin typeface="Arial" panose="020B0604020202020204" pitchFamily="34" charset="0"/>
                          <a:cs typeface="Arial" panose="020B0604020202020204" pitchFamily="34" charset="0"/>
                        </a:rPr>
                        <a:t>فأجابه الذئب:</a:t>
                      </a:r>
                    </a:p>
                    <a:p>
                      <a:pPr indent="216000" algn="r"/>
                      <a:r>
                        <a:rPr lang="ar-AE" sz="1400" kern="150" dirty="0">
                          <a:effectLst/>
                          <a:latin typeface="Arial" panose="020B0604020202020204" pitchFamily="34" charset="0"/>
                          <a:cs typeface="Arial" panose="020B0604020202020204" pitchFamily="34" charset="0"/>
                        </a:rPr>
                        <a:t>— ما فوق الأرض!</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13062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جفّت، رماها كلها، وبقي خالي الوفاض تمامًا. أما القنفذ، فأخذ يحفر جذور اللفت ويحملها إلى بيته حتى امتلأ بها.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6646044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a:r>
                        <a:rPr lang="ar-AE" sz="1400" kern="150" dirty="0">
                          <a:effectLst/>
                          <a:latin typeface="Arial" panose="020B0604020202020204" pitchFamily="34" charset="0"/>
                          <a:cs typeface="Arial" panose="020B0604020202020204" pitchFamily="34" charset="0"/>
                        </a:rPr>
                        <a:t>فقال الذئب:</a:t>
                      </a:r>
                    </a:p>
                    <a:p>
                      <a:pPr indent="216000" algn="r"/>
                      <a:r>
                        <a:rPr lang="ar-AE" sz="1400" kern="150" dirty="0">
                          <a:effectLst/>
                          <a:latin typeface="Arial" panose="020B0604020202020204" pitchFamily="34" charset="0"/>
                          <a:cs typeface="Arial" panose="020B0604020202020204" pitchFamily="34" charset="0"/>
                        </a:rPr>
                        <a:t>— لا! خذ ما فوق الأرض أو ما تحتها.</a:t>
                      </a:r>
                    </a:p>
                    <a:p>
                      <a:pPr indent="216000" algn="r"/>
                      <a:r>
                        <a:rPr lang="ar-AE" sz="1400" kern="150" dirty="0">
                          <a:effectLst/>
                          <a:latin typeface="Arial" panose="020B0604020202020204" pitchFamily="34" charset="0"/>
                          <a:cs typeface="Arial" panose="020B0604020202020204" pitchFamily="34" charset="0"/>
                        </a:rPr>
                        <a:t>فقال القنفذ:</a:t>
                      </a:r>
                    </a:p>
                    <a:p>
                      <a:pPr indent="216000" algn="r"/>
                      <a:r>
                        <a:rPr lang="ar-AE" sz="1400" kern="150" dirty="0">
                          <a:effectLst/>
                          <a:latin typeface="Arial" panose="020B0604020202020204" pitchFamily="34" charset="0"/>
                          <a:cs typeface="Arial" panose="020B0604020202020204" pitchFamily="34" charset="0"/>
                        </a:rPr>
                        <a:t>— ماذا ستأخذ؟</a:t>
                      </a:r>
                    </a:p>
                    <a:p>
                      <a:pPr indent="216000" algn="r"/>
                      <a:r>
                        <a:rPr lang="ar-AE" sz="1400" kern="150" dirty="0">
                          <a:effectLst/>
                          <a:latin typeface="Arial" panose="020B0604020202020204" pitchFamily="34" charset="0"/>
                          <a:cs typeface="Arial" panose="020B0604020202020204" pitchFamily="34" charset="0"/>
                        </a:rPr>
                        <a:t>فأجابه الذئب:</a:t>
                      </a:r>
                    </a:p>
                    <a:p>
                      <a:pPr indent="216000" algn="r"/>
                      <a:r>
                        <a:rPr lang="ar-AE" sz="1400" kern="150" dirty="0">
                          <a:effectLst/>
                          <a:latin typeface="Arial" panose="020B0604020202020204" pitchFamily="34" charset="0"/>
                          <a:cs typeface="Arial" panose="020B0604020202020204" pitchFamily="34" charset="0"/>
                        </a:rPr>
                        <a:t>— ما تحت الأرض! (أراد أن ينتقم منه بسبب ما جرى في حقل اللفت).</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اتفقنا! لقد أخذته!</a:t>
                      </a:r>
                    </a:p>
                    <a:p>
                      <a:pPr indent="216000" algn="r"/>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912171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اتفقنا!</a:t>
                      </a:r>
                    </a:p>
                    <a:p>
                      <a:pPr indent="216000" algn="r"/>
                      <a:r>
                        <a:rPr lang="ar-AE" sz="1400" kern="150" dirty="0">
                          <a:effectLst/>
                          <a:latin typeface="Arial" panose="020B0604020202020204" pitchFamily="34" charset="0"/>
                          <a:cs typeface="Arial" panose="020B0604020202020204" pitchFamily="34" charset="0"/>
                        </a:rPr>
                        <a:t>¶ درسا المحصول ونقّياه بالغربال والمجرفة الخشبية: كومة عالية من الحبوب النظيفة، وأخرى من التبن. فقال الذئب للقنفذ:</a:t>
                      </a:r>
                    </a:p>
                    <a:p>
                      <a:pPr indent="216000" algn="r"/>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a:r>
                        <a:rPr lang="ar-AE" sz="1400" kern="150" dirty="0">
                          <a:effectLst/>
                          <a:latin typeface="Arial" panose="020B0604020202020204" pitchFamily="34" charset="0"/>
                          <a:cs typeface="Arial" panose="020B0604020202020204" pitchFamily="34" charset="0"/>
                        </a:rPr>
                        <a:t>فقال القنفذ:</a:t>
                      </a:r>
                    </a:p>
                    <a:p>
                      <a:pPr indent="216000" algn="r"/>
                      <a:r>
                        <a:rPr lang="ar-AE" sz="1400" kern="150" dirty="0">
                          <a:effectLst/>
                          <a:latin typeface="Arial" panose="020B0604020202020204" pitchFamily="34" charset="0"/>
                          <a:cs typeface="Arial" panose="020B0604020202020204" pitchFamily="34" charset="0"/>
                        </a:rPr>
                        <a:t>— اتفقنا!</a:t>
                      </a:r>
                    </a:p>
                    <a:p>
                      <a:pPr indent="216000" algn="r"/>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749818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a:r>
                        <a:rPr lang="ar-AE" sz="1400" kern="150" dirty="0">
                          <a:effectLst/>
                          <a:latin typeface="Arial" panose="020B0604020202020204" pitchFamily="34" charset="0"/>
                          <a:cs typeface="Arial" panose="020B0604020202020204" pitchFamily="34" charset="0"/>
                        </a:rPr>
                        <a:t>— نعممم!</a:t>
                      </a:r>
                    </a:p>
                    <a:p>
                      <a:pPr indent="216000" algn="r"/>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a:r>
                        <a:rPr lang="ar-AE" sz="1400" kern="150" dirty="0">
                          <a:effectLst/>
                          <a:latin typeface="Arial" panose="020B0604020202020204" pitchFamily="34" charset="0"/>
                          <a:cs typeface="Arial" panose="020B0604020202020204" pitchFamily="34" charset="0"/>
                        </a:rPr>
                        <a:t>وظل القنفذ يقول له:</a:t>
                      </a:r>
                    </a:p>
                    <a:p>
                      <a:pPr indent="216000" algn="r"/>
                      <a:r>
                        <a:rPr lang="ar-AE" sz="1400" kern="150" dirty="0">
                          <a:effectLst/>
                          <a:latin typeface="Arial" panose="020B0604020202020204" pitchFamily="34" charset="0"/>
                          <a:cs typeface="Arial" panose="020B0604020202020204" pitchFamily="34" charset="0"/>
                        </a:rPr>
                        <a:t>— بل أنت!</a:t>
                      </a:r>
                    </a:p>
                    <a:p>
                      <a:pPr indent="216000" algn="r"/>
                      <a:r>
                        <a:rPr lang="ar-AE" sz="1400" kern="150" dirty="0">
                          <a:effectLst/>
                          <a:latin typeface="Arial" panose="020B0604020202020204" pitchFamily="34" charset="0"/>
                          <a:cs typeface="Arial" panose="020B0604020202020204" pitchFamily="34" charset="0"/>
                        </a:rPr>
                        <a:t>ثم قالا:</a:t>
                      </a:r>
                    </a:p>
                    <a:p>
                      <a:pPr indent="216000" algn="r"/>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873974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a:r>
                        <a:rPr lang="ar-AE" sz="1400" kern="150" dirty="0">
                          <a:effectLst/>
                          <a:latin typeface="Arial" panose="020B0604020202020204" pitchFamily="34" charset="0"/>
                          <a:cs typeface="Arial" panose="020B0604020202020204" pitchFamily="34" charset="0"/>
                        </a:rPr>
                        <a:t>¶ فأجابه الثعبان:</a:t>
                      </a:r>
                    </a:p>
                    <a:p>
                      <a:pPr indent="216000" algn="r"/>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فاشهد بإيمانك، لأنك ستموت!</a:t>
                      </a:r>
                    </a:p>
                    <a:p>
                      <a:pPr indent="216000" algn="r"/>
                      <a:r>
                        <a:rPr lang="ar-AE" sz="1400" kern="150" dirty="0">
                          <a:effectLst/>
                          <a:latin typeface="Arial" panose="020B0604020202020204" pitchFamily="34" charset="0"/>
                          <a:cs typeface="Arial" panose="020B0604020202020204" pitchFamily="34" charset="0"/>
                        </a:rPr>
                        <a:t>¶ فقال له الرجل:</a:t>
                      </a:r>
                    </a:p>
                    <a:p>
                      <a:pPr indent="216000" algn="r"/>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a:r>
                        <a:rPr lang="ar-AE" sz="1400" i="1" kern="150" dirty="0">
                          <a:effectLst/>
                          <a:latin typeface="Arial" panose="020B0604020202020204" pitchFamily="34" charset="0"/>
                          <a:cs typeface="Arial" panose="020B0604020202020204" pitchFamily="34" charset="0"/>
                        </a:rPr>
                        <a:t>فلا يبرأ أبدًا من البلاء!</a:t>
                      </a:r>
                    </a:p>
                    <a:p>
                      <a:pPr indent="216000" algn="r"/>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a:r>
                        <a:rPr lang="ar-AE" sz="1400" kern="150" dirty="0">
                          <a:effectLst/>
                          <a:latin typeface="Arial" panose="020B0604020202020204" pitchFamily="34" charset="0"/>
                          <a:cs typeface="Arial" panose="020B0604020202020204" pitchFamily="34" charset="0"/>
                        </a:rPr>
                        <a:t>— آه! لقد أفلت عشاء عائلتي!</a:t>
                      </a:r>
                    </a:p>
                    <a:p>
                      <a:pPr indent="216000" algn="r"/>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010372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الزمن القديم، كان الذئب والكلب أخوين. كان اسم أحدهما امحمد، والآخر رابح. وكانا يرعيان الماشية وحدهما: يخرجان بها صباحًا، ويرعيانها حتى المساء، ثم يعيدانها إلى البيت حين تشبع.</a:t>
                      </a:r>
                    </a:p>
                    <a:p>
                      <a:pPr indent="216000" algn="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الكلب منشغلًا في مكان آخر، فقال لها الذئب:</a:t>
                      </a:r>
                    </a:p>
                    <a:p>
                      <a:pPr indent="216000" algn="r"/>
                      <a:r>
                        <a:rPr lang="ar-AE" sz="1400" kern="150" dirty="0">
                          <a:effectLst/>
                          <a:latin typeface="Arial" panose="020B0604020202020204" pitchFamily="34" charset="0"/>
                          <a:cs typeface="Arial" panose="020B0604020202020204" pitchFamily="34" charset="0"/>
                        </a:rPr>
                        <a:t>لا تخافي!</a:t>
                      </a:r>
                    </a:p>
                    <a:p>
                      <a:pPr indent="216000" algn="r"/>
                      <a:r>
                        <a:rPr lang="ar-AE" sz="1400" kern="150" dirty="0">
                          <a:effectLst/>
                          <a:latin typeface="Arial" panose="020B0604020202020204" pitchFamily="34" charset="0"/>
                          <a:cs typeface="Arial" panose="020B0604020202020204" pitchFamily="34" charset="0"/>
                        </a:rPr>
                        <a:t>نزل لينقذها، لكنه وجدها جريحة. مسح الدم عنها، ثم أجهز عليها: قتلها وأكلها.</a:t>
                      </a:r>
                    </a:p>
                    <a:p>
                      <a:pPr indent="216000" algn="r"/>
                      <a:r>
                        <a:rPr lang="ar-AE" sz="1400" kern="150" dirty="0">
                          <a:effectLst/>
                          <a:latin typeface="Arial" panose="020B0604020202020204" pitchFamily="34" charset="0"/>
                          <a:cs typeface="Arial" panose="020B0604020202020204" pitchFamily="34" charset="0"/>
                        </a:rPr>
                        <a:t>¶ وفي المساء، حين عادا إلى البيت، سار الكلب في وسط الماشية، بينما ابتعد الذئب عنها وانعزل.</a:t>
                      </a:r>
                    </a:p>
                    <a:p>
                      <a:pPr indent="216000" algn="r"/>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p>
                    <a:p>
                      <a:pPr indent="216000" algn="r"/>
                      <a:r>
                        <a:rPr lang="ar-AE" sz="1400" kern="150" dirty="0">
                          <a:effectLst/>
                          <a:latin typeface="Arial" panose="020B0604020202020204" pitchFamily="34" charset="0"/>
                          <a:cs typeface="Arial" panose="020B0604020202020204" pitchFamily="34" charset="0"/>
                        </a:rPr>
                        <a:t>¶ وفي يوم من الأيام، وقف على مرتفع ونادى الكلب قائلًا:</a:t>
                      </a:r>
                    </a:p>
                    <a:p>
                      <a:pPr indent="216000" algn="r"/>
                      <a:r>
                        <a:rPr lang="ar-AE" sz="1400" kern="150" dirty="0">
                          <a:effectLst/>
                          <a:latin typeface="Arial" panose="020B0604020202020204" pitchFamily="34" charset="0"/>
                          <a:cs typeface="Arial" panose="020B0604020202020204" pitchFamily="34" charset="0"/>
                        </a:rPr>
                        <a:t>هنيئًا لك أيها الكلب:</a:t>
                      </a:r>
                    </a:p>
                    <a:p>
                      <a:pPr indent="216000" algn="r"/>
                      <a:r>
                        <a:rPr lang="ar-AE" sz="1400" kern="150" dirty="0">
                          <a:effectLst/>
                          <a:latin typeface="Arial" panose="020B0604020202020204" pitchFamily="34" charset="0"/>
                          <a:cs typeface="Arial" panose="020B0604020202020204" pitchFamily="34" charset="0"/>
                        </a:rPr>
                        <a:t>تنام بين النعاج!</a:t>
                      </a:r>
                    </a:p>
                    <a:p>
                      <a:pPr indent="216000" algn="r"/>
                      <a:r>
                        <a:rPr lang="ar-AE" sz="1400" kern="150" dirty="0">
                          <a:effectLst/>
                          <a:latin typeface="Arial" panose="020B0604020202020204" pitchFamily="34" charset="0"/>
                          <a:cs typeface="Arial" panose="020B0604020202020204" pitchFamily="34" charset="0"/>
                        </a:rPr>
                        <a:t>فأجابه الكلب:</a:t>
                      </a:r>
                    </a:p>
                    <a:p>
                      <a:pPr indent="216000" algn="r"/>
                      <a:r>
                        <a:rPr lang="ar-AE" sz="1400" kern="150" dirty="0">
                          <a:effectLst/>
                          <a:latin typeface="Arial" panose="020B0604020202020204" pitchFamily="34" charset="0"/>
                          <a:cs typeface="Arial" panose="020B0604020202020204" pitchFamily="34" charset="0"/>
                        </a:rPr>
                        <a:t>ابتعد عن هنا!</a:t>
                      </a:r>
                    </a:p>
                    <a:p>
                      <a:pPr indent="216000" algn="r"/>
                      <a:r>
                        <a:rPr lang="ar-AE" sz="1400" kern="150" dirty="0">
                          <a:effectLst/>
                          <a:latin typeface="Arial" panose="020B0604020202020204" pitchFamily="34" charset="0"/>
                          <a:cs typeface="Arial" panose="020B0604020202020204" pitchFamily="34" charset="0"/>
                        </a:rPr>
                        <a:t>فأفعالك هي السيئة:</a:t>
                      </a:r>
                    </a:p>
                    <a:p>
                      <a:pPr indent="216000" algn="r"/>
                      <a:r>
                        <a:rPr lang="ar-AE" sz="1400" kern="150" dirty="0">
                          <a:effectLst/>
                          <a:latin typeface="Arial" panose="020B0604020202020204" pitchFamily="34" charset="0"/>
                          <a:cs typeface="Arial" panose="020B0604020202020204" pitchFamily="34" charset="0"/>
                        </a:rPr>
                        <a:t>ولولا ذلك لكنت مثلي تمامًا!</a:t>
                      </a:r>
                    </a:p>
                    <a:p>
                      <a:pPr indent="216000" algn="r"/>
                      <a:r>
                        <a:rPr lang="ar-AE" sz="1400" kern="150" dirty="0">
                          <a:effectLst/>
                          <a:latin typeface="Arial" panose="020B0604020202020204" pitchFamily="34" charset="0"/>
                          <a:cs typeface="Arial" panose="020B0604020202020204" pitchFamily="34" charset="0"/>
                        </a:rPr>
                        <a:t>وأضاف:</a:t>
                      </a:r>
                    </a:p>
                    <a:p>
                      <a:pPr indent="216000" algn="r"/>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a:r>
                        <a:rPr lang="ar-AE" sz="1400" kern="150" dirty="0">
                          <a:effectLst/>
                          <a:latin typeface="Arial" panose="020B0604020202020204" pitchFamily="34" charset="0"/>
                          <a:cs typeface="Arial" panose="020B0604020202020204" pitchFamily="34" charset="0"/>
                        </a:rPr>
                        <a:t>فقال له الكلب: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فضحك الذئب منه وأجابه:</a:t>
                      </a:r>
                    </a:p>
                    <a:p>
                      <a:pPr indent="216000" algn="r"/>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قالت النعجة:</a:t>
                      </a:r>
                    </a:p>
                    <a:p>
                      <a:pPr indent="216000" algn="r"/>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a:r>
                        <a:rPr lang="ar-AE" sz="1400" kern="150" dirty="0">
                          <a:effectLst/>
                          <a:latin typeface="Arial" panose="020B0604020202020204" pitchFamily="34" charset="0"/>
                          <a:cs typeface="Arial" panose="020B0604020202020204" pitchFamily="34" charset="0"/>
                        </a:rPr>
                        <a:t>فقالت لها العنزة:</a:t>
                      </a:r>
                    </a:p>
                    <a:p>
                      <a:pPr indent="216000" algn="r"/>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a:r>
                        <a:rPr lang="ar-AE" sz="1400" kern="150" dirty="0">
                          <a:effectLst/>
                          <a:latin typeface="Arial" panose="020B0604020202020204" pitchFamily="34" charset="0"/>
                          <a:cs typeface="Arial" panose="020B0604020202020204" pitchFamily="34" charset="0"/>
                        </a:rPr>
                        <a:t>فقال لها:</a:t>
                      </a:r>
                    </a:p>
                    <a:p>
                      <a:pPr indent="216000" algn="r"/>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a:r>
                        <a:rPr lang="ar-AE" sz="1400" kern="150" dirty="0">
                          <a:effectLst/>
                          <a:latin typeface="Arial" panose="020B0604020202020204" pitchFamily="34" charset="0"/>
                          <a:cs typeface="Arial" panose="020B0604020202020204" pitchFamily="34" charset="0"/>
                        </a:rPr>
                        <a:t>فأجابته:</a:t>
                      </a:r>
                    </a:p>
                    <a:p>
                      <a:pPr indent="216000" algn="r"/>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37655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a:r>
                        <a:rPr lang="ar-AE" sz="1400" kern="150" dirty="0">
                          <a:effectLst/>
                          <a:latin typeface="Arial" panose="020B0604020202020204" pitchFamily="34" charset="0"/>
                          <a:cs typeface="Arial" panose="020B0604020202020204" pitchFamily="34" charset="0"/>
                        </a:rPr>
                        <a:t>ـ فأجابته: حاشا لله يا سيدي امحمد، إنك تبحث عن أعذار لتؤذيني!</a:t>
                      </a:r>
                    </a:p>
                    <a:p>
                      <a:pPr indent="216000" algn="r"/>
                      <a:r>
                        <a:rPr lang="ar-AE" sz="1400" kern="150" dirty="0">
                          <a:effectLst/>
                          <a:latin typeface="Arial" panose="020B0604020202020204" pitchFamily="34" charset="0"/>
                          <a:cs typeface="Arial" panose="020B0604020202020204" pitchFamily="34" charset="0"/>
                        </a:rPr>
                        <a:t>وحين حاصرها، قالت له:</a:t>
                      </a:r>
                    </a:p>
                    <a:p>
                      <a:pPr indent="216000" algn="r"/>
                      <a:r>
                        <a:rPr lang="ar-AE" sz="1400" kern="150" dirty="0">
                          <a:effectLst/>
                          <a:latin typeface="Arial" panose="020B0604020202020204" pitchFamily="34" charset="0"/>
                          <a:cs typeface="Arial" panose="020B0604020202020204" pitchFamily="34" charset="0"/>
                        </a:rPr>
                        <a:t>ـ أقسم لي، ثم كلني!</a:t>
                      </a:r>
                    </a:p>
                    <a:p>
                      <a:pPr indent="216000" algn="r"/>
                      <a:r>
                        <a:rPr lang="ar-AE" sz="1400" kern="150" dirty="0">
                          <a:effectLst/>
                          <a:latin typeface="Arial" panose="020B0604020202020204" pitchFamily="34" charset="0"/>
                          <a:cs typeface="Arial" panose="020B0604020202020204" pitchFamily="34" charset="0"/>
                        </a:rPr>
                        <a:t>ـ فسألها: أين؟</a:t>
                      </a:r>
                    </a:p>
                    <a:p>
                      <a:pPr indent="216000" algn="r"/>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كلب.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59260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يوم من الأيام، كانت عنزة ترعى مع جدييها؛ أحدهما بكرها والآخر أصغرهما.</a:t>
                      </a:r>
                    </a:p>
                    <a:p>
                      <a:pPr indent="216000" algn="r"/>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الكلب إليهما. لكنهما وجدا أن الأوان قد فات: لم يصلا إلا بعدما خنقه الذئب وعضه عدة عضات.</a:t>
                      </a:r>
                    </a:p>
                    <a:p>
                      <a:pPr indent="216000" algn="r"/>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a:r>
                        <a:rPr lang="ar-AE" sz="1400" kern="150" dirty="0">
                          <a:effectLst/>
                          <a:latin typeface="Arial" panose="020B0604020202020204" pitchFamily="34" charset="0"/>
                          <a:cs typeface="Arial" panose="020B0604020202020204" pitchFamily="34" charset="0"/>
                        </a:rPr>
                        <a:t>فقال له الكلب:</a:t>
                      </a:r>
                    </a:p>
                    <a:p>
                      <a:pPr indent="216000" algn="r"/>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1590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p>
                    <a:p>
                      <a:pPr indent="216000" algn="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51431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أنكر الأمر تمامًا!</a:t>
                      </a:r>
                    </a:p>
                    <a:p>
                      <a:pPr indent="216000" algn="r"/>
                      <a:r>
                        <a:rPr lang="ar-AE" sz="1400" kern="150" dirty="0">
                          <a:effectLst/>
                          <a:latin typeface="Arial" panose="020B0604020202020204" pitchFamily="34" charset="0"/>
                          <a:cs typeface="Arial" panose="020B0604020202020204" pitchFamily="34" charset="0"/>
                        </a:rPr>
                        <a:t>فذهبت وأحضرت كلبًا داخل كيس من جلد، ووضعته عند طرف البيدر. ظن الذئب أنه مجرد كيس من الحبوب موضوع هناك. تقدم ليأخذه، لكن عيني الكلب ظهرتا من داخله، تلمعان كالجمر المتقد.</a:t>
                      </a:r>
                    </a:p>
                    <a:p>
                      <a:pPr indent="216000" algn="r"/>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1135311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a:r>
                        <a:rPr lang="ar-AE" sz="1400" kern="150" dirty="0">
                          <a:effectLst/>
                          <a:latin typeface="Arial" panose="020B0604020202020204" pitchFamily="34" charset="0"/>
                          <a:cs typeface="Arial" panose="020B0604020202020204" pitchFamily="34" charset="0"/>
                        </a:rPr>
                        <a:t>فقال له الذئب:</a:t>
                      </a:r>
                    </a:p>
                    <a:p>
                      <a:pPr indent="216000" algn="r"/>
                      <a:r>
                        <a:rPr lang="ar-AE" sz="1400" kern="150" dirty="0">
                          <a:effectLst/>
                          <a:latin typeface="Arial" panose="020B0604020202020204" pitchFamily="34" charset="0"/>
                          <a:cs typeface="Arial" panose="020B0604020202020204" pitchFamily="34" charset="0"/>
                        </a:rPr>
                        <a:t>ـ أهلًا يا ابن خالتي! ما الذي جاء بك إلى هنا؟</a:t>
                      </a:r>
                    </a:p>
                    <a:p>
                      <a:pPr indent="216000" algn="r"/>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a:r>
                        <a:rPr lang="ar-AE" sz="1400" kern="150" dirty="0">
                          <a:effectLst/>
                          <a:latin typeface="Arial" panose="020B0604020202020204" pitchFamily="34" charset="0"/>
                          <a:cs typeface="Arial" panose="020B0604020202020204" pitchFamily="34" charset="0"/>
                        </a:rPr>
                        <a:t>¶ مضى بعض الوقت، وحملوا كلبًا داخل سلة كبيرة من الخوص، ونزلوا إلى الوادي نفسه. وإذا بالذئب قد وصل. وما إن رأى الحمل حتى ابتسم ابتسامة عريضة وقال له:</a:t>
                      </a:r>
                    </a:p>
                    <a:p>
                      <a:pPr indent="216000" algn="r"/>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861756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الكلب وعضه. أخذ الذئب يئن ويعوي، لكن الكلب لم يتركه حتى تبرز من شدة الرعب.</a:t>
                      </a:r>
                    </a:p>
                    <a:p>
                      <a:pPr indent="216000" algn="r"/>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182975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ذات مرة، انطلق الذئب والديك في رحلة طويلة. أطلّا على الجبال والمرتفعات، وعبرا الأنهار، واستراحا في الوديان والمستنقعات. وفي ذلك اليوم، أدركهما الليل في غابة. فطار الديك إلى شجرة بلوط عالية، ودخل الذئب تجويفًا ليحتمي به، وبقي هناك حارسًا.</a:t>
                      </a:r>
                    </a:p>
                    <a:p>
                      <a:pPr indent="216000" algn="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a:r>
                        <a:rPr lang="ar-AE" sz="1400" kern="150" dirty="0">
                          <a:effectLst/>
                          <a:latin typeface="Arial" panose="020B0604020202020204" pitchFamily="34" charset="0"/>
                          <a:cs typeface="Arial" panose="020B0604020202020204" pitchFamily="34" charset="0"/>
                        </a:rPr>
                        <a:t>ـ الرجل الصالح هناك في التجويف. أيقظه من دون تأخير كي أتمكن من النزول!</a:t>
                      </a:r>
                    </a:p>
                    <a:p>
                      <a:pPr indent="216000" algn="r"/>
                      <a:r>
                        <a:rPr lang="ar-AE" sz="1400" kern="150" dirty="0">
                          <a:effectLst/>
                          <a:latin typeface="Arial" panose="020B0604020202020204" pitchFamily="34" charset="0"/>
                          <a:cs typeface="Arial" panose="020B0604020202020204" pitchFamily="34" charset="0"/>
                        </a:rPr>
                        <a:t>¶ التفت سيدي امحمد نحو تجويف الشجرة فرأى الكلب نائمًا؛ فقد ظل يحرس طوال الليل، وغلبه النعاس عند اقتراب الصباح.</a:t>
                      </a:r>
                    </a:p>
                    <a:p>
                      <a:pPr indent="216000" algn="r"/>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768064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الكلب نستطيع أن نفعل شيئًا لمواجهته. إن وجدت لي حلًا، أعطيتك مكافأتك.</a:t>
                      </a:r>
                    </a:p>
                    <a:p>
                      <a:pPr indent="216000" algn="r"/>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53463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أما الزوجة فقالت في نفسها: يا لها من صفقة عظيمة لي! ما يعفو عنه ملك الحيوانات، سيتكفل سيدي امحمد بالقضاء عليه!</a:t>
                      </a:r>
                    </a:p>
                    <a:p>
                      <a:pPr indent="216000" algn="r"/>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الكلب داخله.</a:t>
                      </a:r>
                    </a:p>
                    <a:p>
                      <a:pPr indent="216000" algn="r"/>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الكلب عليه ونهشه ومزق جسده.</a:t>
                      </a:r>
                    </a:p>
                    <a:p>
                      <a:pPr indent="216000" algn="r"/>
                      <a:r>
                        <a:rPr lang="ar-AE" sz="1400" kern="150" dirty="0">
                          <a:effectLst/>
                          <a:latin typeface="Arial" panose="020B0604020202020204" pitchFamily="34" charset="0"/>
                          <a:cs typeface="Arial" panose="020B0604020202020204" pitchFamily="34" charset="0"/>
                        </a:rPr>
                        <a:t>¶ قال سيدي امحمد: تُنسى المعروفات القديمة! وكما يقول المثل القديم: بيضة المرأة تفقس جملًا!</a:t>
                      </a:r>
                    </a:p>
                    <a:p>
                      <a:pPr algn="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70318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a:r>
                        <a:rPr lang="ar-AE" sz="1400" kern="150" dirty="0">
                          <a:effectLst/>
                          <a:latin typeface="Arial" panose="020B0604020202020204" pitchFamily="34" charset="0"/>
                          <a:cs typeface="Arial" panose="020B0604020202020204" pitchFamily="34" charset="0"/>
                        </a:rPr>
                        <a:t>يا أماه العجوز، ما بك؟</a:t>
                      </a:r>
                    </a:p>
                    <a:p>
                      <a:pPr indent="216000" algn="r"/>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a:r>
                        <a:rPr lang="ar-AE" sz="1400" kern="150" dirty="0">
                          <a:effectLst/>
                          <a:latin typeface="Arial" panose="020B0604020202020204" pitchFamily="34" charset="0"/>
                          <a:cs typeface="Arial" panose="020B0604020202020204" pitchFamily="34" charset="0"/>
                        </a:rPr>
                        <a:t>ـ ما رأيك في ملك الحيوانات؟</a:t>
                      </a:r>
                    </a:p>
                    <a:p>
                      <a:pPr indent="216000" algn="r"/>
                      <a:r>
                        <a:rPr lang="ar-AE" sz="1400" kern="150" dirty="0">
                          <a:effectLst/>
                          <a:latin typeface="Arial" panose="020B0604020202020204" pitchFamily="34" charset="0"/>
                          <a:cs typeface="Arial" panose="020B0604020202020204" pitchFamily="34" charset="0"/>
                        </a:rPr>
                        <a:t>ـ فقالت لهم: إنه رجل طيب، لكن يا لسوء رائحة أنفاسه!</a:t>
                      </a:r>
                    </a:p>
                    <a:p>
                      <a:pPr indent="216000" algn="r"/>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a:r>
                        <a:rPr lang="ar-AE" sz="1400" kern="150" dirty="0">
                          <a:effectLst/>
                          <a:latin typeface="Arial" panose="020B0604020202020204" pitchFamily="34" charset="0"/>
                          <a:cs typeface="Arial" panose="020B0604020202020204" pitchFamily="34" charset="0"/>
                        </a:rPr>
                        <a:t>ـ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9785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ـ فأجابته: لا أستطيع؛ لقد أحسنت إليّ!</a:t>
                      </a:r>
                    </a:p>
                    <a:p>
                      <a:pPr indent="216000" algn="r"/>
                      <a:r>
                        <a:rPr lang="ar-AE" sz="1400" kern="150" dirty="0">
                          <a:effectLst/>
                          <a:latin typeface="Arial" panose="020B0604020202020204" pitchFamily="34" charset="0"/>
                          <a:cs typeface="Arial" panose="020B0604020202020204" pitchFamily="34" charset="0"/>
                        </a:rPr>
                        <a:t>ـ فقال لها: ستضربينني وإلا أكلتك.</a:t>
                      </a:r>
                    </a:p>
                    <a:p>
                      <a:pPr indent="216000" algn="r"/>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a:r>
                        <a:rPr lang="ar-AE" sz="1400" kern="150" dirty="0">
                          <a:effectLst/>
                          <a:latin typeface="Arial" panose="020B0604020202020204" pitchFamily="34" charset="0"/>
                          <a:cs typeface="Arial" panose="020B0604020202020204" pitchFamily="34" charset="0"/>
                        </a:rPr>
                        <a:t>فقال لها:</a:t>
                      </a:r>
                    </a:p>
                    <a:p>
                      <a:pPr indent="216000" algn="r"/>
                      <a:r>
                        <a:rPr lang="ar-AE" sz="1400" kern="150" dirty="0">
                          <a:effectLst/>
                          <a:latin typeface="Arial" panose="020B0604020202020204" pitchFamily="34" charset="0"/>
                          <a:cs typeface="Arial" panose="020B0604020202020204" pitchFamily="34" charset="0"/>
                        </a:rPr>
                        <a:t>ـ أزيلي القمل عني.</a:t>
                      </a:r>
                    </a:p>
                    <a:p>
                      <a:pPr indent="216000" algn="r"/>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a:r>
                        <a:rPr lang="ar-AE" sz="1400" kern="150" dirty="0">
                          <a:effectLst/>
                          <a:latin typeface="Arial" panose="020B0604020202020204" pitchFamily="34" charset="0"/>
                          <a:cs typeface="Arial" panose="020B0604020202020204" pitchFamily="34" charset="0"/>
                        </a:rPr>
                        <a:t>الحمد لله يا بني، لقد شُفيت!</a:t>
                      </a:r>
                    </a:p>
                    <a:p>
                      <a:pPr indent="216000" algn="r"/>
                      <a:r>
                        <a:rPr lang="ar-AE" sz="1400" kern="150" dirty="0">
                          <a:effectLst/>
                          <a:latin typeface="Arial" panose="020B0604020202020204" pitchFamily="34" charset="0"/>
                          <a:cs typeface="Arial" panose="020B0604020202020204" pitchFamily="34" charset="0"/>
                        </a:rPr>
                        <a:t>فقال لها: الجروح تحفر ثم تلتئم، أما الكلمات فتحفر وتتكاثر! 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a:r>
                        <a:rPr lang="ar-AE" sz="1400" kern="150" dirty="0">
                          <a:effectLst/>
                          <a:latin typeface="Arial" panose="020B0604020202020204" pitchFamily="34" charset="0"/>
                          <a:cs typeface="Arial" panose="020B0604020202020204" pitchFamily="34" charset="0"/>
                        </a:rPr>
                        <a:t>ـ حسنًا، جرّبي الأمر بنفسك!</a:t>
                      </a:r>
                    </a:p>
                    <a:p>
                      <a:pPr indent="216000" algn="r"/>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394006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الكلب.</a:t>
                      </a:r>
                    </a:p>
                    <a:p>
                      <a:pPr indent="216000" algn="r"/>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a:r>
                        <a:rPr lang="ar-AE" sz="1400" kern="150" dirty="0">
                          <a:effectLst/>
                          <a:latin typeface="Arial" panose="020B0604020202020204" pitchFamily="34" charset="0"/>
                          <a:cs typeface="Arial" panose="020B0604020202020204" pitchFamily="34" charset="0"/>
                        </a:rPr>
                        <a:t>ـ أعنّي على الكلب كي أنتقم منه، وأعطيك نصيبك.</a:t>
                      </a:r>
                    </a:p>
                    <a:p>
                      <a:pPr indent="216000" algn="r"/>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a:r>
                        <a:rPr lang="ar-AE" sz="1400" kern="150" dirty="0">
                          <a:effectLst/>
                          <a:latin typeface="Arial" panose="020B0604020202020204" pitchFamily="34" charset="0"/>
                          <a:cs typeface="Arial" panose="020B0604020202020204" pitchFamily="34" charset="0"/>
                        </a:rPr>
                        <a:t>¶ هكذا مات الكلب المسكين، الذي اعتاد حراسة الماشية البكماء.</a:t>
                      </a:r>
                    </a:p>
                    <a:p>
                      <a:pPr indent="216000" algn="r"/>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a:r>
                        <a:rPr lang="ar-AE" sz="1400" kern="150" dirty="0">
                          <a:effectLst/>
                          <a:latin typeface="Arial" panose="020B0604020202020204" pitchFamily="34" charset="0"/>
                          <a:cs typeface="Arial" panose="020B0604020202020204" pitchFamily="34" charset="0"/>
                        </a:rPr>
                        <a:t>ـ ما بك يا أختي؟</a:t>
                      </a:r>
                    </a:p>
                    <a:p>
                      <a:pPr indent="216000" algn="r"/>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فقال لها:</a:t>
                      </a:r>
                    </a:p>
                    <a:p>
                      <a:pPr indent="216000" algn="r"/>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a:r>
                        <a:rPr lang="ar-AE" sz="1400" kern="150" dirty="0">
                          <a:effectLst/>
                          <a:latin typeface="Arial" panose="020B0604020202020204" pitchFamily="34" charset="0"/>
                          <a:cs typeface="Arial" panose="020B0604020202020204" pitchFamily="34" charset="0"/>
                        </a:rPr>
                        <a:t>ثم مضى لشأنه.</a:t>
                      </a:r>
                    </a:p>
                    <a:p>
                      <a:pPr indent="216000" algn="r"/>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a:r>
                        <a:rPr lang="ar-AE" sz="1400" kern="150" dirty="0">
                          <a:effectLst/>
                          <a:latin typeface="Arial" panose="020B0604020202020204" pitchFamily="34" charset="0"/>
                          <a:cs typeface="Arial" panose="020B0604020202020204" pitchFamily="34" charset="0"/>
                        </a:rPr>
                        <a:t>فأجابها الذئب:</a:t>
                      </a:r>
                    </a:p>
                    <a:p>
                      <a:pPr indent="216000" algn="r"/>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a:r>
                        <a:rPr lang="ar-AE" sz="1400" kern="150" dirty="0">
                          <a:effectLst/>
                          <a:latin typeface="Arial" panose="020B0604020202020204" pitchFamily="34" charset="0"/>
                          <a:cs typeface="Arial" panose="020B0604020202020204" pitchFamily="34" charset="0"/>
                        </a:rPr>
                        <a:t>فقالت له:</a:t>
                      </a:r>
                    </a:p>
                    <a:p>
                      <a:pPr indent="216000" algn="r"/>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46556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a:r>
                        <a:rPr lang="ar-AE" sz="1400" kern="150" dirty="0">
                          <a:effectLst/>
                          <a:latin typeface="Arial" panose="020B0604020202020204" pitchFamily="34" charset="0"/>
                          <a:cs typeface="Arial" panose="020B0604020202020204" pitchFamily="34" charset="0"/>
                        </a:rPr>
                        <a:t>ـ ماذا ترى يا امحمد؟</a:t>
                      </a:r>
                    </a:p>
                    <a:p>
                      <a:pPr indent="216000" algn="r"/>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a:r>
                        <a:rPr lang="ar-AE" sz="1400" kern="150" dirty="0">
                          <a:effectLst/>
                          <a:latin typeface="Arial" panose="020B0604020202020204" pitchFamily="34" charset="0"/>
                          <a:cs typeface="Arial" panose="020B0604020202020204" pitchFamily="34" charset="0"/>
                        </a:rPr>
                        <a:t>فارتفع به أكثر وقال له:</a:t>
                      </a:r>
                    </a:p>
                    <a:p>
                      <a:pPr indent="216000" algn="r"/>
                      <a:r>
                        <a:rPr lang="ar-AE" sz="1400" kern="150" dirty="0">
                          <a:effectLst/>
                          <a:latin typeface="Arial" panose="020B0604020202020204" pitchFamily="34" charset="0"/>
                          <a:cs typeface="Arial" panose="020B0604020202020204" pitchFamily="34" charset="0"/>
                        </a:rPr>
                        <a:t>ـ ماذا ترى؟</a:t>
                      </a:r>
                    </a:p>
                    <a:p>
                      <a:pPr indent="216000" algn="r"/>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a:r>
                        <a:rPr lang="ar-AE" sz="1400" kern="150" dirty="0">
                          <a:effectLst/>
                          <a:latin typeface="Arial" panose="020B0604020202020204" pitchFamily="34" charset="0"/>
                          <a:cs typeface="Arial" panose="020B0604020202020204" pitchFamily="34" charset="0"/>
                        </a:rPr>
                        <a:t>فارتفع به أعلى وقال له:</a:t>
                      </a:r>
                    </a:p>
                    <a:p>
                      <a:pPr indent="216000" algn="r"/>
                      <a:r>
                        <a:rPr lang="ar-AE" sz="1400" kern="150" dirty="0">
                          <a:effectLst/>
                          <a:latin typeface="Arial" panose="020B0604020202020204" pitchFamily="34" charset="0"/>
                          <a:cs typeface="Arial" panose="020B0604020202020204" pitchFamily="34" charset="0"/>
                        </a:rPr>
                        <a:t>ـ والآن، ماذا ترى؟</a:t>
                      </a:r>
                    </a:p>
                    <a:p>
                      <a:pPr indent="216000" algn="r"/>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وانفجرت مثانته من شدة الرعب.</a:t>
                      </a:r>
                    </a:p>
                    <a:p>
                      <a:pPr indent="216000" algn="r"/>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i="1" kern="150" dirty="0">
                          <a:effectLst/>
                          <a:latin typeface="Arial" panose="020B0604020202020204" pitchFamily="34" charset="0"/>
                          <a:cs typeface="Arial" panose="020B0604020202020204" pitchFamily="34" charset="0"/>
                        </a:rPr>
                        <a:t>يا سيدي عبد القرنين!</a:t>
                      </a:r>
                    </a:p>
                    <a:p>
                      <a:pPr indent="216000" algn="r"/>
                      <a:r>
                        <a:rPr lang="ar-AE" sz="1400" i="1" kern="150" dirty="0">
                          <a:effectLst/>
                          <a:latin typeface="Arial" panose="020B0604020202020204" pitchFamily="34" charset="0"/>
                          <a:cs typeface="Arial" panose="020B0604020202020204" pitchFamily="34" charset="0"/>
                        </a:rPr>
                        <a:t>في الغدير أو في التبن!</a:t>
                      </a:r>
                    </a:p>
                    <a:p>
                      <a:pPr indent="216000" algn="r"/>
                      <a:r>
                        <a:rPr lang="ar-AE" sz="1400" i="1" kern="150" dirty="0">
                          <a:effectLst/>
                          <a:latin typeface="Arial" panose="020B0604020202020204" pitchFamily="34" charset="0"/>
                          <a:cs typeface="Arial" panose="020B0604020202020204" pitchFamily="34" charset="0"/>
                        </a:rPr>
                        <a:t>يا سيدي عبد القرنين!</a:t>
                      </a:r>
                    </a:p>
                    <a:p>
                      <a:pPr indent="216000" algn="r"/>
                      <a:r>
                        <a:rPr lang="ar-AE" sz="1400" i="1" kern="150" dirty="0">
                          <a:effectLst/>
                          <a:latin typeface="Arial" panose="020B0604020202020204" pitchFamily="34" charset="0"/>
                          <a:cs typeface="Arial" panose="020B0604020202020204" pitchFamily="34" charset="0"/>
                        </a:rPr>
                        <a:t>في الغدير أو في التبن!</a:t>
                      </a:r>
                    </a:p>
                    <a:p>
                      <a:pPr indent="216000" algn="r"/>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554076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a:r>
                        <a:rPr lang="ar-AE" sz="1400" i="1" kern="150" dirty="0">
                          <a:effectLst/>
                          <a:latin typeface="Arial" panose="020B0604020202020204" pitchFamily="34" charset="0"/>
                          <a:cs typeface="Arial" panose="020B0604020202020204" pitchFamily="34" charset="0"/>
                        </a:rPr>
                        <a:t>لم نجد ما هو أحدث منها!</a:t>
                      </a:r>
                    </a:p>
                    <a:p>
                      <a:pPr indent="216000" algn="r"/>
                      <a:r>
                        <a:rPr lang="ar-AE" sz="1400" kern="150" dirty="0">
                          <a:effectLst/>
                          <a:latin typeface="Arial" panose="020B0604020202020204" pitchFamily="34" charset="0"/>
                          <a:cs typeface="Arial" panose="020B0604020202020204" pitchFamily="34" charset="0"/>
                        </a:rPr>
                        <a:t>¶ رأته الخنزيرة يرتجف ويتمتم كأنه واقع في غيبوبة غامضة، فسألته:</a:t>
                      </a:r>
                    </a:p>
                    <a:p>
                      <a:pPr indent="216000" algn="r"/>
                      <a:r>
                        <a:rPr lang="ar-AE" sz="1400" kern="150" dirty="0">
                          <a:effectLst/>
                          <a:latin typeface="Arial" panose="020B0604020202020204" pitchFamily="34" charset="0"/>
                          <a:cs typeface="Arial" panose="020B0604020202020204" pitchFamily="34" charset="0"/>
                        </a:rPr>
                        <a:t>‑ أأنت متعلم يا سيدي امحمد؟</a:t>
                      </a:r>
                    </a:p>
                    <a:p>
                      <a:pPr indent="216000" algn="r"/>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246901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a:r>
                        <a:rPr lang="ar-AE" sz="1400" kern="150" dirty="0">
                          <a:effectLst/>
                          <a:latin typeface="Arial" panose="020B0604020202020204" pitchFamily="34" charset="0"/>
                          <a:cs typeface="Arial" panose="020B0604020202020204" pitchFamily="34" charset="0"/>
                        </a:rPr>
                        <a:t>‑ فقالت له: اتفقنا!</a:t>
                      </a:r>
                    </a:p>
                    <a:p>
                      <a:pPr indent="216000" algn="r"/>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p>
                    <a:p>
                      <a:pPr indent="216000" algn="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a:r>
                        <a:rPr lang="ar-AE" sz="1400" kern="150" dirty="0">
                          <a:effectLst/>
                          <a:latin typeface="Arial" panose="020B0604020202020204" pitchFamily="34" charset="0"/>
                          <a:cs typeface="Arial" panose="020B0604020202020204" pitchFamily="34" charset="0"/>
                        </a:rPr>
                        <a:t>¶ ثم قال لها:</a:t>
                      </a:r>
                    </a:p>
                    <a:p>
                      <a:pPr indent="216000" algn="r"/>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فأجابته:</a:t>
                      </a:r>
                    </a:p>
                    <a:p>
                      <a:pPr indent="216000" algn="r"/>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a:r>
                        <a:rPr lang="ar-AE" sz="1400" kern="150" dirty="0">
                          <a:effectLst/>
                          <a:latin typeface="Arial" panose="020B0604020202020204" pitchFamily="34" charset="0"/>
                          <a:cs typeface="Arial" panose="020B0604020202020204" pitchFamily="34" charset="0"/>
                        </a:rPr>
                        <a:t>فتركها تذهب، وانصرفت.</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6068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له الفول في الصيف؟</a:t>
                      </a:r>
                    </a:p>
                    <a:p>
                      <a:pPr indent="216000" algn="r"/>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a:r>
                        <a:rPr lang="ar-AE" sz="1400" kern="150" dirty="0">
                          <a:effectLst/>
                          <a:latin typeface="Arial" panose="020B0604020202020204" pitchFamily="34" charset="0"/>
                          <a:cs typeface="Arial" panose="020B0604020202020204" pitchFamily="34" charset="0"/>
                        </a:rPr>
                        <a:t>فأجابها قائلًا:</a:t>
                      </a:r>
                    </a:p>
                    <a:p>
                      <a:pPr indent="216000" algn="r"/>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a:r>
                        <a:rPr lang="ar-AE" sz="1400" kern="150" dirty="0">
                          <a:effectLst/>
                          <a:latin typeface="Arial" panose="020B0604020202020204" pitchFamily="34" charset="0"/>
                          <a:cs typeface="Arial" panose="020B0604020202020204" pitchFamily="34" charset="0"/>
                        </a:rPr>
                        <a:t>ترددت وقالت له:</a:t>
                      </a:r>
                    </a:p>
                    <a:p>
                      <a:pPr indent="216000" algn="r"/>
                      <a:r>
                        <a:rPr lang="ar-AE" sz="1400" kern="150" dirty="0">
                          <a:effectLst/>
                          <a:latin typeface="Arial" panose="020B0604020202020204" pitchFamily="34" charset="0"/>
                          <a:cs typeface="Arial" panose="020B0604020202020204" pitchFamily="34" charset="0"/>
                        </a:rPr>
                        <a:t>‑ إذا أعطيتك رأسي لتمضغه، فبماذا سأطحن لك الفول في الصيف؟</a:t>
                      </a:r>
                    </a:p>
                    <a:p>
                      <a:pPr indent="216000" algn="r"/>
                      <a:r>
                        <a:rPr lang="ar-AE" sz="1400" kern="150" dirty="0">
                          <a:effectLst/>
                          <a:latin typeface="Arial" panose="020B0604020202020204" pitchFamily="34" charset="0"/>
                          <a:cs typeface="Arial" panose="020B0604020202020204" pitchFamily="34" charset="0"/>
                        </a:rPr>
                        <a:t>زأر كالزوبعة وقال لها:</a:t>
                      </a:r>
                    </a:p>
                    <a:p>
                      <a:pPr indent="216000" algn="r"/>
                      <a:r>
                        <a:rPr lang="ar-AE" sz="1400" kern="150" dirty="0">
                          <a:effectLst/>
                          <a:latin typeface="Arial" panose="020B0604020202020204" pitchFamily="34" charset="0"/>
                          <a:cs typeface="Arial" panose="020B0604020202020204" pitchFamily="34" charset="0"/>
                        </a:rPr>
                        <a:t>‑ لقد التقيت امحمد!</a:t>
                      </a:r>
                    </a:p>
                    <a:p>
                      <a:pPr indent="216000" algn="r"/>
                      <a:r>
                        <a:rPr lang="ar-AE" sz="1400" kern="150" dirty="0">
                          <a:effectLst/>
                          <a:latin typeface="Arial" panose="020B0604020202020204" pitchFamily="34" charset="0"/>
                          <a:cs typeface="Arial" panose="020B0604020202020204" pitchFamily="34" charset="0"/>
                        </a:rPr>
                        <a:t>‑ فأجابته: نعم، التقيته!</a:t>
                      </a:r>
                    </a:p>
                    <a:p>
                      <a:pPr indent="216000" algn="r"/>
                      <a:r>
                        <a:rPr lang="ar-AE" sz="1400" kern="150" dirty="0">
                          <a:effectLst/>
                          <a:latin typeface="Arial" panose="020B0604020202020204" pitchFamily="34" charset="0"/>
                          <a:cs typeface="Arial" panose="020B0604020202020204" pitchFamily="34" charset="0"/>
                        </a:rPr>
                        <a:t>ثم هربت.</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a:r>
                        <a:rPr lang="ar-AE" sz="1600" kern="150" dirty="0">
                          <a:effectLst/>
                          <a:latin typeface="Arial" panose="020B0604020202020204" pitchFamily="34" charset="0"/>
                          <a:cs typeface="Arial" panose="020B0604020202020204" pitchFamily="34" charset="0"/>
                        </a:rPr>
                        <a:t>‑ فأجابهم: لقد مرّ!</a:t>
                      </a:r>
                    </a:p>
                    <a:p>
                      <a:pPr indent="216000" algn="r"/>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a:r>
                        <a:rPr lang="ar-AE" sz="1600" kern="150" dirty="0">
                          <a:effectLst/>
                          <a:latin typeface="Arial" panose="020B0604020202020204" pitchFamily="34" charset="0"/>
                          <a:cs typeface="Arial" panose="020B0604020202020204" pitchFamily="34" charset="0"/>
                        </a:rPr>
                        <a:t>‑ سألتهمك!</a:t>
                      </a:r>
                    </a:p>
                    <a:p>
                      <a:pPr indent="216000" algn="r"/>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a:r>
                        <a:rPr lang="ar-AE" sz="1600" kern="150" dirty="0">
                          <a:effectLst/>
                          <a:latin typeface="Arial" panose="020B0604020202020204" pitchFamily="34" charset="0"/>
                          <a:cs typeface="Arial" panose="020B0604020202020204" pitchFamily="34" charset="0"/>
                        </a:rPr>
                        <a:t>فقال له الجمل:</a:t>
                      </a:r>
                    </a:p>
                    <a:p>
                      <a:pPr indent="216000" algn="r"/>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a:r>
                        <a:rPr lang="ar-AE" sz="1600" kern="150" dirty="0">
                          <a:effectLst/>
                          <a:latin typeface="Arial" panose="020B0604020202020204" pitchFamily="34" charset="0"/>
                          <a:cs typeface="Arial" panose="020B0604020202020204" pitchFamily="34" charset="0"/>
                        </a:rPr>
                        <a:t>فتركه يذهب، وانصرف.</a:t>
                      </a:r>
                    </a:p>
                    <a:p>
                      <a:pPr indent="216000" algn="r"/>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a:r>
                        <a:rPr lang="ar-AE" sz="1600" kern="150" dirty="0">
                          <a:effectLst/>
                          <a:latin typeface="Arial" panose="020B0604020202020204" pitchFamily="34" charset="0"/>
                          <a:cs typeface="Arial" panose="020B0604020202020204" pitchFamily="34" charset="0"/>
                        </a:rPr>
                        <a:t>‑ ما بك يا عمّي أبورقبة؟</a:t>
                      </a:r>
                    </a:p>
                    <a:p>
                      <a:pPr indent="216000" algn="r"/>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a:r>
                        <a:rPr lang="ar-AE" sz="1400" kern="150" dirty="0">
                          <a:effectLst/>
                          <a:latin typeface="Arial" panose="020B0604020202020204" pitchFamily="34" charset="0"/>
                          <a:cs typeface="Arial" panose="020B0604020202020204" pitchFamily="34" charset="0"/>
                        </a:rPr>
                        <a:t>فأخذ الأسد يتمدد وقال له:</a:t>
                      </a:r>
                    </a:p>
                    <a:p>
                      <a:pPr indent="216000" algn="r"/>
                      <a:r>
                        <a:rPr lang="ar-AE" sz="1400" kern="150" dirty="0">
                          <a:effectLst/>
                          <a:latin typeface="Arial" panose="020B0604020202020204" pitchFamily="34" charset="0"/>
                          <a:cs typeface="Arial" panose="020B0604020202020204" pitchFamily="34" charset="0"/>
                        </a:rPr>
                        <a:t>‑ إذن سآكلك!</a:t>
                      </a:r>
                    </a:p>
                    <a:p>
                      <a:pPr indent="216000" algn="r"/>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a:r>
                        <a:rPr lang="ar-AE" sz="1400" kern="150" dirty="0">
                          <a:effectLst/>
                          <a:latin typeface="Arial" panose="020B0604020202020204" pitchFamily="34" charset="0"/>
                          <a:cs typeface="Arial" panose="020B0604020202020204" pitchFamily="34" charset="0"/>
                        </a:rPr>
                        <a:t>‑ لقد التقيت الذئب!</a:t>
                      </a:r>
                    </a:p>
                    <a:p>
                      <a:pPr indent="216000" algn="r"/>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9375857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6663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endParaRPr lang="ar-AE" sz="1400" kern="150" dirty="0">
                        <a:effectLst/>
                        <a:latin typeface="Arial" panose="020B0604020202020204" pitchFamily="34" charset="0"/>
                        <a:cs typeface="Arial" panose="020B0604020202020204" pitchFamily="34" charset="0"/>
                      </a:endParaRPr>
                    </a:p>
                    <a:p>
                      <a:pPr indent="216000" algn="r"/>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a:r>
                        <a:rPr lang="ar-AE" sz="1400" kern="150" dirty="0">
                          <a:effectLst/>
                          <a:latin typeface="Arial" panose="020B0604020202020204" pitchFamily="34" charset="0"/>
                          <a:cs typeface="Arial" panose="020B0604020202020204" pitchFamily="34" charset="0"/>
                        </a:rPr>
                        <a:t>هز الذئب رأسه وأجابه:</a:t>
                      </a:r>
                    </a:p>
                    <a:p>
                      <a:pPr indent="216000" algn="r"/>
                      <a:r>
                        <a:rPr lang="ar-AE" sz="1400" kern="150" dirty="0">
                          <a:effectLst/>
                          <a:latin typeface="Arial" panose="020B0604020202020204" pitchFamily="34" charset="0"/>
                          <a:cs typeface="Arial" panose="020B0604020202020204" pitchFamily="34" charset="0"/>
                        </a:rPr>
                        <a:t>‑ أمرك عسير!</a:t>
                      </a:r>
                    </a:p>
                    <a:p>
                      <a:pPr indent="216000" algn="r"/>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a:r>
                        <a:rPr lang="ar-AE" sz="1400" kern="150" dirty="0">
                          <a:effectLst/>
                          <a:latin typeface="Arial" panose="020B0604020202020204" pitchFamily="34" charset="0"/>
                          <a:cs typeface="Arial" panose="020B0604020202020204" pitchFamily="34" charset="0"/>
                        </a:rPr>
                        <a:t>فقال له الأسد:</a:t>
                      </a:r>
                    </a:p>
                    <a:p>
                      <a:pPr indent="216000" algn="r"/>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699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a:r>
                        <a:rPr lang="ar-AE" sz="1400" i="1" kern="150" dirty="0">
                          <a:effectLst/>
                          <a:latin typeface="Arial" panose="020B0604020202020204" pitchFamily="34" charset="0"/>
                          <a:cs typeface="Arial" panose="020B0604020202020204" pitchFamily="34" charset="0"/>
                        </a:rPr>
                        <a:t>تعال يا ذئب، لنسافر معًا،</a:t>
                      </a:r>
                    </a:p>
                    <a:p>
                      <a:pPr indent="216000" algn="r"/>
                      <a:r>
                        <a:rPr lang="ar-AE" sz="1400" i="1" kern="150" dirty="0">
                          <a:effectLst/>
                          <a:latin typeface="Arial" panose="020B0604020202020204" pitchFamily="34" charset="0"/>
                          <a:cs typeface="Arial" panose="020B0604020202020204" pitchFamily="34" charset="0"/>
                        </a:rPr>
                        <a:t>ونصيبك مضمون معي:</a:t>
                      </a:r>
                    </a:p>
                    <a:p>
                      <a:pPr indent="216000" algn="r"/>
                      <a:r>
                        <a:rPr lang="ar-AE" sz="1400" i="1" kern="150" dirty="0">
                          <a:effectLst/>
                          <a:latin typeface="Arial" panose="020B0604020202020204" pitchFamily="34" charset="0"/>
                          <a:cs typeface="Arial" panose="020B0604020202020204" pitchFamily="34" charset="0"/>
                        </a:rPr>
                        <a:t>إن قتلتُ أحدًا، أكلتَ أنت؛</a:t>
                      </a:r>
                    </a:p>
                    <a:p>
                      <a:pPr indent="216000" algn="r"/>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a:r>
                        <a:rPr lang="ar-AE" sz="1400" kern="150" dirty="0">
                          <a:effectLst/>
                          <a:latin typeface="Arial" panose="020B0604020202020204" pitchFamily="34" charset="0"/>
                          <a:cs typeface="Arial" panose="020B0604020202020204" pitchFamily="34" charset="0"/>
                        </a:rPr>
                        <a:t>¶ وفي يوم من الأيام، قتلوا كبشًا حوليًا ونعجة وحملًا صغيرًا. وطالب الضبع بتقسيم الغنيمة. فقال له الأسد:</a:t>
                      </a:r>
                    </a:p>
                    <a:p>
                      <a:pPr indent="216000" algn="r"/>
                      <a:r>
                        <a:rPr lang="ar-AE" sz="1400" kern="150" dirty="0">
                          <a:effectLst/>
                          <a:latin typeface="Arial" panose="020B0604020202020204" pitchFamily="34" charset="0"/>
                          <a:cs typeface="Arial" panose="020B0604020202020204" pitchFamily="34" charset="0"/>
                        </a:rPr>
                        <a:t>‑ اقسمها بيننا.</a:t>
                      </a:r>
                    </a:p>
                    <a:p>
                      <a:pPr indent="216000" algn="r"/>
                      <a:r>
                        <a:rPr lang="ar-AE" sz="1400" kern="150" dirty="0">
                          <a:effectLst/>
                          <a:latin typeface="Arial" panose="020B0604020202020204" pitchFamily="34" charset="0"/>
                          <a:cs typeface="Arial" panose="020B0604020202020204" pitchFamily="34" charset="0"/>
                        </a:rPr>
                        <a:t>فقسمها الضبع: الكبش حوليًّا للأسد، والنعجة لنفسه، والحمل للذئب. فضربه الأسد، وغاصت مخالبه عميقًا في كبده، فزهقت روحه. ثم قال للذئب:</a:t>
                      </a:r>
                    </a:p>
                    <a:p>
                      <a:pPr indent="216000" algn="r"/>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8228087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الحولي فتتناوله على الغداء؛ وأما النعجة فتأكلها على العشاء.</a:t>
                      </a:r>
                    </a:p>
                    <a:p>
                      <a:pPr indent="216000" algn="r"/>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690935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p>
                    <a:p>
                      <a:pPr indent="216000" algn="r"/>
                      <a:r>
                        <a:rPr lang="ar-AE" sz="1400" kern="150" dirty="0">
                          <a:effectLst/>
                          <a:latin typeface="Arial" panose="020B0604020202020204" pitchFamily="34" charset="0"/>
                          <a:cs typeface="Arial" panose="020B0604020202020204" pitchFamily="34" charset="0"/>
                        </a:rPr>
                        <a:t>¶ كلما نظر إليه رفيقاه، سال لعابهما.</a:t>
                      </a:r>
                    </a:p>
                    <a:p>
                      <a:pPr indent="216000" algn="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a:r>
                        <a:rPr lang="ar-AE" sz="1400" kern="150" dirty="0">
                          <a:effectLst/>
                          <a:latin typeface="Arial" panose="020B0604020202020204" pitchFamily="34" charset="0"/>
                          <a:cs typeface="Arial" panose="020B0604020202020204" pitchFamily="34" charset="0"/>
                        </a:rPr>
                        <a:t>فقال الأسد:</a:t>
                      </a:r>
                    </a:p>
                    <a:p>
                      <a:pPr indent="216000" algn="r"/>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a:r>
                        <a:rPr lang="ar-AE" sz="1400" kern="150" dirty="0">
                          <a:effectLst/>
                          <a:latin typeface="Arial" panose="020B0604020202020204" pitchFamily="34" charset="0"/>
                          <a:cs typeface="Arial" panose="020B0604020202020204" pitchFamily="34" charset="0"/>
                        </a:rPr>
                        <a:t>فقال الذئب مؤيدًا:</a:t>
                      </a:r>
                    </a:p>
                    <a:p>
                      <a:pPr indent="216000" algn="r"/>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a:r>
                        <a:rPr lang="ar-AE" sz="1400" kern="150" dirty="0">
                          <a:effectLst/>
                          <a:latin typeface="Arial" panose="020B0604020202020204" pitchFamily="34" charset="0"/>
                          <a:cs typeface="Arial" panose="020B0604020202020204" pitchFamily="34" charset="0"/>
                        </a:rPr>
                        <a:t>ثم قال الذئب:</a:t>
                      </a:r>
                    </a:p>
                    <a:p>
                      <a:pPr indent="216000" algn="r"/>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a:r>
                        <a:rPr lang="ar-AE" sz="1400" kern="150" dirty="0">
                          <a:effectLst/>
                          <a:latin typeface="Arial" panose="020B0604020202020204" pitchFamily="34" charset="0"/>
                          <a:cs typeface="Arial" panose="020B0604020202020204" pitchFamily="34" charset="0"/>
                        </a:rPr>
                        <a:t>فقال الأسد مؤيدًا:</a:t>
                      </a:r>
                    </a:p>
                    <a:p>
                      <a:pPr indent="216000" algn="r"/>
                      <a:r>
                        <a:rPr lang="ar-AE" sz="1400" kern="150" dirty="0">
                          <a:effectLst/>
                          <a:latin typeface="Arial" panose="020B0604020202020204" pitchFamily="34" charset="0"/>
                          <a:cs typeface="Arial" panose="020B0604020202020204" pitchFamily="34" charset="0"/>
                        </a:rPr>
                        <a:t>‑ يا له من نسب!</a:t>
                      </a:r>
                    </a:p>
                    <a:p>
                      <a:pPr indent="216000" algn="r"/>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a:r>
                        <a:rPr lang="ar-AE" sz="1400" kern="150" dirty="0">
                          <a:effectLst/>
                          <a:latin typeface="Arial" panose="020B0604020202020204" pitchFamily="34" charset="0"/>
                          <a:cs typeface="Arial" panose="020B0604020202020204" pitchFamily="34" charset="0"/>
                        </a:rPr>
                        <a:t>فقالا له:</a:t>
                      </a:r>
                    </a:p>
                    <a:p>
                      <a:pPr indent="216000" algn="r"/>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a:r>
                        <a:rPr lang="ar-AE" sz="1400" kern="150" dirty="0">
                          <a:effectLst/>
                          <a:latin typeface="Arial" panose="020B0604020202020204" pitchFamily="34" charset="0"/>
                          <a:cs typeface="Arial" panose="020B0604020202020204" pitchFamily="34" charset="0"/>
                        </a:rPr>
                        <a:t>فتركاه يذهب، وانصرف.</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5185321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هذه الأثناء، أخذ الذئب البغل جانبًا، وتآمرا على رأس الأسد، كي يهوي كحزمة قش أكلها خنزير.</a:t>
                      </a:r>
                    </a:p>
                    <a:p>
                      <a:pPr indent="216000" algn="r"/>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a:r>
                        <a:rPr lang="ar-AE" sz="1400" kern="150" dirty="0">
                          <a:effectLst/>
                          <a:latin typeface="Arial" panose="020B0604020202020204" pitchFamily="34" charset="0"/>
                          <a:cs typeface="Arial" panose="020B0604020202020204" pitchFamily="34" charset="0"/>
                        </a:rPr>
                        <a:t>‑ حسنًا، من يكون أبوك؟</a:t>
                      </a:r>
                    </a:p>
                    <a:p>
                      <a:pPr indent="216000" algn="r"/>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a:r>
                        <a:rPr lang="ar-AE" sz="1400" kern="150" dirty="0">
                          <a:effectLst/>
                          <a:latin typeface="Arial" panose="020B0604020202020204" pitchFamily="34" charset="0"/>
                          <a:cs typeface="Arial" panose="020B0604020202020204" pitchFamily="34" charset="0"/>
                        </a:rPr>
                        <a:t>فقال الأسد للذئب:</a:t>
                      </a:r>
                    </a:p>
                    <a:p>
                      <a:pPr indent="216000" algn="r"/>
                      <a:r>
                        <a:rPr lang="ar-AE" sz="1400" kern="150" dirty="0">
                          <a:effectLst/>
                          <a:latin typeface="Arial" panose="020B0604020202020204" pitchFamily="34" charset="0"/>
                          <a:cs typeface="Arial" panose="020B0604020202020204" pitchFamily="34" charset="0"/>
                        </a:rPr>
                        <a:t>‑ اقترب واقرأه يا امحمد.</a:t>
                      </a:r>
                    </a:p>
                    <a:p>
                      <a:pPr indent="216000" algn="r"/>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a:r>
                        <a:rPr lang="ar-AE" sz="1400" kern="150" dirty="0">
                          <a:effectLst/>
                          <a:latin typeface="Arial" panose="020B0604020202020204" pitchFamily="34" charset="0"/>
                          <a:cs typeface="Arial" panose="020B0604020202020204" pitchFamily="34" charset="0"/>
                        </a:rPr>
                        <a:t>¶ قرّب الأسد خطمه ليستعد للقراءة؛ فقد حان وقت التنفيذ. ثبت البغل قائمتيه الأماميتين ورفس بقائمتَيه الخلفيتَين؛ فدخلت المسامير مباشرة في دماغ الأسد، فسقط.</a:t>
                      </a:r>
                    </a:p>
                    <a:p>
                      <a:pPr indent="216000" algn="r"/>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a:r>
                        <a:rPr lang="ar-AE" sz="1400" kern="150" dirty="0">
                          <a:effectLst/>
                          <a:latin typeface="Arial" panose="020B0604020202020204" pitchFamily="34" charset="0"/>
                          <a:cs typeface="Arial" panose="020B0604020202020204" pitchFamily="34" charset="0"/>
                        </a:rPr>
                        <a:t>فقال له الأسد:</a:t>
                      </a:r>
                    </a:p>
                    <a:p>
                      <a:pPr indent="216000" algn="r"/>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a:r>
                        <a:rPr lang="ar-AE" sz="1400" kern="150" dirty="0">
                          <a:effectLst/>
                          <a:latin typeface="Arial" panose="020B0604020202020204" pitchFamily="34" charset="0"/>
                          <a:cs typeface="Arial" panose="020B0604020202020204" pitchFamily="34" charset="0"/>
                        </a:rPr>
                        <a:t>سرنا في الطريق، في الطريق،</a:t>
                      </a:r>
                    </a:p>
                    <a:p>
                      <a:pPr indent="216000" algn="r"/>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a:r>
                        <a:rPr lang="ar-AE" sz="1400" kern="150" dirty="0">
                          <a:effectLst/>
                          <a:latin typeface="Arial" panose="020B0604020202020204" pitchFamily="34" charset="0"/>
                          <a:cs typeface="Arial" panose="020B0604020202020204" pitchFamily="34" charset="0"/>
                        </a:rPr>
                        <a:t>رمى لنا فطيرة فأكلناها؛</a:t>
                      </a:r>
                    </a:p>
                    <a:p>
                      <a:pPr indent="216000" algn="r"/>
                      <a:r>
                        <a:rPr lang="ar-AE" sz="1400" kern="150" dirty="0">
                          <a:effectLst/>
                          <a:latin typeface="Arial" panose="020B0604020202020204" pitchFamily="34" charset="0"/>
                          <a:cs typeface="Arial" panose="020B0604020202020204" pitchFamily="34" charset="0"/>
                        </a:rPr>
                        <a:t>ورمينا عليه حجرًا فحطمناه!</a:t>
                      </a:r>
                    </a:p>
                    <a:p>
                      <a:pPr indent="216000" algn="r"/>
                      <a:r>
                        <a:rPr lang="ar-AE" sz="1400" kern="150" dirty="0">
                          <a:effectLst/>
                          <a:latin typeface="Arial" panose="020B0604020202020204" pitchFamily="34" charset="0"/>
                          <a:cs typeface="Arial" panose="020B0604020202020204" pitchFamily="34" charset="0"/>
                        </a:rPr>
                        <a:t>أما نحن، فليرحمنا الله؛</a:t>
                      </a:r>
                    </a:p>
                    <a:p>
                      <a:pPr indent="216000" algn="r"/>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a:r>
                        <a:rPr lang="ar-AE" sz="1400" kern="150" dirty="0">
                          <a:effectLst/>
                          <a:latin typeface="Arial" panose="020B0604020202020204" pitchFamily="34" charset="0"/>
                          <a:cs typeface="Arial" panose="020B0604020202020204" pitchFamily="34" charset="0"/>
                        </a:rPr>
                        <a:t>فأنبتت أزهارًا:</a:t>
                      </a:r>
                    </a:p>
                    <a:p>
                      <a:pPr indent="216000" algn="r"/>
                      <a:r>
                        <a:rPr lang="ar-AE" sz="1400" kern="150" dirty="0">
                          <a:effectLst/>
                          <a:latin typeface="Arial" panose="020B0604020202020204" pitchFamily="34" charset="0"/>
                          <a:cs typeface="Arial" panose="020B0604020202020204" pitchFamily="34" charset="0"/>
                        </a:rPr>
                        <a:t>تقلبت وتمددت فيها،</a:t>
                      </a:r>
                    </a:p>
                    <a:p>
                      <a:pPr indent="216000" algn="r"/>
                      <a:r>
                        <a:rPr lang="ar-AE" sz="1400" kern="150" dirty="0">
                          <a:effectLst/>
                          <a:latin typeface="Arial" panose="020B0604020202020204" pitchFamily="34" charset="0"/>
                          <a:cs typeface="Arial" panose="020B0604020202020204" pitchFamily="34" charset="0"/>
                        </a:rPr>
                        <a:t>وتزّينت كالعروس.</a:t>
                      </a:r>
                    </a:p>
                    <a:p>
                      <a:pPr indent="216000" algn="r"/>
                      <a:r>
                        <a:rPr lang="ar-AE" sz="1400" kern="150" dirty="0">
                          <a:effectLst/>
                          <a:latin typeface="Arial" panose="020B0604020202020204" pitchFamily="34" charset="0"/>
                          <a:cs typeface="Arial" panose="020B0604020202020204" pitchFamily="34" charset="0"/>
                        </a:rPr>
                        <a:t>رفعت بصرها نحو السماء،</a:t>
                      </a:r>
                    </a:p>
                    <a:p>
                      <a:pPr indent="216000" algn="r"/>
                      <a:r>
                        <a:rPr lang="ar-AE" sz="1400" kern="150" dirty="0">
                          <a:effectLst/>
                          <a:latin typeface="Arial" panose="020B0604020202020204" pitchFamily="34" charset="0"/>
                          <a:cs typeface="Arial" panose="020B0604020202020204" pitchFamily="34" charset="0"/>
                        </a:rPr>
                        <a:t>فكحّلت عينها الحلوة.</a:t>
                      </a:r>
                    </a:p>
                    <a:p>
                      <a:pPr indent="216000" algn="r"/>
                      <a:r>
                        <a:rPr lang="ar-AE" sz="1400" kern="150" dirty="0">
                          <a:effectLst/>
                          <a:latin typeface="Arial" panose="020B0604020202020204" pitchFamily="34" charset="0"/>
                          <a:cs typeface="Arial" panose="020B0604020202020204" pitchFamily="34" charset="0"/>
                        </a:rPr>
                        <a:t>عبرت جدول الجبل،</a:t>
                      </a:r>
                    </a:p>
                    <a:p>
                      <a:pPr indent="216000" algn="r"/>
                      <a:r>
                        <a:rPr lang="ar-AE" sz="1400" kern="150" dirty="0">
                          <a:effectLst/>
                          <a:latin typeface="Arial" panose="020B0604020202020204" pitchFamily="34" charset="0"/>
                          <a:cs typeface="Arial" panose="020B0604020202020204" pitchFamily="34" charset="0"/>
                        </a:rPr>
                        <a:t>فحنّت قدميها.</a:t>
                      </a:r>
                    </a:p>
                    <a:p>
                      <a:pPr indent="216000" algn="r"/>
                      <a:r>
                        <a:rPr lang="ar-AE" sz="1400" kern="150" dirty="0">
                          <a:effectLst/>
                          <a:latin typeface="Arial" panose="020B0604020202020204" pitchFamily="34" charset="0"/>
                          <a:cs typeface="Arial" panose="020B0604020202020204" pitchFamily="34" charset="0"/>
                        </a:rPr>
                        <a:t>ونزلت المنحدر،</a:t>
                      </a:r>
                    </a:p>
                    <a:p>
                      <a:pPr indent="216000" algn="r"/>
                      <a:r>
                        <a:rPr lang="ar-AE" sz="1400" kern="150" dirty="0">
                          <a:effectLst/>
                          <a:latin typeface="Arial" panose="020B0604020202020204" pitchFamily="34" charset="0"/>
                          <a:cs typeface="Arial" panose="020B0604020202020204" pitchFamily="34" charset="0"/>
                        </a:rPr>
                        <a:t>راكبة بغلتها.</a:t>
                      </a:r>
                    </a:p>
                    <a:p>
                      <a:pPr indent="216000" algn="r"/>
                      <a:r>
                        <a:rPr lang="ar-AE" sz="1400" kern="150" dirty="0">
                          <a:effectLst/>
                          <a:latin typeface="Arial" panose="020B0604020202020204" pitchFamily="34" charset="0"/>
                          <a:cs typeface="Arial" panose="020B0604020202020204" pitchFamily="34" charset="0"/>
                        </a:rPr>
                        <a:t>¶ زرع الذئب قطعة أرض صغيرة،</a:t>
                      </a:r>
                    </a:p>
                    <a:p>
                      <a:pPr indent="216000" algn="r"/>
                      <a:r>
                        <a:rPr lang="ar-AE" sz="1400" kern="150" dirty="0">
                          <a:effectLst/>
                          <a:latin typeface="Arial" panose="020B0604020202020204" pitchFamily="34" charset="0"/>
                          <a:cs typeface="Arial" panose="020B0604020202020204" pitchFamily="34" charset="0"/>
                        </a:rPr>
                        <a:t>فأنبتت أشواكًا:</a:t>
                      </a:r>
                    </a:p>
                    <a:p>
                      <a:pPr indent="216000" algn="r"/>
                      <a:r>
                        <a:rPr lang="ar-AE" sz="1400" kern="150" dirty="0">
                          <a:effectLst/>
                          <a:latin typeface="Arial" panose="020B0604020202020204" pitchFamily="34" charset="0"/>
                          <a:cs typeface="Arial" panose="020B0604020202020204" pitchFamily="34" charset="0"/>
                        </a:rPr>
                        <a:t>تقلب فيها وتمدد،</a:t>
                      </a:r>
                    </a:p>
                    <a:p>
                      <a:pPr indent="216000" algn="r"/>
                      <a:r>
                        <a:rPr lang="ar-AE" sz="1400" kern="150" dirty="0">
                          <a:effectLst/>
                          <a:latin typeface="Arial" panose="020B0604020202020204" pitchFamily="34" charset="0"/>
                          <a:cs typeface="Arial" panose="020B0604020202020204" pitchFamily="34" charset="0"/>
                        </a:rPr>
                        <a:t>فانسَلخ جلده.</a:t>
                      </a:r>
                    </a:p>
                    <a:p>
                      <a:pPr indent="216000" algn="r"/>
                      <a:r>
                        <a:rPr lang="ar-AE" sz="1400" kern="150" dirty="0">
                          <a:effectLst/>
                          <a:latin typeface="Arial" panose="020B0604020202020204" pitchFamily="34" charset="0"/>
                          <a:cs typeface="Arial" panose="020B0604020202020204" pitchFamily="34" charset="0"/>
                        </a:rPr>
                        <a:t>ورفع بصره نحو السماء،</a:t>
                      </a:r>
                    </a:p>
                    <a:p>
                      <a:pPr indent="216000" algn="r"/>
                      <a:r>
                        <a:rPr lang="ar-AE" sz="1400" kern="150" dirty="0">
                          <a:effectLst/>
                          <a:latin typeface="Arial" panose="020B0604020202020204" pitchFamily="34" charset="0"/>
                          <a:cs typeface="Arial" panose="020B0604020202020204" pitchFamily="34" charset="0"/>
                        </a:rPr>
                        <a:t>فعميت عينه الحلوة.</a:t>
                      </a:r>
                    </a:p>
                    <a:p>
                      <a:pPr indent="216000" algn="r"/>
                      <a:r>
                        <a:rPr lang="ar-AE" sz="1400" kern="150" dirty="0">
                          <a:effectLst/>
                          <a:latin typeface="Arial" panose="020B0604020202020204" pitchFamily="34" charset="0"/>
                          <a:cs typeface="Arial" panose="020B0604020202020204" pitchFamily="34" charset="0"/>
                        </a:rPr>
                        <a:t>وعبر جدول الجبل،</a:t>
                      </a:r>
                    </a:p>
                    <a:p>
                      <a:pPr indent="216000" algn="r"/>
                      <a:r>
                        <a:rPr lang="ar-AE" sz="1400" kern="150" dirty="0">
                          <a:effectLst/>
                          <a:latin typeface="Arial" panose="020B0604020202020204" pitchFamily="34" charset="0"/>
                          <a:cs typeface="Arial" panose="020B0604020202020204" pitchFamily="34" charset="0"/>
                        </a:rPr>
                        <a:t>فانتُزع فخذه.</a:t>
                      </a:r>
                    </a:p>
                    <a:p>
                      <a:pPr indent="216000" algn="r"/>
                      <a:r>
                        <a:rPr lang="ar-AE" sz="1400" kern="150" dirty="0">
                          <a:effectLst/>
                          <a:latin typeface="Arial" panose="020B0604020202020204" pitchFamily="34" charset="0"/>
                          <a:cs typeface="Arial" panose="020B0604020202020204" pitchFamily="34" charset="0"/>
                        </a:rPr>
                        <a:t>وصعد المنحدر الوعر،</a:t>
                      </a:r>
                    </a:p>
                    <a:p>
                      <a:pPr indent="216000" algn="r"/>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إلى كل من أصغى إليّ،</a:t>
                      </a:r>
                    </a:p>
                    <a:p>
                      <a:pPr indent="216000" algn="r"/>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a:r>
                        <a:rPr lang="ar-AE" sz="1400" kern="150" dirty="0">
                          <a:effectLst/>
                          <a:latin typeface="Arial" panose="020B0604020202020204" pitchFamily="34" charset="0"/>
                          <a:cs typeface="Arial" panose="020B0604020202020204" pitchFamily="34" charset="0"/>
                        </a:rPr>
                        <a:t>تأملوا هذه الحكاية مليًا.</a:t>
                      </a:r>
                    </a:p>
                    <a:p>
                      <a:pPr indent="216000" algn="r"/>
                      <a:r>
                        <a:rPr lang="ar-AE" sz="1400" kern="150" dirty="0">
                          <a:effectLst/>
                          <a:latin typeface="Arial" panose="020B0604020202020204" pitchFamily="34" charset="0"/>
                          <a:cs typeface="Arial" panose="020B0604020202020204" pitchFamily="34" charset="0"/>
                        </a:rPr>
                        <a:t>فلأجلكم جميعًا بذلت جهدي،</a:t>
                      </a:r>
                    </a:p>
                    <a:p>
                      <a:pPr indent="216000" algn="r"/>
                      <a:r>
                        <a:rPr lang="ar-AE" sz="1400" kern="150" dirty="0">
                          <a:effectLst/>
                          <a:latin typeface="Arial" panose="020B0604020202020204" pitchFamily="34" charset="0"/>
                          <a:cs typeface="Arial" panose="020B0604020202020204" pitchFamily="34" charset="0"/>
                        </a:rPr>
                        <a:t>كي أحميكم</a:t>
                      </a:r>
                    </a:p>
                    <a:p>
                      <a:pPr indent="216000" algn="r"/>
                      <a:r>
                        <a:rPr lang="ar-AE" sz="1400" kern="150" dirty="0">
                          <a:effectLst/>
                          <a:latin typeface="Arial" panose="020B0604020202020204" pitchFamily="34" charset="0"/>
                          <a:cs typeface="Arial" panose="020B0604020202020204" pitchFamily="34" charset="0"/>
                        </a:rPr>
                        <a:t>من ضربات الله القاصمة.</a:t>
                      </a:r>
                    </a:p>
                    <a:p>
                      <a:pPr indent="216000" algn="r"/>
                      <a:r>
                        <a:rPr lang="ar-AE" sz="1400" kern="150" dirty="0">
                          <a:effectLst/>
                          <a:latin typeface="Arial" panose="020B0604020202020204" pitchFamily="34" charset="0"/>
                          <a:cs typeface="Arial" panose="020B0604020202020204" pitchFamily="34" charset="0"/>
                        </a:rPr>
                        <a:t>¶ من كان في موضع سلطة،</a:t>
                      </a:r>
                    </a:p>
                    <a:p>
                      <a:pPr indent="216000" algn="r"/>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a:r>
                        <a:rPr lang="ar-AE" sz="1400" kern="150" dirty="0">
                          <a:effectLst/>
                          <a:latin typeface="Arial" panose="020B0604020202020204" pitchFamily="34" charset="0"/>
                          <a:cs typeface="Arial" panose="020B0604020202020204" pitchFamily="34" charset="0"/>
                        </a:rPr>
                        <a:t>وليوقّر ذوي الشأن،</a:t>
                      </a:r>
                    </a:p>
                    <a:p>
                      <a:pPr indent="216000" algn="r"/>
                      <a:r>
                        <a:rPr lang="ar-AE" sz="1400" kern="150" dirty="0">
                          <a:effectLst/>
                          <a:latin typeface="Arial" panose="020B0604020202020204" pitchFamily="34" charset="0"/>
                          <a:cs typeface="Arial" panose="020B0604020202020204" pitchFamily="34" charset="0"/>
                        </a:rPr>
                        <a:t>وليحمِ الضعفاء،</a:t>
                      </a:r>
                    </a:p>
                    <a:p>
                      <a:pPr indent="216000" algn="r"/>
                      <a:r>
                        <a:rPr lang="ar-AE" sz="1400" kern="150" dirty="0">
                          <a:effectLst/>
                          <a:latin typeface="Arial" panose="020B0604020202020204" pitchFamily="34" charset="0"/>
                          <a:cs typeface="Arial" panose="020B0604020202020204" pitchFamily="34" charset="0"/>
                        </a:rPr>
                        <a:t>حتى لا تُرفع عليه يد قط.</a:t>
                      </a:r>
                    </a:p>
                    <a:p>
                      <a:pPr indent="216000" algn="r"/>
                      <a:r>
                        <a:rPr lang="ar-AE" sz="1400" kern="150" dirty="0">
                          <a:effectLst/>
                          <a:latin typeface="Arial" panose="020B0604020202020204" pitchFamily="34" charset="0"/>
                          <a:cs typeface="Arial" panose="020B0604020202020204" pitchFamily="34" charset="0"/>
                        </a:rPr>
                        <a:t>¶ حتى الأسد، كما هو معلوم،</a:t>
                      </a:r>
                    </a:p>
                    <a:p>
                      <a:pPr indent="216000" algn="r"/>
                      <a:r>
                        <a:rPr lang="ar-AE" sz="1400" kern="150" dirty="0">
                          <a:effectLst/>
                          <a:latin typeface="Arial" panose="020B0604020202020204" pitchFamily="34" charset="0"/>
                          <a:cs typeface="Arial" panose="020B0604020202020204" pitchFamily="34" charset="0"/>
                        </a:rPr>
                        <a:t>الذي كان قويًا على كل صراع،</a:t>
                      </a:r>
                    </a:p>
                    <a:p>
                      <a:pPr indent="216000" algn="r"/>
                      <a:r>
                        <a:rPr lang="ar-AE" sz="1400" kern="150" dirty="0">
                          <a:effectLst/>
                          <a:latin typeface="Arial" panose="020B0604020202020204" pitchFamily="34" charset="0"/>
                          <a:cs typeface="Arial" panose="020B0604020202020204" pitchFamily="34" charset="0"/>
                        </a:rPr>
                        <a:t>مُدّ ميتًا على الأرض.</a:t>
                      </a:r>
                    </a:p>
                    <a:p>
                      <a:pPr indent="216000" algn="r"/>
                      <a:r>
                        <a:rPr lang="ar-AE" sz="1400" kern="150" dirty="0">
                          <a:effectLst/>
                          <a:latin typeface="Arial" panose="020B0604020202020204" pitchFamily="34" charset="0"/>
                          <a:cs typeface="Arial" panose="020B0604020202020204" pitchFamily="34" charset="0"/>
                        </a:rPr>
                        <a:t>فما بال ابن آدم،</a:t>
                      </a:r>
                    </a:p>
                    <a:p>
                      <a:pPr indent="216000" algn="r"/>
                      <a:r>
                        <a:rPr lang="ar-AE" sz="1400" kern="150" dirty="0">
                          <a:effectLst/>
                          <a:latin typeface="Arial" panose="020B0604020202020204" pitchFamily="34" charset="0"/>
                          <a:cs typeface="Arial" panose="020B0604020202020204" pitchFamily="34" charset="0"/>
                        </a:rPr>
                        <a:t>المجبول من محض الضعف،</a:t>
                      </a:r>
                    </a:p>
                    <a:p>
                      <a:pPr indent="216000" algn="r"/>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a:r>
                        <a:rPr lang="ar-AE" sz="1400" kern="150" dirty="0">
                          <a:effectLst/>
                          <a:latin typeface="Arial" panose="020B0604020202020204" pitchFamily="34" charset="0"/>
                          <a:cs typeface="Arial" panose="020B0604020202020204" pitchFamily="34" charset="0"/>
                        </a:rPr>
                        <a:t>¶ أما الرجل العادي،</a:t>
                      </a:r>
                    </a:p>
                    <a:p>
                      <a:pPr indent="216000" algn="r"/>
                      <a:r>
                        <a:rPr lang="ar-AE" sz="1400" kern="150" dirty="0">
                          <a:effectLst/>
                          <a:latin typeface="Arial" panose="020B0604020202020204" pitchFamily="34" charset="0"/>
                          <a:cs typeface="Arial" panose="020B0604020202020204" pitchFamily="34" charset="0"/>
                        </a:rPr>
                        <a:t>الذي يطيع سلطة البلاد،</a:t>
                      </a:r>
                    </a:p>
                    <a:p>
                      <a:pPr indent="216000" algn="r"/>
                      <a:r>
                        <a:rPr lang="ar-AE" sz="1400" kern="150" dirty="0">
                          <a:effectLst/>
                          <a:latin typeface="Arial" panose="020B0604020202020204" pitchFamily="34" charset="0"/>
                          <a:cs typeface="Arial" panose="020B0604020202020204" pitchFamily="34" charset="0"/>
                        </a:rPr>
                        <a:t>فلا يصِرنّ مخادعًا مكّارًا.</a:t>
                      </a:r>
                    </a:p>
                    <a:p>
                      <a:pPr indent="216000" algn="r"/>
                      <a:r>
                        <a:rPr lang="ar-AE" sz="1400" kern="150" dirty="0">
                          <a:effectLst/>
                          <a:latin typeface="Arial" panose="020B0604020202020204" pitchFamily="34" charset="0"/>
                          <a:cs typeface="Arial" panose="020B0604020202020204" pitchFamily="34" charset="0"/>
                        </a:rPr>
                        <a:t>إن أخذ يقلّد الذئب،</a:t>
                      </a:r>
                    </a:p>
                    <a:p>
                      <a:pPr indent="216000" algn="r"/>
                      <a:r>
                        <a:rPr lang="ar-AE" sz="1400" kern="150" dirty="0">
                          <a:effectLst/>
                          <a:latin typeface="Arial" panose="020B0604020202020204" pitchFamily="34" charset="0"/>
                          <a:cs typeface="Arial" panose="020B0604020202020204" pitchFamily="34" charset="0"/>
                        </a:rPr>
                        <a:t>ويوقع الناس بعضهم ببعض،</a:t>
                      </a:r>
                    </a:p>
                    <a:p>
                      <a:pPr indent="216000" algn="r"/>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إن الجزاء الأخير ينتظره،</a:t>
                      </a:r>
                    </a:p>
                    <a:p>
                      <a:pPr indent="216000" algn="r"/>
                      <a:r>
                        <a:rPr lang="ar-AE" sz="1400" kern="150" dirty="0">
                          <a:effectLst/>
                          <a:latin typeface="Arial" panose="020B0604020202020204" pitchFamily="34" charset="0"/>
                          <a:cs typeface="Arial" panose="020B0604020202020204" pitchFamily="34" charset="0"/>
                        </a:rPr>
                        <a:t>وستذله حرفته الغادرة،</a:t>
                      </a:r>
                    </a:p>
                    <a:p>
                      <a:pPr indent="216000" algn="r"/>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a:r>
                        <a:rPr lang="ar-AE" sz="1400" kern="150" dirty="0">
                          <a:effectLst/>
                          <a:latin typeface="Arial" panose="020B0604020202020204" pitchFamily="34" charset="0"/>
                          <a:cs typeface="Arial" panose="020B0604020202020204" pitchFamily="34" charset="0"/>
                        </a:rPr>
                        <a:t>وسيحل به يومٌ شرير،</a:t>
                      </a:r>
                    </a:p>
                    <a:p>
                      <a:pPr indent="216000" algn="r"/>
                      <a:r>
                        <a:rPr lang="ar-AE" sz="1400" kern="150" dirty="0">
                          <a:effectLst/>
                          <a:latin typeface="Arial" panose="020B0604020202020204" pitchFamily="34" charset="0"/>
                          <a:cs typeface="Arial" panose="020B0604020202020204" pitchFamily="34" charset="0"/>
                        </a:rPr>
                        <a:t>فيصرعه الحفيظ،</a:t>
                      </a:r>
                    </a:p>
                    <a:p>
                      <a:pPr indent="216000" algn="r"/>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a:r>
                        <a:rPr lang="ar-AE" sz="1400" kern="150" dirty="0">
                          <a:effectLst/>
                          <a:latin typeface="Arial" panose="020B0604020202020204" pitchFamily="34" charset="0"/>
                          <a:cs typeface="Arial" panose="020B0604020202020204" pitchFamily="34" charset="0"/>
                        </a:rPr>
                        <a:t>¶ ستشتعل في قلبه نار حارقة،</a:t>
                      </a:r>
                    </a:p>
                    <a:p>
                      <a:pPr indent="216000" algn="r"/>
                      <a:r>
                        <a:rPr lang="ar-AE" sz="1400" kern="150" dirty="0">
                          <a:effectLst/>
                          <a:latin typeface="Arial" panose="020B0604020202020204" pitchFamily="34" charset="0"/>
                          <a:cs typeface="Arial" panose="020B0604020202020204" pitchFamily="34" charset="0"/>
                        </a:rPr>
                        <a:t>كأنه الشيطان نفسه،</a:t>
                      </a:r>
                    </a:p>
                    <a:p>
                      <a:pPr indent="216000" algn="r"/>
                      <a:r>
                        <a:rPr lang="ar-AE" sz="1400" kern="150" dirty="0">
                          <a:effectLst/>
                          <a:latin typeface="Arial" panose="020B0604020202020204" pitchFamily="34" charset="0"/>
                          <a:cs typeface="Arial" panose="020B0604020202020204" pitchFamily="34" charset="0"/>
                        </a:rPr>
                        <a:t>ولن يجد من يطفئها.</a:t>
                      </a:r>
                    </a:p>
                    <a:p>
                      <a:pPr indent="216000" algn="r"/>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a:r>
                        <a:rPr lang="ar-AE" sz="1400" kern="150" dirty="0">
                          <a:effectLst/>
                          <a:latin typeface="Arial" panose="020B0604020202020204" pitchFamily="34" charset="0"/>
                          <a:cs typeface="Arial" panose="020B0604020202020204" pitchFamily="34" charset="0"/>
                        </a:rPr>
                        <a:t>يموت عطشانًا ميتة مؤلمة:</a:t>
                      </a:r>
                    </a:p>
                    <a:p>
                      <a:pPr indent="216000" algn="r"/>
                      <a:r>
                        <a:rPr lang="ar-AE" sz="1400" kern="150" dirty="0">
                          <a:effectLst/>
                          <a:latin typeface="Arial" panose="020B0604020202020204" pitchFamily="34" charset="0"/>
                          <a:cs typeface="Arial" panose="020B0604020202020204" pitchFamily="34" charset="0"/>
                        </a:rPr>
                        <a:t>بقضاء الله الرحمن الحازم.</a:t>
                      </a:r>
                    </a:p>
                    <a:p>
                      <a:pPr indent="216000" algn="r"/>
                      <a:r>
                        <a:rPr lang="ar-AE" sz="1400" kern="150" dirty="0">
                          <a:effectLst/>
                          <a:latin typeface="Arial" panose="020B0604020202020204" pitchFamily="34" charset="0"/>
                          <a:cs typeface="Arial" panose="020B0604020202020204" pitchFamily="34" charset="0"/>
                        </a:rPr>
                        <a:t>¶ سنحزن على السيد رابح،</a:t>
                      </a:r>
                    </a:p>
                    <a:p>
                      <a:pPr indent="216000" algn="r"/>
                      <a:r>
                        <a:rPr lang="ar-AE" sz="1400" kern="150" dirty="0">
                          <a:effectLst/>
                          <a:latin typeface="Arial" panose="020B0604020202020204" pitchFamily="34" charset="0"/>
                          <a:cs typeface="Arial" panose="020B0604020202020204" pitchFamily="34" charset="0"/>
                        </a:rPr>
                        <a:t>فقد كان رجلًا عميق الفهم:</a:t>
                      </a:r>
                    </a:p>
                    <a:p>
                      <a:pPr indent="216000" algn="r"/>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a:r>
                        <a:rPr lang="ar-AE" sz="1400" kern="150" dirty="0">
                          <a:effectLst/>
                          <a:latin typeface="Arial" panose="020B0604020202020204" pitchFamily="34" charset="0"/>
                          <a:cs typeface="Arial" panose="020B0604020202020204" pitchFamily="34" charset="0"/>
                        </a:rPr>
                        <a:t>أيقظ الغافلين،</a:t>
                      </a:r>
                    </a:p>
                    <a:p>
                      <a:pPr indent="216000" algn="r"/>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a:r>
                        <a:rPr lang="ar-AE" sz="1400" kern="150" dirty="0">
                          <a:effectLst/>
                          <a:latin typeface="Arial" panose="020B0604020202020204" pitchFamily="34" charset="0"/>
                          <a:cs typeface="Arial" panose="020B0604020202020204" pitchFamily="34" charset="0"/>
                        </a:rPr>
                        <a:t>الذي يسلك السبل القويمة</a:t>
                      </a:r>
                    </a:p>
                    <a:p>
                      <a:pPr indent="216000" algn="r"/>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a:r>
                        <a:rPr lang="ar-AE" sz="1400" kern="150" dirty="0">
                          <a:effectLst/>
                          <a:latin typeface="Arial" panose="020B0604020202020204" pitchFamily="34" charset="0"/>
                          <a:cs typeface="Arial" panose="020B0604020202020204" pitchFamily="34" charset="0"/>
                        </a:rPr>
                        <a:t>فإنها تمضي كالحلم،</a:t>
                      </a:r>
                    </a:p>
                    <a:p>
                      <a:pPr indent="216000" algn="r"/>
                      <a:r>
                        <a:rPr lang="ar-AE" sz="1400" kern="150" dirty="0">
                          <a:effectLst/>
                          <a:latin typeface="Arial" panose="020B0604020202020204" pitchFamily="34" charset="0"/>
                          <a:cs typeface="Arial" panose="020B0604020202020204" pitchFamily="34" charset="0"/>
                        </a:rPr>
                        <a:t>وتكون عاقبته الرحمة.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7214</TotalTime>
  <Words>23826</Words>
  <Application>Microsoft Office PowerPoint</Application>
  <PresentationFormat>Widescreen</PresentationFormat>
  <Paragraphs>1674</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1692</cp:revision>
  <dcterms:created xsi:type="dcterms:W3CDTF">2023-02-08T10:37:07Z</dcterms:created>
  <dcterms:modified xsi:type="dcterms:W3CDTF">2026-10-21T11:45:13Z</dcterms:modified>
</cp:coreProperties>
</file>