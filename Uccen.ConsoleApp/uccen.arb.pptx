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24" d="100"/>
          <a:sy n="124" d="100"/>
        </p:scale>
        <p:origin x="115" y="104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25/10/2026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25/10/2026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658305"/>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0594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rtl="1"/>
                      <a:r>
                        <a:rPr lang="ar-AE" sz="1400" kern="150" dirty="0">
                          <a:effectLst/>
                          <a:latin typeface="Arial" panose="020B0604020202020204" pitchFamily="34" charset="0"/>
                          <a:cs typeface="Arial" panose="020B0604020202020204" pitchFamily="34" charset="0"/>
                        </a:rPr>
                        <a:t>قال الثعلب:</a:t>
                      </a:r>
                    </a:p>
                    <a:p>
                      <a:pPr indent="216000" algn="r" rtl="1"/>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rtl="1"/>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rtl="1"/>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rtl="1"/>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rtl="1"/>
                      <a:r>
                        <a:rPr lang="ar-AE" sz="1400" kern="150" dirty="0">
                          <a:effectLst/>
                          <a:latin typeface="Arial" panose="020B0604020202020204" pitchFamily="34" charset="0"/>
                          <a:cs typeface="Arial" panose="020B0604020202020204" pitchFamily="34" charset="0"/>
                        </a:rPr>
                        <a:t>— خذه يا بن يعقوب وادفنه!</a:t>
                      </a:r>
                    </a:p>
                    <a:p>
                      <a:pPr indent="216000" algn="r" rtl="1"/>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pPr algn="r" rtl="1"/>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192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rtl="1"/>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rtl="1"/>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rtl="1"/>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rtl="1"/>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rtl="1"/>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rtl="1"/>
                      <a:r>
                        <a:rPr lang="ar-AE" sz="1400" kern="150" dirty="0">
                          <a:effectLst/>
                          <a:latin typeface="Arial" panose="020B0604020202020204" pitchFamily="34" charset="0"/>
                          <a:cs typeface="Arial" panose="020B0604020202020204" pitchFamily="34" charset="0"/>
                        </a:rPr>
                        <a:t>— خذها يا بن يعقوب وادفنها!</a:t>
                      </a:r>
                    </a:p>
                    <a:p>
                      <a:pPr indent="216000" algn="r" rtl="1"/>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4992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rtl="1"/>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الكتاكيت، تقودها أمهاتها المباركات عبر أكوام الروث والحدائق والبساتين، وكلها جميلة وتغرد. وحين يتعب الصغار من المشي ونبش الأرض والحراسة، أو يؤذيهم البرد، يجمعونهم تحت أجنحتهم ليدفأوا ويستريحوا؛ ثم يكبرون ويصيرون جميعًا دجاجات صغيرة ذات أعراف!</a:t>
                      </a:r>
                    </a:p>
                    <a:p>
                      <a:pPr indent="216000" algn="r" rtl="1"/>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rtl="1"/>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rtl="1"/>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140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rtl="1"/>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وسمنوا وأخذوا يرفسون، ولا يطالبهم أحد بشيء. أما أنت فتبقى هنا لتؤدي أعمال السخرة!</a:t>
                      </a:r>
                    </a:p>
                    <a:p>
                      <a:pPr indent="216000" algn="r" rtl="1"/>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rtl="1"/>
                      <a:r>
                        <a:rPr lang="ar-AE" sz="1400" kern="150" dirty="0">
                          <a:effectLst/>
                          <a:latin typeface="Arial" panose="020B0604020202020204" pitchFamily="34" charset="0"/>
                          <a:cs typeface="Arial" panose="020B0604020202020204" pitchFamily="34" charset="0"/>
                        </a:rPr>
                        <a:t>¶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rtl="1"/>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rtl="1"/>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rtl="1"/>
                      <a:r>
                        <a:rPr lang="ar-AE" sz="1400" kern="150" dirty="0">
                          <a:effectLst/>
                          <a:latin typeface="Arial" panose="020B0604020202020204" pitchFamily="34" charset="0"/>
                          <a:cs typeface="Arial" panose="020B0604020202020204" pitchFamily="34" charset="0"/>
                        </a:rPr>
                        <a:t>¶ وعندما عاد، قال له الأسد:</a:t>
                      </a:r>
                    </a:p>
                    <a:p>
                      <a:pPr indent="216000" algn="r" rtl="1"/>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rtl="1"/>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rtl="1"/>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rtl="1"/>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rtl="1"/>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rtl="1"/>
                      <a:r>
                        <a:rPr lang="ar-AE" sz="1400" kern="150" dirty="0">
                          <a:effectLst/>
                          <a:latin typeface="Arial" panose="020B0604020202020204" pitchFamily="34" charset="0"/>
                          <a:cs typeface="Arial" panose="020B0604020202020204" pitchFamily="34" charset="0"/>
                        </a:rPr>
                        <a:t>قال له الأسد:</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rtl="1"/>
                      <a:r>
                        <a:rPr lang="ar-AE" sz="1400" kern="150" dirty="0">
                          <a:effectLst/>
                          <a:latin typeface="Arial" panose="020B0604020202020204" pitchFamily="34" charset="0"/>
                          <a:cs typeface="Arial" panose="020B0604020202020204" pitchFamily="34" charset="0"/>
                        </a:rPr>
                        <a:t>ثم عاد إلى الخنزيروقال له:</a:t>
                      </a:r>
                    </a:p>
                    <a:p>
                      <a:pPr indent="216000" algn="r" rtl="1"/>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rtl="1"/>
                      <a:r>
                        <a:rPr lang="ar-AE" sz="1400" kern="150" dirty="0">
                          <a:effectLst/>
                          <a:latin typeface="Arial" panose="020B0604020202020204" pitchFamily="34" charset="0"/>
                          <a:cs typeface="Arial" panose="020B0604020202020204" pitchFamily="34" charset="0"/>
                        </a:rPr>
                        <a:t>فسأله الخنزير:</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rtl="1"/>
                      <a:r>
                        <a:rPr lang="ar-AE" sz="1400" kern="150" dirty="0">
                          <a:effectLst/>
                          <a:latin typeface="Arial" panose="020B0604020202020204" pitchFamily="34" charset="0"/>
                          <a:cs typeface="Arial" panose="020B0604020202020204" pitchFamily="34" charset="0"/>
                        </a:rPr>
                        <a:t>¶ قفز الذئب جانبًا وهو يصيح:</a:t>
                      </a:r>
                    </a:p>
                    <a:p>
                      <a:pPr indent="216000" algn="r" rtl="1"/>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rtl="1"/>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pPr algn="r" rtl="1"/>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758426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rtl="1"/>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rtl="1"/>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rtl="1"/>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rtl="1"/>
                      <a:r>
                        <a:rPr lang="ar-AE" sz="1400" kern="150" dirty="0">
                          <a:effectLst/>
                          <a:latin typeface="Arial" panose="020B0604020202020204" pitchFamily="34" charset="0"/>
                          <a:cs typeface="Arial" panose="020B0604020202020204" pitchFamily="34" charset="0"/>
                        </a:rPr>
                        <a:t>فاحتار الذئب ولزم الصمت.</a:t>
                      </a:r>
                    </a:p>
                    <a:p>
                      <a:pPr indent="216000" algn="r" rtl="1"/>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rtl="1"/>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يليق بملك الحيوانات أن يصير راعيًا أو أن يدعه الجوع يهلك.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rtl="1"/>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rtl="1"/>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rtl="1"/>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rtl="1"/>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rtl="1"/>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rtl="1"/>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rtl="1"/>
                      <a:r>
                        <a:rPr lang="ar-AE" sz="1400" kern="150" dirty="0">
                          <a:effectLst/>
                          <a:latin typeface="Arial" panose="020B0604020202020204" pitchFamily="34" charset="0"/>
                          <a:cs typeface="Arial" panose="020B0604020202020204" pitchFamily="34" charset="0"/>
                        </a:rPr>
                        <a:t>قالت له طيور الحجل:</a:t>
                      </a:r>
                    </a:p>
                    <a:p>
                      <a:pPr indent="216000" algn="r" rtl="1"/>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rtl="1"/>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rtl="1"/>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49515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rtl="1"/>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rtl="1"/>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rtl="1"/>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rtl="1"/>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rtl="1"/>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rtl="1"/>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570406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rtl="1"/>
                      <a:r>
                        <a:rPr lang="ar-AE" sz="1400" kern="150" dirty="0">
                          <a:effectLst/>
                          <a:latin typeface="Arial" panose="020B0604020202020204" pitchFamily="34" charset="0"/>
                          <a:cs typeface="Arial" panose="020B0604020202020204" pitchFamily="34" charset="0"/>
                        </a:rPr>
                        <a:t>¶ أخذ الذئب الغصن وغرسه في السهل الصحراوي. وفي لحظة اخضرّ، وتفتحت براعمه، وأورق، وامتدت أغصانه، وصار شجرة تين فتية. ثم نضج التين، واختمرت الثمار الباكورة، وأخذت الثمار الطرية الحلوة تتساقط قبل أوانها.</a:t>
                      </a:r>
                    </a:p>
                    <a:p>
                      <a:pPr indent="216000" algn="r" rtl="1"/>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rtl="1"/>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rtl="1"/>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6899672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rtl="1"/>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السَلَالِيق! الفرسان! يا بن يعقوب، ها هم أولاء!</a:t>
                      </a:r>
                    </a:p>
                    <a:p>
                      <a:pPr indent="216000" algn="r" rtl="1"/>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rtl="1"/>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rtl="1"/>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rtl="1"/>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rtl="1"/>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rtl="1"/>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rtl="1"/>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rtl="1"/>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rtl="1"/>
                      <a:r>
                        <a:rPr lang="ar-AE" sz="1400" kern="150" dirty="0">
                          <a:effectLst/>
                          <a:latin typeface="Arial" panose="020B0604020202020204" pitchFamily="34" charset="0"/>
                          <a:cs typeface="Arial" panose="020B0604020202020204" pitchFamily="34" charset="0"/>
                        </a:rPr>
                        <a:t>أجابه الأسد:</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rtl="1"/>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فكانت تجيبه:</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3301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rtl="1"/>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rtl="1"/>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rtl="1"/>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rtl="1"/>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rtl="1"/>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rtl="1"/>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rtl="1"/>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rtl="1"/>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rtl="1"/>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rtl="1"/>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rtl="1"/>
                      <a:r>
                        <a:rPr lang="ar-AE" sz="1400" kern="150" dirty="0">
                          <a:effectLst/>
                          <a:latin typeface="Arial" panose="020B0604020202020204" pitchFamily="34" charset="0"/>
                          <a:cs typeface="Arial" panose="020B0604020202020204" pitchFamily="34" charset="0"/>
                        </a:rPr>
                        <a:t>¶ رفض الذئب، وأجابه:</a:t>
                      </a:r>
                    </a:p>
                    <a:p>
                      <a:pPr indent="216000" algn="r" rtl="1"/>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rtl="1"/>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rtl="1"/>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1033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rtl="1"/>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ذنب كل من ساقهم إلى السوق — حتى قتلتهم — معلقًا وحده في عنقك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rtl="1"/>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rtl="1"/>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rtl="1"/>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342865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rtl="1"/>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وعزقها وسقاها، ثم أحاطها بسياج محكم لا يستطيع الذئب حتى أن ينظر من خلاله.</a:t>
                      </a:r>
                    </a:p>
                    <a:p>
                      <a:pPr indent="216000" algn="r" rtl="1"/>
                      <a:r>
                        <a:rPr lang="ar-AE" sz="1400" kern="150" dirty="0">
                          <a:effectLst/>
                          <a:latin typeface="Arial" panose="020B0604020202020204" pitchFamily="34" charset="0"/>
                          <a:cs typeface="Arial" panose="020B0604020202020204" pitchFamily="34" charset="0"/>
                        </a:rPr>
                        <a:t>¶ وجدا فتحة بين الأوتاد ودخلا منها. أكلا حتى شبعا من القرع والخيار والفاصولياء، وخلطا بها الطماطم والفلفل الحار والبصل والثوم والريحان.</a:t>
                      </a:r>
                    </a:p>
                    <a:p>
                      <a:pPr indent="216000" algn="r" rtl="1"/>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rtl="1"/>
                      <a:r>
                        <a:rPr lang="ar-AE" sz="1400" kern="150" dirty="0">
                          <a:effectLst/>
                          <a:latin typeface="Arial" panose="020B0604020202020204" pitchFamily="34" charset="0"/>
                          <a:cs typeface="Arial" panose="020B0604020202020204" pitchFamily="34" charset="0"/>
                        </a:rPr>
                        <a:t>— تظاهر بأنك ميت!</a:t>
                      </a:r>
                    </a:p>
                    <a:p>
                      <a:pPr indent="216000" algn="r" rtl="1"/>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ثم أعاد البصق، وأمسكه من ساقه ورماه خارج البستان، فهرب.</a:t>
                      </a:r>
                    </a:p>
                    <a:p>
                      <a:pPr indent="216000" algn="r" rtl="1"/>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83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rtl="1"/>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rtl="1"/>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rtl="1"/>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rtl="1"/>
                      <a:r>
                        <a:rPr lang="ar-AE" sz="1400" kern="150" dirty="0">
                          <a:effectLst/>
                          <a:latin typeface="Arial" panose="020B0604020202020204" pitchFamily="34" charset="0"/>
                          <a:cs typeface="Arial" panose="020B0604020202020204" pitchFamily="34" charset="0"/>
                        </a:rPr>
                        <a:t>¶ عندها فقط أصاب الذئبَ الذعر؛ فقضى المساء يقفز محاولًا الفرار، لكنه لم يجد سبيلًا.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سمع الفلاح يقترب، فاستولى عليه الخوف. ثم تمدد وتظاهر بأنه ميت، كما فعل في بستان الخضروات.</a:t>
                      </a:r>
                    </a:p>
                    <a:p>
                      <a:pPr indent="216000" algn="r" rtl="1"/>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rtl="1"/>
                      <a:r>
                        <a:rPr lang="ar-AE" sz="1400" kern="150" dirty="0">
                          <a:effectLst/>
                          <a:latin typeface="Arial" panose="020B0604020202020204" pitchFamily="34" charset="0"/>
                          <a:cs typeface="Arial" panose="020B0604020202020204" pitchFamily="34" charset="0"/>
                        </a:rPr>
                        <a:t>— يا لسوء حظي!</a:t>
                      </a:r>
                    </a:p>
                    <a:p>
                      <a:pPr indent="216000" algn="r" rtl="1"/>
                      <a:r>
                        <a:rPr lang="ar-AE" sz="1400" kern="150" dirty="0">
                          <a:effectLst/>
                          <a:latin typeface="Arial" panose="020B0604020202020204" pitchFamily="34" charset="0"/>
                          <a:cs typeface="Arial" panose="020B0604020202020204" pitchFamily="34" charset="0"/>
                        </a:rPr>
                        <a:t>¶ ثم نزل إلى الصومعة، واستدار، وبصق، وأمسك الذئب بخرقة وقذفه إلى الخارج؛ فهرب!</a:t>
                      </a:r>
                    </a:p>
                    <a:p>
                      <a:pPr indent="216000" algn="r" rtl="1"/>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443082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rtl="1"/>
                      <a:r>
                        <a:rPr lang="ar-AE" sz="1400" kern="150" dirty="0">
                          <a:effectLst/>
                          <a:latin typeface="Arial" panose="020B0604020202020204" pitchFamily="34" charset="0"/>
                          <a:cs typeface="Arial" panose="020B0604020202020204" pitchFamily="34" charset="0"/>
                        </a:rPr>
                        <a:t>¶ وجدا ثمرة تين طازجة على الطريق، أسقطها بعض الرعاة. فقال القنفذ له:</a:t>
                      </a:r>
                    </a:p>
                    <a:p>
                      <a:pPr indent="216000" algn="r" rtl="1"/>
                      <a:r>
                        <a:rPr lang="ar-AE" sz="1400" kern="150" dirty="0">
                          <a:effectLst/>
                          <a:latin typeface="Arial" panose="020B0604020202020204" pitchFamily="34" charset="0"/>
                          <a:cs typeface="Arial" panose="020B0604020202020204" pitchFamily="34" charset="0"/>
                        </a:rPr>
                        <a:t>— لنتقاسمها.</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الأكبر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يوم احترق البحر (من يتذكر يوم احترق البحر؟).</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أنا من أشعل النار فيه!</a:t>
                      </a:r>
                    </a:p>
                    <a:p>
                      <a:pPr indent="216000" algn="r" rtl="1"/>
                      <a:r>
                        <a:rPr lang="ar-AE" sz="1400" kern="150" dirty="0">
                          <a:effectLst/>
                          <a:latin typeface="Arial" panose="020B0604020202020204" pitchFamily="34" charset="0"/>
                          <a:cs typeface="Arial" panose="020B0604020202020204" pitchFamily="34" charset="0"/>
                        </a:rPr>
                        <a:t>وهكذا أكل التين كله وحده.</a:t>
                      </a:r>
                    </a:p>
                    <a:p>
                      <a:pPr indent="216000" algn="r" rtl="1"/>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rtl="1"/>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5718623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الأصغر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البارحة!</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أمسك بي، فقد أوشكت أن أولد!</a:t>
                      </a:r>
                    </a:p>
                    <a:p>
                      <a:pPr indent="216000" algn="r" rtl="1"/>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rtl="1"/>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rtl="1"/>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rtl="1"/>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rtl="1"/>
                      <a:r>
                        <a:rPr lang="ar-AE" sz="1400" kern="150" dirty="0">
                          <a:effectLst/>
                          <a:latin typeface="Arial" panose="020B0604020202020204" pitchFamily="34" charset="0"/>
                          <a:cs typeface="Arial" panose="020B0604020202020204" pitchFamily="34" charset="0"/>
                        </a:rPr>
                        <a:t>— فقال له الذئب: أين؟ أين؟</a:t>
                      </a:r>
                    </a:p>
                    <a:p>
                      <a:pPr indent="216000" algn="r" rtl="1"/>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22065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rtl="1"/>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rtl="1"/>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rtl="1"/>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rtl="1"/>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rtl="1"/>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6987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rtl="1"/>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rtl="1"/>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rtl="1"/>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الهزيلة، من نصيب الجمل.</a:t>
                      </a:r>
                    </a:p>
                    <a:p>
                      <a:pPr indent="216000" algn="r" rtl="1"/>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rtl="1"/>
                      <a:r>
                        <a:rPr lang="ar-AE" sz="1400" kern="150" dirty="0">
                          <a:effectLst/>
                          <a:latin typeface="Arial" panose="020B0604020202020204" pitchFamily="34" charset="0"/>
                          <a:cs typeface="Arial" panose="020B0604020202020204" pitchFamily="34" charset="0"/>
                        </a:rPr>
                        <a:t>— القانون يلزمك!</a:t>
                      </a:r>
                    </a:p>
                    <a:p>
                      <a:pPr indent="216000" algn="r" rtl="1"/>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4904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كَئِيبًا.</a:t>
                      </a:r>
                    </a:p>
                    <a:p>
                      <a:pPr indent="216000" algn="r" rtl="1"/>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rtl="1"/>
                      <a:r>
                        <a:rPr lang="ar-AE" sz="1400" kern="150" dirty="0">
                          <a:effectLst/>
                          <a:latin typeface="Arial" panose="020B0604020202020204" pitchFamily="34" charset="0"/>
                          <a:cs typeface="Arial" panose="020B0604020202020204" pitchFamily="34" charset="0"/>
                        </a:rPr>
                        <a:t>¶ وأظهر </a:t>
                      </a:r>
                      <a:r>
                        <a:rPr lang="en-US" sz="1400" dirty="0" err="1"/>
                        <a:t>أهل</a:t>
                      </a:r>
                      <a:r>
                        <a:rPr lang="ar-AE" sz="1400" kern="150" dirty="0">
                          <a:effectLst/>
                          <a:latin typeface="Arial" panose="020B0604020202020204" pitchFamily="34" charset="0"/>
                          <a:cs typeface="Arial" panose="020B0604020202020204" pitchFamily="34" charset="0"/>
                        </a:rPr>
                        <a:t>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rtl="1"/>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rtl="1"/>
                      <a:r>
                        <a:rPr lang="ar-AE" sz="1400" i="1" kern="150" dirty="0">
                          <a:effectLst/>
                          <a:latin typeface="Arial" panose="020B0604020202020204" pitchFamily="34" charset="0"/>
                          <a:cs typeface="Arial" panose="020B0604020202020204" pitchFamily="34" charset="0"/>
                        </a:rPr>
                        <a:t>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 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مطر وشمس!</a:t>
                      </a:r>
                    </a:p>
                    <a:p>
                      <a:pPr indent="216000" algn="r" rtl="1"/>
                      <a:r>
                        <a:rPr lang="ar-AE" sz="1400" i="1" kern="150" dirty="0">
                          <a:effectLst/>
                          <a:latin typeface="Arial" panose="020B0604020202020204" pitchFamily="34" charset="0"/>
                          <a:cs typeface="Arial" panose="020B0604020202020204" pitchFamily="34" charset="0"/>
                        </a:rPr>
                        <a:t>اتخذ الذئب امراة!</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لم يعطنا صحنًا من الطعام:</a:t>
                      </a:r>
                    </a:p>
                    <a:p>
                      <a:pPr indent="216000" algn="r" rtl="1"/>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rtl="1"/>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8675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rtl="1"/>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rtl="1"/>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rtl="1"/>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rtl="1"/>
                      <a:r>
                        <a:rPr lang="ar-AE" sz="1400" kern="150" dirty="0">
                          <a:effectLst/>
                          <a:latin typeface="Arial" panose="020B0604020202020204" pitchFamily="34" charset="0"/>
                          <a:cs typeface="Arial" panose="020B0604020202020204" pitchFamily="34" charset="0"/>
                        </a:rPr>
                        <a:t>— لنجمع المحصول ونقتسمه.</a:t>
                      </a:r>
                    </a:p>
                    <a:p>
                      <a:pPr indent="216000" algn="r" rtl="1"/>
                      <a:r>
                        <a:rPr lang="ar-AE" sz="1400" kern="150" dirty="0">
                          <a:effectLst/>
                          <a:latin typeface="Arial" panose="020B0604020202020204" pitchFamily="34" charset="0"/>
                          <a:cs typeface="Arial" panose="020B0604020202020204" pitchFamily="34" charset="0"/>
                        </a:rPr>
                        <a:t>—</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لك أن تختار: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فوق الأرض!</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rtl="1"/>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rtl="1"/>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rtl="1"/>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435824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rtl="1"/>
                      <a:r>
                        <a:rPr lang="ar-AE" sz="1400" kern="150" dirty="0">
                          <a:effectLst/>
                          <a:latin typeface="Arial" panose="020B0604020202020204" pitchFamily="34" charset="0"/>
                          <a:cs typeface="Arial" panose="020B0604020202020204" pitchFamily="34" charset="0"/>
                        </a:rPr>
                        <a:t>— 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تحت الأرض! (أراد أن ينتقم منه بسبب ما جرى في حقل اللفت).</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p>
                      <a:pPr indent="216000" algn="r" rtl="1"/>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rtl="1"/>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66231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rtl="1"/>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درسا المحصول ونقّياه بالغربال والمجرفة الخشبية: كومة عالية من الحبوب النظيفة، وأخرى من التبن. فقال الذئب للقنفذ:</a:t>
                      </a:r>
                    </a:p>
                    <a:p>
                      <a:pPr indent="216000" algn="r" rtl="1"/>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rtl="1"/>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rtl="1"/>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rtl="1"/>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64812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rtl="1"/>
                      <a:r>
                        <a:rPr lang="ar-AE" sz="1400" kern="150" dirty="0">
                          <a:effectLst/>
                          <a:latin typeface="Arial" panose="020B0604020202020204" pitchFamily="34" charset="0"/>
                          <a:cs typeface="Arial" panose="020B0604020202020204" pitchFamily="34" charset="0"/>
                        </a:rPr>
                        <a:t>— نعممم!</a:t>
                      </a:r>
                    </a:p>
                    <a:p>
                      <a:pPr indent="216000" algn="r" rtl="1"/>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rtl="1"/>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rtl="1"/>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rtl="1"/>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rtl="1"/>
                      <a:r>
                        <a:rPr lang="ar-AE" sz="1400" kern="150" dirty="0">
                          <a:effectLst/>
                          <a:latin typeface="Arial" panose="020B0604020202020204" pitchFamily="34" charset="0"/>
                          <a:cs typeface="Arial" panose="020B0604020202020204" pitchFamily="34" charset="0"/>
                        </a:rPr>
                        <a:t>— وظل القنفذ يقول له:</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بل أنت!</a:t>
                      </a:r>
                    </a:p>
                    <a:p>
                      <a:pPr indent="216000" algn="r" rtl="1"/>
                      <a:r>
                        <a:rPr lang="ar-AE" sz="1400" kern="150" dirty="0">
                          <a:effectLst/>
                          <a:latin typeface="Arial" panose="020B0604020202020204" pitchFamily="34" charset="0"/>
                          <a:cs typeface="Arial" panose="020B0604020202020204" pitchFamily="34" charset="0"/>
                        </a:rPr>
                        <a:t>ثم قالا:</a:t>
                      </a:r>
                    </a:p>
                    <a:p>
                      <a:pPr indent="216000" algn="r" rtl="1"/>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rtl="1"/>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rtl="1"/>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rtl="1"/>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4128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rtl="1"/>
                      <a:r>
                        <a:rPr lang="ar-AE" sz="1400" kern="150" dirty="0">
                          <a:effectLst/>
                          <a:latin typeface="Arial" panose="020B0604020202020204" pitchFamily="34" charset="0"/>
                          <a:cs typeface="Arial" panose="020B0604020202020204" pitchFamily="34" charset="0"/>
                        </a:rPr>
                        <a:t>¶ فأجابه الثعبان:</a:t>
                      </a:r>
                    </a:p>
                    <a:p>
                      <a:pPr indent="216000" algn="r" rtl="1"/>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انطق بالشهادة، لأنك ستموت!</a:t>
                      </a:r>
                    </a:p>
                    <a:p>
                      <a:pPr indent="216000" algn="r" rtl="1"/>
                      <a:r>
                        <a:rPr lang="ar-AE" sz="1400" kern="150" dirty="0">
                          <a:effectLst/>
                          <a:latin typeface="Arial" panose="020B0604020202020204" pitchFamily="34" charset="0"/>
                          <a:cs typeface="Arial" panose="020B0604020202020204" pitchFamily="34" charset="0"/>
                        </a:rPr>
                        <a:t>¶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rtl="1"/>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rtl="1"/>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rtl="1"/>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rtl="1"/>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rtl="1"/>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rtl="1"/>
                      <a:r>
                        <a:rPr lang="ar-AE" sz="1400" i="1" kern="150" dirty="0">
                          <a:effectLst/>
                          <a:latin typeface="Arial" panose="020B0604020202020204" pitchFamily="34" charset="0"/>
                          <a:cs typeface="Arial" panose="020B0604020202020204" pitchFamily="34" charset="0"/>
                        </a:rPr>
                        <a:t>فلا يبرأ أبدًا من البلاء!</a:t>
                      </a:r>
                    </a:p>
                    <a:p>
                      <a:pPr indent="216000" algn="r" rtl="1"/>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rtl="1"/>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rtl="1"/>
                      <a:r>
                        <a:rPr lang="ar-AE" sz="1400" kern="150" dirty="0">
                          <a:effectLst/>
                          <a:latin typeface="Arial" panose="020B0604020202020204" pitchFamily="34" charset="0"/>
                          <a:cs typeface="Arial" panose="020B0604020202020204" pitchFamily="34" charset="0"/>
                        </a:rPr>
                        <a:t>— آه! لقد أفلت عشاء عائلتي!</a:t>
                      </a:r>
                    </a:p>
                    <a:p>
                      <a:pPr indent="216000" algn="r" rtl="1"/>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rtl="1"/>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549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الزمن القديم، كان الذئب والسلوقي أخوين. كان اسم أحدهما امحمد، والآخر رابح. وكانا يرعيان الماشية وحدهما: يخرجان بها صباحًا، ويرعيانها حتى المساء، ثم يعيدانها إلى البيت حين تشبع.</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السلوقي منشغلًا في مكان آخر، فقال لها الذئب:</a:t>
                      </a:r>
                    </a:p>
                    <a:p>
                      <a:pPr indent="216000" algn="r" rtl="1"/>
                      <a:r>
                        <a:rPr lang="ar-AE" sz="1400" kern="150" dirty="0">
                          <a:effectLst/>
                          <a:latin typeface="Arial" panose="020B0604020202020204" pitchFamily="34" charset="0"/>
                          <a:cs typeface="Arial" panose="020B0604020202020204" pitchFamily="34" charset="0"/>
                        </a:rPr>
                        <a:t>لا تخافي!</a:t>
                      </a:r>
                    </a:p>
                    <a:p>
                      <a:pPr indent="216000" algn="r" rtl="1"/>
                      <a:r>
                        <a:rPr lang="ar-AE" sz="1400" kern="150" dirty="0">
                          <a:effectLst/>
                          <a:latin typeface="Arial" panose="020B0604020202020204" pitchFamily="34" charset="0"/>
                          <a:cs typeface="Arial" panose="020B0604020202020204" pitchFamily="34" charset="0"/>
                        </a:rPr>
                        <a:t>نزل لينقذها، لكنه وجدها جريحة. لحس الدم، ثم أجهز عليها: قتلها وأكلها.</a:t>
                      </a:r>
                    </a:p>
                    <a:p>
                      <a:pPr indent="216000" algn="r" rtl="1"/>
                      <a:r>
                        <a:rPr lang="ar-AE" sz="1400" kern="150" dirty="0">
                          <a:effectLst/>
                          <a:latin typeface="Arial" panose="020B0604020202020204" pitchFamily="34" charset="0"/>
                          <a:cs typeface="Arial" panose="020B0604020202020204" pitchFamily="34" charset="0"/>
                        </a:rPr>
                        <a:t>¶ وفي المساء، حين عادا إلى البيت، سار السلوقي في وسط الماشية، بينما ابتعد الذئب عنها وانعزل.</a:t>
                      </a:r>
                    </a:p>
                    <a:p>
                      <a:pPr indent="216000" algn="r" rtl="1"/>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يوم من الأيام، وقف على مرتفع ونادى السلوقي قائلًا:</a:t>
                      </a:r>
                    </a:p>
                    <a:p>
                      <a:pPr indent="216000" algn="r" rtl="1"/>
                      <a:r>
                        <a:rPr lang="ar-AE" sz="1400" kern="150" dirty="0">
                          <a:effectLst/>
                          <a:latin typeface="Arial" panose="020B0604020202020204" pitchFamily="34" charset="0"/>
                          <a:cs typeface="Arial" panose="020B0604020202020204" pitchFamily="34" charset="0"/>
                        </a:rPr>
                        <a:t>هنيئًا لك أيها الكلب:</a:t>
                      </a:r>
                    </a:p>
                    <a:p>
                      <a:pPr indent="216000" algn="r" rtl="1"/>
                      <a:r>
                        <a:rPr lang="ar-AE" sz="1400" kern="150" dirty="0">
                          <a:effectLst/>
                          <a:latin typeface="Arial" panose="020B0604020202020204" pitchFamily="34" charset="0"/>
                          <a:cs typeface="Arial" panose="020B0604020202020204" pitchFamily="34" charset="0"/>
                        </a:rPr>
                        <a:t>تنام بين النعاج!</a:t>
                      </a:r>
                    </a:p>
                    <a:p>
                      <a:pPr indent="216000" algn="r" rtl="1"/>
                      <a:r>
                        <a:rPr lang="ar-AE" sz="1400" kern="150" dirty="0">
                          <a:effectLst/>
                          <a:latin typeface="Arial" panose="020B0604020202020204" pitchFamily="34" charset="0"/>
                          <a:cs typeface="Arial" panose="020B0604020202020204" pitchFamily="34" charset="0"/>
                        </a:rPr>
                        <a:t>فأجابه السلوقي:</a:t>
                      </a:r>
                    </a:p>
                    <a:p>
                      <a:pPr indent="216000" algn="r" rtl="1"/>
                      <a:r>
                        <a:rPr lang="ar-AE" sz="1400" kern="150" dirty="0">
                          <a:effectLst/>
                          <a:latin typeface="Arial" panose="020B0604020202020204" pitchFamily="34" charset="0"/>
                          <a:cs typeface="Arial" panose="020B0604020202020204" pitchFamily="34" charset="0"/>
                        </a:rPr>
                        <a:t>ابتعد عن هنا!</a:t>
                      </a:r>
                    </a:p>
                    <a:p>
                      <a:pPr indent="216000" algn="r" rtl="1"/>
                      <a:r>
                        <a:rPr lang="ar-AE" sz="1400" kern="150" dirty="0">
                          <a:effectLst/>
                          <a:latin typeface="Arial" panose="020B0604020202020204" pitchFamily="34" charset="0"/>
                          <a:cs typeface="Arial" panose="020B0604020202020204" pitchFamily="34" charset="0"/>
                        </a:rPr>
                        <a:t>فأفعالك هي السيئة:</a:t>
                      </a:r>
                    </a:p>
                    <a:p>
                      <a:pPr indent="216000" algn="r" rtl="1"/>
                      <a:r>
                        <a:rPr lang="ar-AE" sz="1400" kern="150" dirty="0">
                          <a:effectLst/>
                          <a:latin typeface="Arial" panose="020B0604020202020204" pitchFamily="34" charset="0"/>
                          <a:cs typeface="Arial" panose="020B0604020202020204" pitchFamily="34" charset="0"/>
                        </a:rPr>
                        <a:t>ولولا ذلك لكنت مثلي تمامًا!</a:t>
                      </a:r>
                    </a:p>
                    <a:p>
                      <a:pPr indent="216000" algn="r" rtl="1"/>
                      <a:r>
                        <a:rPr lang="ar-AE" sz="1400" kern="150" dirty="0">
                          <a:effectLst/>
                          <a:latin typeface="Arial" panose="020B0604020202020204" pitchFamily="34" charset="0"/>
                          <a:cs typeface="Arial" panose="020B0604020202020204" pitchFamily="34" charset="0"/>
                        </a:rPr>
                        <a:t>وأضاف:</a:t>
                      </a:r>
                    </a:p>
                    <a:p>
                      <a:pPr indent="216000" algn="r" rtl="1"/>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rtl="1"/>
                      <a:r>
                        <a:rPr lang="ar-AE" sz="1400" kern="150" dirty="0">
                          <a:effectLst/>
                          <a:latin typeface="Arial" panose="020B0604020202020204" pitchFamily="34" charset="0"/>
                          <a:cs typeface="Arial" panose="020B0604020202020204" pitchFamily="34" charset="0"/>
                        </a:rPr>
                        <a:t>فقال له السلوقي: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فضحك الذئب منه وأجابه:</a:t>
                      </a:r>
                    </a:p>
                    <a:p>
                      <a:pPr indent="216000" algn="r" rtl="1"/>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rtl="1"/>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rtl="1"/>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قالت النعجة:</a:t>
                      </a:r>
                    </a:p>
                    <a:p>
                      <a:pPr indent="216000" algn="r" rtl="1"/>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rtl="1"/>
                      <a:r>
                        <a:rPr lang="ar-AE" sz="1400" kern="150" dirty="0">
                          <a:effectLst/>
                          <a:latin typeface="Arial" panose="020B0604020202020204" pitchFamily="34" charset="0"/>
                          <a:cs typeface="Arial" panose="020B0604020202020204" pitchFamily="34" charset="0"/>
                        </a:rPr>
                        <a:t>فقالت لها العنزة:</a:t>
                      </a:r>
                    </a:p>
                    <a:p>
                      <a:pPr indent="216000" algn="r" rtl="1"/>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rtl="1"/>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rtl="1"/>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rtl="1"/>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rtl="1"/>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rtl="1"/>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75179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rtl="1"/>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rtl="1"/>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rtl="1"/>
                      <a:r>
                        <a:rPr lang="ar-AE" sz="1400" kern="150" dirty="0">
                          <a:effectLst/>
                          <a:latin typeface="Arial" panose="020B0604020202020204" pitchFamily="34" charset="0"/>
                          <a:cs typeface="Arial" panose="020B0604020202020204" pitchFamily="34" charset="0"/>
                        </a:rPr>
                        <a:t>ـ فأجابته: حاشا لله يا سيدي امحمد، إنك تبحث لي عن أعذار فقط!</a:t>
                      </a:r>
                    </a:p>
                    <a:p>
                      <a:pPr indent="216000" algn="r" rtl="1"/>
                      <a:r>
                        <a:rPr lang="ar-AE" sz="1400" kern="150" dirty="0">
                          <a:effectLst/>
                          <a:latin typeface="Arial" panose="020B0604020202020204" pitchFamily="34" charset="0"/>
                          <a:cs typeface="Arial" panose="020B0604020202020204" pitchFamily="34" charset="0"/>
                        </a:rPr>
                        <a:t>وحين حاصرها، قالت له:</a:t>
                      </a:r>
                    </a:p>
                    <a:p>
                      <a:pPr indent="216000" algn="r" rtl="1"/>
                      <a:r>
                        <a:rPr lang="ar-AE" sz="1400" kern="150" dirty="0">
                          <a:effectLst/>
                          <a:latin typeface="Arial" panose="020B0604020202020204" pitchFamily="34" charset="0"/>
                          <a:cs typeface="Arial" panose="020B0604020202020204" pitchFamily="34" charset="0"/>
                        </a:rPr>
                        <a:t>ـ أقسم لي، ثم كلني!</a:t>
                      </a:r>
                    </a:p>
                    <a:p>
                      <a:pPr indent="216000" algn="r" rtl="1"/>
                      <a:r>
                        <a:rPr lang="ar-AE" sz="1400" kern="150" dirty="0">
                          <a:effectLst/>
                          <a:latin typeface="Arial" panose="020B0604020202020204" pitchFamily="34" charset="0"/>
                          <a:cs typeface="Arial" panose="020B0604020202020204" pitchFamily="34" charset="0"/>
                        </a:rPr>
                        <a:t>ـ فسألها: أين؟</a:t>
                      </a:r>
                    </a:p>
                    <a:p>
                      <a:pPr indent="216000" algn="r" rtl="1"/>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rtl="1"/>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السلوقي.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67717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uḥuli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a:t>
                      </a:r>
                      <a:r>
                        <a:rPr lang="ar-AE" sz="1400" kern="150">
                          <a:effectLst/>
                          <a:latin typeface="Arial" panose="020B0604020202020204" pitchFamily="34" charset="0"/>
                          <a:cs typeface="Arial" panose="020B0604020202020204" pitchFamily="34" charset="0"/>
                        </a:rPr>
                        <a:t>كانت العنزة </a:t>
                      </a:r>
                      <a:r>
                        <a:rPr lang="ar-AE" sz="1400" kern="150" dirty="0">
                          <a:effectLst/>
                          <a:latin typeface="Arial" panose="020B0604020202020204" pitchFamily="34" charset="0"/>
                          <a:cs typeface="Arial" panose="020B0604020202020204" pitchFamily="34" charset="0"/>
                        </a:rPr>
                        <a:t>ترعى مع جدييها؛ أحدهما بكرها والآخر أصغرهما.</a:t>
                      </a:r>
                    </a:p>
                    <a:p>
                      <a:pPr indent="216000" algn="r" rtl="1"/>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rtl="1"/>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السلوقي إليهما. لكنهما وجدا أن الأوان قد فات: لم يصلا إلا بعدما خنقه الذئب وعضه عدة عضات.</a:t>
                      </a:r>
                    </a:p>
                    <a:p>
                      <a:pPr indent="216000" algn="r" rtl="1"/>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rtl="1"/>
                      <a:r>
                        <a:rPr lang="ar-AE" sz="1400" kern="150" dirty="0">
                          <a:effectLst/>
                          <a:latin typeface="Arial" panose="020B0604020202020204" pitchFamily="34" charset="0"/>
                          <a:cs typeface="Arial" panose="020B0604020202020204" pitchFamily="34" charset="0"/>
                        </a:rPr>
                        <a:t>فقال له السلوقي:</a:t>
                      </a:r>
                    </a:p>
                    <a:p>
                      <a:pPr indent="216000" algn="r" rtl="1"/>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33860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rtl="1"/>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rtl="1"/>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rtl="1"/>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rtl="1"/>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rtl="1"/>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rtl="1"/>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rtl="1"/>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rtl="1"/>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15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أنكر الأمر تمامًا!</a:t>
                      </a:r>
                    </a:p>
                    <a:p>
                      <a:pPr indent="216000" algn="r" rtl="1"/>
                      <a:r>
                        <a:rPr lang="ar-AE" sz="1400" kern="150" dirty="0">
                          <a:effectLst/>
                          <a:latin typeface="Arial" panose="020B0604020202020204" pitchFamily="34" charset="0"/>
                          <a:cs typeface="Arial" panose="020B0604020202020204" pitchFamily="34" charset="0"/>
                        </a:rPr>
                        <a:t>فذهبت وأحضرت السلوقي داخل كيس من جلد، ووضعته عند طرف البيدر. ظن الذئب أنه مجرد كيس من الحبوب موضوع هناك. تقدم ليأخذه، لكن عيني السلوقي ظهرتا من داخله، تلمعان كالجمر المتقد.</a:t>
                      </a:r>
                    </a:p>
                    <a:p>
                      <a:pPr indent="216000" algn="r" rtl="1"/>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rtl="1"/>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2466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ـ أهلًا يا ابن عمتي! ما الذي جاء بك إلى هنا؟</a:t>
                      </a:r>
                    </a:p>
                    <a:p>
                      <a:pPr indent="216000" algn="r" rtl="1"/>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rtl="1"/>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rtl="1"/>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rtl="1"/>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rtl="1"/>
                      <a:r>
                        <a:rPr lang="ar-AE" sz="1400" kern="150" dirty="0">
                          <a:effectLst/>
                          <a:latin typeface="Arial" panose="020B0604020202020204" pitchFamily="34" charset="0"/>
                          <a:cs typeface="Arial" panose="020B0604020202020204" pitchFamily="34" charset="0"/>
                        </a:rPr>
                        <a:t>¶ مضى بعض الوقت، وحملوا السلوقي داخل سلة كبيرة من الخوص، ونزلوا إلى الوادي نفسه. وإذا بالذئب قد وصل. وما إن رأى الحمل حتى ابتسم ابتسامة عريضة وقال له:</a:t>
                      </a:r>
                    </a:p>
                    <a:p>
                      <a:pPr indent="216000" algn="r" rtl="1"/>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rtl="1"/>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7591868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السلوقي وعضه. أخذ الذئب يئن ويعوي، لكن الكلب لم يتركه حتى تبرز من شدة الرعب.</a:t>
                      </a:r>
                    </a:p>
                    <a:p>
                      <a:pPr indent="216000" algn="r" rtl="1"/>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86634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ذات مرة، انطلق السلوقي والديك في رحلة طويلة. أطلّا على الجبال والمرتفعات، وعبرا الأنهار، واستراحا في الحقول والوديان. وفي ذلك اليوم، أدركهما الليل في غابة. فطار الديك إلى شجرة بلوط عالية، ودخل السلوقي تجويفًا ليحتمي به، وبقي هناك حارسًا.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rtl="1"/>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rtl="1"/>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rtl="1"/>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rtl="1"/>
                      <a:r>
                        <a:rPr lang="ar-AE" sz="1400" kern="150" dirty="0">
                          <a:effectLst/>
                          <a:latin typeface="Arial" panose="020B0604020202020204" pitchFamily="34" charset="0"/>
                          <a:cs typeface="Arial" panose="020B0604020202020204" pitchFamily="34" charset="0"/>
                        </a:rPr>
                        <a:t>ـ الرجل الصالح هناك في التجويف. أيقظه بينما أنزل أنا إلى الأسفل!</a:t>
                      </a:r>
                    </a:p>
                    <a:p>
                      <a:pPr indent="216000" algn="r" rtl="1"/>
                      <a:r>
                        <a:rPr lang="ar-AE" sz="1400" kern="150" dirty="0">
                          <a:effectLst/>
                          <a:latin typeface="Arial" panose="020B0604020202020204" pitchFamily="34" charset="0"/>
                          <a:cs typeface="Arial" panose="020B0604020202020204" pitchFamily="34" charset="0"/>
                        </a:rPr>
                        <a:t>¶ التفت سيدي امحمد نحو تجويف الشجرة فرأى السلوقي نائمًا؛ فقد ظل يحرس طوال الليل، وغلبه النعاس عند اقتراب الصباح.</a:t>
                      </a:r>
                    </a:p>
                    <a:p>
                      <a:pPr indent="216000" algn="r" rtl="1"/>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rtl="1"/>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rtl="1"/>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0171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rtl="1"/>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السلوقي نستطيع أن نفعل شيئًا لمواجهته. إن وجدت لي حلًا، أعطيتك مكافأتك.</a:t>
                      </a:r>
                    </a:p>
                    <a:p>
                      <a:pPr indent="216000" algn="r" rtl="1"/>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rtl="1"/>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rtl="1"/>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rtl="1"/>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rtl="1"/>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rtl="1"/>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rtl="1"/>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86761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الزوجة فقالت في نفسها</a:t>
                      </a:r>
                      <a:r>
                        <a:rPr lang="ar-AE" sz="1400" kern="150">
                          <a:effectLst/>
                          <a:latin typeface="Arial" panose="020B0604020202020204" pitchFamily="34" charset="0"/>
                          <a:cs typeface="Arial" panose="020B0604020202020204" pitchFamily="34" charset="0"/>
                        </a:rPr>
                        <a:t>: يا لها من صفقة رابحة لي! </a:t>
                      </a:r>
                      <a:r>
                        <a:rPr lang="ar-AE" sz="1400" kern="150" dirty="0">
                          <a:effectLst/>
                          <a:latin typeface="Arial" panose="020B0604020202020204" pitchFamily="34" charset="0"/>
                          <a:cs typeface="Arial" panose="020B0604020202020204" pitchFamily="34" charset="0"/>
                        </a:rPr>
                        <a:t>ما يعفو عنه ملك الحيوانات، سيتكفل سيدي امحمد بالقضاء عليه!</a:t>
                      </a:r>
                    </a:p>
                    <a:p>
                      <a:pPr indent="216000" algn="r" rtl="1"/>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السلوقي داخله.</a:t>
                      </a:r>
                    </a:p>
                    <a:p>
                      <a:pPr indent="216000" algn="r" rtl="1"/>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السلوقي عليه ونهشه ومزق جسده.</a:t>
                      </a:r>
                    </a:p>
                    <a:p>
                      <a:pPr indent="216000" algn="r" rtl="1"/>
                      <a:r>
                        <a:rPr lang="ar-AE" sz="1400" kern="150" dirty="0">
                          <a:effectLst/>
                          <a:latin typeface="Arial" panose="020B0604020202020204" pitchFamily="34" charset="0"/>
                          <a:cs typeface="Arial" panose="020B0604020202020204" pitchFamily="34" charset="0"/>
                        </a:rPr>
                        <a:t>¶ قال سيدي امحمد: إحسانٌ يجلبُ سوءَ الحظ! وكما يقول المثل القديم: بيضةٌ تخصُّ امرأةً وضعتْها ناقةٌ!</a:t>
                      </a: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329009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rtl="1"/>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rtl="1"/>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يا أماه العجوز، ما بك؟</a:t>
                      </a:r>
                    </a:p>
                    <a:p>
                      <a:pPr indent="216000" algn="r" rtl="1"/>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rtl="1"/>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rtl="1"/>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rtl="1"/>
                      <a:r>
                        <a:rPr lang="ar-AE" sz="1400" kern="150" dirty="0">
                          <a:effectLst/>
                          <a:latin typeface="Arial" panose="020B0604020202020204" pitchFamily="34" charset="0"/>
                          <a:cs typeface="Arial" panose="020B0604020202020204" pitchFamily="34" charset="0"/>
                        </a:rPr>
                        <a:t>— ما رأيك في ملك الحيوانات؟</a:t>
                      </a:r>
                    </a:p>
                    <a:p>
                      <a:pPr indent="216000" algn="r" rtl="1"/>
                      <a:r>
                        <a:rPr lang="ar-AE" sz="1400" kern="150" dirty="0">
                          <a:effectLst/>
                          <a:latin typeface="Arial" panose="020B0604020202020204" pitchFamily="34" charset="0"/>
                          <a:cs typeface="Arial" panose="020B0604020202020204" pitchFamily="34" charset="0"/>
                        </a:rPr>
                        <a:t>— فقالت لهم: إنه رجل طيب، لكن يا لسوء رائحة أنفاسه!</a:t>
                      </a:r>
                    </a:p>
                    <a:p>
                      <a:pPr indent="216000" algn="r" rtl="1"/>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rtl="1"/>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0280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فأجابته: لا أستطيع؛ لقد أحسنت إليّ!</a:t>
                      </a:r>
                    </a:p>
                    <a:p>
                      <a:pPr indent="216000" algn="r" rtl="1"/>
                      <a:r>
                        <a:rPr lang="ar-AE" sz="1400" kern="150" dirty="0">
                          <a:effectLst/>
                          <a:latin typeface="Arial" panose="020B0604020202020204" pitchFamily="34" charset="0"/>
                          <a:cs typeface="Arial" panose="020B0604020202020204" pitchFamily="34" charset="0"/>
                        </a:rPr>
                        <a:t>— فقال لها: ستضربينني وإلا أكلتك.</a:t>
                      </a:r>
                    </a:p>
                    <a:p>
                      <a:pPr indent="216000" algn="r" rtl="1"/>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rtl="1"/>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 أزيلي القمل عني.</a:t>
                      </a:r>
                    </a:p>
                    <a:p>
                      <a:pPr indent="216000" algn="r" rtl="1"/>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rtl="1"/>
                      <a:r>
                        <a:rPr lang="ar-AE" sz="1400" kern="150" dirty="0">
                          <a:effectLst/>
                          <a:latin typeface="Arial" panose="020B0604020202020204" pitchFamily="34" charset="0"/>
                          <a:cs typeface="Arial" panose="020B0604020202020204" pitchFamily="34" charset="0"/>
                        </a:rPr>
                        <a:t>الحمد لله يا بني، لقد شُفيت!</a:t>
                      </a:r>
                    </a:p>
                    <a:p>
                      <a:pPr indent="216000" algn="r" rtl="1"/>
                      <a:r>
                        <a:rPr lang="ar-AE" sz="1400" kern="150" dirty="0">
                          <a:effectLst/>
                          <a:latin typeface="Arial" panose="020B0604020202020204" pitchFamily="34" charset="0"/>
                          <a:cs typeface="Arial" panose="020B0604020202020204" pitchFamily="34" charset="0"/>
                        </a:rPr>
                        <a:t>— فقال لها: الجروح تحفر ثم تلتئم، أما الكلمات فتحفر وتتكاثر!</a:t>
                      </a:r>
                      <a:endParaRPr lang="fr-FR"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rtl="1"/>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rtl="1"/>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rtl="1"/>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rtl="1"/>
                      <a:r>
                        <a:rPr lang="ar-AE" sz="1400" kern="150" dirty="0">
                          <a:effectLst/>
                          <a:latin typeface="Arial" panose="020B0604020202020204" pitchFamily="34" charset="0"/>
                          <a:cs typeface="Arial" panose="020B0604020202020204" pitchFamily="34" charset="0"/>
                        </a:rPr>
                        <a:t>ـ حسنًا، جرّبي الأمر بنفسك!</a:t>
                      </a:r>
                    </a:p>
                    <a:p>
                      <a:pPr indent="216000" algn="r" rtl="1"/>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rtl="1"/>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rtl="1"/>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rtl="1"/>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07465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السلوقي</a:t>
                      </a:r>
                      <a:endParaRPr lang="en-GB"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السلوقي.</a:t>
                      </a:r>
                    </a:p>
                    <a:p>
                      <a:pPr indent="216000" algn="r" rtl="1"/>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rtl="1"/>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rtl="1"/>
                      <a:r>
                        <a:rPr lang="ar-AE" sz="1400" kern="150" dirty="0">
                          <a:effectLst/>
                          <a:latin typeface="Arial" panose="020B0604020202020204" pitchFamily="34" charset="0"/>
                          <a:cs typeface="Arial" panose="020B0604020202020204" pitchFamily="34" charset="0"/>
                        </a:rPr>
                        <a:t>ـ أعنّي على السلوقي كي أنتقم منه، وأعطيك نصيبك.</a:t>
                      </a:r>
                    </a:p>
                    <a:p>
                      <a:pPr indent="216000" algn="r" rtl="1"/>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rtl="1"/>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rtl="1"/>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rtl="1"/>
                      <a:r>
                        <a:rPr lang="ar-AE" sz="1400" kern="150" dirty="0">
                          <a:effectLst/>
                          <a:latin typeface="Arial" panose="020B0604020202020204" pitchFamily="34" charset="0"/>
                          <a:cs typeface="Arial" panose="020B0604020202020204" pitchFamily="34" charset="0"/>
                        </a:rPr>
                        <a:t>¶ هكذا مات السلوقي المسكين، الذي اعتاد حراسة الماشية البكماء.</a:t>
                      </a:r>
                    </a:p>
                    <a:p>
                      <a:pPr indent="216000" algn="r" rtl="1"/>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rtl="1"/>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rtl="1"/>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rtl="1"/>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rtl="1"/>
                      <a:r>
                        <a:rPr lang="ar-AE" sz="1400" kern="150" dirty="0">
                          <a:effectLst/>
                          <a:latin typeface="Arial" panose="020B0604020202020204" pitchFamily="34" charset="0"/>
                          <a:cs typeface="Arial" panose="020B0604020202020204" pitchFamily="34" charset="0"/>
                        </a:rPr>
                        <a:t>ـ ما بك يا أختي؟</a:t>
                      </a:r>
                    </a:p>
                    <a:p>
                      <a:pPr indent="216000" algn="r" rtl="1"/>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rtl="1"/>
                      <a:r>
                        <a:rPr lang="ar-AE" sz="1400" kern="150" dirty="0">
                          <a:effectLst/>
                          <a:latin typeface="Arial" panose="020B0604020202020204" pitchFamily="34" charset="0"/>
                          <a:cs typeface="Arial" panose="020B0604020202020204" pitchFamily="34" charset="0"/>
                        </a:rPr>
                        <a:t>ثم مضى لشأنه.</a:t>
                      </a:r>
                    </a:p>
                    <a:p>
                      <a:pPr indent="216000" algn="r" rtl="1"/>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rtl="1"/>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rtl="1"/>
                      <a:r>
                        <a:rPr lang="ar-AE" sz="1400" kern="150" dirty="0">
                          <a:effectLst/>
                          <a:latin typeface="Arial" panose="020B0604020202020204" pitchFamily="34" charset="0"/>
                          <a:cs typeface="Arial" panose="020B0604020202020204" pitchFamily="34" charset="0"/>
                        </a:rPr>
                        <a:t>فأجابها الذئب:</a:t>
                      </a:r>
                    </a:p>
                    <a:p>
                      <a:pPr indent="216000" algn="r" rtl="1"/>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rtl="1"/>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rtl="1"/>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rtl="1"/>
                      <a:r>
                        <a:rPr lang="ar-AE" sz="1400" kern="150" dirty="0">
                          <a:effectLst/>
                          <a:latin typeface="Arial" panose="020B0604020202020204" pitchFamily="34" charset="0"/>
                          <a:cs typeface="Arial" panose="020B0604020202020204" pitchFamily="34" charset="0"/>
                        </a:rPr>
                        <a:t>فقالت له:</a:t>
                      </a:r>
                    </a:p>
                    <a:p>
                      <a:pPr indent="216000" algn="r" rtl="1"/>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rtl="1"/>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rtl="1"/>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rtl="1"/>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rtl="1"/>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556060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rtl="1"/>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rtl="1"/>
                      <a:r>
                        <a:rPr lang="ar-AE" sz="1400" kern="150" dirty="0">
                          <a:effectLst/>
                          <a:latin typeface="Arial" panose="020B0604020202020204" pitchFamily="34" charset="0"/>
                          <a:cs typeface="Arial" panose="020B0604020202020204" pitchFamily="34" charset="0"/>
                        </a:rPr>
                        <a:t>ـ ماذا ترى يا امحمد؟</a:t>
                      </a:r>
                    </a:p>
                    <a:p>
                      <a:pPr indent="216000" algn="r" rtl="1"/>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rtl="1"/>
                      <a:r>
                        <a:rPr lang="ar-AE" sz="1400" kern="150" dirty="0">
                          <a:effectLst/>
                          <a:latin typeface="Arial" panose="020B0604020202020204" pitchFamily="34" charset="0"/>
                          <a:cs typeface="Arial" panose="020B0604020202020204" pitchFamily="34" charset="0"/>
                        </a:rPr>
                        <a:t>فارتفع به أكثر وقال له:</a:t>
                      </a:r>
                    </a:p>
                    <a:p>
                      <a:pPr indent="216000" algn="r" rtl="1"/>
                      <a:r>
                        <a:rPr lang="ar-AE" sz="1400" kern="150" dirty="0">
                          <a:effectLst/>
                          <a:latin typeface="Arial" panose="020B0604020202020204" pitchFamily="34" charset="0"/>
                          <a:cs typeface="Arial" panose="020B0604020202020204" pitchFamily="34" charset="0"/>
                        </a:rPr>
                        <a:t>ـ ماذا ترى؟</a:t>
                      </a:r>
                    </a:p>
                    <a:p>
                      <a:pPr indent="216000" algn="r" rtl="1"/>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rtl="1"/>
                      <a:r>
                        <a:rPr lang="ar-AE" sz="1400" kern="150" dirty="0">
                          <a:effectLst/>
                          <a:latin typeface="Arial" panose="020B0604020202020204" pitchFamily="34" charset="0"/>
                          <a:cs typeface="Arial" panose="020B0604020202020204" pitchFamily="34" charset="0"/>
                        </a:rPr>
                        <a:t>فارتفع به أعلى وقال له:</a:t>
                      </a:r>
                    </a:p>
                    <a:p>
                      <a:pPr indent="216000" algn="r" rtl="1"/>
                      <a:r>
                        <a:rPr lang="ar-AE" sz="1400" kern="150" dirty="0">
                          <a:effectLst/>
                          <a:latin typeface="Arial" panose="020B0604020202020204" pitchFamily="34" charset="0"/>
                          <a:cs typeface="Arial" panose="020B0604020202020204" pitchFamily="34" charset="0"/>
                        </a:rPr>
                        <a:t>ـ والآن، ماذا ترى؟</a:t>
                      </a:r>
                    </a:p>
                    <a:p>
                      <a:pPr indent="216000" algn="r" rtl="1"/>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rtl="1"/>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rtl="1"/>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 طحاله من شدة الرعب.</a:t>
                      </a:r>
                    </a:p>
                    <a:p>
                      <a:pPr indent="216000" algn="r" rtl="1"/>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rtl="1"/>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849072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rtl="1"/>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rtl="1"/>
                      <a:r>
                        <a:rPr lang="ar-AE" sz="1400" i="1" kern="150" dirty="0">
                          <a:effectLst/>
                          <a:latin typeface="Arial" panose="020B0604020202020204" pitchFamily="34" charset="0"/>
                          <a:cs typeface="Arial" panose="020B0604020202020204" pitchFamily="34" charset="0"/>
                        </a:rPr>
                        <a:t>لم نجد ما هو أحدث منها!</a:t>
                      </a:r>
                    </a:p>
                    <a:p>
                      <a:pPr indent="216000" algn="r" rtl="1"/>
                      <a:r>
                        <a:rPr lang="ar-AE" sz="1400" kern="150" dirty="0">
                          <a:effectLst/>
                          <a:latin typeface="Arial" panose="020B0604020202020204" pitchFamily="34" charset="0"/>
                          <a:cs typeface="Arial" panose="020B0604020202020204" pitchFamily="34" charset="0"/>
                        </a:rPr>
                        <a:t>¶ رأته الخنزيرة يرتجف ويذكر كأنه في حالة وجد صوفي، فسألته:</a:t>
                      </a:r>
                    </a:p>
                    <a:p>
                      <a:pPr indent="216000" algn="r" rtl="1"/>
                      <a:r>
                        <a:rPr lang="ar-AE" sz="1400" kern="150" dirty="0">
                          <a:effectLst/>
                          <a:latin typeface="Arial" panose="020B0604020202020204" pitchFamily="34" charset="0"/>
                          <a:cs typeface="Arial" panose="020B0604020202020204" pitchFamily="34" charset="0"/>
                        </a:rPr>
                        <a:t>‑ أأنت متعلم يا سيدي امحمد؟</a:t>
                      </a:r>
                    </a:p>
                    <a:p>
                      <a:pPr indent="216000" algn="r" rtl="1"/>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rtl="1"/>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rtl="1"/>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44431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rtl="1"/>
                      <a:r>
                        <a:rPr lang="ar-AE" sz="1400" kern="150" dirty="0">
                          <a:effectLst/>
                          <a:latin typeface="Arial" panose="020B0604020202020204" pitchFamily="34" charset="0"/>
                          <a:cs typeface="Arial" panose="020B0604020202020204" pitchFamily="34" charset="0"/>
                        </a:rPr>
                        <a:t>‑ فقالت له: اتفقنا!</a:t>
                      </a:r>
                    </a:p>
                    <a:p>
                      <a:pPr indent="216000" algn="r" rtl="1"/>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rtl="1"/>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rtl="1"/>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rtl="1"/>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rtl="1"/>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rtl="1"/>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rtl="1"/>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rtl="1"/>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rtl="1"/>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rtl="1"/>
                      <a:r>
                        <a:rPr lang="ar-AE" sz="1400" kern="150" dirty="0">
                          <a:effectLst/>
                          <a:latin typeface="Arial" panose="020B0604020202020204" pitchFamily="34" charset="0"/>
                          <a:cs typeface="Arial" panose="020B0604020202020204" pitchFamily="34" charset="0"/>
                        </a:rPr>
                        <a:t>¶ ثم قال لها:</a:t>
                      </a:r>
                    </a:p>
                    <a:p>
                      <a:pPr indent="216000" algn="r" rtl="1"/>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rtl="1"/>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rtl="1"/>
                      <a:r>
                        <a:rPr lang="ar-AE" sz="1400" kern="150" dirty="0">
                          <a:effectLst/>
                          <a:latin typeface="Arial" panose="020B0604020202020204" pitchFamily="34" charset="0"/>
                          <a:cs typeface="Arial" panose="020B0604020202020204" pitchFamily="34" charset="0"/>
                        </a:rPr>
                        <a:t>فتركها تذهب، وانصرفت.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7108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rtl="1"/>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rtl="1"/>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rtl="1"/>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rtl="1"/>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فوله في الصيف؟</a:t>
                      </a:r>
                    </a:p>
                    <a:p>
                      <a:pPr indent="216000" algn="r" rtl="1"/>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rtl="1"/>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rtl="1"/>
                      <a:r>
                        <a:rPr lang="ar-AE" sz="1400" kern="150" dirty="0">
                          <a:effectLst/>
                          <a:latin typeface="Arial" panose="020B0604020202020204" pitchFamily="34" charset="0"/>
                          <a:cs typeface="Arial" panose="020B0604020202020204" pitchFamily="34" charset="0"/>
                        </a:rPr>
                        <a:t>فأجابها قائلًا:</a:t>
                      </a:r>
                    </a:p>
                    <a:p>
                      <a:pPr indent="216000" algn="r" rtl="1"/>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rtl="1"/>
                      <a:r>
                        <a:rPr lang="ar-AE" sz="1400" kern="150" dirty="0">
                          <a:effectLst/>
                          <a:latin typeface="Arial" panose="020B0604020202020204" pitchFamily="34" charset="0"/>
                          <a:cs typeface="Arial" panose="020B0604020202020204" pitchFamily="34" charset="0"/>
                        </a:rPr>
                        <a:t>ترددت وقالت له:</a:t>
                      </a:r>
                    </a:p>
                    <a:p>
                      <a:pPr indent="216000" algn="r" rtl="1"/>
                      <a:r>
                        <a:rPr lang="ar-AE" sz="1400" kern="150" dirty="0">
                          <a:effectLst/>
                          <a:latin typeface="Arial" panose="020B0604020202020204" pitchFamily="34" charset="0"/>
                          <a:cs typeface="Arial" panose="020B0604020202020204" pitchFamily="34" charset="0"/>
                        </a:rPr>
                        <a:t>‑ إذا أعطيتك رأسي لتمضغه، فبماذا سأطحن فولك في الصيف؟</a:t>
                      </a:r>
                    </a:p>
                    <a:p>
                      <a:pPr indent="216000" algn="r" rtl="1"/>
                      <a:r>
                        <a:rPr lang="ar-AE" sz="1400" kern="150" dirty="0">
                          <a:effectLst/>
                          <a:latin typeface="Arial" panose="020B0604020202020204" pitchFamily="34" charset="0"/>
                          <a:cs typeface="Arial" panose="020B0604020202020204" pitchFamily="34" charset="0"/>
                        </a:rPr>
                        <a:t>زأر كالزوبعة وقال لها:</a:t>
                      </a:r>
                    </a:p>
                    <a:p>
                      <a:pPr indent="216000" algn="r" rtl="1"/>
                      <a:r>
                        <a:rPr lang="ar-AE" sz="1400" kern="150" dirty="0">
                          <a:effectLst/>
                          <a:latin typeface="Arial" panose="020B0604020202020204" pitchFamily="34" charset="0"/>
                          <a:cs typeface="Arial" panose="020B0604020202020204" pitchFamily="34" charset="0"/>
                        </a:rPr>
                        <a:t>‑ لقد التقيت امحمد!</a:t>
                      </a:r>
                    </a:p>
                    <a:p>
                      <a:pPr indent="216000" algn="r" rtl="1"/>
                      <a:r>
                        <a:rPr lang="ar-AE" sz="1400" kern="150" dirty="0">
                          <a:effectLst/>
                          <a:latin typeface="Arial" panose="020B0604020202020204" pitchFamily="34" charset="0"/>
                          <a:cs typeface="Arial" panose="020B0604020202020204" pitchFamily="34" charset="0"/>
                        </a:rPr>
                        <a:t>‑ فأجابته: نعم، التقيته!</a:t>
                      </a:r>
                    </a:p>
                    <a:p>
                      <a:pPr indent="216000" algn="r" rtl="1"/>
                      <a:r>
                        <a:rPr lang="ar-AE" sz="1400" kern="150" dirty="0">
                          <a:effectLst/>
                          <a:latin typeface="Arial" panose="020B0604020202020204" pitchFamily="34" charset="0"/>
                          <a:cs typeface="Arial" panose="020B0604020202020204" pitchFamily="34" charset="0"/>
                        </a:rPr>
                        <a:t>ثم هربت.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rtl="1"/>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rtl="1"/>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rtl="1"/>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rtl="1"/>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rtl="1"/>
                      <a:r>
                        <a:rPr lang="ar-AE" sz="1600" kern="150" dirty="0">
                          <a:effectLst/>
                          <a:latin typeface="Arial" panose="020B0604020202020204" pitchFamily="34" charset="0"/>
                          <a:cs typeface="Arial" panose="020B0604020202020204" pitchFamily="34" charset="0"/>
                        </a:rPr>
                        <a:t>‑ فأجابهم: لقد مرّ!</a:t>
                      </a:r>
                    </a:p>
                    <a:p>
                      <a:pPr indent="216000" algn="r" rtl="1"/>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rtl="1"/>
                      <a:r>
                        <a:rPr lang="ar-AE" sz="1600" kern="150" dirty="0">
                          <a:effectLst/>
                          <a:latin typeface="Arial" panose="020B0604020202020204" pitchFamily="34" charset="0"/>
                          <a:cs typeface="Arial" panose="020B0604020202020204" pitchFamily="34" charset="0"/>
                        </a:rPr>
                        <a:t>‑ سألتهمك!</a:t>
                      </a:r>
                    </a:p>
                    <a:p>
                      <a:pPr indent="216000" algn="r" rtl="1"/>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rtl="1"/>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rtl="1"/>
                      <a:r>
                        <a:rPr lang="ar-AE" sz="1600" kern="150" dirty="0">
                          <a:effectLst/>
                          <a:latin typeface="Arial" panose="020B0604020202020204" pitchFamily="34" charset="0"/>
                          <a:cs typeface="Arial" panose="020B0604020202020204" pitchFamily="34" charset="0"/>
                        </a:rPr>
                        <a:t>فقال له الجمل:</a:t>
                      </a:r>
                    </a:p>
                    <a:p>
                      <a:pPr indent="216000" algn="r" rtl="1"/>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rtl="1"/>
                      <a:r>
                        <a:rPr lang="ar-AE" sz="1600" kern="150" dirty="0">
                          <a:effectLst/>
                          <a:latin typeface="Arial" panose="020B0604020202020204" pitchFamily="34" charset="0"/>
                          <a:cs typeface="Arial" panose="020B0604020202020204" pitchFamily="34" charset="0"/>
                        </a:rPr>
                        <a:t>فتركه يذهب، وانصرف.</a:t>
                      </a:r>
                    </a:p>
                    <a:p>
                      <a:pPr indent="216000" algn="r" rtl="1"/>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rtl="1"/>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rtl="1"/>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rtl="1"/>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rtl="1"/>
                      <a:r>
                        <a:rPr lang="ar-AE" sz="1600" kern="150" dirty="0">
                          <a:effectLst/>
                          <a:latin typeface="Arial" panose="020B0604020202020204" pitchFamily="34" charset="0"/>
                          <a:cs typeface="Arial" panose="020B0604020202020204" pitchFamily="34" charset="0"/>
                        </a:rPr>
                        <a:t>‑ ما بك يا عمّي أبورقبة؟</a:t>
                      </a:r>
                    </a:p>
                    <a:p>
                      <a:pPr indent="216000" algn="r" rtl="1"/>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rtl="1"/>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rtl="1"/>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rtl="1"/>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rtl="1"/>
                      <a:r>
                        <a:rPr lang="ar-AE" sz="1400" kern="150" dirty="0">
                          <a:effectLst/>
                          <a:latin typeface="Arial" panose="020B0604020202020204" pitchFamily="34" charset="0"/>
                          <a:cs typeface="Arial" panose="020B0604020202020204" pitchFamily="34" charset="0"/>
                        </a:rPr>
                        <a:t>فأخذ الأسد يتمدد وقال له:</a:t>
                      </a:r>
                    </a:p>
                    <a:p>
                      <a:pPr indent="216000" algn="r" rtl="1"/>
                      <a:r>
                        <a:rPr lang="ar-AE" sz="1400" kern="150" dirty="0">
                          <a:effectLst/>
                          <a:latin typeface="Arial" panose="020B0604020202020204" pitchFamily="34" charset="0"/>
                          <a:cs typeface="Arial" panose="020B0604020202020204" pitchFamily="34" charset="0"/>
                        </a:rPr>
                        <a:t>‑ إذن سآكلك!</a:t>
                      </a:r>
                    </a:p>
                    <a:p>
                      <a:pPr indent="216000" algn="r" rtl="1"/>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rtl="1"/>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rtl="1"/>
                      <a:r>
                        <a:rPr lang="ar-AE" sz="1400" kern="150" dirty="0">
                          <a:effectLst/>
                          <a:latin typeface="Arial" panose="020B0604020202020204" pitchFamily="34" charset="0"/>
                          <a:cs typeface="Arial" panose="020B0604020202020204" pitchFamily="34" charset="0"/>
                        </a:rPr>
                        <a:t>‑ لقد التقيت الذئب!</a:t>
                      </a:r>
                    </a:p>
                    <a:p>
                      <a:pPr indent="216000" algn="r" rtl="1"/>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rtl="1"/>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rtl="1"/>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rtl="1"/>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rtl="1"/>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rtl="1"/>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rtl="1"/>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rtl="1"/>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rtl="1"/>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rtl="1"/>
                      <a:r>
                        <a:rPr lang="ar-AE" sz="1400" kern="150" dirty="0">
                          <a:effectLst/>
                          <a:latin typeface="Arial" panose="020B0604020202020204" pitchFamily="34" charset="0"/>
                          <a:cs typeface="Arial" panose="020B0604020202020204" pitchFamily="34" charset="0"/>
                        </a:rPr>
                        <a:t>هز الذئب رأسه وأجابه:</a:t>
                      </a:r>
                    </a:p>
                    <a:p>
                      <a:pPr indent="216000" algn="r" rtl="1"/>
                      <a:r>
                        <a:rPr lang="ar-AE" sz="1400" kern="150" dirty="0">
                          <a:effectLst/>
                          <a:latin typeface="Arial" panose="020B0604020202020204" pitchFamily="34" charset="0"/>
                          <a:cs typeface="Arial" panose="020B0604020202020204" pitchFamily="34" charset="0"/>
                        </a:rPr>
                        <a:t>‑ أمرك عسير!</a:t>
                      </a:r>
                    </a:p>
                    <a:p>
                      <a:pPr indent="216000" algn="r" rtl="1"/>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rtl="1"/>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rtl="1"/>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rtl="1"/>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rtl="1"/>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rtl="1"/>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rtl="1"/>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841935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تعال يا ذئب، لنسافر معًا،</a:t>
                      </a:r>
                    </a:p>
                    <a:p>
                      <a:pPr indent="216000" algn="r" rtl="1"/>
                      <a:r>
                        <a:rPr lang="ar-AE" sz="1400" i="1" kern="150" dirty="0">
                          <a:effectLst/>
                          <a:latin typeface="Arial" panose="020B0604020202020204" pitchFamily="34" charset="0"/>
                          <a:cs typeface="Arial" panose="020B0604020202020204" pitchFamily="34" charset="0"/>
                        </a:rPr>
                        <a:t>ونصيبك مضمون معي:</a:t>
                      </a:r>
                    </a:p>
                    <a:p>
                      <a:pPr indent="216000" algn="r" rtl="1"/>
                      <a:r>
                        <a:rPr lang="ar-AE" sz="1400" i="1" kern="150" dirty="0">
                          <a:effectLst/>
                          <a:latin typeface="Arial" panose="020B0604020202020204" pitchFamily="34" charset="0"/>
                          <a:cs typeface="Arial" panose="020B0604020202020204" pitchFamily="34" charset="0"/>
                        </a:rPr>
                        <a:t>إن قتلتُ أحدًا، أكلتَ أنت؛</a:t>
                      </a:r>
                    </a:p>
                    <a:p>
                      <a:pPr indent="216000" algn="r" rtl="1"/>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rtl="1"/>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rtl="1"/>
                      <a:r>
                        <a:rPr lang="ar-AE" sz="1400" kern="150" dirty="0">
                          <a:effectLst/>
                          <a:latin typeface="Arial" panose="020B0604020202020204" pitchFamily="34" charset="0"/>
                          <a:cs typeface="Arial" panose="020B0604020202020204" pitchFamily="34" charset="0"/>
                        </a:rPr>
                        <a:t>¶ وفي يوم من الأيام، قتلوا كبشًا ونعجة وحملًا صغيرًا. وطالب الضبع بتقسيم الغنيمة. فقال له الأسد:</a:t>
                      </a:r>
                    </a:p>
                    <a:p>
                      <a:pPr indent="216000" algn="r" rtl="1"/>
                      <a:r>
                        <a:rPr lang="ar-AE" sz="1400" kern="150" dirty="0">
                          <a:effectLst/>
                          <a:latin typeface="Arial" panose="020B0604020202020204" pitchFamily="34" charset="0"/>
                          <a:cs typeface="Arial" panose="020B0604020202020204" pitchFamily="34" charset="0"/>
                        </a:rPr>
                        <a:t>‑ اقسمها بيننا.</a:t>
                      </a:r>
                    </a:p>
                    <a:p>
                      <a:pPr indent="216000" algn="r" rtl="1"/>
                      <a:r>
                        <a:rPr lang="ar-AE" sz="1400" kern="150" dirty="0">
                          <a:effectLst/>
                          <a:latin typeface="Arial" panose="020B0604020202020204" pitchFamily="34" charset="0"/>
                          <a:cs typeface="Arial" panose="020B0604020202020204" pitchFamily="34" charset="0"/>
                        </a:rPr>
                        <a:t>فقسمها الضبع: الكبش للأسد، والنعجة لنفسه، والحمل للذئب. فضربه الأسد، وغاصت مخالبه عميقًا في كبده، فزهقت روحه. ثم قال للذئب:</a:t>
                      </a:r>
                    </a:p>
                    <a:p>
                      <a:pPr indent="216000" algn="r" rtl="1"/>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1431669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فتتناوله على الغداء؛ وأما النعجة فتأكلها على العشاء.</a:t>
                      </a:r>
                    </a:p>
                    <a:p>
                      <a:pPr indent="216000" algn="r" rtl="1"/>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rtl="1"/>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5776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rtl="1"/>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rtl="1"/>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كلما نظر إليه رفيقاه، سال لعابهما.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rtl="1"/>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rtl="1"/>
                      <a:r>
                        <a:rPr lang="ar-AE" sz="1400" kern="150" dirty="0">
                          <a:effectLst/>
                          <a:latin typeface="Arial" panose="020B0604020202020204" pitchFamily="34" charset="0"/>
                          <a:cs typeface="Arial" panose="020B0604020202020204" pitchFamily="34" charset="0"/>
                        </a:rPr>
                        <a:t>فقال الأسد:</a:t>
                      </a:r>
                    </a:p>
                    <a:p>
                      <a:pPr indent="216000" algn="r" rtl="1"/>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rtl="1"/>
                      <a:r>
                        <a:rPr lang="ar-AE" sz="1400" kern="150" dirty="0">
                          <a:effectLst/>
                          <a:latin typeface="Arial" panose="020B0604020202020204" pitchFamily="34" charset="0"/>
                          <a:cs typeface="Arial" panose="020B0604020202020204" pitchFamily="34" charset="0"/>
                        </a:rPr>
                        <a:t>فقال الذئب مؤيدًا:</a:t>
                      </a:r>
                    </a:p>
                    <a:p>
                      <a:pPr indent="216000" algn="r" rtl="1"/>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rtl="1"/>
                      <a:r>
                        <a:rPr lang="ar-AE" sz="1400" kern="150" dirty="0">
                          <a:effectLst/>
                          <a:latin typeface="Arial" panose="020B0604020202020204" pitchFamily="34" charset="0"/>
                          <a:cs typeface="Arial" panose="020B0604020202020204" pitchFamily="34" charset="0"/>
                        </a:rPr>
                        <a:t>ثم قال الذئب:</a:t>
                      </a:r>
                    </a:p>
                    <a:p>
                      <a:pPr indent="216000" algn="r" rtl="1"/>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rtl="1"/>
                      <a:r>
                        <a:rPr lang="ar-AE" sz="1400" kern="150" dirty="0">
                          <a:effectLst/>
                          <a:latin typeface="Arial" panose="020B0604020202020204" pitchFamily="34" charset="0"/>
                          <a:cs typeface="Arial" panose="020B0604020202020204" pitchFamily="34" charset="0"/>
                        </a:rPr>
                        <a:t>فقال الأسد مؤيدًا:</a:t>
                      </a:r>
                    </a:p>
                    <a:p>
                      <a:pPr indent="216000" algn="r" rtl="1"/>
                      <a:r>
                        <a:rPr lang="ar-AE" sz="1400" kern="150" dirty="0">
                          <a:effectLst/>
                          <a:latin typeface="Arial" panose="020B0604020202020204" pitchFamily="34" charset="0"/>
                          <a:cs typeface="Arial" panose="020B0604020202020204" pitchFamily="34" charset="0"/>
                        </a:rPr>
                        <a:t>‑ يا له من نسب!</a:t>
                      </a:r>
                    </a:p>
                    <a:p>
                      <a:pPr indent="216000" algn="r" rtl="1"/>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rtl="1"/>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rtl="1"/>
                      <a:r>
                        <a:rPr lang="ar-AE" sz="1400" kern="150" dirty="0">
                          <a:effectLst/>
                          <a:latin typeface="Arial" panose="020B0604020202020204" pitchFamily="34" charset="0"/>
                          <a:cs typeface="Arial" panose="020B0604020202020204" pitchFamily="34" charset="0"/>
                        </a:rPr>
                        <a:t>فقالا له:</a:t>
                      </a:r>
                    </a:p>
                    <a:p>
                      <a:pPr indent="216000" algn="r" rtl="1"/>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rtl="1"/>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rtl="1"/>
                      <a:r>
                        <a:rPr lang="ar-AE" sz="1400" kern="150" dirty="0">
                          <a:effectLst/>
                          <a:latin typeface="Arial" panose="020B0604020202020204" pitchFamily="34" charset="0"/>
                          <a:cs typeface="Arial" panose="020B0604020202020204" pitchFamily="34" charset="0"/>
                        </a:rPr>
                        <a:t>فتركاه يذهب، وانصرف.</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094620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a:t>
                      </a:r>
                      <a:r>
                        <a:rPr lang="en-US" sz="1400" dirty="0" err="1"/>
                        <a:t>عِنْدَئِذٍ</a:t>
                      </a:r>
                      <a:r>
                        <a:rPr lang="ar-AE" sz="1400" kern="150" dirty="0">
                          <a:effectLst/>
                          <a:latin typeface="Arial" panose="020B0604020202020204" pitchFamily="34" charset="0"/>
                          <a:cs typeface="Arial" panose="020B0604020202020204" pitchFamily="34" charset="0"/>
                        </a:rPr>
                        <a:t>، أخذ الذئب البغل جانبًا، وتآمرا على رأس الأسد، كي يهوي كحزمة قش أكلها خنزير.</a:t>
                      </a:r>
                    </a:p>
                    <a:p>
                      <a:pPr indent="216000" algn="r" rtl="1"/>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rtl="1"/>
                      <a:r>
                        <a:rPr lang="ar-AE" sz="1400" kern="150" dirty="0">
                          <a:effectLst/>
                          <a:latin typeface="Arial" panose="020B0604020202020204" pitchFamily="34" charset="0"/>
                          <a:cs typeface="Arial" panose="020B0604020202020204" pitchFamily="34" charset="0"/>
                        </a:rPr>
                        <a:t>‑ حسنًا، من يكون أبوك؟</a:t>
                      </a:r>
                    </a:p>
                    <a:p>
                      <a:pPr indent="216000" algn="r" rtl="1"/>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rtl="1"/>
                      <a:r>
                        <a:rPr lang="ar-AE" sz="1400" kern="150" dirty="0">
                          <a:effectLst/>
                          <a:latin typeface="Arial" panose="020B0604020202020204" pitchFamily="34" charset="0"/>
                          <a:cs typeface="Arial" panose="020B0604020202020204" pitchFamily="34" charset="0"/>
                        </a:rPr>
                        <a:t>فقال الأسد للذئب:</a:t>
                      </a:r>
                    </a:p>
                    <a:p>
                      <a:pPr indent="216000" algn="r" rtl="1"/>
                      <a:r>
                        <a:rPr lang="ar-AE" sz="1400" kern="150" dirty="0">
                          <a:effectLst/>
                          <a:latin typeface="Arial" panose="020B0604020202020204" pitchFamily="34" charset="0"/>
                          <a:cs typeface="Arial" panose="020B0604020202020204" pitchFamily="34" charset="0"/>
                        </a:rPr>
                        <a:t>‑ اقترب واقرأه يا امحمد.</a:t>
                      </a:r>
                    </a:p>
                    <a:p>
                      <a:pPr indent="216000" algn="r" rtl="1"/>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rtl="1"/>
                      <a:r>
                        <a:rPr lang="ar-AE" sz="1400" kern="150" dirty="0">
                          <a:effectLst/>
                          <a:latin typeface="Arial" panose="020B0604020202020204" pitchFamily="34" charset="0"/>
                          <a:cs typeface="Arial" panose="020B0604020202020204" pitchFamily="34" charset="0"/>
                        </a:rPr>
                        <a:t>¶ قرّب الأسد خطمه ليستعد للقراءة؛ فقد حان وقت التنفيذ. ثبت البغل قائمتيه الأماميتين ورفس بقائمتَيه الخلفيتَين؛ فدخلت المسامير مباشرة في دماغ الأسد، فسقط.</a:t>
                      </a:r>
                    </a:p>
                    <a:p>
                      <a:pPr indent="216000" algn="r" rtl="1"/>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rtl="1"/>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rtl="1"/>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rtl="1"/>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rtl="1"/>
                      <a:r>
                        <a:rPr lang="ar-AE" sz="1400" kern="150" dirty="0">
                          <a:effectLst/>
                          <a:latin typeface="Arial" panose="020B0604020202020204" pitchFamily="34" charset="0"/>
                          <a:cs typeface="Arial" panose="020B0604020202020204" pitchFamily="34" charset="0"/>
                        </a:rPr>
                        <a:t>سرنا في الطريق، في الطريق،</a:t>
                      </a:r>
                    </a:p>
                    <a:p>
                      <a:pPr indent="216000" algn="r" rtl="1"/>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rtl="1"/>
                      <a:r>
                        <a:rPr lang="ar-AE" sz="1400" kern="150" dirty="0">
                          <a:effectLst/>
                          <a:latin typeface="Arial" panose="020B0604020202020204" pitchFamily="34" charset="0"/>
                          <a:cs typeface="Arial" panose="020B0604020202020204" pitchFamily="34" charset="0"/>
                        </a:rPr>
                        <a:t>رمى لنا فطيرة فأكلناها؛</a:t>
                      </a:r>
                    </a:p>
                    <a:p>
                      <a:pPr indent="216000" algn="r" rtl="1"/>
                      <a:r>
                        <a:rPr lang="ar-AE" sz="1400" kern="150" dirty="0">
                          <a:effectLst/>
                          <a:latin typeface="Arial" panose="020B0604020202020204" pitchFamily="34" charset="0"/>
                          <a:cs typeface="Arial" panose="020B0604020202020204" pitchFamily="34" charset="0"/>
                        </a:rPr>
                        <a:t>ورمينا عليه حجرًا فحطمناه!</a:t>
                      </a:r>
                    </a:p>
                    <a:p>
                      <a:pPr indent="216000" algn="r" rtl="1"/>
                      <a:r>
                        <a:rPr lang="ar-AE" sz="1400" kern="150" dirty="0">
                          <a:effectLst/>
                          <a:latin typeface="Arial" panose="020B0604020202020204" pitchFamily="34" charset="0"/>
                          <a:cs typeface="Arial" panose="020B0604020202020204" pitchFamily="34" charset="0"/>
                        </a:rPr>
                        <a:t>أما نحن، فليرحمنا الله؛</a:t>
                      </a:r>
                    </a:p>
                    <a:p>
                      <a:pPr indent="216000" algn="r" rtl="1"/>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rtl="1"/>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أزهارًا:</a:t>
                      </a:r>
                    </a:p>
                    <a:p>
                      <a:pPr indent="216000" algn="r" rtl="1"/>
                      <a:r>
                        <a:rPr lang="ar-AE" sz="1400" kern="150" dirty="0">
                          <a:effectLst/>
                          <a:latin typeface="Arial" panose="020B0604020202020204" pitchFamily="34" charset="0"/>
                          <a:cs typeface="Arial" panose="020B0604020202020204" pitchFamily="34" charset="0"/>
                        </a:rPr>
                        <a:t>تقلبت وتمددت فيها،</a:t>
                      </a:r>
                    </a:p>
                    <a:p>
                      <a:pPr indent="216000" algn="r" rtl="1"/>
                      <a:r>
                        <a:rPr lang="ar-AE" sz="1400" kern="150" dirty="0">
                          <a:effectLst/>
                          <a:latin typeface="Arial" panose="020B0604020202020204" pitchFamily="34" charset="0"/>
                          <a:cs typeface="Arial" panose="020B0604020202020204" pitchFamily="34" charset="0"/>
                        </a:rPr>
                        <a:t>وتزّينت كالعروس.</a:t>
                      </a:r>
                    </a:p>
                    <a:p>
                      <a:pPr indent="216000" algn="r" rtl="1"/>
                      <a:r>
                        <a:rPr lang="ar-AE" sz="1400" kern="150" dirty="0">
                          <a:effectLst/>
                          <a:latin typeface="Arial" panose="020B0604020202020204" pitchFamily="34" charset="0"/>
                          <a:cs typeface="Arial" panose="020B0604020202020204" pitchFamily="34" charset="0"/>
                        </a:rPr>
                        <a:t>رفعت بصرها نحو السماء،</a:t>
                      </a:r>
                    </a:p>
                    <a:p>
                      <a:pPr indent="216000" algn="r" rtl="1"/>
                      <a:r>
                        <a:rPr lang="ar-AE" sz="1400" kern="150" dirty="0">
                          <a:effectLst/>
                          <a:latin typeface="Arial" panose="020B0604020202020204" pitchFamily="34" charset="0"/>
                          <a:cs typeface="Arial" panose="020B0604020202020204" pitchFamily="34" charset="0"/>
                        </a:rPr>
                        <a:t>فكحّلت عينها الحلوة.</a:t>
                      </a:r>
                    </a:p>
                    <a:p>
                      <a:pPr indent="216000" algn="r" rtl="1"/>
                      <a:r>
                        <a:rPr lang="ar-AE" sz="1400" kern="150" dirty="0">
                          <a:effectLst/>
                          <a:latin typeface="Arial" panose="020B0604020202020204" pitchFamily="34" charset="0"/>
                          <a:cs typeface="Arial" panose="020B0604020202020204" pitchFamily="34" charset="0"/>
                        </a:rPr>
                        <a:t>عبرت جدول الجبل،</a:t>
                      </a:r>
                    </a:p>
                    <a:p>
                      <a:pPr indent="216000" algn="r" rtl="1"/>
                      <a:r>
                        <a:rPr lang="ar-AE" sz="1400" kern="150" dirty="0">
                          <a:effectLst/>
                          <a:latin typeface="Arial" panose="020B0604020202020204" pitchFamily="34" charset="0"/>
                          <a:cs typeface="Arial" panose="020B0604020202020204" pitchFamily="34" charset="0"/>
                        </a:rPr>
                        <a:t>فحنّت قدميها.</a:t>
                      </a:r>
                    </a:p>
                    <a:p>
                      <a:pPr indent="216000" algn="r" rtl="1"/>
                      <a:r>
                        <a:rPr lang="ar-AE" sz="1400" kern="150" dirty="0">
                          <a:effectLst/>
                          <a:latin typeface="Arial" panose="020B0604020202020204" pitchFamily="34" charset="0"/>
                          <a:cs typeface="Arial" panose="020B0604020202020204" pitchFamily="34" charset="0"/>
                        </a:rPr>
                        <a:t>ونزلت المنحدر،</a:t>
                      </a:r>
                    </a:p>
                    <a:p>
                      <a:pPr indent="216000" algn="r" rtl="1"/>
                      <a:r>
                        <a:rPr lang="ar-AE" sz="1400" kern="150" dirty="0">
                          <a:effectLst/>
                          <a:latin typeface="Arial" panose="020B0604020202020204" pitchFamily="34" charset="0"/>
                          <a:cs typeface="Arial" panose="020B0604020202020204" pitchFamily="34" charset="0"/>
                        </a:rPr>
                        <a:t>راكبة بغلتها.</a:t>
                      </a:r>
                    </a:p>
                    <a:p>
                      <a:pPr indent="216000" algn="r" rtl="1"/>
                      <a:r>
                        <a:rPr lang="ar-AE" sz="1400" kern="150" dirty="0">
                          <a:effectLst/>
                          <a:latin typeface="Arial" panose="020B0604020202020204" pitchFamily="34" charset="0"/>
                          <a:cs typeface="Arial" panose="020B0604020202020204" pitchFamily="34" charset="0"/>
                        </a:rPr>
                        <a:t>¶ زرع الذئب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أشواكًا:</a:t>
                      </a:r>
                    </a:p>
                    <a:p>
                      <a:pPr indent="216000" algn="r" rtl="1"/>
                      <a:r>
                        <a:rPr lang="ar-AE" sz="1400" kern="150" dirty="0">
                          <a:effectLst/>
                          <a:latin typeface="Arial" panose="020B0604020202020204" pitchFamily="34" charset="0"/>
                          <a:cs typeface="Arial" panose="020B0604020202020204" pitchFamily="34" charset="0"/>
                        </a:rPr>
                        <a:t>تقلب فيها وتمدد،</a:t>
                      </a:r>
                    </a:p>
                    <a:p>
                      <a:pPr indent="216000" algn="r" rtl="1"/>
                      <a:r>
                        <a:rPr lang="ar-AE" sz="1400" kern="150" dirty="0">
                          <a:effectLst/>
                          <a:latin typeface="Arial" panose="020B0604020202020204" pitchFamily="34" charset="0"/>
                          <a:cs typeface="Arial" panose="020B0604020202020204" pitchFamily="34" charset="0"/>
                        </a:rPr>
                        <a:t>فانسَلخ جلده.</a:t>
                      </a:r>
                    </a:p>
                    <a:p>
                      <a:pPr indent="216000" algn="r" rtl="1"/>
                      <a:r>
                        <a:rPr lang="ar-AE" sz="1400" kern="150" dirty="0">
                          <a:effectLst/>
                          <a:latin typeface="Arial" panose="020B0604020202020204" pitchFamily="34" charset="0"/>
                          <a:cs typeface="Arial" panose="020B0604020202020204" pitchFamily="34" charset="0"/>
                        </a:rPr>
                        <a:t>ورفع بصره نحو السماء،</a:t>
                      </a:r>
                    </a:p>
                    <a:p>
                      <a:pPr indent="216000" algn="r" rtl="1"/>
                      <a:r>
                        <a:rPr lang="ar-AE" sz="1400" kern="150" dirty="0">
                          <a:effectLst/>
                          <a:latin typeface="Arial" panose="020B0604020202020204" pitchFamily="34" charset="0"/>
                          <a:cs typeface="Arial" panose="020B0604020202020204" pitchFamily="34" charset="0"/>
                        </a:rPr>
                        <a:t>فعميت عينه الحلوة.</a:t>
                      </a:r>
                    </a:p>
                    <a:p>
                      <a:pPr indent="216000" algn="r" rtl="1"/>
                      <a:r>
                        <a:rPr lang="ar-AE" sz="1400" kern="150" dirty="0">
                          <a:effectLst/>
                          <a:latin typeface="Arial" panose="020B0604020202020204" pitchFamily="34" charset="0"/>
                          <a:cs typeface="Arial" panose="020B0604020202020204" pitchFamily="34" charset="0"/>
                        </a:rPr>
                        <a:t>وعبر جدول الجبل،</a:t>
                      </a:r>
                    </a:p>
                    <a:p>
                      <a:pPr indent="216000" algn="r" rtl="1"/>
                      <a:r>
                        <a:rPr lang="ar-AE" sz="1400" kern="150" dirty="0">
                          <a:effectLst/>
                          <a:latin typeface="Arial" panose="020B0604020202020204" pitchFamily="34" charset="0"/>
                          <a:cs typeface="Arial" panose="020B0604020202020204" pitchFamily="34" charset="0"/>
                        </a:rPr>
                        <a:t>فانتُزع فخذه.</a:t>
                      </a:r>
                    </a:p>
                    <a:p>
                      <a:pPr indent="216000" algn="r" rtl="1"/>
                      <a:r>
                        <a:rPr lang="ar-AE" sz="1400" kern="150" dirty="0">
                          <a:effectLst/>
                          <a:latin typeface="Arial" panose="020B0604020202020204" pitchFamily="34" charset="0"/>
                          <a:cs typeface="Arial" panose="020B0604020202020204" pitchFamily="34" charset="0"/>
                        </a:rPr>
                        <a:t>وصعد المنحدر الوعر،</a:t>
                      </a:r>
                    </a:p>
                    <a:p>
                      <a:pPr indent="216000" algn="r" rtl="1"/>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إلى كل من أصغى إليّ،</a:t>
                      </a:r>
                    </a:p>
                    <a:p>
                      <a:pPr indent="216000" algn="r" rtl="1"/>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rtl="1"/>
                      <a:r>
                        <a:rPr lang="ar-AE" sz="1400" kern="150" dirty="0">
                          <a:effectLst/>
                          <a:latin typeface="Arial" panose="020B0604020202020204" pitchFamily="34" charset="0"/>
                          <a:cs typeface="Arial" panose="020B0604020202020204" pitchFamily="34" charset="0"/>
                        </a:rPr>
                        <a:t>تأملوا هذه الحكاية مليًا.</a:t>
                      </a:r>
                    </a:p>
                    <a:p>
                      <a:pPr indent="216000" algn="r" rtl="1"/>
                      <a:r>
                        <a:rPr lang="ar-AE" sz="1400" kern="150" dirty="0">
                          <a:effectLst/>
                          <a:latin typeface="Arial" panose="020B0604020202020204" pitchFamily="34" charset="0"/>
                          <a:cs typeface="Arial" panose="020B0604020202020204" pitchFamily="34" charset="0"/>
                        </a:rPr>
                        <a:t>فلأجلكم جميعًا بذلت جهدي،</a:t>
                      </a:r>
                    </a:p>
                    <a:p>
                      <a:pPr indent="216000" algn="r" rtl="1"/>
                      <a:r>
                        <a:rPr lang="ar-AE" sz="1400" kern="150" dirty="0">
                          <a:effectLst/>
                          <a:latin typeface="Arial" panose="020B0604020202020204" pitchFamily="34" charset="0"/>
                          <a:cs typeface="Arial" panose="020B0604020202020204" pitchFamily="34" charset="0"/>
                        </a:rPr>
                        <a:t>كي أحميكم</a:t>
                      </a:r>
                    </a:p>
                    <a:p>
                      <a:pPr indent="216000" algn="r" rtl="1"/>
                      <a:r>
                        <a:rPr lang="ar-AE" sz="1400" kern="150" dirty="0">
                          <a:effectLst/>
                          <a:latin typeface="Arial" panose="020B0604020202020204" pitchFamily="34" charset="0"/>
                          <a:cs typeface="Arial" panose="020B0604020202020204" pitchFamily="34" charset="0"/>
                        </a:rPr>
                        <a:t>من ضربات الله القاصمة.</a:t>
                      </a:r>
                    </a:p>
                    <a:p>
                      <a:pPr indent="216000" algn="r" rtl="1"/>
                      <a:r>
                        <a:rPr lang="ar-AE" sz="1400" kern="150" dirty="0">
                          <a:effectLst/>
                          <a:latin typeface="Arial" panose="020B0604020202020204" pitchFamily="34" charset="0"/>
                          <a:cs typeface="Arial" panose="020B0604020202020204" pitchFamily="34" charset="0"/>
                        </a:rPr>
                        <a:t>¶ من كان في موضع سلطة،</a:t>
                      </a:r>
                    </a:p>
                    <a:p>
                      <a:pPr indent="216000" algn="r" rtl="1"/>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rtl="1"/>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rtl="1"/>
                      <a:r>
                        <a:rPr lang="ar-AE" sz="1400" kern="150" dirty="0">
                          <a:effectLst/>
                          <a:latin typeface="Arial" panose="020B0604020202020204" pitchFamily="34" charset="0"/>
                          <a:cs typeface="Arial" panose="020B0604020202020204" pitchFamily="34" charset="0"/>
                        </a:rPr>
                        <a:t>وليوقّر ذوي الشأن،</a:t>
                      </a:r>
                    </a:p>
                    <a:p>
                      <a:pPr indent="216000" algn="r" rtl="1"/>
                      <a:r>
                        <a:rPr lang="ar-AE" sz="1400" kern="150" dirty="0">
                          <a:effectLst/>
                          <a:latin typeface="Arial" panose="020B0604020202020204" pitchFamily="34" charset="0"/>
                          <a:cs typeface="Arial" panose="020B0604020202020204" pitchFamily="34" charset="0"/>
                        </a:rPr>
                        <a:t>وليحمِ الضعفاء،</a:t>
                      </a:r>
                    </a:p>
                    <a:p>
                      <a:pPr indent="216000" algn="r" rtl="1"/>
                      <a:r>
                        <a:rPr lang="ar-AE" sz="1400" kern="150" dirty="0">
                          <a:effectLst/>
                          <a:latin typeface="Arial" panose="020B0604020202020204" pitchFamily="34" charset="0"/>
                          <a:cs typeface="Arial" panose="020B0604020202020204" pitchFamily="34" charset="0"/>
                        </a:rPr>
                        <a:t>حتى لا تُرفع عليه يد قط.</a:t>
                      </a:r>
                    </a:p>
                    <a:p>
                      <a:pPr indent="216000" algn="r" rtl="1"/>
                      <a:r>
                        <a:rPr lang="ar-AE" sz="1400" kern="150" dirty="0">
                          <a:effectLst/>
                          <a:latin typeface="Arial" panose="020B0604020202020204" pitchFamily="34" charset="0"/>
                          <a:cs typeface="Arial" panose="020B0604020202020204" pitchFamily="34" charset="0"/>
                        </a:rPr>
                        <a:t>¶ حتى الأسد، كما هو معلوم،</a:t>
                      </a:r>
                    </a:p>
                    <a:p>
                      <a:pPr indent="216000" algn="r" rtl="1"/>
                      <a:r>
                        <a:rPr lang="ar-AE" sz="1400" kern="150" dirty="0">
                          <a:effectLst/>
                          <a:latin typeface="Arial" panose="020B0604020202020204" pitchFamily="34" charset="0"/>
                          <a:cs typeface="Arial" panose="020B0604020202020204" pitchFamily="34" charset="0"/>
                        </a:rPr>
                        <a:t>الذي كان قويًا على كل صراع،</a:t>
                      </a:r>
                    </a:p>
                    <a:p>
                      <a:pPr indent="216000" algn="r" rtl="1"/>
                      <a:r>
                        <a:rPr lang="ar-AE" sz="1400" kern="150" dirty="0">
                          <a:effectLst/>
                          <a:latin typeface="Arial" panose="020B0604020202020204" pitchFamily="34" charset="0"/>
                          <a:cs typeface="Arial" panose="020B0604020202020204" pitchFamily="34" charset="0"/>
                        </a:rPr>
                        <a:t>مُدّ ميتًا على الأرض.</a:t>
                      </a:r>
                    </a:p>
                    <a:p>
                      <a:pPr indent="216000" algn="r" rtl="1"/>
                      <a:r>
                        <a:rPr lang="ar-AE" sz="1400" kern="150" dirty="0">
                          <a:effectLst/>
                          <a:latin typeface="Arial" panose="020B0604020202020204" pitchFamily="34" charset="0"/>
                          <a:cs typeface="Arial" panose="020B0604020202020204" pitchFamily="34" charset="0"/>
                        </a:rPr>
                        <a:t>فما بال ابن آدم،</a:t>
                      </a:r>
                    </a:p>
                    <a:p>
                      <a:pPr indent="216000" algn="r" rtl="1"/>
                      <a:r>
                        <a:rPr lang="ar-AE" sz="1400" kern="150" dirty="0">
                          <a:effectLst/>
                          <a:latin typeface="Arial" panose="020B0604020202020204" pitchFamily="34" charset="0"/>
                          <a:cs typeface="Arial" panose="020B0604020202020204" pitchFamily="34" charset="0"/>
                        </a:rPr>
                        <a:t>المجبول من محض الضعف،</a:t>
                      </a:r>
                    </a:p>
                    <a:p>
                      <a:pPr indent="216000" algn="r" rtl="1"/>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rtl="1"/>
                      <a:r>
                        <a:rPr lang="ar-AE" sz="1400" kern="150" dirty="0">
                          <a:effectLst/>
                          <a:latin typeface="Arial" panose="020B0604020202020204" pitchFamily="34" charset="0"/>
                          <a:cs typeface="Arial" panose="020B0604020202020204" pitchFamily="34" charset="0"/>
                        </a:rPr>
                        <a:t>¶ أما الرجل العادي،</a:t>
                      </a:r>
                    </a:p>
                    <a:p>
                      <a:pPr indent="216000" algn="r" rtl="1"/>
                      <a:r>
                        <a:rPr lang="ar-AE" sz="1400" kern="150" dirty="0">
                          <a:effectLst/>
                          <a:latin typeface="Arial" panose="020B0604020202020204" pitchFamily="34" charset="0"/>
                          <a:cs typeface="Arial" panose="020B0604020202020204" pitchFamily="34" charset="0"/>
                        </a:rPr>
                        <a:t>الذي يطيع سلطة البلاد،</a:t>
                      </a:r>
                    </a:p>
                    <a:p>
                      <a:pPr indent="216000" algn="r" rtl="1"/>
                      <a:r>
                        <a:rPr lang="ar-AE" sz="1400" kern="150" dirty="0">
                          <a:effectLst/>
                          <a:latin typeface="Arial" panose="020B0604020202020204" pitchFamily="34" charset="0"/>
                          <a:cs typeface="Arial" panose="020B0604020202020204" pitchFamily="34" charset="0"/>
                        </a:rPr>
                        <a:t>فلا يصِرنّ مخادعًا مكّارًا.</a:t>
                      </a:r>
                    </a:p>
                    <a:p>
                      <a:pPr indent="216000" algn="r" rtl="1"/>
                      <a:r>
                        <a:rPr lang="ar-AE" sz="1400" kern="150" dirty="0">
                          <a:effectLst/>
                          <a:latin typeface="Arial" panose="020B0604020202020204" pitchFamily="34" charset="0"/>
                          <a:cs typeface="Arial" panose="020B0604020202020204" pitchFamily="34" charset="0"/>
                        </a:rPr>
                        <a:t>إن أخذ يقلّد الذئب،</a:t>
                      </a:r>
                    </a:p>
                    <a:p>
                      <a:pPr indent="216000" algn="r" rtl="1"/>
                      <a:r>
                        <a:rPr lang="ar-AE" sz="1400" kern="150" dirty="0">
                          <a:effectLst/>
                          <a:latin typeface="Arial" panose="020B0604020202020204" pitchFamily="34" charset="0"/>
                          <a:cs typeface="Arial" panose="020B0604020202020204" pitchFamily="34" charset="0"/>
                        </a:rPr>
                        <a:t>ويوقع الناس بعضهم ببعض،</a:t>
                      </a:r>
                    </a:p>
                    <a:p>
                      <a:pPr indent="216000" algn="r" rtl="1"/>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إن الجزاء الأخير ينتظره،</a:t>
                      </a:r>
                    </a:p>
                    <a:p>
                      <a:pPr indent="216000" algn="r" rtl="1"/>
                      <a:r>
                        <a:rPr lang="ar-AE" sz="1400" kern="150" dirty="0">
                          <a:effectLst/>
                          <a:latin typeface="Arial" panose="020B0604020202020204" pitchFamily="34" charset="0"/>
                          <a:cs typeface="Arial" panose="020B0604020202020204" pitchFamily="34" charset="0"/>
                        </a:rPr>
                        <a:t>وستذله حرفته الغادرة،</a:t>
                      </a:r>
                    </a:p>
                    <a:p>
                      <a:pPr indent="216000" algn="r" rtl="1"/>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rtl="1"/>
                      <a:r>
                        <a:rPr lang="ar-AE" sz="1400" kern="150" dirty="0">
                          <a:effectLst/>
                          <a:latin typeface="Arial" panose="020B0604020202020204" pitchFamily="34" charset="0"/>
                          <a:cs typeface="Arial" panose="020B0604020202020204" pitchFamily="34" charset="0"/>
                        </a:rPr>
                        <a:t>وسيحل به يومٌ شرير،</a:t>
                      </a:r>
                    </a:p>
                    <a:p>
                      <a:pPr indent="216000" algn="r" rtl="1"/>
                      <a:r>
                        <a:rPr lang="ar-AE" sz="1400" kern="150" dirty="0">
                          <a:effectLst/>
                          <a:latin typeface="Arial" panose="020B0604020202020204" pitchFamily="34" charset="0"/>
                          <a:cs typeface="Arial" panose="020B0604020202020204" pitchFamily="34" charset="0"/>
                        </a:rPr>
                        <a:t>فيصرعه الحفيظ،</a:t>
                      </a:r>
                    </a:p>
                    <a:p>
                      <a:pPr indent="216000" algn="r" rtl="1"/>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rtl="1"/>
                      <a:r>
                        <a:rPr lang="ar-AE" sz="1400" kern="150" dirty="0">
                          <a:effectLst/>
                          <a:latin typeface="Arial" panose="020B0604020202020204" pitchFamily="34" charset="0"/>
                          <a:cs typeface="Arial" panose="020B0604020202020204" pitchFamily="34" charset="0"/>
                        </a:rPr>
                        <a:t>¶ ستشتعل في قلبه نار حارقة،</a:t>
                      </a:r>
                    </a:p>
                    <a:p>
                      <a:pPr indent="216000" algn="r" rtl="1"/>
                      <a:r>
                        <a:rPr lang="ar-AE" sz="1400" kern="150" dirty="0">
                          <a:effectLst/>
                          <a:latin typeface="Arial" panose="020B0604020202020204" pitchFamily="34" charset="0"/>
                          <a:cs typeface="Arial" panose="020B0604020202020204" pitchFamily="34" charset="0"/>
                        </a:rPr>
                        <a:t>كأنه الشيطان نفسه،</a:t>
                      </a:r>
                    </a:p>
                    <a:p>
                      <a:pPr indent="216000" algn="r" rtl="1"/>
                      <a:r>
                        <a:rPr lang="ar-AE" sz="1400" kern="150" dirty="0">
                          <a:effectLst/>
                          <a:latin typeface="Arial" panose="020B0604020202020204" pitchFamily="34" charset="0"/>
                          <a:cs typeface="Arial" panose="020B0604020202020204" pitchFamily="34" charset="0"/>
                        </a:rPr>
                        <a:t>ولن يجد من يطفئها.</a:t>
                      </a:r>
                    </a:p>
                    <a:p>
                      <a:pPr indent="216000" algn="r" rtl="1"/>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rtl="1"/>
                      <a:r>
                        <a:rPr lang="ar-AE" sz="1400" kern="150" dirty="0">
                          <a:effectLst/>
                          <a:latin typeface="Arial" panose="020B0604020202020204" pitchFamily="34" charset="0"/>
                          <a:cs typeface="Arial" panose="020B0604020202020204" pitchFamily="34" charset="0"/>
                        </a:rPr>
                        <a:t>يموت عطشانًا ميتة مؤلمة:</a:t>
                      </a:r>
                    </a:p>
                    <a:p>
                      <a:pPr indent="216000" algn="r" rtl="1"/>
                      <a:r>
                        <a:rPr lang="ar-AE" sz="1400" kern="150" dirty="0">
                          <a:effectLst/>
                          <a:latin typeface="Arial" panose="020B0604020202020204" pitchFamily="34" charset="0"/>
                          <a:cs typeface="Arial" panose="020B0604020202020204" pitchFamily="34" charset="0"/>
                        </a:rPr>
                        <a:t>بقضاء الله الرحمن الحازم.</a:t>
                      </a:r>
                    </a:p>
                    <a:p>
                      <a:pPr indent="216000" algn="r" rtl="1"/>
                      <a:r>
                        <a:rPr lang="ar-AE" sz="1400" kern="150" dirty="0">
                          <a:effectLst/>
                          <a:latin typeface="Arial" panose="020B0604020202020204" pitchFamily="34" charset="0"/>
                          <a:cs typeface="Arial" panose="020B0604020202020204" pitchFamily="34" charset="0"/>
                        </a:rPr>
                        <a:t>¶ سنحزن على السيد رابح،</a:t>
                      </a:r>
                    </a:p>
                    <a:p>
                      <a:pPr indent="216000" algn="r" rtl="1"/>
                      <a:r>
                        <a:rPr lang="ar-AE" sz="1400" kern="150" dirty="0">
                          <a:effectLst/>
                          <a:latin typeface="Arial" panose="020B0604020202020204" pitchFamily="34" charset="0"/>
                          <a:cs typeface="Arial" panose="020B0604020202020204" pitchFamily="34" charset="0"/>
                        </a:rPr>
                        <a:t>فقد كان رجلًا عميق الفهم:</a:t>
                      </a:r>
                    </a:p>
                    <a:p>
                      <a:pPr indent="216000" algn="r" rtl="1"/>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rtl="1"/>
                      <a:r>
                        <a:rPr lang="ar-AE" sz="1400" kern="150" dirty="0">
                          <a:effectLst/>
                          <a:latin typeface="Arial" panose="020B0604020202020204" pitchFamily="34" charset="0"/>
                          <a:cs typeface="Arial" panose="020B0604020202020204" pitchFamily="34" charset="0"/>
                        </a:rPr>
                        <a:t>أيقظ الغافلين،</a:t>
                      </a:r>
                    </a:p>
                    <a:p>
                      <a:pPr indent="216000" algn="r" rtl="1"/>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rtl="1"/>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rtl="1"/>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rtl="1"/>
                      <a:r>
                        <a:rPr lang="ar-AE" sz="1400" kern="150" dirty="0">
                          <a:effectLst/>
                          <a:latin typeface="Arial" panose="020B0604020202020204" pitchFamily="34" charset="0"/>
                          <a:cs typeface="Arial" panose="020B0604020202020204" pitchFamily="34" charset="0"/>
                        </a:rPr>
                        <a:t>الذي يسلك السبل القويمة</a:t>
                      </a:r>
                    </a:p>
                    <a:p>
                      <a:pPr indent="216000" algn="r" rtl="1"/>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rtl="1"/>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rtl="1"/>
                      <a:r>
                        <a:rPr lang="ar-AE" sz="1400" kern="150" dirty="0">
                          <a:effectLst/>
                          <a:latin typeface="Arial" panose="020B0604020202020204" pitchFamily="34" charset="0"/>
                          <a:cs typeface="Arial" panose="020B0604020202020204" pitchFamily="34" charset="0"/>
                        </a:rPr>
                        <a:t>فإنها تمضي كالحلم،</a:t>
                      </a:r>
                    </a:p>
                    <a:p>
                      <a:pPr indent="216000" algn="r" rtl="1"/>
                      <a:r>
                        <a:rPr lang="ar-AE" sz="1400" kern="150" dirty="0">
                          <a:effectLst/>
                          <a:latin typeface="Arial" panose="020B0604020202020204" pitchFamily="34" charset="0"/>
                          <a:cs typeface="Arial" panose="020B0604020202020204" pitchFamily="34" charset="0"/>
                        </a:rPr>
                        <a:t>وتكون عاقبته الرحمة.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10616</TotalTime>
  <Words>23818</Words>
  <Application>Microsoft Office PowerPoint</Application>
  <PresentationFormat>Widescreen</PresentationFormat>
  <Paragraphs>1639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1774</cp:revision>
  <dcterms:created xsi:type="dcterms:W3CDTF">2023-02-08T10:37:07Z</dcterms:created>
  <dcterms:modified xsi:type="dcterms:W3CDTF">2026-10-25T17:41:42Z</dcterms:modified>
</cp:coreProperties>
</file>