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5616217"/>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0372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p>
                    <a:p>
                      <a:pPr indent="216000" algn="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a:r>
                        <a:rPr lang="ar-AE" sz="1400" kern="150" dirty="0">
                          <a:effectLst/>
                          <a:latin typeface="Arial" panose="020B0604020202020204" pitchFamily="34" charset="0"/>
                          <a:cs typeface="Arial" panose="020B0604020202020204" pitchFamily="34" charset="0"/>
                        </a:rPr>
                        <a:t>قال الثعلب:</a:t>
                      </a:r>
                    </a:p>
                    <a:p>
                      <a:pPr indent="216000" algn="r"/>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a:r>
                        <a:rPr lang="ar-AE" sz="1400" kern="150" dirty="0">
                          <a:effectLst/>
                          <a:latin typeface="Arial" panose="020B0604020202020204" pitchFamily="34" charset="0"/>
                          <a:cs typeface="Arial" panose="020B0604020202020204" pitchFamily="34" charset="0"/>
                        </a:rPr>
                        <a:t>— خذه يا بن يعقوب وادفنه!</a:t>
                      </a:r>
                    </a:p>
                    <a:p>
                      <a:pPr indent="216000" algn="r"/>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074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p>
                    <a:p>
                      <a:pPr indent="216000" algn="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البري أو براعم البطيخ البري. أما أنت فتمكثين هنا لتكوني مجرد وسادة لملك الحيوانات!</a:t>
                      </a:r>
                    </a:p>
                    <a:p>
                      <a:pPr indent="216000" algn="r"/>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a:r>
                        <a:rPr lang="ar-AE" sz="1400" kern="150" dirty="0">
                          <a:effectLst/>
                          <a:latin typeface="Arial" panose="020B0604020202020204" pitchFamily="34" charset="0"/>
                          <a:cs typeface="Arial" panose="020B0604020202020204" pitchFamily="34" charset="0"/>
                        </a:rPr>
                        <a:t>— خذها يا بن يعقوب وادفنها!</a:t>
                      </a:r>
                    </a:p>
                    <a:p>
                      <a:pPr indent="216000" algn="r"/>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a:r>
                        <a:rPr lang="ar-AE" sz="1400" kern="150" dirty="0">
                          <a:effectLst/>
                          <a:latin typeface="Arial" panose="020B0604020202020204" pitchFamily="34" charset="0"/>
                          <a:cs typeface="Arial" panose="020B0604020202020204" pitchFamily="34" charset="0"/>
                        </a:rPr>
                        <a:t>¶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a:r>
                        <a:rPr lang="ar-AE" sz="1400" kern="150" dirty="0">
                          <a:effectLst/>
                          <a:latin typeface="Arial" panose="020B0604020202020204" pitchFamily="34" charset="0"/>
                          <a:cs typeface="Arial" panose="020B0604020202020204" pitchFamily="34" charset="0"/>
                        </a:rPr>
                        <a:t>¶ وعندما عاد، قال له الأسد:</a:t>
                      </a:r>
                    </a:p>
                    <a:p>
                      <a:pPr indent="216000" algn="r"/>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08878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a:r>
                        <a:rPr lang="ar-AE" sz="1400" kern="150" dirty="0">
                          <a:effectLst/>
                          <a:latin typeface="Arial" panose="020B0604020202020204" pitchFamily="34" charset="0"/>
                          <a:cs typeface="Arial" panose="020B0604020202020204" pitchFamily="34" charset="0"/>
                        </a:rPr>
                        <a:t>— انظر إلى إخوتك؛ إنهم يطحنون ثمار البلوط، ويحفرون الأرض بأنيابهم، وينبشون الدرنات البرية وأكوام الطعام. وحين يشبعون ينامون في أوحالهم ويشخرون، ولا يجرؤ أحد على تحديهم. أما أنت فقد صرت هنا كالحصير الذي يفرش للأسد! ومع ذلك، تظن نفسك قويًا!</a:t>
                      </a:r>
                    </a:p>
                    <a:p>
                      <a:pPr indent="216000" algn="r"/>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a:r>
                        <a:rPr lang="ar-AE" sz="1400" kern="150" dirty="0">
                          <a:effectLst/>
                          <a:latin typeface="Arial" panose="020B0604020202020204" pitchFamily="34" charset="0"/>
                          <a:cs typeface="Arial" panose="020B0604020202020204" pitchFamily="34" charset="0"/>
                        </a:rPr>
                        <a:t>قال له الأسد:</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a:r>
                        <a:rPr lang="ar-AE" sz="1400" kern="150" dirty="0">
                          <a:effectLst/>
                          <a:latin typeface="Arial" panose="020B0604020202020204" pitchFamily="34" charset="0"/>
                          <a:cs typeface="Arial" panose="020B0604020202020204" pitchFamily="34" charset="0"/>
                        </a:rPr>
                        <a:t>ثم عاد إلى الخنزيروقال له:</a:t>
                      </a:r>
                    </a:p>
                    <a:p>
                      <a:pPr indent="216000" algn="r"/>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a:r>
                        <a:rPr lang="ar-AE" sz="1400" kern="150" dirty="0">
                          <a:effectLst/>
                          <a:latin typeface="Arial" panose="020B0604020202020204" pitchFamily="34" charset="0"/>
                          <a:cs typeface="Arial" panose="020B0604020202020204" pitchFamily="34" charset="0"/>
                        </a:rPr>
                        <a:t>فسأله الخنزير:</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a:r>
                        <a:rPr lang="ar-AE" sz="1400" kern="150" dirty="0">
                          <a:effectLst/>
                          <a:latin typeface="Arial" panose="020B0604020202020204" pitchFamily="34" charset="0"/>
                          <a:cs typeface="Arial" panose="020B0604020202020204" pitchFamily="34" charset="0"/>
                        </a:rPr>
                        <a:t>¶ قفز الذئب جانبًا وهو يصيح:</a:t>
                      </a:r>
                    </a:p>
                    <a:p>
                      <a:pPr indent="216000" algn="r"/>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a:r>
                        <a:rPr lang="ar-AE" sz="1400" kern="150" dirty="0">
                          <a:effectLst/>
                          <a:latin typeface="Arial" panose="020B0604020202020204" pitchFamily="34" charset="0"/>
                          <a:cs typeface="Arial" panose="020B0604020202020204" pitchFamily="34" charset="0"/>
                        </a:rPr>
                        <a:t>فاحتار الذئب ولزم الصمت.</a:t>
                      </a:r>
                    </a:p>
                    <a:p>
                      <a:pPr indent="216000" algn="r"/>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a:r>
                        <a:rPr lang="ar-AE" sz="1400" kern="150" dirty="0">
                          <a:effectLst/>
                          <a:latin typeface="Arial" panose="020B0604020202020204" pitchFamily="34" charset="0"/>
                          <a:cs typeface="Arial" panose="020B0604020202020204" pitchFamily="34" charset="0"/>
                        </a:rPr>
                        <a:t>قالت له طيور الحجل:</a:t>
                      </a:r>
                    </a:p>
                    <a:p>
                      <a:pPr indent="216000" algn="r"/>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20392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a:r>
                        <a:rPr lang="ar-AE" sz="1400" kern="150" dirty="0">
                          <a:effectLst/>
                          <a:latin typeface="Arial" panose="020B0604020202020204" pitchFamily="34" charset="0"/>
                          <a:cs typeface="Arial" panose="020B0604020202020204" pitchFamily="34" charset="0"/>
                        </a:rPr>
                        <a:t>— كلاب الصيد! الفرسان! يا بن يعقوب، ها هم أولاء!</a:t>
                      </a:r>
                    </a:p>
                    <a:p>
                      <a:pPr indent="216000" algn="r"/>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278149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حَ ح!» فهو عدوك!</a:t>
                      </a:r>
                    </a:p>
                    <a:p>
                      <a:pPr indent="216000" algn="r"/>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65048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a:r>
                        <a:rPr lang="ar-AE" sz="1400" kern="150" dirty="0">
                          <a:effectLst/>
                          <a:latin typeface="Arial" panose="020B0604020202020204" pitchFamily="34" charset="0"/>
                          <a:cs typeface="Arial" panose="020B0604020202020204" pitchFamily="34" charset="0"/>
                        </a:rPr>
                        <a:t>أجابه الأسد:</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فكانت تجيبه:</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42363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p>
                    <a:p>
                      <a:pPr indent="216000" algn="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a:r>
                        <a:rPr lang="ar-AE" sz="1400" kern="150" dirty="0">
                          <a:effectLst/>
                          <a:latin typeface="Arial" panose="020B0604020202020204" pitchFamily="34" charset="0"/>
                          <a:cs typeface="Arial" panose="020B0604020202020204" pitchFamily="34" charset="0"/>
                        </a:rPr>
                        <a:t>¶ رفض الذئب، وأجابه:</a:t>
                      </a:r>
                    </a:p>
                    <a:p>
                      <a:pPr indent="216000" algn="r"/>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791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a:r>
                        <a:rPr lang="ar-AE" sz="1400" kern="150" dirty="0">
                          <a:effectLst/>
                          <a:latin typeface="Arial" panose="020B0604020202020204" pitchFamily="34" charset="0"/>
                          <a:cs typeface="Arial" panose="020B0604020202020204" pitchFamily="34" charset="0"/>
                        </a:rPr>
                        <a:t>— تظاهر بأنك ميت!</a:t>
                      </a:r>
                    </a:p>
                    <a:p>
                      <a:pPr indent="216000" algn="r"/>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0625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p>
                    <a:p>
                      <a:pPr indent="216000" algn="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a:r>
                        <a:rPr lang="ar-AE" sz="1400" kern="150" dirty="0">
                          <a:effectLst/>
                          <a:latin typeface="Arial" panose="020B0604020202020204" pitchFamily="34" charset="0"/>
                          <a:cs typeface="Arial" panose="020B0604020202020204" pitchFamily="34" charset="0"/>
                        </a:rPr>
                        <a:t>— يا لسوء حظي!</a:t>
                      </a:r>
                    </a:p>
                    <a:p>
                      <a:pPr indent="216000" algn="r"/>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708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a:r>
                        <a:rPr lang="ar-AE" sz="1400" kern="150" dirty="0">
                          <a:effectLst/>
                          <a:latin typeface="Arial" panose="020B0604020202020204" pitchFamily="34" charset="0"/>
                          <a:cs typeface="Arial" panose="020B0604020202020204" pitchFamily="34" charset="0"/>
                        </a:rPr>
                        <a:t>— لنتقاسمها.</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الأكبر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يوم احترق البحر (من يتذكر يوم احترق البحر؟).</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أنا من أشعل النار فيه!</a:t>
                      </a:r>
                    </a:p>
                    <a:p>
                      <a:pPr indent="216000" algn="r"/>
                      <a:r>
                        <a:rPr lang="ar-AE" sz="1400" kern="150" dirty="0">
                          <a:effectLst/>
                          <a:latin typeface="Arial" panose="020B0604020202020204" pitchFamily="34" charset="0"/>
                          <a:cs typeface="Arial" panose="020B0604020202020204" pitchFamily="34" charset="0"/>
                        </a:rPr>
                        <a:t>وهكذا أكل التين كله وحده.</a:t>
                      </a:r>
                    </a:p>
                    <a:p>
                      <a:pPr indent="216000" algn="r"/>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23813341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الأصغر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البارحة!</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أمسك بي، فقد أوشكت أن أولد!</a:t>
                      </a:r>
                    </a:p>
                    <a:p>
                      <a:pPr indent="216000" algn="r"/>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a:r>
                        <a:rPr lang="ar-AE" sz="1400" kern="150" dirty="0">
                          <a:effectLst/>
                          <a:latin typeface="Arial" panose="020B0604020202020204" pitchFamily="34" charset="0"/>
                          <a:cs typeface="Arial" panose="020B0604020202020204" pitchFamily="34" charset="0"/>
                        </a:rPr>
                        <a:t>— فقال له الذئب: أين؟ أين؟</a:t>
                      </a:r>
                    </a:p>
                    <a:p>
                      <a:pPr indent="216000" algn="r"/>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292124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5677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996350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a:r>
                        <a:rPr lang="ar-AE" sz="1400" kern="150" dirty="0">
                          <a:effectLst/>
                          <a:latin typeface="Arial" panose="020B0604020202020204" pitchFamily="34" charset="0"/>
                          <a:cs typeface="Arial" panose="020B0604020202020204" pitchFamily="34" charset="0"/>
                        </a:rPr>
                        <a:t>— القانون يلزمك!</a:t>
                      </a:r>
                    </a:p>
                    <a:p>
                      <a:pPr indent="216000" algn="r"/>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89030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بلا طعم.</a:t>
                      </a:r>
                    </a:p>
                    <a:p>
                      <a:pPr indent="216000" algn="r"/>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a:r>
                        <a:rPr lang="ar-AE" sz="1400" kern="150" dirty="0">
                          <a:effectLst/>
                          <a:latin typeface="Arial" panose="020B0604020202020204" pitchFamily="34" charset="0"/>
                          <a:cs typeface="Arial" panose="020B0604020202020204" pitchFamily="34" charset="0"/>
                        </a:rPr>
                        <a:t>¶ وأظهر عباد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a:r>
                        <a:rPr lang="ar-AE" sz="1400" i="1" kern="150" dirty="0">
                          <a:effectLst/>
                          <a:latin typeface="Arial" panose="020B0604020202020204" pitchFamily="34" charset="0"/>
                          <a:cs typeface="Arial" panose="020B0604020202020204" pitchFamily="34" charset="0"/>
                        </a:rPr>
                        <a:t>يا الله الرحيم! يا الله الرحيم!</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مطر وشمس!</a:t>
                      </a:r>
                    </a:p>
                    <a:p>
                      <a:pPr indent="216000" algn="r"/>
                      <a:r>
                        <a:rPr lang="ar-AE" sz="1400" i="1" kern="150" dirty="0">
                          <a:effectLst/>
                          <a:latin typeface="Arial" panose="020B0604020202020204" pitchFamily="34" charset="0"/>
                          <a:cs typeface="Arial" panose="020B0604020202020204" pitchFamily="34" charset="0"/>
                        </a:rPr>
                        <a:t>تزوج الذئب!</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لم يعطنا صحنًا من الطعام:</a:t>
                      </a:r>
                    </a:p>
                    <a:p>
                      <a:pPr indent="216000" algn="r"/>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083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a:r>
                        <a:rPr lang="ar-AE" sz="1400" kern="150" dirty="0">
                          <a:effectLst/>
                          <a:latin typeface="Arial" panose="020B0604020202020204" pitchFamily="34" charset="0"/>
                          <a:cs typeface="Arial" panose="020B0604020202020204" pitchFamily="34" charset="0"/>
                        </a:rPr>
                        <a:t>¶ لم تلبث أن انتشرت أوراقها، واخضرّت كالكرفس البري الطازج. وحين نضجت، قال القنفذ للذئب:</a:t>
                      </a:r>
                    </a:p>
                    <a:p>
                      <a:pPr indent="216000" algn="r"/>
                      <a:r>
                        <a:rPr lang="ar-AE" sz="1400" kern="150" dirty="0">
                          <a:effectLst/>
                          <a:latin typeface="Arial" panose="020B0604020202020204" pitchFamily="34" charset="0"/>
                          <a:cs typeface="Arial" panose="020B0604020202020204" pitchFamily="34" charset="0"/>
                        </a:rPr>
                        <a:t>— لنجمع المحصول ونقتسمه.</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لك أن تختار: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فوق الأرض!</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6646044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تحت الأرض! (أراد أن ينتقم منه بسبب ما جرى في حقل اللفت).</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p>
                      <a:pPr indent="216000" algn="r"/>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12171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49818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a:r>
                        <a:rPr lang="ar-AE" sz="1400" kern="150" dirty="0">
                          <a:effectLst/>
                          <a:latin typeface="Arial" panose="020B0604020202020204" pitchFamily="34" charset="0"/>
                          <a:cs typeface="Arial" panose="020B0604020202020204" pitchFamily="34" charset="0"/>
                        </a:rPr>
                        <a:t>— نعممم!</a:t>
                      </a:r>
                    </a:p>
                    <a:p>
                      <a:pPr indent="216000" algn="r"/>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a:r>
                        <a:rPr lang="ar-AE" sz="1400" kern="150" dirty="0">
                          <a:effectLst/>
                          <a:latin typeface="Arial" panose="020B0604020202020204" pitchFamily="34" charset="0"/>
                          <a:cs typeface="Arial" panose="020B0604020202020204" pitchFamily="34" charset="0"/>
                        </a:rPr>
                        <a:t>وظل القنفذ يقول له:</a:t>
                      </a:r>
                    </a:p>
                    <a:p>
                      <a:pPr indent="216000" algn="r"/>
                      <a:r>
                        <a:rPr lang="ar-AE" sz="1400" kern="150" dirty="0">
                          <a:effectLst/>
                          <a:latin typeface="Arial" panose="020B0604020202020204" pitchFamily="34" charset="0"/>
                          <a:cs typeface="Arial" panose="020B0604020202020204" pitchFamily="34" charset="0"/>
                        </a:rPr>
                        <a:t>— بل أنت!</a:t>
                      </a:r>
                    </a:p>
                    <a:p>
                      <a:pPr indent="216000" algn="r"/>
                      <a:r>
                        <a:rPr lang="ar-AE" sz="1400" kern="150" dirty="0">
                          <a:effectLst/>
                          <a:latin typeface="Arial" panose="020B0604020202020204" pitchFamily="34" charset="0"/>
                          <a:cs typeface="Arial" panose="020B0604020202020204" pitchFamily="34" charset="0"/>
                        </a:rPr>
                        <a:t>ثم قالا:</a:t>
                      </a:r>
                    </a:p>
                    <a:p>
                      <a:pPr indent="216000" algn="r"/>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a:r>
                        <a:rPr lang="ar-AE" sz="1400" kern="150" dirty="0">
                          <a:effectLst/>
                          <a:latin typeface="Arial" panose="020B0604020202020204" pitchFamily="34" charset="0"/>
                          <a:cs typeface="Arial" panose="020B0604020202020204" pitchFamily="34" charset="0"/>
                        </a:rPr>
                        <a:t>¶ فأجابه الثعبان:</a:t>
                      </a:r>
                    </a:p>
                    <a:p>
                      <a:pPr indent="216000" algn="r"/>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a:r>
                        <a:rPr lang="ar-AE" sz="1400" kern="150" dirty="0">
                          <a:effectLst/>
                          <a:latin typeface="Arial" panose="020B0604020202020204" pitchFamily="34" charset="0"/>
                          <a:cs typeface="Arial" panose="020B0604020202020204" pitchFamily="34" charset="0"/>
                        </a:rPr>
                        <a:t>¶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a:r>
                        <a:rPr lang="ar-AE" sz="1400" i="1" kern="150" dirty="0">
                          <a:effectLst/>
                          <a:latin typeface="Arial" panose="020B0604020202020204" pitchFamily="34" charset="0"/>
                          <a:cs typeface="Arial" panose="020B0604020202020204" pitchFamily="34" charset="0"/>
                        </a:rPr>
                        <a:t>فلا يبرأ أبدًا من البلاء!</a:t>
                      </a:r>
                    </a:p>
                    <a:p>
                      <a:pPr indent="216000" algn="r"/>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a:r>
                        <a:rPr lang="ar-AE" sz="1400" kern="150" dirty="0">
                          <a:effectLst/>
                          <a:latin typeface="Arial" panose="020B0604020202020204" pitchFamily="34" charset="0"/>
                          <a:cs typeface="Arial" panose="020B0604020202020204" pitchFamily="34" charset="0"/>
                        </a:rPr>
                        <a:t>— آه! لقد أفلت عشاء عائلتي!</a:t>
                      </a:r>
                    </a:p>
                    <a:p>
                      <a:pPr indent="216000" algn="r"/>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103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الزمن القديم، كان الذئب والكلب أخوين. كان اسم أحدهما امحمد، والآخر رابح. وكانا يرعيان الماشية وحدهما: يخرجان بها صباحًا، ويرعيانها حتى المساء، ثم يعيدانها إلى البيت حين تشبع.</a:t>
                      </a:r>
                    </a:p>
                    <a:p>
                      <a:pPr indent="216000" algn="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الكلب منشغلًا في مكان آخر، فقال لها الذئب:</a:t>
                      </a:r>
                    </a:p>
                    <a:p>
                      <a:pPr indent="216000" algn="r"/>
                      <a:r>
                        <a:rPr lang="ar-AE" sz="1400" kern="150" dirty="0">
                          <a:effectLst/>
                          <a:latin typeface="Arial" panose="020B0604020202020204" pitchFamily="34" charset="0"/>
                          <a:cs typeface="Arial" panose="020B0604020202020204" pitchFamily="34" charset="0"/>
                        </a:rPr>
                        <a:t>لا تخافي!</a:t>
                      </a:r>
                    </a:p>
                    <a:p>
                      <a:pPr indent="216000" algn="r"/>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a:r>
                        <a:rPr lang="ar-AE" sz="1400" kern="150" dirty="0">
                          <a:effectLst/>
                          <a:latin typeface="Arial" panose="020B0604020202020204" pitchFamily="34" charset="0"/>
                          <a:cs typeface="Arial" panose="020B0604020202020204" pitchFamily="34" charset="0"/>
                        </a:rPr>
                        <a:t>¶ وفي المساء، حين عادا إلى البيت، سار الكلب في وسط الماشية، بينما ابتعد الذئب عنها وانعزل.</a:t>
                      </a:r>
                    </a:p>
                    <a:p>
                      <a:pPr indent="216000" algn="r"/>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p>
                    <a:p>
                      <a:pPr indent="216000" algn="r"/>
                      <a:r>
                        <a:rPr lang="ar-AE" sz="1400" kern="150" dirty="0">
                          <a:effectLst/>
                          <a:latin typeface="Arial" panose="020B0604020202020204" pitchFamily="34" charset="0"/>
                          <a:cs typeface="Arial" panose="020B0604020202020204" pitchFamily="34" charset="0"/>
                        </a:rPr>
                        <a:t>¶ وفي يوم من الأيام، وقف على مرتفع ونادى الكلب قائلًا:</a:t>
                      </a:r>
                    </a:p>
                    <a:p>
                      <a:pPr indent="216000" algn="r"/>
                      <a:r>
                        <a:rPr lang="ar-AE" sz="1400" kern="150" dirty="0">
                          <a:effectLst/>
                          <a:latin typeface="Arial" panose="020B0604020202020204" pitchFamily="34" charset="0"/>
                          <a:cs typeface="Arial" panose="020B0604020202020204" pitchFamily="34" charset="0"/>
                        </a:rPr>
                        <a:t>هنيئًا لك أيها الكلب:</a:t>
                      </a:r>
                    </a:p>
                    <a:p>
                      <a:pPr indent="216000" algn="r"/>
                      <a:r>
                        <a:rPr lang="ar-AE" sz="1400" kern="150" dirty="0">
                          <a:effectLst/>
                          <a:latin typeface="Arial" panose="020B0604020202020204" pitchFamily="34" charset="0"/>
                          <a:cs typeface="Arial" panose="020B0604020202020204" pitchFamily="34" charset="0"/>
                        </a:rPr>
                        <a:t>تنام بين النعاج!</a:t>
                      </a:r>
                    </a:p>
                    <a:p>
                      <a:pPr indent="216000" algn="r"/>
                      <a:r>
                        <a:rPr lang="ar-AE" sz="1400" kern="150" dirty="0">
                          <a:effectLst/>
                          <a:latin typeface="Arial" panose="020B0604020202020204" pitchFamily="34" charset="0"/>
                          <a:cs typeface="Arial" panose="020B0604020202020204" pitchFamily="34" charset="0"/>
                        </a:rPr>
                        <a:t>فأجابه الكلب:</a:t>
                      </a:r>
                    </a:p>
                    <a:p>
                      <a:pPr indent="216000" algn="r"/>
                      <a:r>
                        <a:rPr lang="ar-AE" sz="1400" kern="150" dirty="0">
                          <a:effectLst/>
                          <a:latin typeface="Arial" panose="020B0604020202020204" pitchFamily="34" charset="0"/>
                          <a:cs typeface="Arial" panose="020B0604020202020204" pitchFamily="34" charset="0"/>
                        </a:rPr>
                        <a:t>ابتعد عن هنا!</a:t>
                      </a:r>
                    </a:p>
                    <a:p>
                      <a:pPr indent="216000" algn="r"/>
                      <a:r>
                        <a:rPr lang="ar-AE" sz="1400" kern="150" dirty="0">
                          <a:effectLst/>
                          <a:latin typeface="Arial" panose="020B0604020202020204" pitchFamily="34" charset="0"/>
                          <a:cs typeface="Arial" panose="020B0604020202020204" pitchFamily="34" charset="0"/>
                        </a:rPr>
                        <a:t>فأفعالك هي السيئة:</a:t>
                      </a:r>
                    </a:p>
                    <a:p>
                      <a:pPr indent="216000" algn="r"/>
                      <a:r>
                        <a:rPr lang="ar-AE" sz="1400" kern="150" dirty="0">
                          <a:effectLst/>
                          <a:latin typeface="Arial" panose="020B0604020202020204" pitchFamily="34" charset="0"/>
                          <a:cs typeface="Arial" panose="020B0604020202020204" pitchFamily="34" charset="0"/>
                        </a:rPr>
                        <a:t>ولولا ذلك لكنت مثلي تمامًا!</a:t>
                      </a:r>
                    </a:p>
                    <a:p>
                      <a:pPr indent="216000" algn="r"/>
                      <a:r>
                        <a:rPr lang="ar-AE" sz="1400" kern="150" dirty="0">
                          <a:effectLst/>
                          <a:latin typeface="Arial" panose="020B0604020202020204" pitchFamily="34" charset="0"/>
                          <a:cs typeface="Arial" panose="020B0604020202020204" pitchFamily="34" charset="0"/>
                        </a:rPr>
                        <a:t>وأضاف:</a:t>
                      </a:r>
                    </a:p>
                    <a:p>
                      <a:pPr indent="216000" algn="r"/>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a:r>
                        <a:rPr lang="ar-AE" sz="1400" kern="150" dirty="0">
                          <a:effectLst/>
                          <a:latin typeface="Arial" panose="020B0604020202020204" pitchFamily="34" charset="0"/>
                          <a:cs typeface="Arial" panose="020B0604020202020204" pitchFamily="34" charset="0"/>
                        </a:rPr>
                        <a:t>فقال له الكلب: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فضحك الذئب منه وأجابه:</a:t>
                      </a:r>
                    </a:p>
                    <a:p>
                      <a:pPr indent="216000" algn="r"/>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قالت النعجة:</a:t>
                      </a:r>
                    </a:p>
                    <a:p>
                      <a:pPr indent="216000" algn="r"/>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a:r>
                        <a:rPr lang="ar-AE" sz="1400" kern="150" dirty="0">
                          <a:effectLst/>
                          <a:latin typeface="Arial" panose="020B0604020202020204" pitchFamily="34" charset="0"/>
                          <a:cs typeface="Arial" panose="020B0604020202020204" pitchFamily="34" charset="0"/>
                        </a:rPr>
                        <a:t>فقالت لها العنزة:</a:t>
                      </a:r>
                    </a:p>
                    <a:p>
                      <a:pPr indent="216000" algn="r"/>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655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a:r>
                        <a:rPr lang="ar-AE" sz="1400" kern="150" dirty="0">
                          <a:effectLst/>
                          <a:latin typeface="Arial" panose="020B0604020202020204" pitchFamily="34" charset="0"/>
                          <a:cs typeface="Arial" panose="020B0604020202020204" pitchFamily="34" charset="0"/>
                        </a:rPr>
                        <a:t>وحين حاصرها، قالت له:</a:t>
                      </a:r>
                    </a:p>
                    <a:p>
                      <a:pPr indent="216000" algn="r"/>
                      <a:r>
                        <a:rPr lang="ar-AE" sz="1400" kern="150" dirty="0">
                          <a:effectLst/>
                          <a:latin typeface="Arial" panose="020B0604020202020204" pitchFamily="34" charset="0"/>
                          <a:cs typeface="Arial" panose="020B0604020202020204" pitchFamily="34" charset="0"/>
                        </a:rPr>
                        <a:t>ـ أقسم لي، ثم كلني!</a:t>
                      </a:r>
                    </a:p>
                    <a:p>
                      <a:pPr indent="216000" algn="r"/>
                      <a:r>
                        <a:rPr lang="ar-AE" sz="1400" kern="150" dirty="0">
                          <a:effectLst/>
                          <a:latin typeface="Arial" panose="020B0604020202020204" pitchFamily="34" charset="0"/>
                          <a:cs typeface="Arial" panose="020B0604020202020204" pitchFamily="34" charset="0"/>
                        </a:rPr>
                        <a:t>ـ فسألها: أين؟</a:t>
                      </a:r>
                    </a:p>
                    <a:p>
                      <a:pPr indent="216000" algn="r"/>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كلب.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9652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الكلب إليهما. لكنهما وجدا أن الأوان قد فات: لم يصلا إلا بعدما خنقه الذئب وعضه عدة عضات.</a:t>
                      </a:r>
                    </a:p>
                    <a:p>
                      <a:pPr indent="216000" algn="r"/>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a:r>
                        <a:rPr lang="ar-AE" sz="1400" kern="150" dirty="0">
                          <a:effectLst/>
                          <a:latin typeface="Arial" panose="020B0604020202020204" pitchFamily="34" charset="0"/>
                          <a:cs typeface="Arial" panose="020B0604020202020204" pitchFamily="34" charset="0"/>
                        </a:rPr>
                        <a:t>فقال له الكلب:</a:t>
                      </a:r>
                    </a:p>
                    <a:p>
                      <a:pPr indent="216000" algn="r"/>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1590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p>
                    <a:p>
                      <a:pPr indent="216000" algn="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51431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أنكر الأمر تمامًا!</a:t>
                      </a:r>
                    </a:p>
                    <a:p>
                      <a:pPr indent="216000" algn="r"/>
                      <a:r>
                        <a:rPr lang="ar-AE" sz="1400" kern="150" dirty="0">
                          <a:effectLst/>
                          <a:latin typeface="Arial" panose="020B0604020202020204" pitchFamily="34" charset="0"/>
                          <a:cs typeface="Arial" panose="020B0604020202020204" pitchFamily="34" charset="0"/>
                        </a:rPr>
                        <a:t>فذهبت وأحضرت كلبًا داخل كيس من جلد، ووضعته عند طرف البيدر. ظن الذئب أنه مجرد كيس من الحبوب موضوع هناك. تقدم ليأخذه، لكن عيني الكلب ظهرتا من داخله، تلمعان كالجمر المتقد.</a:t>
                      </a:r>
                    </a:p>
                    <a:p>
                      <a:pPr indent="216000" algn="r"/>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13531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a:r>
                        <a:rPr lang="ar-AE" sz="1400" kern="150" dirty="0">
                          <a:effectLst/>
                          <a:latin typeface="Arial" panose="020B0604020202020204" pitchFamily="34" charset="0"/>
                          <a:cs typeface="Arial" panose="020B0604020202020204" pitchFamily="34" charset="0"/>
                        </a:rPr>
                        <a:t>¶ مضى بعض الوقت، وحملوا كلبًا داخل سلة كبيرة من الخوص، ونزلوا إلى الوادي نفسه. وإذا بالذئب قد وصل. وما إن رأى الحمل حتى ابتسم ابتسامة عريضة وقال له:</a:t>
                      </a:r>
                    </a:p>
                    <a:p>
                      <a:pPr indent="216000" algn="r"/>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86175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الكلب وعضه. أخذ الذئب يئن ويعوي، لكن الكلب لم يتركه حتى تبرز من شدة الرعب.</a:t>
                      </a:r>
                    </a:p>
                    <a:p>
                      <a:pPr indent="216000" algn="r"/>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82975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ذات مرة، انطلق الذئب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الذئب تجويفًا ليحتمي به، وبقي هناك حارسًا.</a:t>
                      </a:r>
                    </a:p>
                    <a:p>
                      <a:pPr indent="216000" algn="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a:r>
                        <a:rPr lang="ar-AE" sz="1400" kern="150" dirty="0">
                          <a:effectLst/>
                          <a:latin typeface="Arial" panose="020B0604020202020204" pitchFamily="34" charset="0"/>
                          <a:cs typeface="Arial" panose="020B0604020202020204" pitchFamily="34" charset="0"/>
                        </a:rPr>
                        <a:t>¶ التفت سيدي امحمد نحو تجويف الشجرة فرأى الكلب نائمًا؛ فقد ظل يحرس طوال الليل، وغلبه النعاس عند اقتراب الصباح.</a:t>
                      </a:r>
                    </a:p>
                    <a:p>
                      <a:pPr indent="216000" algn="r"/>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68064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الكلب نستطيع أن نفعل شيئًا لمواجهته. إن وجدت لي حلًا، أعطيتك مكافأتك.</a:t>
                      </a:r>
                    </a:p>
                    <a:p>
                      <a:pPr indent="216000" algn="r"/>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53463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الكلب داخله.</a:t>
                      </a:r>
                    </a:p>
                    <a:p>
                      <a:pPr indent="216000" algn="r"/>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الكلب عليه ونهشه ومزق جسده.</a:t>
                      </a:r>
                    </a:p>
                    <a:p>
                      <a:pPr indent="216000" algn="r"/>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0318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a:r>
                        <a:rPr lang="ar-AE" sz="1400" kern="150" dirty="0">
                          <a:effectLst/>
                          <a:latin typeface="Arial" panose="020B0604020202020204" pitchFamily="34" charset="0"/>
                          <a:cs typeface="Arial" panose="020B0604020202020204" pitchFamily="34" charset="0"/>
                        </a:rPr>
                        <a:t>يا أماه العجوز، ما بك؟</a:t>
                      </a:r>
                    </a:p>
                    <a:p>
                      <a:pPr indent="216000" algn="r"/>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a:r>
                        <a:rPr lang="ar-AE" sz="1400" kern="150" dirty="0">
                          <a:effectLst/>
                          <a:latin typeface="Arial" panose="020B0604020202020204" pitchFamily="34" charset="0"/>
                          <a:cs typeface="Arial" panose="020B0604020202020204" pitchFamily="34" charset="0"/>
                        </a:rPr>
                        <a:t>ـ ما رأيك في ملك الحيوانات؟</a:t>
                      </a:r>
                    </a:p>
                    <a:p>
                      <a:pPr indent="216000" algn="r"/>
                      <a:r>
                        <a:rPr lang="ar-AE" sz="1400" kern="150" dirty="0">
                          <a:effectLst/>
                          <a:latin typeface="Arial" panose="020B0604020202020204" pitchFamily="34" charset="0"/>
                          <a:cs typeface="Arial" panose="020B0604020202020204" pitchFamily="34" charset="0"/>
                        </a:rPr>
                        <a:t>ـ فقالت لهم: إنه رجل طيب، لكن يا لسوء رائحة أنفاسه!</a:t>
                      </a:r>
                    </a:p>
                    <a:p>
                      <a:pPr indent="216000" algn="r"/>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a:r>
                        <a:rPr lang="ar-AE" sz="1400" kern="150" dirty="0">
                          <a:effectLst/>
                          <a:latin typeface="Arial" panose="020B0604020202020204" pitchFamily="34" charset="0"/>
                          <a:cs typeface="Arial" panose="020B0604020202020204" pitchFamily="34" charset="0"/>
                        </a:rPr>
                        <a:t>ـ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9785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فأجابته: لا أستطيع؛ لقد أحسنت إليّ!</a:t>
                      </a:r>
                    </a:p>
                    <a:p>
                      <a:pPr indent="216000" algn="r"/>
                      <a:r>
                        <a:rPr lang="ar-AE" sz="1400" kern="150" dirty="0">
                          <a:effectLst/>
                          <a:latin typeface="Arial" panose="020B0604020202020204" pitchFamily="34" charset="0"/>
                          <a:cs typeface="Arial" panose="020B0604020202020204" pitchFamily="34" charset="0"/>
                        </a:rPr>
                        <a:t>ـ فقال لها: ستضربينني وإلا أكلتك.</a:t>
                      </a:r>
                    </a:p>
                    <a:p>
                      <a:pPr indent="216000" algn="r"/>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أزيلي القمل عني.</a:t>
                      </a:r>
                    </a:p>
                    <a:p>
                      <a:pPr indent="216000" algn="r"/>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a:r>
                        <a:rPr lang="ar-AE" sz="1400" kern="150" dirty="0">
                          <a:effectLst/>
                          <a:latin typeface="Arial" panose="020B0604020202020204" pitchFamily="34" charset="0"/>
                          <a:cs typeface="Arial" panose="020B0604020202020204" pitchFamily="34" charset="0"/>
                        </a:rPr>
                        <a:t>الحمد لله يا بني، لقد شُفيت!</a:t>
                      </a:r>
                    </a:p>
                    <a:p>
                      <a:pPr indent="216000" algn="r"/>
                      <a:r>
                        <a:rPr lang="ar-AE" sz="1400" kern="150" dirty="0">
                          <a:effectLst/>
                          <a:latin typeface="Arial" panose="020B0604020202020204" pitchFamily="34" charset="0"/>
                          <a:cs typeface="Arial" panose="020B0604020202020204" pitchFamily="34" charset="0"/>
                        </a:rPr>
                        <a:t>فقال لها: الجروح تحفر ثم تلتئم، أما الكلمات فتحفر وتتكاثر! 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a:r>
                        <a:rPr lang="ar-AE" sz="1400" kern="150" dirty="0">
                          <a:effectLst/>
                          <a:latin typeface="Arial" panose="020B0604020202020204" pitchFamily="34" charset="0"/>
                          <a:cs typeface="Arial" panose="020B0604020202020204" pitchFamily="34" charset="0"/>
                        </a:rPr>
                        <a:t>ـ حسنًا، جرّبي الأمر بنفسك!</a:t>
                      </a:r>
                    </a:p>
                    <a:p>
                      <a:pPr indent="216000" algn="r"/>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4006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الكلب.</a:t>
                      </a:r>
                    </a:p>
                    <a:p>
                      <a:pPr indent="216000" algn="r"/>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a:r>
                        <a:rPr lang="ar-AE" sz="1400" kern="150" dirty="0">
                          <a:effectLst/>
                          <a:latin typeface="Arial" panose="020B0604020202020204" pitchFamily="34" charset="0"/>
                          <a:cs typeface="Arial" panose="020B0604020202020204" pitchFamily="34" charset="0"/>
                        </a:rPr>
                        <a:t>ـ أعنّي على الكلب كي أنتقم منه، وأعطيك نصيبك.</a:t>
                      </a:r>
                    </a:p>
                    <a:p>
                      <a:pPr indent="216000" algn="r"/>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a:r>
                        <a:rPr lang="ar-AE" sz="1400" kern="150" dirty="0">
                          <a:effectLst/>
                          <a:latin typeface="Arial" panose="020B0604020202020204" pitchFamily="34" charset="0"/>
                          <a:cs typeface="Arial" panose="020B0604020202020204" pitchFamily="34" charset="0"/>
                        </a:rPr>
                        <a:t>¶ هكذا مات الكلب المسكين، الذي اعتاد حراسة الماشية البكماء.</a:t>
                      </a:r>
                    </a:p>
                    <a:p>
                      <a:pPr indent="216000" algn="r"/>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a:r>
                        <a:rPr lang="ar-AE" sz="1400" kern="150" dirty="0">
                          <a:effectLst/>
                          <a:latin typeface="Arial" panose="020B0604020202020204" pitchFamily="34" charset="0"/>
                          <a:cs typeface="Arial" panose="020B0604020202020204" pitchFamily="34" charset="0"/>
                        </a:rPr>
                        <a:t>ـ ما بك يا أختي؟</a:t>
                      </a:r>
                    </a:p>
                    <a:p>
                      <a:pPr indent="216000" algn="r"/>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a:r>
                        <a:rPr lang="ar-AE" sz="1400" kern="150" dirty="0">
                          <a:effectLst/>
                          <a:latin typeface="Arial" panose="020B0604020202020204" pitchFamily="34" charset="0"/>
                          <a:cs typeface="Arial" panose="020B0604020202020204" pitchFamily="34" charset="0"/>
                        </a:rPr>
                        <a:t>ثم مضى لشأنه.</a:t>
                      </a:r>
                    </a:p>
                    <a:p>
                      <a:pPr indent="216000" algn="r"/>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a:r>
                        <a:rPr lang="ar-AE" sz="1400" kern="150" dirty="0">
                          <a:effectLst/>
                          <a:latin typeface="Arial" panose="020B0604020202020204" pitchFamily="34" charset="0"/>
                          <a:cs typeface="Arial" panose="020B0604020202020204" pitchFamily="34" charset="0"/>
                        </a:rPr>
                        <a:t>فأجابها الذئب:</a:t>
                      </a:r>
                    </a:p>
                    <a:p>
                      <a:pPr indent="216000" algn="r"/>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a:r>
                        <a:rPr lang="ar-AE" sz="1400" kern="150" dirty="0">
                          <a:effectLst/>
                          <a:latin typeface="Arial" panose="020B0604020202020204" pitchFamily="34" charset="0"/>
                          <a:cs typeface="Arial" panose="020B0604020202020204" pitchFamily="34" charset="0"/>
                        </a:rPr>
                        <a:t>فقالت له:</a:t>
                      </a:r>
                    </a:p>
                    <a:p>
                      <a:pPr indent="216000" algn="r"/>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a:r>
                        <a:rPr lang="ar-AE" sz="1400" kern="150" dirty="0">
                          <a:effectLst/>
                          <a:latin typeface="Arial" panose="020B0604020202020204" pitchFamily="34" charset="0"/>
                          <a:cs typeface="Arial" panose="020B0604020202020204" pitchFamily="34" charset="0"/>
                        </a:rPr>
                        <a:t>ـ ماذا ترى يا امحمد؟</a:t>
                      </a:r>
                    </a:p>
                    <a:p>
                      <a:pPr indent="216000" algn="r"/>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a:r>
                        <a:rPr lang="ar-AE" sz="1400" kern="150" dirty="0">
                          <a:effectLst/>
                          <a:latin typeface="Arial" panose="020B0604020202020204" pitchFamily="34" charset="0"/>
                          <a:cs typeface="Arial" panose="020B0604020202020204" pitchFamily="34" charset="0"/>
                        </a:rPr>
                        <a:t>فارتفع به أكثر وقال له:</a:t>
                      </a:r>
                    </a:p>
                    <a:p>
                      <a:pPr indent="216000" algn="r"/>
                      <a:r>
                        <a:rPr lang="ar-AE" sz="1400" kern="150" dirty="0">
                          <a:effectLst/>
                          <a:latin typeface="Arial" panose="020B0604020202020204" pitchFamily="34" charset="0"/>
                          <a:cs typeface="Arial" panose="020B0604020202020204" pitchFamily="34" charset="0"/>
                        </a:rPr>
                        <a:t>ـ ماذا ترى؟</a:t>
                      </a:r>
                    </a:p>
                    <a:p>
                      <a:pPr indent="216000" algn="r"/>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a:r>
                        <a:rPr lang="ar-AE" sz="1400" kern="150" dirty="0">
                          <a:effectLst/>
                          <a:latin typeface="Arial" panose="020B0604020202020204" pitchFamily="34" charset="0"/>
                          <a:cs typeface="Arial" panose="020B0604020202020204" pitchFamily="34" charset="0"/>
                        </a:rPr>
                        <a:t>فارتفع به أعلى وقال له:</a:t>
                      </a:r>
                    </a:p>
                    <a:p>
                      <a:pPr indent="216000" algn="r"/>
                      <a:r>
                        <a:rPr lang="ar-AE" sz="1400" kern="150" dirty="0">
                          <a:effectLst/>
                          <a:latin typeface="Arial" panose="020B0604020202020204" pitchFamily="34" charset="0"/>
                          <a:cs typeface="Arial" panose="020B0604020202020204" pitchFamily="34" charset="0"/>
                        </a:rPr>
                        <a:t>ـ والآن، ماذا ترى؟</a:t>
                      </a:r>
                    </a:p>
                    <a:p>
                      <a:pPr indent="216000" algn="r"/>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a:r>
                        <a:rPr lang="ar-AE" sz="1400" i="1" kern="150" dirty="0">
                          <a:effectLst/>
                          <a:latin typeface="Arial" panose="020B0604020202020204" pitchFamily="34" charset="0"/>
                          <a:cs typeface="Arial" panose="020B0604020202020204" pitchFamily="34" charset="0"/>
                        </a:rPr>
                        <a:t>لم نجد ما هو أحدث منها!</a:t>
                      </a:r>
                    </a:p>
                    <a:p>
                      <a:pPr indent="216000" algn="r"/>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a:r>
                        <a:rPr lang="ar-AE" sz="1400" kern="150" dirty="0">
                          <a:effectLst/>
                          <a:latin typeface="Arial" panose="020B0604020202020204" pitchFamily="34" charset="0"/>
                          <a:cs typeface="Arial" panose="020B0604020202020204" pitchFamily="34" charset="0"/>
                        </a:rPr>
                        <a:t>‑ أأنت متعلم يا سيدي امحمد؟</a:t>
                      </a:r>
                    </a:p>
                    <a:p>
                      <a:pPr indent="216000" algn="r"/>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246901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a:r>
                        <a:rPr lang="ar-AE" sz="1400" kern="150" dirty="0">
                          <a:effectLst/>
                          <a:latin typeface="Arial" panose="020B0604020202020204" pitchFamily="34" charset="0"/>
                          <a:cs typeface="Arial" panose="020B0604020202020204" pitchFamily="34" charset="0"/>
                        </a:rPr>
                        <a:t>‑ فقالت له: اتفقنا!</a:t>
                      </a:r>
                    </a:p>
                    <a:p>
                      <a:pPr indent="216000" algn="r"/>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p>
                    <a:p>
                      <a:pPr indent="216000" algn="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a:r>
                        <a:rPr lang="ar-AE" sz="1400" kern="150" dirty="0">
                          <a:effectLst/>
                          <a:latin typeface="Arial" panose="020B0604020202020204" pitchFamily="34" charset="0"/>
                          <a:cs typeface="Arial" panose="020B0604020202020204" pitchFamily="34" charset="0"/>
                        </a:rPr>
                        <a:t>¶ ثم قال لها:</a:t>
                      </a:r>
                    </a:p>
                    <a:p>
                      <a:pPr indent="216000" algn="r"/>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a:r>
                        <a:rPr lang="ar-AE" sz="1400" kern="150" dirty="0">
                          <a:effectLst/>
                          <a:latin typeface="Arial" panose="020B0604020202020204" pitchFamily="34" charset="0"/>
                          <a:cs typeface="Arial" panose="020B0604020202020204" pitchFamily="34" charset="0"/>
                        </a:rPr>
                        <a:t>فتركها تذهب، وانصرفت.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a:r>
                        <a:rPr lang="ar-AE" sz="1400" kern="150" dirty="0">
                          <a:effectLst/>
                          <a:latin typeface="Arial" panose="020B0604020202020204" pitchFamily="34" charset="0"/>
                          <a:cs typeface="Arial" panose="020B0604020202020204" pitchFamily="34" charset="0"/>
                        </a:rPr>
                        <a:t>فأجابها قائلًا:</a:t>
                      </a:r>
                    </a:p>
                    <a:p>
                      <a:pPr indent="216000" algn="r"/>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a:r>
                        <a:rPr lang="ar-AE" sz="1400" kern="150" dirty="0">
                          <a:effectLst/>
                          <a:latin typeface="Arial" panose="020B0604020202020204" pitchFamily="34" charset="0"/>
                          <a:cs typeface="Arial" panose="020B0604020202020204" pitchFamily="34" charset="0"/>
                        </a:rPr>
                        <a:t>ترددت وقالت له:</a:t>
                      </a:r>
                    </a:p>
                    <a:p>
                      <a:pPr indent="216000" algn="r"/>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a:r>
                        <a:rPr lang="ar-AE" sz="1400" kern="150" dirty="0">
                          <a:effectLst/>
                          <a:latin typeface="Arial" panose="020B0604020202020204" pitchFamily="34" charset="0"/>
                          <a:cs typeface="Arial" panose="020B0604020202020204" pitchFamily="34" charset="0"/>
                        </a:rPr>
                        <a:t>زأر كالزوبعة وقال لها:</a:t>
                      </a:r>
                    </a:p>
                    <a:p>
                      <a:pPr indent="216000" algn="r"/>
                      <a:r>
                        <a:rPr lang="ar-AE" sz="1400" kern="150" dirty="0">
                          <a:effectLst/>
                          <a:latin typeface="Arial" panose="020B0604020202020204" pitchFamily="34" charset="0"/>
                          <a:cs typeface="Arial" panose="020B0604020202020204" pitchFamily="34" charset="0"/>
                        </a:rPr>
                        <a:t>‑ لقد التقيت امحمد!</a:t>
                      </a:r>
                    </a:p>
                    <a:p>
                      <a:pPr indent="216000" algn="r"/>
                      <a:r>
                        <a:rPr lang="ar-AE" sz="1400" kern="150" dirty="0">
                          <a:effectLst/>
                          <a:latin typeface="Arial" panose="020B0604020202020204" pitchFamily="34" charset="0"/>
                          <a:cs typeface="Arial" panose="020B0604020202020204" pitchFamily="34" charset="0"/>
                        </a:rPr>
                        <a:t>‑ فأجابته: نعم، التقيته!</a:t>
                      </a:r>
                    </a:p>
                    <a:p>
                      <a:pPr indent="216000" algn="r"/>
                      <a:r>
                        <a:rPr lang="ar-AE" sz="1400" kern="150" dirty="0">
                          <a:effectLst/>
                          <a:latin typeface="Arial" panose="020B0604020202020204" pitchFamily="34" charset="0"/>
                          <a:cs typeface="Arial" panose="020B0604020202020204" pitchFamily="34" charset="0"/>
                        </a:rPr>
                        <a:t>ثم هربت.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a:r>
                        <a:rPr lang="ar-AE" sz="1600" kern="150" dirty="0">
                          <a:effectLst/>
                          <a:latin typeface="Arial" panose="020B0604020202020204" pitchFamily="34" charset="0"/>
                          <a:cs typeface="Arial" panose="020B0604020202020204" pitchFamily="34" charset="0"/>
                        </a:rPr>
                        <a:t>‑ فأجابهم: لقد مرّ!</a:t>
                      </a:r>
                    </a:p>
                    <a:p>
                      <a:pPr indent="216000" algn="r"/>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a:r>
                        <a:rPr lang="ar-AE" sz="1600" kern="150" dirty="0">
                          <a:effectLst/>
                          <a:latin typeface="Arial" panose="020B0604020202020204" pitchFamily="34" charset="0"/>
                          <a:cs typeface="Arial" panose="020B0604020202020204" pitchFamily="34" charset="0"/>
                        </a:rPr>
                        <a:t>‑ سألتهمك!</a:t>
                      </a:r>
                    </a:p>
                    <a:p>
                      <a:pPr indent="216000" algn="r"/>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a:r>
                        <a:rPr lang="ar-AE" sz="1600" kern="150" dirty="0">
                          <a:effectLst/>
                          <a:latin typeface="Arial" panose="020B0604020202020204" pitchFamily="34" charset="0"/>
                          <a:cs typeface="Arial" panose="020B0604020202020204" pitchFamily="34" charset="0"/>
                        </a:rPr>
                        <a:t>فقال له الجمل:</a:t>
                      </a:r>
                    </a:p>
                    <a:p>
                      <a:pPr indent="216000" algn="r"/>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a:r>
                        <a:rPr lang="ar-AE" sz="1600" kern="150" dirty="0">
                          <a:effectLst/>
                          <a:latin typeface="Arial" panose="020B0604020202020204" pitchFamily="34" charset="0"/>
                          <a:cs typeface="Arial" panose="020B0604020202020204" pitchFamily="34" charset="0"/>
                        </a:rPr>
                        <a:t>فتركه يذهب، وانصرف.</a:t>
                      </a:r>
                    </a:p>
                    <a:p>
                      <a:pPr indent="216000" algn="r"/>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a:r>
                        <a:rPr lang="ar-AE" sz="1600" kern="150" dirty="0">
                          <a:effectLst/>
                          <a:latin typeface="Arial" panose="020B0604020202020204" pitchFamily="34" charset="0"/>
                          <a:cs typeface="Arial" panose="020B0604020202020204" pitchFamily="34" charset="0"/>
                        </a:rPr>
                        <a:t>‑ ما بك يا عمّي أبورقبة؟</a:t>
                      </a:r>
                    </a:p>
                    <a:p>
                      <a:pPr indent="216000" algn="r"/>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a:r>
                        <a:rPr lang="ar-AE" sz="1400" kern="150" dirty="0">
                          <a:effectLst/>
                          <a:latin typeface="Arial" panose="020B0604020202020204" pitchFamily="34" charset="0"/>
                          <a:cs typeface="Arial" panose="020B0604020202020204" pitchFamily="34" charset="0"/>
                        </a:rPr>
                        <a:t>فأخذ الأسد يتمدد وقال له:</a:t>
                      </a:r>
                    </a:p>
                    <a:p>
                      <a:pPr indent="216000" algn="r"/>
                      <a:r>
                        <a:rPr lang="ar-AE" sz="1400" kern="150" dirty="0">
                          <a:effectLst/>
                          <a:latin typeface="Arial" panose="020B0604020202020204" pitchFamily="34" charset="0"/>
                          <a:cs typeface="Arial" panose="020B0604020202020204" pitchFamily="34" charset="0"/>
                        </a:rPr>
                        <a:t>‑ إذن سآكلك!</a:t>
                      </a:r>
                    </a:p>
                    <a:p>
                      <a:pPr indent="216000" algn="r"/>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a:r>
                        <a:rPr lang="ar-AE" sz="1400" kern="150" dirty="0">
                          <a:effectLst/>
                          <a:latin typeface="Arial" panose="020B0604020202020204" pitchFamily="34" charset="0"/>
                          <a:cs typeface="Arial" panose="020B0604020202020204" pitchFamily="34" charset="0"/>
                        </a:rPr>
                        <a:t>‑ لقد التقيت الذئب!</a:t>
                      </a:r>
                    </a:p>
                    <a:p>
                      <a:pPr indent="216000" algn="r"/>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937585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6663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a:r>
                        <a:rPr lang="ar-AE" sz="1400" kern="150" dirty="0">
                          <a:effectLst/>
                          <a:latin typeface="Arial" panose="020B0604020202020204" pitchFamily="34" charset="0"/>
                          <a:cs typeface="Arial" panose="020B0604020202020204" pitchFamily="34" charset="0"/>
                        </a:rPr>
                        <a:t>هز الذئب رأسه وأجابه:</a:t>
                      </a:r>
                    </a:p>
                    <a:p>
                      <a:pPr indent="216000" algn="r"/>
                      <a:r>
                        <a:rPr lang="ar-AE" sz="1400" kern="150" dirty="0">
                          <a:effectLst/>
                          <a:latin typeface="Arial" panose="020B0604020202020204" pitchFamily="34" charset="0"/>
                          <a:cs typeface="Arial" panose="020B0604020202020204" pitchFamily="34" charset="0"/>
                        </a:rPr>
                        <a:t>‑ أمرك عسير!</a:t>
                      </a:r>
                    </a:p>
                    <a:p>
                      <a:pPr indent="216000" algn="r"/>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تعال يا ذئب، لنسافر معًا،</a:t>
                      </a:r>
                    </a:p>
                    <a:p>
                      <a:pPr indent="216000" algn="r"/>
                      <a:r>
                        <a:rPr lang="ar-AE" sz="1400" i="1" kern="150" dirty="0">
                          <a:effectLst/>
                          <a:latin typeface="Arial" panose="020B0604020202020204" pitchFamily="34" charset="0"/>
                          <a:cs typeface="Arial" panose="020B0604020202020204" pitchFamily="34" charset="0"/>
                        </a:rPr>
                        <a:t>ونصيبك مضمون معي:</a:t>
                      </a:r>
                    </a:p>
                    <a:p>
                      <a:pPr indent="216000" algn="r"/>
                      <a:r>
                        <a:rPr lang="ar-AE" sz="1400" i="1" kern="150" dirty="0">
                          <a:effectLst/>
                          <a:latin typeface="Arial" panose="020B0604020202020204" pitchFamily="34" charset="0"/>
                          <a:cs typeface="Arial" panose="020B0604020202020204" pitchFamily="34" charset="0"/>
                        </a:rPr>
                        <a:t>إن قتلتُ أحدًا، أكلتَ أنت؛</a:t>
                      </a:r>
                    </a:p>
                    <a:p>
                      <a:pPr indent="216000" algn="r"/>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a:r>
                        <a:rPr lang="ar-AE" sz="1400" kern="150" dirty="0">
                          <a:effectLst/>
                          <a:latin typeface="Arial" panose="020B0604020202020204" pitchFamily="34" charset="0"/>
                          <a:cs typeface="Arial" panose="020B0604020202020204" pitchFamily="34" charset="0"/>
                        </a:rPr>
                        <a:t>‑ اقسمها بيننا.</a:t>
                      </a:r>
                    </a:p>
                    <a:p>
                      <a:pPr indent="216000" algn="r"/>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9093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p>
                    <a:p>
                      <a:pPr indent="216000" algn="r"/>
                      <a:r>
                        <a:rPr lang="ar-AE" sz="1400" kern="150" dirty="0">
                          <a:effectLst/>
                          <a:latin typeface="Arial" panose="020B0604020202020204" pitchFamily="34" charset="0"/>
                          <a:cs typeface="Arial" panose="020B0604020202020204" pitchFamily="34" charset="0"/>
                        </a:rPr>
                        <a:t>¶ كلما نظر إليه رفيقاه، سال لعابهما.</a:t>
                      </a:r>
                    </a:p>
                    <a:p>
                      <a:pPr indent="216000" algn="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a:r>
                        <a:rPr lang="ar-AE" sz="1400" kern="150" dirty="0">
                          <a:effectLst/>
                          <a:latin typeface="Arial" panose="020B0604020202020204" pitchFamily="34" charset="0"/>
                          <a:cs typeface="Arial" panose="020B0604020202020204" pitchFamily="34" charset="0"/>
                        </a:rPr>
                        <a:t>فقال الأسد:</a:t>
                      </a:r>
                    </a:p>
                    <a:p>
                      <a:pPr indent="216000" algn="r"/>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a:r>
                        <a:rPr lang="ar-AE" sz="1400" kern="150" dirty="0">
                          <a:effectLst/>
                          <a:latin typeface="Arial" panose="020B0604020202020204" pitchFamily="34" charset="0"/>
                          <a:cs typeface="Arial" panose="020B0604020202020204" pitchFamily="34" charset="0"/>
                        </a:rPr>
                        <a:t>فقال الذئب مؤيدًا:</a:t>
                      </a:r>
                    </a:p>
                    <a:p>
                      <a:pPr indent="216000" algn="r"/>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a:r>
                        <a:rPr lang="ar-AE" sz="1400" kern="150" dirty="0">
                          <a:effectLst/>
                          <a:latin typeface="Arial" panose="020B0604020202020204" pitchFamily="34" charset="0"/>
                          <a:cs typeface="Arial" panose="020B0604020202020204" pitchFamily="34" charset="0"/>
                        </a:rPr>
                        <a:t>ثم قال الذئب:</a:t>
                      </a:r>
                    </a:p>
                    <a:p>
                      <a:pPr indent="216000" algn="r"/>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a:r>
                        <a:rPr lang="ar-AE" sz="1400" kern="150" dirty="0">
                          <a:effectLst/>
                          <a:latin typeface="Arial" panose="020B0604020202020204" pitchFamily="34" charset="0"/>
                          <a:cs typeface="Arial" panose="020B0604020202020204" pitchFamily="34" charset="0"/>
                        </a:rPr>
                        <a:t>فقال الأسد مؤيدًا:</a:t>
                      </a:r>
                    </a:p>
                    <a:p>
                      <a:pPr indent="216000" algn="r"/>
                      <a:r>
                        <a:rPr lang="ar-AE" sz="1400" kern="150" dirty="0">
                          <a:effectLst/>
                          <a:latin typeface="Arial" panose="020B0604020202020204" pitchFamily="34" charset="0"/>
                          <a:cs typeface="Arial" panose="020B0604020202020204" pitchFamily="34" charset="0"/>
                        </a:rPr>
                        <a:t>‑ يا له من نسب!</a:t>
                      </a:r>
                    </a:p>
                    <a:p>
                      <a:pPr indent="216000" algn="r"/>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a:r>
                        <a:rPr lang="ar-AE" sz="1400" kern="150" dirty="0">
                          <a:effectLst/>
                          <a:latin typeface="Arial" panose="020B0604020202020204" pitchFamily="34" charset="0"/>
                          <a:cs typeface="Arial" panose="020B0604020202020204" pitchFamily="34" charset="0"/>
                        </a:rPr>
                        <a:t>فقالا له:</a:t>
                      </a:r>
                    </a:p>
                    <a:p>
                      <a:pPr indent="216000" algn="r"/>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a:r>
                        <a:rPr lang="ar-AE" sz="1400" kern="150" dirty="0">
                          <a:effectLst/>
                          <a:latin typeface="Arial" panose="020B0604020202020204" pitchFamily="34" charset="0"/>
                          <a:cs typeface="Arial" panose="020B0604020202020204" pitchFamily="34" charset="0"/>
                        </a:rPr>
                        <a:t>فتركاه يذهب، وانصرف.</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a:r>
                        <a:rPr lang="ar-AE" sz="1400" kern="150" dirty="0">
                          <a:effectLst/>
                          <a:latin typeface="Arial" panose="020B0604020202020204" pitchFamily="34" charset="0"/>
                          <a:cs typeface="Arial" panose="020B0604020202020204" pitchFamily="34" charset="0"/>
                        </a:rPr>
                        <a:t>‑ حسنًا، من يكون أبوك؟</a:t>
                      </a:r>
                    </a:p>
                    <a:p>
                      <a:pPr indent="216000" algn="r"/>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a:r>
                        <a:rPr lang="ar-AE" sz="1400" kern="150" dirty="0">
                          <a:effectLst/>
                          <a:latin typeface="Arial" panose="020B0604020202020204" pitchFamily="34" charset="0"/>
                          <a:cs typeface="Arial" panose="020B0604020202020204" pitchFamily="34" charset="0"/>
                        </a:rPr>
                        <a:t>فقال الأسد للذئب:</a:t>
                      </a:r>
                    </a:p>
                    <a:p>
                      <a:pPr indent="216000" algn="r"/>
                      <a:r>
                        <a:rPr lang="ar-AE" sz="1400" kern="150" dirty="0">
                          <a:effectLst/>
                          <a:latin typeface="Arial" panose="020B0604020202020204" pitchFamily="34" charset="0"/>
                          <a:cs typeface="Arial" panose="020B0604020202020204" pitchFamily="34" charset="0"/>
                        </a:rPr>
                        <a:t>‑ اقترب واقرأه يا امحمد.</a:t>
                      </a:r>
                    </a:p>
                    <a:p>
                      <a:pPr indent="216000" algn="r"/>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a:r>
                        <a:rPr lang="ar-AE" sz="1400" kern="150" dirty="0">
                          <a:effectLst/>
                          <a:latin typeface="Arial" panose="020B0604020202020204" pitchFamily="34" charset="0"/>
                          <a:cs typeface="Arial" panose="020B0604020202020204" pitchFamily="34" charset="0"/>
                        </a:rPr>
                        <a:t>سرنا في الطريق، في الطريق،</a:t>
                      </a:r>
                    </a:p>
                    <a:p>
                      <a:pPr indent="216000" algn="r"/>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a:r>
                        <a:rPr lang="ar-AE" sz="1400" kern="150" dirty="0">
                          <a:effectLst/>
                          <a:latin typeface="Arial" panose="020B0604020202020204" pitchFamily="34" charset="0"/>
                          <a:cs typeface="Arial" panose="020B0604020202020204" pitchFamily="34" charset="0"/>
                        </a:rPr>
                        <a:t>رمى لنا فطيرة فأكلناها؛</a:t>
                      </a:r>
                    </a:p>
                    <a:p>
                      <a:pPr indent="216000" algn="r"/>
                      <a:r>
                        <a:rPr lang="ar-AE" sz="1400" kern="150" dirty="0">
                          <a:effectLst/>
                          <a:latin typeface="Arial" panose="020B0604020202020204" pitchFamily="34" charset="0"/>
                          <a:cs typeface="Arial" panose="020B0604020202020204" pitchFamily="34" charset="0"/>
                        </a:rPr>
                        <a:t>ورمينا عليه حجرًا فحطمناه!</a:t>
                      </a:r>
                    </a:p>
                    <a:p>
                      <a:pPr indent="216000" algn="r"/>
                      <a:r>
                        <a:rPr lang="ar-AE" sz="1400" kern="150" dirty="0">
                          <a:effectLst/>
                          <a:latin typeface="Arial" panose="020B0604020202020204" pitchFamily="34" charset="0"/>
                          <a:cs typeface="Arial" panose="020B0604020202020204" pitchFamily="34" charset="0"/>
                        </a:rPr>
                        <a:t>أما نحن، فليرحمنا الله؛</a:t>
                      </a:r>
                    </a:p>
                    <a:p>
                      <a:pPr indent="216000" algn="r"/>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a:r>
                        <a:rPr lang="ar-AE" sz="1400" kern="150" dirty="0">
                          <a:effectLst/>
                          <a:latin typeface="Arial" panose="020B0604020202020204" pitchFamily="34" charset="0"/>
                          <a:cs typeface="Arial" panose="020B0604020202020204" pitchFamily="34" charset="0"/>
                        </a:rPr>
                        <a:t>فأنبتت أزهارًا:</a:t>
                      </a:r>
                    </a:p>
                    <a:p>
                      <a:pPr indent="216000" algn="r"/>
                      <a:r>
                        <a:rPr lang="ar-AE" sz="1400" kern="150" dirty="0">
                          <a:effectLst/>
                          <a:latin typeface="Arial" panose="020B0604020202020204" pitchFamily="34" charset="0"/>
                          <a:cs typeface="Arial" panose="020B0604020202020204" pitchFamily="34" charset="0"/>
                        </a:rPr>
                        <a:t>تقلبت وتمددت فيها،</a:t>
                      </a:r>
                    </a:p>
                    <a:p>
                      <a:pPr indent="216000" algn="r"/>
                      <a:r>
                        <a:rPr lang="ar-AE" sz="1400" kern="150" dirty="0">
                          <a:effectLst/>
                          <a:latin typeface="Arial" panose="020B0604020202020204" pitchFamily="34" charset="0"/>
                          <a:cs typeface="Arial" panose="020B0604020202020204" pitchFamily="34" charset="0"/>
                        </a:rPr>
                        <a:t>وتزّينت كالعروس.</a:t>
                      </a:r>
                    </a:p>
                    <a:p>
                      <a:pPr indent="216000" algn="r"/>
                      <a:r>
                        <a:rPr lang="ar-AE" sz="1400" kern="150" dirty="0">
                          <a:effectLst/>
                          <a:latin typeface="Arial" panose="020B0604020202020204" pitchFamily="34" charset="0"/>
                          <a:cs typeface="Arial" panose="020B0604020202020204" pitchFamily="34" charset="0"/>
                        </a:rPr>
                        <a:t>رفعت بصرها نحو السماء،</a:t>
                      </a:r>
                    </a:p>
                    <a:p>
                      <a:pPr indent="216000" algn="r"/>
                      <a:r>
                        <a:rPr lang="ar-AE" sz="1400" kern="150" dirty="0">
                          <a:effectLst/>
                          <a:latin typeface="Arial" panose="020B0604020202020204" pitchFamily="34" charset="0"/>
                          <a:cs typeface="Arial" panose="020B0604020202020204" pitchFamily="34" charset="0"/>
                        </a:rPr>
                        <a:t>فكحّلت عينها الحلوة.</a:t>
                      </a:r>
                    </a:p>
                    <a:p>
                      <a:pPr indent="216000" algn="r"/>
                      <a:r>
                        <a:rPr lang="ar-AE" sz="1400" kern="150" dirty="0">
                          <a:effectLst/>
                          <a:latin typeface="Arial" panose="020B0604020202020204" pitchFamily="34" charset="0"/>
                          <a:cs typeface="Arial" panose="020B0604020202020204" pitchFamily="34" charset="0"/>
                        </a:rPr>
                        <a:t>عبرت جدول الجبل،</a:t>
                      </a:r>
                    </a:p>
                    <a:p>
                      <a:pPr indent="216000" algn="r"/>
                      <a:r>
                        <a:rPr lang="ar-AE" sz="1400" kern="150" dirty="0">
                          <a:effectLst/>
                          <a:latin typeface="Arial" panose="020B0604020202020204" pitchFamily="34" charset="0"/>
                          <a:cs typeface="Arial" panose="020B0604020202020204" pitchFamily="34" charset="0"/>
                        </a:rPr>
                        <a:t>فحنّت قدميها.</a:t>
                      </a:r>
                    </a:p>
                    <a:p>
                      <a:pPr indent="216000" algn="r"/>
                      <a:r>
                        <a:rPr lang="ar-AE" sz="1400" kern="150" dirty="0">
                          <a:effectLst/>
                          <a:latin typeface="Arial" panose="020B0604020202020204" pitchFamily="34" charset="0"/>
                          <a:cs typeface="Arial" panose="020B0604020202020204" pitchFamily="34" charset="0"/>
                        </a:rPr>
                        <a:t>ونزلت المنحدر،</a:t>
                      </a:r>
                    </a:p>
                    <a:p>
                      <a:pPr indent="216000" algn="r"/>
                      <a:r>
                        <a:rPr lang="ar-AE" sz="1400" kern="150" dirty="0">
                          <a:effectLst/>
                          <a:latin typeface="Arial" panose="020B0604020202020204" pitchFamily="34" charset="0"/>
                          <a:cs typeface="Arial" panose="020B0604020202020204" pitchFamily="34" charset="0"/>
                        </a:rPr>
                        <a:t>راكبة بغلتها.</a:t>
                      </a:r>
                    </a:p>
                    <a:p>
                      <a:pPr indent="216000" algn="r"/>
                      <a:r>
                        <a:rPr lang="ar-AE" sz="1400" kern="150" dirty="0">
                          <a:effectLst/>
                          <a:latin typeface="Arial" panose="020B0604020202020204" pitchFamily="34" charset="0"/>
                          <a:cs typeface="Arial" panose="020B0604020202020204" pitchFamily="34" charset="0"/>
                        </a:rPr>
                        <a:t>¶ زرع الذئب قطعة أرض صغيرة،</a:t>
                      </a:r>
                    </a:p>
                    <a:p>
                      <a:pPr indent="216000" algn="r"/>
                      <a:r>
                        <a:rPr lang="ar-AE" sz="1400" kern="150" dirty="0">
                          <a:effectLst/>
                          <a:latin typeface="Arial" panose="020B0604020202020204" pitchFamily="34" charset="0"/>
                          <a:cs typeface="Arial" panose="020B0604020202020204" pitchFamily="34" charset="0"/>
                        </a:rPr>
                        <a:t>فأنبتت أشواكًا:</a:t>
                      </a:r>
                    </a:p>
                    <a:p>
                      <a:pPr indent="216000" algn="r"/>
                      <a:r>
                        <a:rPr lang="ar-AE" sz="1400" kern="150" dirty="0">
                          <a:effectLst/>
                          <a:latin typeface="Arial" panose="020B0604020202020204" pitchFamily="34" charset="0"/>
                          <a:cs typeface="Arial" panose="020B0604020202020204" pitchFamily="34" charset="0"/>
                        </a:rPr>
                        <a:t>تقلب فيها وتمدد،</a:t>
                      </a:r>
                    </a:p>
                    <a:p>
                      <a:pPr indent="216000" algn="r"/>
                      <a:r>
                        <a:rPr lang="ar-AE" sz="1400" kern="150" dirty="0">
                          <a:effectLst/>
                          <a:latin typeface="Arial" panose="020B0604020202020204" pitchFamily="34" charset="0"/>
                          <a:cs typeface="Arial" panose="020B0604020202020204" pitchFamily="34" charset="0"/>
                        </a:rPr>
                        <a:t>فانسَلخ جلده.</a:t>
                      </a:r>
                    </a:p>
                    <a:p>
                      <a:pPr indent="216000" algn="r"/>
                      <a:r>
                        <a:rPr lang="ar-AE" sz="1400" kern="150" dirty="0">
                          <a:effectLst/>
                          <a:latin typeface="Arial" panose="020B0604020202020204" pitchFamily="34" charset="0"/>
                          <a:cs typeface="Arial" panose="020B0604020202020204" pitchFamily="34" charset="0"/>
                        </a:rPr>
                        <a:t>ورفع بصره نحو السماء،</a:t>
                      </a:r>
                    </a:p>
                    <a:p>
                      <a:pPr indent="216000" algn="r"/>
                      <a:r>
                        <a:rPr lang="ar-AE" sz="1400" kern="150" dirty="0">
                          <a:effectLst/>
                          <a:latin typeface="Arial" panose="020B0604020202020204" pitchFamily="34" charset="0"/>
                          <a:cs typeface="Arial" panose="020B0604020202020204" pitchFamily="34" charset="0"/>
                        </a:rPr>
                        <a:t>فعميت عينه الحلوة.</a:t>
                      </a:r>
                    </a:p>
                    <a:p>
                      <a:pPr indent="216000" algn="r"/>
                      <a:r>
                        <a:rPr lang="ar-AE" sz="1400" kern="150" dirty="0">
                          <a:effectLst/>
                          <a:latin typeface="Arial" panose="020B0604020202020204" pitchFamily="34" charset="0"/>
                          <a:cs typeface="Arial" panose="020B0604020202020204" pitchFamily="34" charset="0"/>
                        </a:rPr>
                        <a:t>وعبر جدول الجبل،</a:t>
                      </a:r>
                    </a:p>
                    <a:p>
                      <a:pPr indent="216000" algn="r"/>
                      <a:r>
                        <a:rPr lang="ar-AE" sz="1400" kern="150" dirty="0">
                          <a:effectLst/>
                          <a:latin typeface="Arial" panose="020B0604020202020204" pitchFamily="34" charset="0"/>
                          <a:cs typeface="Arial" panose="020B0604020202020204" pitchFamily="34" charset="0"/>
                        </a:rPr>
                        <a:t>فانتُزع فخذه.</a:t>
                      </a:r>
                    </a:p>
                    <a:p>
                      <a:pPr indent="216000" algn="r"/>
                      <a:r>
                        <a:rPr lang="ar-AE" sz="1400" kern="150" dirty="0">
                          <a:effectLst/>
                          <a:latin typeface="Arial" panose="020B0604020202020204" pitchFamily="34" charset="0"/>
                          <a:cs typeface="Arial" panose="020B0604020202020204" pitchFamily="34" charset="0"/>
                        </a:rPr>
                        <a:t>وصعد المنحدر الوعر،</a:t>
                      </a:r>
                    </a:p>
                    <a:p>
                      <a:pPr indent="216000" algn="r"/>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إلى كل من أصغى إليّ،</a:t>
                      </a:r>
                    </a:p>
                    <a:p>
                      <a:pPr indent="216000" algn="r"/>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a:r>
                        <a:rPr lang="ar-AE" sz="1400" kern="150" dirty="0">
                          <a:effectLst/>
                          <a:latin typeface="Arial" panose="020B0604020202020204" pitchFamily="34" charset="0"/>
                          <a:cs typeface="Arial" panose="020B0604020202020204" pitchFamily="34" charset="0"/>
                        </a:rPr>
                        <a:t>تأملوا هذه الحكاية مليًا.</a:t>
                      </a:r>
                    </a:p>
                    <a:p>
                      <a:pPr indent="216000" algn="r"/>
                      <a:r>
                        <a:rPr lang="ar-AE" sz="1400" kern="150" dirty="0">
                          <a:effectLst/>
                          <a:latin typeface="Arial" panose="020B0604020202020204" pitchFamily="34" charset="0"/>
                          <a:cs typeface="Arial" panose="020B0604020202020204" pitchFamily="34" charset="0"/>
                        </a:rPr>
                        <a:t>فلأجلكم جميعًا بذلت جهدي،</a:t>
                      </a:r>
                    </a:p>
                    <a:p>
                      <a:pPr indent="216000" algn="r"/>
                      <a:r>
                        <a:rPr lang="ar-AE" sz="1400" kern="150" dirty="0">
                          <a:effectLst/>
                          <a:latin typeface="Arial" panose="020B0604020202020204" pitchFamily="34" charset="0"/>
                          <a:cs typeface="Arial" panose="020B0604020202020204" pitchFamily="34" charset="0"/>
                        </a:rPr>
                        <a:t>كي أحميكم</a:t>
                      </a:r>
                    </a:p>
                    <a:p>
                      <a:pPr indent="216000" algn="r"/>
                      <a:r>
                        <a:rPr lang="ar-AE" sz="1400" kern="150" dirty="0">
                          <a:effectLst/>
                          <a:latin typeface="Arial" panose="020B0604020202020204" pitchFamily="34" charset="0"/>
                          <a:cs typeface="Arial" panose="020B0604020202020204" pitchFamily="34" charset="0"/>
                        </a:rPr>
                        <a:t>من ضربات الله القاصمة.</a:t>
                      </a:r>
                    </a:p>
                    <a:p>
                      <a:pPr indent="216000" algn="r"/>
                      <a:r>
                        <a:rPr lang="ar-AE" sz="1400" kern="150" dirty="0">
                          <a:effectLst/>
                          <a:latin typeface="Arial" panose="020B0604020202020204" pitchFamily="34" charset="0"/>
                          <a:cs typeface="Arial" panose="020B0604020202020204" pitchFamily="34" charset="0"/>
                        </a:rPr>
                        <a:t>¶ من كان في موضع سلطة،</a:t>
                      </a:r>
                    </a:p>
                    <a:p>
                      <a:pPr indent="216000" algn="r"/>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a:r>
                        <a:rPr lang="ar-AE" sz="1400" kern="150" dirty="0">
                          <a:effectLst/>
                          <a:latin typeface="Arial" panose="020B0604020202020204" pitchFamily="34" charset="0"/>
                          <a:cs typeface="Arial" panose="020B0604020202020204" pitchFamily="34" charset="0"/>
                        </a:rPr>
                        <a:t>وليوقّر ذوي الشأن،</a:t>
                      </a:r>
                    </a:p>
                    <a:p>
                      <a:pPr indent="216000" algn="r"/>
                      <a:r>
                        <a:rPr lang="ar-AE" sz="1400" kern="150" dirty="0">
                          <a:effectLst/>
                          <a:latin typeface="Arial" panose="020B0604020202020204" pitchFamily="34" charset="0"/>
                          <a:cs typeface="Arial" panose="020B0604020202020204" pitchFamily="34" charset="0"/>
                        </a:rPr>
                        <a:t>وليحمِ الضعفاء،</a:t>
                      </a:r>
                    </a:p>
                    <a:p>
                      <a:pPr indent="216000" algn="r"/>
                      <a:r>
                        <a:rPr lang="ar-AE" sz="1400" kern="150" dirty="0">
                          <a:effectLst/>
                          <a:latin typeface="Arial" panose="020B0604020202020204" pitchFamily="34" charset="0"/>
                          <a:cs typeface="Arial" panose="020B0604020202020204" pitchFamily="34" charset="0"/>
                        </a:rPr>
                        <a:t>حتى لا تُرفع عليه يد قط.</a:t>
                      </a:r>
                    </a:p>
                    <a:p>
                      <a:pPr indent="216000" algn="r"/>
                      <a:r>
                        <a:rPr lang="ar-AE" sz="1400" kern="150" dirty="0">
                          <a:effectLst/>
                          <a:latin typeface="Arial" panose="020B0604020202020204" pitchFamily="34" charset="0"/>
                          <a:cs typeface="Arial" panose="020B0604020202020204" pitchFamily="34" charset="0"/>
                        </a:rPr>
                        <a:t>¶ حتى الأسد، كما هو معلوم،</a:t>
                      </a:r>
                    </a:p>
                    <a:p>
                      <a:pPr indent="216000" algn="r"/>
                      <a:r>
                        <a:rPr lang="ar-AE" sz="1400" kern="150" dirty="0">
                          <a:effectLst/>
                          <a:latin typeface="Arial" panose="020B0604020202020204" pitchFamily="34" charset="0"/>
                          <a:cs typeface="Arial" panose="020B0604020202020204" pitchFamily="34" charset="0"/>
                        </a:rPr>
                        <a:t>الذي كان قويًا على كل صراع،</a:t>
                      </a:r>
                    </a:p>
                    <a:p>
                      <a:pPr indent="216000" algn="r"/>
                      <a:r>
                        <a:rPr lang="ar-AE" sz="1400" kern="150" dirty="0">
                          <a:effectLst/>
                          <a:latin typeface="Arial" panose="020B0604020202020204" pitchFamily="34" charset="0"/>
                          <a:cs typeface="Arial" panose="020B0604020202020204" pitchFamily="34" charset="0"/>
                        </a:rPr>
                        <a:t>مُدّ ميتًا على الأرض.</a:t>
                      </a:r>
                    </a:p>
                    <a:p>
                      <a:pPr indent="216000" algn="r"/>
                      <a:r>
                        <a:rPr lang="ar-AE" sz="1400" kern="150" dirty="0">
                          <a:effectLst/>
                          <a:latin typeface="Arial" panose="020B0604020202020204" pitchFamily="34" charset="0"/>
                          <a:cs typeface="Arial" panose="020B0604020202020204" pitchFamily="34" charset="0"/>
                        </a:rPr>
                        <a:t>فما بال ابن آدم،</a:t>
                      </a:r>
                    </a:p>
                    <a:p>
                      <a:pPr indent="216000" algn="r"/>
                      <a:r>
                        <a:rPr lang="ar-AE" sz="1400" kern="150" dirty="0">
                          <a:effectLst/>
                          <a:latin typeface="Arial" panose="020B0604020202020204" pitchFamily="34" charset="0"/>
                          <a:cs typeface="Arial" panose="020B0604020202020204" pitchFamily="34" charset="0"/>
                        </a:rPr>
                        <a:t>المجبول من محض الضعف،</a:t>
                      </a:r>
                    </a:p>
                    <a:p>
                      <a:pPr indent="216000" algn="r"/>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a:r>
                        <a:rPr lang="ar-AE" sz="1400" kern="150" dirty="0">
                          <a:effectLst/>
                          <a:latin typeface="Arial" panose="020B0604020202020204" pitchFamily="34" charset="0"/>
                          <a:cs typeface="Arial" panose="020B0604020202020204" pitchFamily="34" charset="0"/>
                        </a:rPr>
                        <a:t>¶ أما الرجل العادي،</a:t>
                      </a:r>
                    </a:p>
                    <a:p>
                      <a:pPr indent="216000" algn="r"/>
                      <a:r>
                        <a:rPr lang="ar-AE" sz="1400" kern="150" dirty="0">
                          <a:effectLst/>
                          <a:latin typeface="Arial" panose="020B0604020202020204" pitchFamily="34" charset="0"/>
                          <a:cs typeface="Arial" panose="020B0604020202020204" pitchFamily="34" charset="0"/>
                        </a:rPr>
                        <a:t>الذي يطيع سلطة البلاد،</a:t>
                      </a:r>
                    </a:p>
                    <a:p>
                      <a:pPr indent="216000" algn="r"/>
                      <a:r>
                        <a:rPr lang="ar-AE" sz="1400" kern="150" dirty="0">
                          <a:effectLst/>
                          <a:latin typeface="Arial" panose="020B0604020202020204" pitchFamily="34" charset="0"/>
                          <a:cs typeface="Arial" panose="020B0604020202020204" pitchFamily="34" charset="0"/>
                        </a:rPr>
                        <a:t>فلا يصِرنّ مخادعًا مكّارًا.</a:t>
                      </a:r>
                    </a:p>
                    <a:p>
                      <a:pPr indent="216000" algn="r"/>
                      <a:r>
                        <a:rPr lang="ar-AE" sz="1400" kern="150" dirty="0">
                          <a:effectLst/>
                          <a:latin typeface="Arial" panose="020B0604020202020204" pitchFamily="34" charset="0"/>
                          <a:cs typeface="Arial" panose="020B0604020202020204" pitchFamily="34" charset="0"/>
                        </a:rPr>
                        <a:t>إن أخذ يقلّد الذئب،</a:t>
                      </a:r>
                    </a:p>
                    <a:p>
                      <a:pPr indent="216000" algn="r"/>
                      <a:r>
                        <a:rPr lang="ar-AE" sz="1400" kern="150" dirty="0">
                          <a:effectLst/>
                          <a:latin typeface="Arial" panose="020B0604020202020204" pitchFamily="34" charset="0"/>
                          <a:cs typeface="Arial" panose="020B0604020202020204" pitchFamily="34" charset="0"/>
                        </a:rPr>
                        <a:t>ويوقع الناس بعضهم ببعض،</a:t>
                      </a:r>
                    </a:p>
                    <a:p>
                      <a:pPr indent="216000" algn="r"/>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إن الجزاء الأخير ينتظره،</a:t>
                      </a:r>
                    </a:p>
                    <a:p>
                      <a:pPr indent="216000" algn="r"/>
                      <a:r>
                        <a:rPr lang="ar-AE" sz="1400" kern="150" dirty="0">
                          <a:effectLst/>
                          <a:latin typeface="Arial" panose="020B0604020202020204" pitchFamily="34" charset="0"/>
                          <a:cs typeface="Arial" panose="020B0604020202020204" pitchFamily="34" charset="0"/>
                        </a:rPr>
                        <a:t>وستذله حرفته الغادرة،</a:t>
                      </a:r>
                    </a:p>
                    <a:p>
                      <a:pPr indent="216000" algn="r"/>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a:r>
                        <a:rPr lang="ar-AE" sz="1400" kern="150" dirty="0">
                          <a:effectLst/>
                          <a:latin typeface="Arial" panose="020B0604020202020204" pitchFamily="34" charset="0"/>
                          <a:cs typeface="Arial" panose="020B0604020202020204" pitchFamily="34" charset="0"/>
                        </a:rPr>
                        <a:t>وسيحل به يومٌ شرير،</a:t>
                      </a:r>
                    </a:p>
                    <a:p>
                      <a:pPr indent="216000" algn="r"/>
                      <a:r>
                        <a:rPr lang="ar-AE" sz="1400" kern="150" dirty="0">
                          <a:effectLst/>
                          <a:latin typeface="Arial" panose="020B0604020202020204" pitchFamily="34" charset="0"/>
                          <a:cs typeface="Arial" panose="020B0604020202020204" pitchFamily="34" charset="0"/>
                        </a:rPr>
                        <a:t>فيصرعه الحفيظ،</a:t>
                      </a:r>
                    </a:p>
                    <a:p>
                      <a:pPr indent="216000" algn="r"/>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a:r>
                        <a:rPr lang="ar-AE" sz="1400" kern="150" dirty="0">
                          <a:effectLst/>
                          <a:latin typeface="Arial" panose="020B0604020202020204" pitchFamily="34" charset="0"/>
                          <a:cs typeface="Arial" panose="020B0604020202020204" pitchFamily="34" charset="0"/>
                        </a:rPr>
                        <a:t>¶ ستشتعل في قلبه نار حارقة،</a:t>
                      </a:r>
                    </a:p>
                    <a:p>
                      <a:pPr indent="216000" algn="r"/>
                      <a:r>
                        <a:rPr lang="ar-AE" sz="1400" kern="150" dirty="0">
                          <a:effectLst/>
                          <a:latin typeface="Arial" panose="020B0604020202020204" pitchFamily="34" charset="0"/>
                          <a:cs typeface="Arial" panose="020B0604020202020204" pitchFamily="34" charset="0"/>
                        </a:rPr>
                        <a:t>كأنه الشيطان نفسه،</a:t>
                      </a:r>
                    </a:p>
                    <a:p>
                      <a:pPr indent="216000" algn="r"/>
                      <a:r>
                        <a:rPr lang="ar-AE" sz="1400" kern="150" dirty="0">
                          <a:effectLst/>
                          <a:latin typeface="Arial" panose="020B0604020202020204" pitchFamily="34" charset="0"/>
                          <a:cs typeface="Arial" panose="020B0604020202020204" pitchFamily="34" charset="0"/>
                        </a:rPr>
                        <a:t>ولن يجد من يطفئها.</a:t>
                      </a:r>
                    </a:p>
                    <a:p>
                      <a:pPr indent="216000" algn="r"/>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a:r>
                        <a:rPr lang="ar-AE" sz="1400" kern="150" dirty="0">
                          <a:effectLst/>
                          <a:latin typeface="Arial" panose="020B0604020202020204" pitchFamily="34" charset="0"/>
                          <a:cs typeface="Arial" panose="020B0604020202020204" pitchFamily="34" charset="0"/>
                        </a:rPr>
                        <a:t>يموت عطشانًا ميتة مؤلمة:</a:t>
                      </a:r>
                    </a:p>
                    <a:p>
                      <a:pPr indent="216000" algn="r"/>
                      <a:r>
                        <a:rPr lang="ar-AE" sz="1400" kern="150" dirty="0">
                          <a:effectLst/>
                          <a:latin typeface="Arial" panose="020B0604020202020204" pitchFamily="34" charset="0"/>
                          <a:cs typeface="Arial" panose="020B0604020202020204" pitchFamily="34" charset="0"/>
                        </a:rPr>
                        <a:t>بقضاء الله الرحمن الحازم.</a:t>
                      </a:r>
                    </a:p>
                    <a:p>
                      <a:pPr indent="216000" algn="r"/>
                      <a:r>
                        <a:rPr lang="ar-AE" sz="1400" kern="150" dirty="0">
                          <a:effectLst/>
                          <a:latin typeface="Arial" panose="020B0604020202020204" pitchFamily="34" charset="0"/>
                          <a:cs typeface="Arial" panose="020B0604020202020204" pitchFamily="34" charset="0"/>
                        </a:rPr>
                        <a:t>¶ سنحزن على السيد رابح،</a:t>
                      </a:r>
                    </a:p>
                    <a:p>
                      <a:pPr indent="216000" algn="r"/>
                      <a:r>
                        <a:rPr lang="ar-AE" sz="1400" kern="150" dirty="0">
                          <a:effectLst/>
                          <a:latin typeface="Arial" panose="020B0604020202020204" pitchFamily="34" charset="0"/>
                          <a:cs typeface="Arial" panose="020B0604020202020204" pitchFamily="34" charset="0"/>
                        </a:rPr>
                        <a:t>فقد كان رجلًا عميق الفهم:</a:t>
                      </a:r>
                    </a:p>
                    <a:p>
                      <a:pPr indent="216000" algn="r"/>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a:r>
                        <a:rPr lang="ar-AE" sz="1400" kern="150" dirty="0">
                          <a:effectLst/>
                          <a:latin typeface="Arial" panose="020B0604020202020204" pitchFamily="34" charset="0"/>
                          <a:cs typeface="Arial" panose="020B0604020202020204" pitchFamily="34" charset="0"/>
                        </a:rPr>
                        <a:t>أيقظ الغافلين،</a:t>
                      </a:r>
                    </a:p>
                    <a:p>
                      <a:pPr indent="216000" algn="r"/>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a:r>
                        <a:rPr lang="ar-AE" sz="1400" kern="150" dirty="0">
                          <a:effectLst/>
                          <a:latin typeface="Arial" panose="020B0604020202020204" pitchFamily="34" charset="0"/>
                          <a:cs typeface="Arial" panose="020B0604020202020204" pitchFamily="34" charset="0"/>
                        </a:rPr>
                        <a:t>الذي يسلك السبل القويمة</a:t>
                      </a:r>
                    </a:p>
                    <a:p>
                      <a:pPr indent="216000" algn="r"/>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a:r>
                        <a:rPr lang="ar-AE" sz="1400" kern="150" dirty="0">
                          <a:effectLst/>
                          <a:latin typeface="Arial" panose="020B0604020202020204" pitchFamily="34" charset="0"/>
                          <a:cs typeface="Arial" panose="020B0604020202020204" pitchFamily="34" charset="0"/>
                        </a:rPr>
                        <a:t>فإنها تمضي كالحلم،</a:t>
                      </a:r>
                    </a:p>
                    <a:p>
                      <a:pPr indent="216000" algn="r"/>
                      <a:r>
                        <a:rPr lang="ar-AE" sz="1400" kern="150" dirty="0">
                          <a:effectLst/>
                          <a:latin typeface="Arial" panose="020B0604020202020204" pitchFamily="34" charset="0"/>
                          <a:cs typeface="Arial" panose="020B0604020202020204" pitchFamily="34" charset="0"/>
                        </a:rPr>
                        <a:t>وتكون عاقبته الرحمة.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7142</TotalTime>
  <Words>23831</Words>
  <Application>Microsoft Office PowerPoint</Application>
  <PresentationFormat>Widescreen</PresentationFormat>
  <Paragraphs>1674</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1688</cp:revision>
  <dcterms:created xsi:type="dcterms:W3CDTF">2023-02-08T10:37:07Z</dcterms:created>
  <dcterms:modified xsi:type="dcterms:W3CDTF">2026-10-21T07:20:00Z</dcterms:modified>
</cp:coreProperties>
</file>