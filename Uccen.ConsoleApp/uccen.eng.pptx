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323" r:id="rId2"/>
    <p:sldId id="324" r:id="rId3"/>
    <p:sldId id="257" r:id="rId4"/>
    <p:sldId id="258" r:id="rId5"/>
    <p:sldId id="259" r:id="rId6"/>
    <p:sldId id="260" r:id="rId7"/>
    <p:sldId id="261" r:id="rId8"/>
    <p:sldId id="262" r:id="rId9"/>
    <p:sldId id="274" r:id="rId10"/>
    <p:sldId id="263" r:id="rId11"/>
    <p:sldId id="338" r:id="rId12"/>
    <p:sldId id="264" r:id="rId13"/>
    <p:sldId id="275" r:id="rId14"/>
    <p:sldId id="265" r:id="rId15"/>
    <p:sldId id="266" r:id="rId16"/>
    <p:sldId id="327" r:id="rId17"/>
    <p:sldId id="267" r:id="rId18"/>
    <p:sldId id="276" r:id="rId19"/>
    <p:sldId id="268" r:id="rId20"/>
    <p:sldId id="269" r:id="rId21"/>
    <p:sldId id="325" r:id="rId22"/>
    <p:sldId id="277" r:id="rId23"/>
    <p:sldId id="270" r:id="rId24"/>
    <p:sldId id="271" r:id="rId25"/>
    <p:sldId id="272" r:id="rId26"/>
    <p:sldId id="328" r:id="rId27"/>
    <p:sldId id="278" r:id="rId28"/>
    <p:sldId id="329" r:id="rId29"/>
    <p:sldId id="279" r:id="rId30"/>
    <p:sldId id="337" r:id="rId31"/>
    <p:sldId id="280" r:id="rId32"/>
    <p:sldId id="339" r:id="rId33"/>
    <p:sldId id="281" r:id="rId34"/>
    <p:sldId id="336" r:id="rId35"/>
    <p:sldId id="282" r:id="rId36"/>
    <p:sldId id="335" r:id="rId37"/>
    <p:sldId id="283" r:id="rId38"/>
    <p:sldId id="334" r:id="rId39"/>
    <p:sldId id="284" r:id="rId40"/>
    <p:sldId id="285" r:id="rId41"/>
    <p:sldId id="286" r:id="rId42"/>
    <p:sldId id="293" r:id="rId43"/>
    <p:sldId id="292" r:id="rId44"/>
    <p:sldId id="287" r:id="rId45"/>
    <p:sldId id="330" r:id="rId46"/>
    <p:sldId id="288" r:id="rId47"/>
    <p:sldId id="306" r:id="rId48"/>
    <p:sldId id="289" r:id="rId49"/>
    <p:sldId id="290" r:id="rId50"/>
    <p:sldId id="326" r:id="rId51"/>
    <p:sldId id="291" r:id="rId52"/>
    <p:sldId id="333" r:id="rId53"/>
    <p:sldId id="294" r:id="rId54"/>
    <p:sldId id="295" r:id="rId55"/>
    <p:sldId id="307" r:id="rId56"/>
    <p:sldId id="296" r:id="rId57"/>
    <p:sldId id="308" r:id="rId58"/>
    <p:sldId id="297" r:id="rId59"/>
    <p:sldId id="298" r:id="rId60"/>
    <p:sldId id="299" r:id="rId61"/>
    <p:sldId id="309" r:id="rId62"/>
    <p:sldId id="300" r:id="rId63"/>
    <p:sldId id="332" r:id="rId64"/>
    <p:sldId id="301" r:id="rId65"/>
    <p:sldId id="331" r:id="rId66"/>
    <p:sldId id="305" r:id="rId67"/>
    <p:sldId id="302" r:id="rId68"/>
    <p:sldId id="318" r:id="rId69"/>
    <p:sldId id="303" r:id="rId70"/>
    <p:sldId id="341" r:id="rId71"/>
    <p:sldId id="304" r:id="rId72"/>
    <p:sldId id="310" r:id="rId73"/>
    <p:sldId id="319" r:id="rId74"/>
    <p:sldId id="320" r:id="rId75"/>
    <p:sldId id="342" r:id="rId76"/>
    <p:sldId id="321" r:id="rId77"/>
    <p:sldId id="322" r:id="rId78"/>
    <p:sldId id="311" r:id="rId79"/>
    <p:sldId id="340" r:id="rId80"/>
    <p:sldId id="312" r:id="rId81"/>
    <p:sldId id="313" r:id="rId82"/>
    <p:sldId id="314" r:id="rId83"/>
    <p:sldId id="315" r:id="rId84"/>
    <p:sldId id="316" r:id="rId85"/>
    <p:sldId id="317"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141" d="100"/>
          <a:sy n="141" d="100"/>
        </p:scale>
        <p:origin x="130" y="662"/>
      </p:cViewPr>
      <p:guideLst/>
    </p:cSldViewPr>
  </p:slideViewPr>
  <p:notesTextViewPr>
    <p:cViewPr>
      <p:scale>
        <a:sx n="1" d="1"/>
        <a:sy n="1" d="1"/>
      </p:scale>
      <p:origin x="0" y="0"/>
    </p:cViewPr>
  </p:notesTextViewPr>
  <p:notesViewPr>
    <p:cSldViewPr snapToGrid="0">
      <p:cViewPr varScale="1">
        <p:scale>
          <a:sx n="89" d="100"/>
          <a:sy n="89" d="100"/>
        </p:scale>
        <p:origin x="361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C1FDA5-9958-C602-4F67-5EFF019292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D19749-87DC-30B6-958D-94346F3AC3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D37C52-1B83-4791-86D0-65CB60F8381B}" type="datetimeFigureOut">
              <a:rPr lang="en-GB" smtClean="0"/>
              <a:t>25/10/2026</a:t>
            </a:fld>
            <a:endParaRPr lang="en-GB"/>
          </a:p>
        </p:txBody>
      </p:sp>
      <p:sp>
        <p:nvSpPr>
          <p:cNvPr id="4" name="Footer Placeholder 3">
            <a:extLst>
              <a:ext uri="{FF2B5EF4-FFF2-40B4-BE49-F238E27FC236}">
                <a16:creationId xmlns:a16="http://schemas.microsoft.com/office/drawing/2014/main" id="{F0BDF9DD-2632-5533-26FC-CEF9A8BF55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F247CAB-6F72-44CA-6604-0B13D89D7F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5907BD-4CD6-49A4-B3D9-7167A37CD313}" type="slidenum">
              <a:rPr lang="en-GB" smtClean="0"/>
              <a:t>‹#›</a:t>
            </a:fld>
            <a:endParaRPr lang="en-GB"/>
          </a:p>
        </p:txBody>
      </p:sp>
    </p:spTree>
    <p:extLst>
      <p:ext uri="{BB962C8B-B14F-4D97-AF65-F5344CB8AC3E}">
        <p14:creationId xmlns:p14="http://schemas.microsoft.com/office/powerpoint/2010/main" val="3654916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8D6AF-FCD6-45FD-B429-E4792BD0FBA5}" type="datetimeFigureOut">
              <a:rPr lang="en-GB" smtClean="0"/>
              <a:t>25/10/2026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0F41E-4378-4A84-86D8-B3A80896FA19}" type="slidenum">
              <a:rPr lang="en-GB" smtClean="0"/>
              <a:t>‹#›</a:t>
            </a:fld>
            <a:endParaRPr lang="en-GB"/>
          </a:p>
        </p:txBody>
      </p:sp>
    </p:spTree>
    <p:extLst>
      <p:ext uri="{BB962C8B-B14F-4D97-AF65-F5344CB8AC3E}">
        <p14:creationId xmlns:p14="http://schemas.microsoft.com/office/powerpoint/2010/main" val="3613249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4CF9-C66E-C26F-1387-F7FCF74DD396}"/>
              </a:ext>
            </a:extLst>
          </p:cNvPr>
          <p:cNvSpPr>
            <a:spLocks noGrp="1"/>
          </p:cNvSpPr>
          <p:nvPr>
            <p:ph type="ctrTitle"/>
          </p:nvPr>
        </p:nvSpPr>
        <p:spPr>
          <a:xfrm>
            <a:off x="1524000" y="1122363"/>
            <a:ext cx="9144000" cy="2387600"/>
          </a:xfrm>
          <a:prstGeom prst="rect">
            <a:avLst/>
          </a:prstGeom>
        </p:spPr>
        <p:txBody>
          <a:bodyPr anchor="b"/>
          <a:lstStyle>
            <a:lvl1pPr algn="ctr">
              <a:defRPr sz="1200"/>
            </a:lvl1pPr>
          </a:lstStyle>
          <a:p>
            <a:r>
              <a:rPr lang="en-US"/>
              <a:t>Click to edit Master title style</a:t>
            </a:r>
            <a:endParaRPr lang="en-GB"/>
          </a:p>
        </p:txBody>
      </p:sp>
      <p:sp>
        <p:nvSpPr>
          <p:cNvPr id="3" name="Subtitle 2">
            <a:extLst>
              <a:ext uri="{FF2B5EF4-FFF2-40B4-BE49-F238E27FC236}">
                <a16:creationId xmlns:a16="http://schemas.microsoft.com/office/drawing/2014/main" id="{850832E4-02C3-32FE-A593-8FEF24277D12}"/>
              </a:ext>
            </a:extLst>
          </p:cNvPr>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11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2CE1DCF-9D30-842B-9025-4162BDEA1E06}"/>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D2E45F46-8E2C-A94A-53B8-F8C8445F88B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F21882-1377-2663-0ADF-A7F499014F7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9943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609C-2B88-5676-95D2-0ABB9402D7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A3247D-63BB-809D-CE90-D85D3ADE93BE}"/>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DBE30E-F4FB-1EFD-B054-9D2F56300CE0}"/>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44425830-7E0E-89CA-4B38-76B50FC58EC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D089804-6ED5-A03C-C6C6-7A8A9718592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26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F025-D430-CCE9-D318-3321558DC752}"/>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D1BF34-2F04-903D-B13B-78D2C28653A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8C02C-F1E1-EF63-3A4D-54BEE25CC2D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E7D26206-87A4-1756-5FB6-62A9FDB76CD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CD179F8-A76F-D396-091B-70911BE9341F}"/>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287350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4663-8B76-727A-ECC4-75A7DDFB1E5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7390CE-603F-D5E8-511C-B009942E682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6D757C-3A9A-4EFC-BBAA-3402801D8F63}"/>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D079206-889D-6C74-4D89-308F3E06F71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D3415124-CE70-9A75-278E-00E1DCA906B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D131D70A-A28F-3DE5-E75F-031FD821561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0531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2AA2-31F9-FB94-3022-7A3C1D72B7F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73408-411B-C1E6-044A-261A06DE374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47CCDD-08E8-4AED-872D-7AD7450979E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82C5AD4-1DD8-E08B-27E8-95A158D9758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993B9-0C52-DBBF-53AE-010B69760AD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A4ECC51-5C84-E45D-D297-A45338B37CDE}"/>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8" name="Footer Placeholder 7">
            <a:extLst>
              <a:ext uri="{FF2B5EF4-FFF2-40B4-BE49-F238E27FC236}">
                <a16:creationId xmlns:a16="http://schemas.microsoft.com/office/drawing/2014/main" id="{FD74B841-7A6F-72ED-7B57-2ABEC5D7F89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88C63F6-200A-C7D8-F229-5BC3CE228C54}"/>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616606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5C452-4506-1750-2B46-BD6C16272D1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E271A5-27C2-4700-4D8B-33A720ED3D0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4" name="Footer Placeholder 3">
            <a:extLst>
              <a:ext uri="{FF2B5EF4-FFF2-40B4-BE49-F238E27FC236}">
                <a16:creationId xmlns:a16="http://schemas.microsoft.com/office/drawing/2014/main" id="{8279E228-95BE-65C7-6CD3-6F84A49B57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433251F4-03E9-C2CA-1A0D-6D3E9BF3F64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576787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5FC7BE-B114-ED2A-C7B2-9885F94C870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3" name="Footer Placeholder 2">
            <a:extLst>
              <a:ext uri="{FF2B5EF4-FFF2-40B4-BE49-F238E27FC236}">
                <a16:creationId xmlns:a16="http://schemas.microsoft.com/office/drawing/2014/main" id="{38BEAE12-47C6-F608-6EFD-2F4E8258C4A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49BD9B82-16DE-B8C9-BDF7-0214009559C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185494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0683-7BB0-0908-2E29-65E6DF0DF0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16A72F-6588-7F18-755F-CADB24559DF7}"/>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9ABFFF-70EA-22D8-966E-01A44FD05B3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F1FED-46E0-1A60-F8AA-943307FA6C8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8244ED42-0A26-8A9C-5E9C-94BD8DE2A8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BF604D2-53EB-E818-1707-CFA9C0701006}"/>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88627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753B-75DB-1F7C-E51B-A939A65F8DE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6FE9DC5-CD52-732C-6D1E-6206DCDE4EE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987047-6F2A-F1AD-154A-39CB36973B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FA988-A24F-452D-1D16-887B80C6DA93}"/>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6" name="Footer Placeholder 5">
            <a:extLst>
              <a:ext uri="{FF2B5EF4-FFF2-40B4-BE49-F238E27FC236}">
                <a16:creationId xmlns:a16="http://schemas.microsoft.com/office/drawing/2014/main" id="{23DA80CE-D1D3-EDC6-733E-06507F703F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DC082C6-F1F5-73D3-CC06-88FB8BB8A4E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96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82AB-C1B1-9A69-2736-05E6461CC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E514E-937B-501A-6451-98E111E0B83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1AA298-55ED-898F-FA99-A02B422E2ACA}"/>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FD45F39B-E0AD-4A5F-0093-E12AA6C16CC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CF35F2E-B96E-1E7D-B901-FE6433FA723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29108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F6551-FBF0-41E2-CD3D-C4176CDA89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246388F-1482-A1B4-4215-E614B5821925}"/>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61A664-6329-E738-13BF-C5133CE0EE3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25/10/2026</a:t>
            </a:fld>
            <a:endParaRPr lang="en-GB"/>
          </a:p>
        </p:txBody>
      </p:sp>
      <p:sp>
        <p:nvSpPr>
          <p:cNvPr id="5" name="Footer Placeholder 4">
            <a:extLst>
              <a:ext uri="{FF2B5EF4-FFF2-40B4-BE49-F238E27FC236}">
                <a16:creationId xmlns:a16="http://schemas.microsoft.com/office/drawing/2014/main" id="{DD8F81C1-87C1-203D-931E-5AA2378F0E8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D860B893-28E1-0281-6958-26C4BBB9E7D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506584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822DCA-5A70-1303-0F1A-D996E48E08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931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4832536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#1</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#1</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yizem</a:t>
                      </a:r>
                      <a:endParaRPr lang="fr-FR" sz="1100" kern="1200" dirty="0">
                        <a:solidFill>
                          <a:schemeClr val="tx1"/>
                        </a:solidFill>
                        <a:effectLst/>
                        <a:latin typeface="+mn-lt"/>
                        <a:ea typeface="+mn-ea"/>
                        <a:cs typeface="+mn-cs"/>
                      </a:endParaRP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en-US" sz="1100" kern="150" dirty="0">
                          <a:effectLst/>
                          <a:latin typeface="Cascadia Mono" panose="020B0609020000020004" pitchFamily="49" charset="0"/>
                          <a:cs typeface="Cascadia Mono" panose="020B0609020000020004" pitchFamily="49" charset="0"/>
                        </a:rPr>
                        <a:t>The Tale of the Wolf and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14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1451679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endParaRPr lang="en-GB" sz="9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l"/>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timucuha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wedrar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Ǧeṛǧeṛ</a:t>
                      </a:r>
                      <a:r>
                        <a:rPr lang="fr-FR" sz="1100" kern="1200" dirty="0">
                          <a:solidFill>
                            <a:schemeClr val="tx1"/>
                          </a:solidFill>
                          <a:effectLst/>
                          <a:latin typeface="+mn-lt"/>
                          <a:ea typeface="+mn-ea"/>
                          <a:cs typeface="+mn-cs"/>
                        </a:rPr>
                        <a:t>, adrar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lḥeṛma</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tagar</a:t>
                      </a:r>
                      <a:endParaRPr lang="fr-FR" sz="1100" i="1" kern="1200" dirty="0">
                        <a:solidFill>
                          <a:schemeClr val="tx1"/>
                        </a:solidFill>
                        <a:effectLst/>
                        <a:latin typeface="+mn-lt"/>
                        <a:ea typeface="+mn-ea"/>
                        <a:cs typeface="+mn-cs"/>
                      </a:endParaRPr>
                    </a:p>
                    <a:p>
                      <a:pPr indent="457200" algn="l"/>
                      <a:r>
                        <a:rPr lang="fr-FR" sz="1100" i="1" kern="1200" dirty="0">
                          <a:solidFill>
                            <a:schemeClr val="tx1"/>
                          </a:solidFill>
                          <a:effectLst/>
                          <a:latin typeface="+mn-lt"/>
                          <a:ea typeface="+mn-ea"/>
                          <a:cs typeface="+mn-cs"/>
                        </a:rPr>
                        <a:t>Yali s adrar,</a:t>
                      </a:r>
                    </a:p>
                    <a:p>
                      <a:pPr indent="457200" algn="l"/>
                      <a:r>
                        <a:rPr lang="fr-FR" sz="1100" i="1" kern="1200" dirty="0" err="1">
                          <a:solidFill>
                            <a:schemeClr val="tx1"/>
                          </a:solidFill>
                          <a:effectLst/>
                          <a:latin typeface="+mn-lt"/>
                          <a:ea typeface="+mn-ea"/>
                          <a:cs typeface="+mn-cs"/>
                        </a:rPr>
                        <a:t>Yečč</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abelluḍ</a:t>
                      </a:r>
                      <a:r>
                        <a:rPr lang="fr-FR" sz="1100" i="1" kern="1200" dirty="0">
                          <a:solidFill>
                            <a:schemeClr val="tx1"/>
                          </a:solidFill>
                          <a:effectLst/>
                          <a:latin typeface="+mn-lt"/>
                          <a:ea typeface="+mn-ea"/>
                          <a:cs typeface="+mn-cs"/>
                        </a:rPr>
                        <a:t> bu </a:t>
                      </a:r>
                      <a:r>
                        <a:rPr lang="fr-FR" sz="1100" i="1" kern="1200" dirty="0" err="1">
                          <a:solidFill>
                            <a:schemeClr val="tx1"/>
                          </a:solidFill>
                          <a:effectLst/>
                          <a:latin typeface="+mn-lt"/>
                          <a:ea typeface="+mn-ea"/>
                          <a:cs typeface="+mn-cs"/>
                        </a:rPr>
                        <a:t>tcacit</a:t>
                      </a:r>
                      <a:r>
                        <a:rPr lang="fr-FR" sz="1100" i="1" kern="1200" dirty="0">
                          <a:solidFill>
                            <a:schemeClr val="tx1"/>
                          </a:solidFill>
                          <a:effectLst/>
                          <a:latin typeface="+mn-lt"/>
                          <a:ea typeface="+mn-ea"/>
                          <a:cs typeface="+mn-cs"/>
                        </a:rPr>
                        <a:t>;</a:t>
                      </a: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irden</a:t>
                      </a:r>
                      <a:r>
                        <a:rPr lang="fr-FR" sz="1100" i="1" kern="1200" dirty="0">
                          <a:solidFill>
                            <a:schemeClr val="tx1"/>
                          </a:solidFill>
                          <a:effectLst/>
                          <a:latin typeface="+mn-lt"/>
                          <a:ea typeface="+mn-ea"/>
                          <a:cs typeface="+mn-cs"/>
                        </a:rPr>
                        <a:t> n </a:t>
                      </a:r>
                      <a:r>
                        <a:rPr lang="fr-FR" sz="1100" i="1" kern="1200" dirty="0" err="1">
                          <a:solidFill>
                            <a:schemeClr val="tx1"/>
                          </a:solidFill>
                          <a:effectLst/>
                          <a:latin typeface="+mn-lt"/>
                          <a:ea typeface="+mn-ea"/>
                          <a:cs typeface="+mn-cs"/>
                        </a:rPr>
                        <a:t>tfazit</a:t>
                      </a:r>
                      <a:endParaRPr lang="fr-FR" sz="1100" i="1"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Iṣubb</a:t>
                      </a:r>
                      <a:r>
                        <a:rPr lang="fr-FR" sz="1100" i="1" kern="1200" dirty="0">
                          <a:solidFill>
                            <a:schemeClr val="tx1"/>
                          </a:solidFill>
                          <a:effectLst/>
                          <a:latin typeface="+mn-lt"/>
                          <a:ea typeface="+mn-ea"/>
                          <a:cs typeface="+mn-cs"/>
                        </a:rPr>
                        <a:t> s </a:t>
                      </a:r>
                      <a:r>
                        <a:rPr lang="fr-FR" sz="1100" i="1" kern="1200" dirty="0" err="1">
                          <a:solidFill>
                            <a:schemeClr val="tx1"/>
                          </a:solidFill>
                          <a:effectLst/>
                          <a:latin typeface="+mn-lt"/>
                          <a:ea typeface="+mn-ea"/>
                          <a:cs typeface="+mn-cs"/>
                        </a:rPr>
                        <a:t>azaɣar</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Ad </a:t>
                      </a:r>
                      <a:r>
                        <a:rPr lang="fr-FR" sz="1100" i="1" kern="1200" dirty="0" err="1">
                          <a:solidFill>
                            <a:schemeClr val="tx1"/>
                          </a:solidFill>
                          <a:effectLst/>
                          <a:latin typeface="+mn-lt"/>
                          <a:ea typeface="+mn-ea"/>
                          <a:cs typeface="+mn-cs"/>
                        </a:rPr>
                        <a:t>yeɣleb</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agdi</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temrit</a:t>
                      </a:r>
                      <a:r>
                        <a:rPr lang="fr-FR" sz="1100" i="1"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kern="1200" dirty="0">
                          <a:solidFill>
                            <a:schemeClr val="tx1"/>
                          </a:solidFill>
                          <a:effectLst/>
                          <a:latin typeface="+mn-lt"/>
                          <a:ea typeface="+mn-ea"/>
                          <a:cs typeface="+mn-cs"/>
                        </a:rPr>
                        <a:t>Yura-</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ccix </a:t>
                      </a:r>
                      <a:r>
                        <a:rPr lang="fr-FR" sz="1100" kern="1200" dirty="0" err="1">
                          <a:solidFill>
                            <a:schemeClr val="tx1"/>
                          </a:solidFill>
                          <a:effectLst/>
                          <a:latin typeface="+mn-lt"/>
                          <a:ea typeface="+mn-ea"/>
                          <a:cs typeface="+mn-cs"/>
                        </a:rPr>
                        <a:t>Yebṛahim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Asedqaw</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ttnaṣfa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lqern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ṛbeɛṭac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yessifes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di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 Amin!</a:t>
                      </a: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b="0" u="none" strike="noStrike" kern="1200">
                          <a:solidFill>
                            <a:schemeClr val="tx1"/>
                          </a:solidFill>
                          <a:effectLst/>
                          <a:latin typeface="+mj-lt"/>
                          <a:ea typeface="+mn-ea"/>
                          <a:cs typeface="+mn-cs"/>
                        </a:rPr>
                        <a:t>These </a:t>
                      </a:r>
                      <a:r>
                        <a:rPr lang="en-US" sz="1100" b="0" u="none" strike="noStrike" kern="1200" dirty="0">
                          <a:solidFill>
                            <a:schemeClr val="tx1"/>
                          </a:solidFill>
                          <a:effectLst/>
                          <a:latin typeface="+mj-lt"/>
                          <a:ea typeface="+mn-ea"/>
                          <a:cs typeface="+mn-cs"/>
                        </a:rPr>
                        <a:t>are the tales of the mountain of </a:t>
                      </a:r>
                      <a:r>
                        <a:rPr lang="en-US" sz="1100" b="0" u="none" strike="noStrike" kern="1200" dirty="0" err="1">
                          <a:solidFill>
                            <a:schemeClr val="tx1"/>
                          </a:solidFill>
                          <a:effectLst/>
                          <a:latin typeface="+mj-lt"/>
                          <a:ea typeface="+mn-ea"/>
                          <a:cs typeface="+mn-cs"/>
                        </a:rPr>
                        <a:t>Djurdjura</a:t>
                      </a:r>
                      <a:r>
                        <a:rPr lang="en-US" sz="1100" b="0" u="none" strike="noStrike" kern="1200" dirty="0">
                          <a:solidFill>
                            <a:schemeClr val="tx1"/>
                          </a:solidFill>
                          <a:effectLst/>
                          <a:latin typeface="+mj-lt"/>
                          <a:ea typeface="+mn-ea"/>
                          <a:cs typeface="+mn-cs"/>
                        </a:rPr>
                        <a:t>, the black mountain, the mountain of honor, the mountain of hardship; as the ancient one used to say:</a:t>
                      </a:r>
                    </a:p>
                    <a:p>
                      <a:pPr indent="216000" algn="l"/>
                      <a:endParaRPr lang="en-US" sz="1100" b="0" u="none" strike="noStrike" kern="1200" dirty="0">
                        <a:solidFill>
                          <a:schemeClr val="tx1"/>
                        </a:solidFill>
                        <a:effectLst/>
                        <a:latin typeface="+mj-lt"/>
                        <a:ea typeface="+mn-ea"/>
                        <a:cs typeface="+mn-cs"/>
                      </a:endParaRPr>
                    </a:p>
                    <a:p>
                      <a:pPr indent="216000" algn="l"/>
                      <a:r>
                        <a:rPr lang="en-US" sz="1100" b="0" i="1" u="none" strike="noStrike" kern="1200" dirty="0">
                          <a:solidFill>
                            <a:schemeClr val="tx1"/>
                          </a:solidFill>
                          <a:effectLst/>
                          <a:latin typeface="+mj-lt"/>
                          <a:ea typeface="+mn-ea"/>
                          <a:cs typeface="+mn-cs"/>
                        </a:rPr>
                        <a:t>Whosoever desires that honor should prevail</a:t>
                      </a:r>
                    </a:p>
                    <a:p>
                      <a:pPr indent="216000" algn="l"/>
                      <a:r>
                        <a:rPr lang="en-US" sz="1100" b="0" i="1" u="none" strike="noStrike" kern="1200" dirty="0">
                          <a:solidFill>
                            <a:schemeClr val="tx1"/>
                          </a:solidFill>
                          <a:effectLst/>
                          <a:latin typeface="+mj-lt"/>
                          <a:ea typeface="+mn-ea"/>
                          <a:cs typeface="+mn-cs"/>
                        </a:rPr>
                        <a:t>Let him ascend the mountain,</a:t>
                      </a:r>
                    </a:p>
                    <a:p>
                      <a:pPr indent="216000" algn="l"/>
                      <a:r>
                        <a:rPr lang="en-US" sz="1100" b="0" i="1" u="none" strike="noStrike" kern="1200" dirty="0">
                          <a:solidFill>
                            <a:schemeClr val="tx1"/>
                          </a:solidFill>
                          <a:effectLst/>
                          <a:latin typeface="+mj-lt"/>
                          <a:ea typeface="+mn-ea"/>
                          <a:cs typeface="+mn-cs"/>
                        </a:rPr>
                        <a:t>And feed upon the capped acorn;</a:t>
                      </a:r>
                    </a:p>
                    <a:p>
                      <a:pPr indent="216000" algn="l"/>
                      <a:r>
                        <a:rPr lang="en-US" sz="1100" b="0" i="1" u="none" strike="noStrike" kern="1200" dirty="0">
                          <a:solidFill>
                            <a:schemeClr val="tx1"/>
                          </a:solidFill>
                          <a:effectLst/>
                          <a:latin typeface="+mj-lt"/>
                          <a:ea typeface="+mn-ea"/>
                          <a:cs typeface="+mn-cs"/>
                        </a:rPr>
                        <a:t>Whosoever desires the pure wheat</a:t>
                      </a:r>
                    </a:p>
                    <a:p>
                      <a:pPr indent="216000" algn="l"/>
                      <a:r>
                        <a:rPr lang="en-US" sz="1100" b="0" i="1" u="none" strike="noStrike" kern="1200" dirty="0">
                          <a:solidFill>
                            <a:schemeClr val="tx1"/>
                          </a:solidFill>
                          <a:effectLst/>
                          <a:latin typeface="+mj-lt"/>
                          <a:ea typeface="+mn-ea"/>
                          <a:cs typeface="+mn-cs"/>
                        </a:rPr>
                        <a:t>Let him descend into the plain:</a:t>
                      </a:r>
                    </a:p>
                    <a:p>
                      <a:pPr indent="216000" algn="l"/>
                      <a:r>
                        <a:rPr lang="en-US" sz="1100" b="0" i="1" u="none" strike="noStrike" kern="1200" dirty="0">
                          <a:solidFill>
                            <a:schemeClr val="tx1"/>
                          </a:solidFill>
                          <a:effectLst/>
                          <a:latin typeface="+mj-lt"/>
                          <a:ea typeface="+mn-ea"/>
                          <a:cs typeface="+mn-cs"/>
                        </a:rPr>
                        <a:t>He shall be more abused than a hound!</a:t>
                      </a:r>
                    </a:p>
                    <a:p>
                      <a:pPr indent="216000" algn="l"/>
                      <a:endParaRPr lang="en-US" sz="1100" b="0" u="none" strike="noStrike" kern="1200" dirty="0">
                        <a:solidFill>
                          <a:schemeClr val="tx1"/>
                        </a:solidFill>
                        <a:effectLst/>
                        <a:latin typeface="+mj-lt"/>
                        <a:ea typeface="+mn-ea"/>
                        <a:cs typeface="+mn-cs"/>
                      </a:endParaRPr>
                    </a:p>
                    <a:p>
                      <a:pPr indent="216000" algn="l"/>
                      <a:r>
                        <a:rPr lang="en-US" sz="1100" b="0" u="none" strike="noStrike" kern="1200" dirty="0">
                          <a:solidFill>
                            <a:schemeClr val="tx1"/>
                          </a:solidFill>
                          <a:effectLst/>
                          <a:latin typeface="+mj-lt"/>
                          <a:ea typeface="+mn-ea"/>
                          <a:cs typeface="+mn-cs"/>
                        </a:rPr>
                        <a:t>Written by Sheikh Ibrahim of the </a:t>
                      </a:r>
                      <a:r>
                        <a:rPr lang="en-US" sz="1100" b="0" u="none" strike="noStrike" kern="1200" dirty="0" err="1">
                          <a:solidFill>
                            <a:schemeClr val="tx1"/>
                          </a:solidFill>
                          <a:effectLst/>
                          <a:latin typeface="+mj-lt"/>
                          <a:ea typeface="+mn-ea"/>
                          <a:cs typeface="+mn-cs"/>
                        </a:rPr>
                        <a:t>Ait</a:t>
                      </a:r>
                      <a:r>
                        <a:rPr lang="en-US" sz="1100" b="0" u="none" strike="noStrike" kern="1200" dirty="0">
                          <a:solidFill>
                            <a:schemeClr val="tx1"/>
                          </a:solidFill>
                          <a:effectLst/>
                          <a:latin typeface="+mj-lt"/>
                          <a:ea typeface="+mn-ea"/>
                          <a:cs typeface="+mn-cs"/>
                        </a:rPr>
                        <a:t> </a:t>
                      </a:r>
                      <a:r>
                        <a:rPr lang="en-US" sz="1100" b="0" u="none" strike="noStrike" kern="1200" dirty="0" err="1">
                          <a:solidFill>
                            <a:schemeClr val="tx1"/>
                          </a:solidFill>
                          <a:effectLst/>
                          <a:latin typeface="+mj-lt"/>
                          <a:ea typeface="+mn-ea"/>
                          <a:cs typeface="+mn-cs"/>
                        </a:rPr>
                        <a:t>Sedqa</a:t>
                      </a:r>
                      <a:r>
                        <a:rPr lang="en-US" sz="1100" b="0" u="none" strike="noStrike" kern="1200" dirty="0">
                          <a:solidFill>
                            <a:schemeClr val="tx1"/>
                          </a:solidFill>
                          <a:effectLst/>
                          <a:latin typeface="+mj-lt"/>
                          <a:ea typeface="+mn-ea"/>
                          <a:cs typeface="+mn-cs"/>
                        </a:rPr>
                        <a:t> towards the middle of the fourteenth century, may God lighten his burdens in this world, and grant him forgiveness in the afterlife! Amen!</a:t>
                      </a:r>
                      <a:endParaRPr lang="fr-FR" sz="1100" kern="150" dirty="0">
                        <a:solidFill>
                          <a:schemeClr val="tx1"/>
                        </a:solidFill>
                        <a:effectLst/>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8472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8722782"/>
              </p:ext>
            </p:extLst>
          </p:nvPr>
        </p:nvGraphicFramePr>
        <p:xfrm>
          <a:off x="296561" y="148281"/>
          <a:ext cx="11631828" cy="6359898"/>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0">
                <a:tc>
                  <a:txBody>
                    <a:bodyPr/>
                    <a:lstStyle/>
                    <a:p>
                      <a:r>
                        <a:rPr lang="en-GB" sz="900" dirty="0">
                          <a:latin typeface="Cascadia Mono" panose="020B0609020000020004" pitchFamily="49" charset="0"/>
                          <a:cs typeface="Cascadia Mono" panose="020B0609020000020004" pitchFamily="49" charset="0"/>
                        </a:rPr>
                        <a:t>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a:t>
                      </a:r>
                    </a:p>
                  </a:txBody>
                  <a:tcPr/>
                </a:tc>
                <a:extLst>
                  <a:ext uri="{0D108BD9-81ED-4DB2-BD59-A6C34878D82A}">
                    <a16:rowId xmlns:a16="http://schemas.microsoft.com/office/drawing/2014/main" val="124878720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Leǧmeɛ n lewḥuc</a:t>
                      </a:r>
                      <a:endParaRPr lang="en-GB" sz="1200" kern="150">
                        <a:effectLst/>
                        <a:latin typeface="Cascadia Mono" panose="020B0609020000020004" pitchFamily="49" charset="0"/>
                        <a:ea typeface="NSimSun" panose="02010609030101010101" pitchFamily="49" charset="-122"/>
                        <a:cs typeface="Cascadia Mono" panose="020B0609020000020004" pitchFamily="49" charset="0"/>
                      </a:endParaRPr>
                    </a:p>
                    <a:p>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Assembly of the Animals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445498">
                <a:tc>
                  <a:txBody>
                    <a:bodyPr/>
                    <a:lstStyle/>
                    <a:p>
                      <a:pPr indent="215900" algn="l"/>
                      <a:r>
                        <a:rPr lang="fr-FR" sz="1100" kern="150" dirty="0">
                          <a:effectLst/>
                          <a:latin typeface="Cascadia Mono" panose="020B0609020000020004" pitchFamily="49" charset="0"/>
                          <a:cs typeface="Cascadia Mono" panose="020B0609020000020004" pitchFamily="49" charset="0"/>
                        </a:rPr>
                        <a:t>Di </a:t>
                      </a:r>
                      <a:r>
                        <a:rPr lang="fr-FR" sz="1100" kern="150" dirty="0" err="1">
                          <a:effectLst/>
                          <a:latin typeface="Cascadia Mono" panose="020B0609020000020004" pitchFamily="49" charset="0"/>
                          <a:cs typeface="Cascadia Mono" panose="020B0609020000020004" pitchFamily="49" charset="0"/>
                        </a:rPr>
                        <a:t>zzman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amezwaru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nnejmɛen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myeɛhaden</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myuččen</a:t>
                      </a:r>
                      <a:r>
                        <a:rPr lang="fr-FR" sz="1100" kern="150" dirty="0">
                          <a:effectLst/>
                          <a:latin typeface="Cascadia Mono" panose="020B0609020000020004" pitchFamily="49" charset="0"/>
                          <a:cs typeface="Cascadia Mono" panose="020B0609020000020004" pitchFamily="49" charset="0"/>
                        </a:rPr>
                        <a:t>, ad hennin di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Semman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fell-asen</a:t>
                      </a:r>
                      <a:r>
                        <a:rPr lang="fr-FR" sz="1100" kern="150" dirty="0">
                          <a:effectLst/>
                          <a:latin typeface="Cascadia Mono" panose="020B0609020000020004" pitchFamily="49" charset="0"/>
                          <a:cs typeface="Cascadia Mono" panose="020B0609020000020004" pitchFamily="49" charset="0"/>
                        </a:rPr>
                        <a:t> (ay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ɣas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rṣan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tilas</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inagan</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a:effectLst/>
                          <a:latin typeface="Cascadia Mono" panose="020B0609020000020004" pitchFamily="49" charset="0"/>
                          <a:cs typeface="Cascadia Mono" panose="020B0609020000020004" pitchFamily="49" charset="0"/>
                        </a:rPr>
                        <a:t>Izem </a:t>
                      </a:r>
                      <a:r>
                        <a:rPr lang="fr-FR" sz="1100" kern="150" dirty="0" err="1">
                          <a:effectLst/>
                          <a:latin typeface="Cascadia Mono" panose="020B0609020000020004" pitchFamily="49" charset="0"/>
                          <a:cs typeface="Cascadia Mono" panose="020B0609020000020004" pitchFamily="49" charset="0"/>
                        </a:rPr>
                        <a:t>yezdeɣ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teẓgi</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tameqqrant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netta</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yilef</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tewtult</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weɣyul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tyaziṭ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lxeddam-is</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wakken</a:t>
                      </a:r>
                      <a:r>
                        <a:rPr lang="fr-FR" sz="1100" kern="150" dirty="0">
                          <a:effectLst/>
                          <a:latin typeface="Cascadia Mono" panose="020B0609020000020004" pitchFamily="49" charset="0"/>
                          <a:cs typeface="Cascadia Mono" panose="020B0609020000020004" pitchFamily="49" charset="0"/>
                        </a:rPr>
                        <a:t> d-</a:t>
                      </a:r>
                      <a:r>
                        <a:rPr lang="fr-FR" sz="1100" kern="150" dirty="0" err="1">
                          <a:effectLst/>
                          <a:latin typeface="Cascadia Mono" panose="020B0609020000020004" pitchFamily="49" charset="0"/>
                          <a:cs typeface="Cascadia Mono" panose="020B0609020000020004" pitchFamily="49" charset="0"/>
                        </a:rPr>
                        <a:t>ssawalen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tamacahut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Mkul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axeddim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iqeṭṭu-yas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ṣṣalḥa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ilef</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yeggan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t>
                      </a:r>
                      <a:r>
                        <a:rPr lang="fr-FR" sz="1100" kern="150" dirty="0">
                          <a:effectLst/>
                          <a:latin typeface="Cascadia Mono" panose="020B0609020000020004" pitchFamily="49" charset="0"/>
                          <a:cs typeface="Cascadia Mono" panose="020B0609020000020004" pitchFamily="49" charset="0"/>
                        </a:rPr>
                        <a:t>-as;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yeddal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yiss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tawtult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yessummut-itt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abareɣ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agem</a:t>
                      </a:r>
                      <a:r>
                        <a:rPr lang="fr-FR" sz="1100" kern="150" dirty="0">
                          <a:effectLst/>
                          <a:latin typeface="Cascadia Mono" panose="020B0609020000020004" pitchFamily="49" charset="0"/>
                          <a:cs typeface="Cascadia Mono" panose="020B0609020000020004" pitchFamily="49" charset="0"/>
                        </a:rPr>
                        <a:t>-as-d aman; </a:t>
                      </a:r>
                      <a:r>
                        <a:rPr lang="fr-FR" sz="1100" kern="150" dirty="0" err="1">
                          <a:effectLst/>
                          <a:latin typeface="Cascadia Mono" panose="020B0609020000020004" pitchFamily="49" charset="0"/>
                          <a:cs typeface="Cascadia Mono" panose="020B0609020000020004" pitchFamily="49" charset="0"/>
                        </a:rPr>
                        <a:t>aɣyul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izeddem</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isɣaren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tayaziṭ</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arew</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timellalin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ak</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ayefki</a:t>
                      </a:r>
                      <a:r>
                        <a:rPr lang="fr-FR" sz="1100" kern="150" dirty="0">
                          <a:effectLst/>
                          <a:latin typeface="Cascadia Mono" panose="020B0609020000020004" pitchFamily="49" charset="0"/>
                          <a:cs typeface="Cascadia Mono" panose="020B0609020000020004" pitchFamily="49" charset="0"/>
                        </a:rPr>
                        <a:t>. </a:t>
                      </a:r>
                      <a:endParaRPr lang="en-GB" sz="1100" kern="150" dirty="0">
                        <a:effectLst/>
                        <a:latin typeface="Cascadia Mono" panose="020B0609020000020004" pitchFamily="49" charset="0"/>
                        <a:cs typeface="Cascadia Mono" panose="020B0609020000020004" pitchFamily="49" charset="0"/>
                      </a:endParaRPr>
                    </a:p>
                    <a:p>
                      <a:pPr indent="215900" algn="l"/>
                      <a:r>
                        <a:rPr lang="en-US" sz="1100" dirty="0"/>
                        <a:t>¶ </a:t>
                      </a:r>
                      <a:r>
                        <a:rPr lang="fr-FR" sz="1100" kern="150" dirty="0">
                          <a:effectLst/>
                          <a:latin typeface="Cascadia Mono" panose="020B0609020000020004" pitchFamily="49" charset="0"/>
                          <a:cs typeface="Cascadia Mono" panose="020B0609020000020004" pitchFamily="49" charset="0"/>
                        </a:rPr>
                        <a:t>Hennan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teksa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taɣaṭ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Feṛḥen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aɛlaxaṭer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lehna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yeḍmen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leɣna</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err="1">
                          <a:effectLst/>
                          <a:latin typeface="Cascadia Mono" panose="020B0609020000020004" pitchFamily="49" charset="0"/>
                          <a:cs typeface="Cascadia Mono" panose="020B0609020000020004" pitchFamily="49" charset="0"/>
                        </a:rPr>
                        <a:t>Lḥaṣul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ṣeggmen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lukan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asen</a:t>
                      </a:r>
                      <a:r>
                        <a:rPr lang="fr-FR" sz="1100" kern="150" dirty="0">
                          <a:effectLst/>
                          <a:latin typeface="Cascadia Mono" panose="020B0609020000020004" pitchFamily="49" charset="0"/>
                          <a:cs typeface="Cascadia Mono" panose="020B0609020000020004" pitchFamily="49" charset="0"/>
                        </a:rPr>
                        <a:t>-tt-</a:t>
                      </a:r>
                      <a:r>
                        <a:rPr lang="fr-FR" sz="1100" kern="150" dirty="0" err="1">
                          <a:effectLst/>
                          <a:latin typeface="Cascadia Mono" panose="020B0609020000020004" pitchFamily="49" charset="0"/>
                          <a:cs typeface="Cascadia Mono" panose="020B0609020000020004" pitchFamily="49" charset="0"/>
                        </a:rPr>
                        <a:t>yessexṣer</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yerra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amṛayi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yefṛiḥ</a:t>
                      </a:r>
                      <a:r>
                        <a:rPr lang="fr-FR" sz="1100" kern="150" dirty="0">
                          <a:effectLst/>
                          <a:latin typeface="Cascadia Mono" panose="020B0609020000020004" pitchFamily="49" charset="0"/>
                          <a:cs typeface="Cascadia Mono" panose="020B0609020000020004" pitchFamily="49" charset="0"/>
                        </a:rPr>
                        <a:t> ara s </a:t>
                      </a:r>
                      <a:r>
                        <a:rPr lang="fr-FR" sz="1100" kern="150" dirty="0" err="1">
                          <a:effectLst/>
                          <a:latin typeface="Cascadia Mono" panose="020B0609020000020004" pitchFamily="49" charset="0"/>
                          <a:cs typeface="Cascadia Mono" panose="020B0609020000020004" pitchFamily="49" charset="0"/>
                        </a:rPr>
                        <a:t>uṣeggem</a:t>
                      </a:r>
                      <a:r>
                        <a:rPr lang="fr-FR" sz="1100" kern="150" dirty="0">
                          <a:effectLst/>
                          <a:latin typeface="Cascadia Mono" panose="020B0609020000020004" pitchFamily="49" charset="0"/>
                          <a:cs typeface="Cascadia Mono" panose="020B0609020000020004" pitchFamily="49" charset="0"/>
                        </a:rPr>
                        <a:t> agi n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yuɣ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tannumi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yekkat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timeɣriwin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yendem</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liḥala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taqdimt</a:t>
                      </a:r>
                      <a:r>
                        <a:rPr lang="fr-FR" sz="1100" kern="150" dirty="0">
                          <a:effectLst/>
                          <a:latin typeface="Cascadia Mono" panose="020B0609020000020004" pitchFamily="49" charset="0"/>
                          <a:cs typeface="Cascadia Mono" panose="020B0609020000020004" pitchFamily="49" charset="0"/>
                        </a:rPr>
                        <a:t>: mi d-</a:t>
                      </a:r>
                      <a:r>
                        <a:rPr lang="fr-FR" sz="1100" kern="150" dirty="0" err="1">
                          <a:effectLst/>
                          <a:latin typeface="Cascadia Mono" panose="020B0609020000020004" pitchFamily="49" charset="0"/>
                          <a:cs typeface="Cascadia Mono" panose="020B0609020000020004" pitchFamily="49" charset="0"/>
                        </a:rPr>
                        <a:t>yesmekti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aksum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azegzaw</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idammen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yeḥman</a:t>
                      </a:r>
                      <a:r>
                        <a:rPr lang="fr-FR" sz="1100" kern="150" dirty="0">
                          <a:effectLst/>
                          <a:latin typeface="Cascadia Mono" panose="020B0609020000020004" pitchFamily="49" charset="0"/>
                          <a:cs typeface="Cascadia Mono" panose="020B0609020000020004" pitchFamily="49" charset="0"/>
                        </a:rPr>
                        <a:t>, ad as-</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tisselbi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ḥeṛmen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acu</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yili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w’ixedmen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yeɛṣu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Accaren</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qeḍɛen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lḥekm-is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nniḍen</a:t>
                      </a:r>
                      <a:r>
                        <a:rPr lang="fr-FR" sz="1100" kern="150" dirty="0">
                          <a:effectLst/>
                          <a:latin typeface="Cascadia Mono" panose="020B0609020000020004" pitchFamily="49" charset="0"/>
                          <a:cs typeface="Cascadia Mono" panose="020B0609020000020004" pitchFamily="49" charset="0"/>
                        </a:rPr>
                        <a:t>. Ihi, </a:t>
                      </a:r>
                      <a:r>
                        <a:rPr lang="fr-FR" sz="1100" kern="150" dirty="0" err="1">
                          <a:effectLst/>
                          <a:latin typeface="Cascadia Mono" panose="020B0609020000020004" pitchFamily="49" charset="0"/>
                          <a:cs typeface="Cascadia Mono" panose="020B0609020000020004" pitchFamily="49" charset="0"/>
                        </a:rPr>
                        <a:t>ijebd</a:t>
                      </a:r>
                      <a:r>
                        <a:rPr lang="fr-FR" sz="1100" kern="150" dirty="0">
                          <a:effectLst/>
                          <a:latin typeface="Cascadia Mono" panose="020B0609020000020004" pitchFamily="49" charset="0"/>
                          <a:cs typeface="Cascadia Mono" panose="020B0609020000020004" pitchFamily="49" charset="0"/>
                        </a:rPr>
                        <a:t>-d </a:t>
                      </a:r>
                      <a:r>
                        <a:rPr lang="fr-FR" sz="1100" kern="150" dirty="0" err="1">
                          <a:effectLst/>
                          <a:latin typeface="Cascadia Mono" panose="020B0609020000020004" pitchFamily="49" charset="0"/>
                          <a:cs typeface="Cascadia Mono" panose="020B0609020000020004" pitchFamily="49" charset="0"/>
                        </a:rPr>
                        <a:t>taḥṛaymit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yessefra</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yessefreɣ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lxeddam</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tuffra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imciṭni</a:t>
                      </a:r>
                      <a:r>
                        <a:rPr lang="fr-FR" sz="1100" kern="150" dirty="0">
                          <a:effectLst/>
                          <a:latin typeface="Cascadia Mono" panose="020B0609020000020004" pitchFamily="49" charset="0"/>
                          <a:cs typeface="Cascadia Mono" panose="020B0609020000020004" pitchFamily="49" charset="0"/>
                        </a:rPr>
                        <a:t>.</a:t>
                      </a:r>
                      <a:endParaRPr lang="en-GB" sz="1100" kern="150" dirty="0">
                        <a:effectLst/>
                        <a:latin typeface="Cascadia Mono" panose="020B0609020000020004" pitchFamily="49" charset="0"/>
                        <a:ea typeface="NSimSun" panose="02010609030101010101" pitchFamily="49" charset="-122"/>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In ancient times, the animals gathered together, all of them, and swore by God not to devour one another, so that they could live in peace in the world. They appointed the lion as king over them (though God is the only true King!), and they established borders and covenants.</a:t>
                      </a:r>
                    </a:p>
                    <a:p>
                      <a:pPr indent="216000" algn="l"/>
                      <a:r>
                        <a:rPr lang="en-US" sz="1100" kern="150" dirty="0">
                          <a:effectLst/>
                          <a:latin typeface="Cascadia Mono" panose="020B0609020000020004" pitchFamily="49" charset="0"/>
                          <a:cs typeface="Cascadia Mono" panose="020B0609020000020004" pitchFamily="49" charset="0"/>
                        </a:rPr>
                        <a:t>¶ The lion lived in a vast forest, and the wolf, the boar, the hare, the donkey, the hen, and the cow were his servants, according to how the story is told. To each servant, he assigned a specific task: the boar, he slept upon him; the wolf, he covered himself with him; the hare, he used her as a pillow; the fox fetched water for him; the donkey gathered firewood for him; the hen laid eggs for him; and the cow gave him milk.</a:t>
                      </a:r>
                    </a:p>
                    <a:p>
                      <a:pPr indent="216000" algn="l"/>
                      <a:r>
                        <a:rPr lang="en-US" sz="1100" kern="150" dirty="0">
                          <a:effectLst/>
                          <a:latin typeface="Cascadia Mono" panose="020B0609020000020004" pitchFamily="49" charset="0"/>
                          <a:cs typeface="Cascadia Mono" panose="020B0609020000020004" pitchFamily="49" charset="0"/>
                        </a:rPr>
                        <a:t>¶ The animals lived in peace: the goat grazed alongside the wolf! They rejoiced, because peace guarantees prosperity.</a:t>
                      </a:r>
                    </a:p>
                    <a:p>
                      <a:pPr indent="216000" algn="l"/>
                      <a:r>
                        <a:rPr lang="en-US" sz="1100" kern="150" dirty="0">
                          <a:effectLst/>
                          <a:latin typeface="Cascadia Mono" panose="020B0609020000020004" pitchFamily="49" charset="0"/>
                          <a:cs typeface="Cascadia Mono" panose="020B0609020000020004" pitchFamily="49" charset="0"/>
                        </a:rPr>
                        <a:t>¶ In short, they arranged the world beautifully, if only the wolf—whom the lion had made his advisor—had not ruined it for them. The wolf did not rejoice in this harmony of the world: he was accustomed to causing chaos; he regretted the old state of affairs. When he remembered fresh meat and warm blood, which were now forbidden, it drove him to madness. What was to be done? Should he disobey? The lion's claws were sharp, and his rule was absolute. Therefore, he resorted to cunning, plotting in secret to incite the lion's servants, one by one, to rebellion, turning into a true demon.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619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92924369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Lmux n ubaṛeɣ</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Brain of the Fox</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yuki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yeḍru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urant</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timellalin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icaweṛ-iten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aḥeckul</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Ttcekkiṛen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ameqqran</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xelṭen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iɣḍel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ljerḥ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yesquddeṛ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yenṭel</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yeɣsan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Tura,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aɛekkeṛ</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was confident he was the most cunning among all the servants except for the fox, his cousin. The fox was well aware of the wolf and his trickery, and he stood on his guard. However, what God wills must happen: it was written.</a:t>
                      </a:r>
                    </a:p>
                    <a:p>
                      <a:pPr indent="216000" algn="l"/>
                      <a:r>
                        <a:rPr lang="en-US" sz="1100" kern="150" dirty="0">
                          <a:effectLst/>
                          <a:latin typeface="Cascadia Mono" panose="020B0609020000020004" pitchFamily="49" charset="0"/>
                          <a:cs typeface="Cascadia Mono" panose="020B0609020000020004" pitchFamily="49" charset="0"/>
                        </a:rPr>
                        <a:t>¶ One day, the lion fell ill with a mild ailment: he had caught a cold. He ate eggs with garlic; but since God did not yet grant a recovery, he gathered all the servants together and consulted them.</a:t>
                      </a:r>
                    </a:p>
                    <a:p>
                      <a:pPr indent="216000" algn="l"/>
                      <a:r>
                        <a:rPr lang="en-US" sz="1100" kern="150" dirty="0">
                          <a:effectLst/>
                          <a:latin typeface="Cascadia Mono" panose="020B0609020000020004" pitchFamily="49" charset="0"/>
                          <a:cs typeface="Cascadia Mono" panose="020B0609020000020004" pitchFamily="49" charset="0"/>
                        </a:rPr>
                        <a:t>¶ Everyone suggested a different remedy.</a:t>
                      </a:r>
                    </a:p>
                    <a:p>
                      <a:pPr indent="216000" algn="l"/>
                      <a:r>
                        <a:rPr lang="en-US" sz="1100" kern="150" dirty="0">
                          <a:effectLst/>
                          <a:latin typeface="Cascadia Mono" panose="020B0609020000020004" pitchFamily="49" charset="0"/>
                          <a:cs typeface="Cascadia Mono" panose="020B0609020000020004" pitchFamily="49" charset="0"/>
                        </a:rPr>
                        <a:t>The fox said:</a:t>
                      </a:r>
                    </a:p>
                    <a:p>
                      <a:pPr indent="216000" algn="l"/>
                      <a:r>
                        <a:rPr lang="en-US" sz="1100" kern="150" dirty="0">
                          <a:effectLst/>
                          <a:latin typeface="Cascadia Mono" panose="020B0609020000020004" pitchFamily="49" charset="0"/>
                          <a:cs typeface="Cascadia Mono" panose="020B0609020000020004" pitchFamily="49" charset="0"/>
                        </a:rPr>
                        <a:t>‑ People praise the blood of the wolf: they say it is a great medicine.</a:t>
                      </a:r>
                    </a:p>
                    <a:p>
                      <a:pPr indent="216000" algn="l"/>
                      <a:r>
                        <a:rPr lang="en-US" sz="1100" kern="150" dirty="0">
                          <a:effectLst/>
                          <a:latin typeface="Cascadia Mono" panose="020B0609020000020004" pitchFamily="49" charset="0"/>
                          <a:cs typeface="Cascadia Mono" panose="020B0609020000020004" pitchFamily="49" charset="0"/>
                        </a:rPr>
                        <a:t>The lion glared at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and the wolf soiled himself out of fear.</a:t>
                      </a:r>
                    </a:p>
                    <a:p>
                      <a:pPr indent="216000" algn="l"/>
                      <a:r>
                        <a:rPr lang="en-US" sz="1100" kern="150" dirty="0">
                          <a:effectLst/>
                          <a:latin typeface="Cascadia Mono" panose="020B0609020000020004" pitchFamily="49" charset="0"/>
                          <a:cs typeface="Cascadia Mono" panose="020B0609020000020004" pitchFamily="49" charset="0"/>
                        </a:rPr>
                        <a:t>‑ The wolf replied: It is true, O ruler of the animals, but only if it is mixed with the brain of the fox.</a:t>
                      </a:r>
                    </a:p>
                    <a:p>
                      <a:pPr indent="216000" algn="l"/>
                      <a:r>
                        <a:rPr lang="en-US" sz="1100" kern="150" dirty="0">
                          <a:effectLst/>
                          <a:latin typeface="Cascadia Mono" panose="020B0609020000020004" pitchFamily="49" charset="0"/>
                          <a:cs typeface="Cascadia Mono" panose="020B0609020000020004" pitchFamily="49" charset="0"/>
                        </a:rPr>
                        <a:t>¶ The lion struck the fox, smashing his skull, and he died. The wolf inflicted a small wound upon himself, drawing a few drops of blood, and they prepared the medicine for the ruler of the animals. The lion said to him:</a:t>
                      </a:r>
                    </a:p>
                    <a:p>
                      <a:pPr indent="216000" algn="l"/>
                      <a:r>
                        <a:rPr lang="en-US" sz="1100" kern="150" dirty="0">
                          <a:effectLst/>
                          <a:latin typeface="Cascadia Mono" panose="020B0609020000020004" pitchFamily="49" charset="0"/>
                          <a:cs typeface="Cascadia Mono" panose="020B0609020000020004" pitchFamily="49" charset="0"/>
                        </a:rPr>
                        <a:t>‑ Take him, O Ben </a:t>
                      </a:r>
                      <a:r>
                        <a:rPr lang="en-US" sz="1100" kern="150" dirty="0" err="1">
                          <a:effectLst/>
                          <a:latin typeface="Cascadia Mono" panose="020B0609020000020004" pitchFamily="49" charset="0"/>
                          <a:cs typeface="Cascadia Mono" panose="020B0609020000020004" pitchFamily="49" charset="0"/>
                        </a:rPr>
                        <a:t>Yeɛqub</a:t>
                      </a:r>
                      <a:r>
                        <a:rPr lang="en-US" sz="1100" kern="150" dirty="0">
                          <a:effectLst/>
                          <a:latin typeface="Cascadia Mono" panose="020B0609020000020004" pitchFamily="49" charset="0"/>
                          <a:cs typeface="Cascadia Mono" panose="020B0609020000020004" pitchFamily="49" charset="0"/>
                        </a:rPr>
                        <a:t>, and bury him!</a:t>
                      </a:r>
                    </a:p>
                    <a:p>
                      <a:pPr indent="216000" algn="l"/>
                      <a:r>
                        <a:rPr lang="en-US" sz="1100" kern="150" dirty="0">
                          <a:effectLst/>
                          <a:latin typeface="Cascadia Mono" panose="020B0609020000020004" pitchFamily="49" charset="0"/>
                          <a:cs typeface="Cascadia Mono" panose="020B0609020000020004" pitchFamily="49" charset="0"/>
                        </a:rPr>
                        <a:t>¶ The wolf carried the fox away as far as the ditch and devoured him: he buried only the skin and the bones. Rejoicing, he said in his heart: Now, there is no longer any obstacle or hindrance.</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496009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090821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Uccen</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tewtult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Hare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fsant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ttjuṛ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llir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Yessetma</a:t>
                      </a:r>
                      <a:r>
                        <a:rPr lang="fr-FR" sz="1100" kern="1200" dirty="0">
                          <a:solidFill>
                            <a:schemeClr val="tx1"/>
                          </a:solidFill>
                          <a:effectLst/>
                          <a:latin typeface="+mn-lt"/>
                          <a:ea typeface="+mn-ea"/>
                          <a:cs typeface="+mn-cs"/>
                        </a:rPr>
                        <a:t>-m, </a:t>
                      </a:r>
                      <a:r>
                        <a:rPr lang="fr-FR" sz="1100" kern="1200" dirty="0" err="1">
                          <a:solidFill>
                            <a:schemeClr val="tx1"/>
                          </a:solidFill>
                          <a:effectLst/>
                          <a:latin typeface="+mn-lt"/>
                          <a:ea typeface="+mn-ea"/>
                          <a:cs typeface="+mn-cs"/>
                        </a:rPr>
                        <a:t>aha-tent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sɛant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nsent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ten-awint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tzirit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isegmi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ufeqqus</a:t>
                      </a:r>
                      <a:r>
                        <a:rPr lang="fr-FR" sz="1100" kern="1200" dirty="0">
                          <a:solidFill>
                            <a:schemeClr val="tx1"/>
                          </a:solidFill>
                          <a:effectLst/>
                          <a:latin typeface="+mn-lt"/>
                          <a:ea typeface="+mn-ea"/>
                          <a:cs typeface="+mn-cs"/>
                        </a:rPr>
                        <a:t>. Kem,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as-d-terri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aɛṛab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aqbayli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nnḍen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lehduṛ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qebren</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tergigit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iyi-tserrḥeḍ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qrib</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Spring arrived: the earth turned green, the flowers bloomed, the trees budded, and the animals gave birth to their young.</a:t>
                      </a:r>
                    </a:p>
                    <a:p>
                      <a:pPr indent="216000" algn="l"/>
                      <a:r>
                        <a:rPr lang="en-US" sz="1100" kern="150" dirty="0">
                          <a:effectLst/>
                          <a:latin typeface="Cascadia Mono" panose="020B0609020000020004" pitchFamily="49" charset="0"/>
                          <a:cs typeface="Cascadia Mono" panose="020B0609020000020004" pitchFamily="49" charset="0"/>
                        </a:rPr>
                        <a:t>¶ The wolf went and spoke enticingly to the hare, saying to her:</a:t>
                      </a:r>
                    </a:p>
                    <a:p>
                      <a:pPr indent="216000" algn="l"/>
                      <a:r>
                        <a:rPr lang="en-US" sz="1100" kern="150" dirty="0">
                          <a:effectLst/>
                          <a:latin typeface="Cascadia Mono" panose="020B0609020000020004" pitchFamily="49" charset="0"/>
                          <a:cs typeface="Cascadia Mono" panose="020B0609020000020004" pitchFamily="49" charset="0"/>
                        </a:rPr>
                        <a:t>‑ Look at your sisters, they have already given birth to their little ones: they take them out under the full moon to leap about in the grass, eating thyme or the shoots of melons. As for you, you stay here just to be used as a pillow by the ruler of the animals!</a:t>
                      </a:r>
                    </a:p>
                    <a:p>
                      <a:pPr indent="216000" algn="l"/>
                      <a:r>
                        <a:rPr lang="en-US" sz="1100" kern="150" dirty="0">
                          <a:effectLst/>
                          <a:latin typeface="Cascadia Mono" panose="020B0609020000020004" pitchFamily="49" charset="0"/>
                          <a:cs typeface="Cascadia Mono" panose="020B0609020000020004" pitchFamily="49" charset="0"/>
                        </a:rPr>
                        <a:t>¶ The hare answered him neither in Arabic nor in Kabyle, but she sighed deeply: the words of the wolf wrapped around her heart like a poison, consuming her inside.</a:t>
                      </a:r>
                    </a:p>
                    <a:p>
                      <a:pPr indent="216000" algn="l"/>
                      <a:r>
                        <a:rPr lang="en-US" sz="1100" kern="150" dirty="0">
                          <a:effectLst/>
                          <a:latin typeface="Cascadia Mono" panose="020B0609020000020004" pitchFamily="49" charset="0"/>
                          <a:cs typeface="Cascadia Mono" panose="020B0609020000020004" pitchFamily="49" charset="0"/>
                        </a:rPr>
                        <a:t>¶ A few days passed, and she followed the wolf's words: she went to the lion and said to him, trembling:</a:t>
                      </a:r>
                    </a:p>
                    <a:p>
                      <a:pPr indent="216000" algn="l"/>
                      <a:r>
                        <a:rPr lang="en-US" sz="1100" kern="150" dirty="0">
                          <a:effectLst/>
                          <a:latin typeface="Cascadia Mono" panose="020B0609020000020004" pitchFamily="49" charset="0"/>
                          <a:cs typeface="Cascadia Mono" panose="020B0609020000020004" pitchFamily="49" charset="0"/>
                        </a:rPr>
                        <a:t>‑ O ruler of the animals, set me free: I want to leave; I am exhausted!</a:t>
                      </a:r>
                    </a:p>
                    <a:p>
                      <a:pPr indent="216000" algn="l"/>
                      <a:r>
                        <a:rPr lang="en-US" sz="1100" kern="150" dirty="0">
                          <a:effectLst/>
                          <a:latin typeface="Cascadia Mono" panose="020B0609020000020004" pitchFamily="49" charset="0"/>
                          <a:cs typeface="Cascadia Mono" panose="020B0609020000020004" pitchFamily="49" charset="0"/>
                        </a:rPr>
                        <a:t>The lion tried to hold her back, to bring her back to her senses: he reasoned with her, he threatened her, but to no avail. She defied him completely! So he struck her, crushing her, and said to him:</a:t>
                      </a:r>
                    </a:p>
                    <a:p>
                      <a:pPr indent="216000" algn="l"/>
                      <a:r>
                        <a:rPr lang="en-US" sz="1100" kern="150" dirty="0">
                          <a:effectLst/>
                          <a:latin typeface="Cascadia Mono" panose="020B0609020000020004" pitchFamily="49" charset="0"/>
                          <a:cs typeface="Cascadia Mono" panose="020B0609020000020004" pitchFamily="49" charset="0"/>
                        </a:rPr>
                        <a:t>‑ Take her, O Ben </a:t>
                      </a:r>
                      <a:r>
                        <a:rPr lang="en-US" sz="1100" kern="150" dirty="0" err="1">
                          <a:effectLst/>
                          <a:latin typeface="Cascadia Mono" panose="020B0609020000020004" pitchFamily="49" charset="0"/>
                          <a:cs typeface="Cascadia Mono" panose="020B0609020000020004" pitchFamily="49" charset="0"/>
                        </a:rPr>
                        <a:t>Yeɛqub</a:t>
                      </a:r>
                      <a:r>
                        <a:rPr lang="en-US" sz="1100" kern="150" dirty="0">
                          <a:effectLst/>
                          <a:latin typeface="Cascadia Mono" panose="020B0609020000020004" pitchFamily="49" charset="0"/>
                          <a:cs typeface="Cascadia Mono" panose="020B0609020000020004" pitchFamily="49" charset="0"/>
                        </a:rPr>
                        <a:t>, and bury her!</a:t>
                      </a:r>
                    </a:p>
                    <a:p>
                      <a:pPr indent="216000" algn="l"/>
                      <a:r>
                        <a:rPr lang="en-US" sz="1100" kern="150" dirty="0">
                          <a:effectLst/>
                          <a:latin typeface="Cascadia Mono" panose="020B0609020000020004" pitchFamily="49" charset="0"/>
                          <a:cs typeface="Cascadia Mono" panose="020B0609020000020004" pitchFamily="49" charset="0"/>
                        </a:rPr>
                        <a:t>¶ The wolf carried her away, devoured her, and wiped away the blood: he rejoiced, believing that the good old days were soon about to return.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6836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61205393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tyaziṭ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Hen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izli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tyaziḍin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kem-yeǧǧan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Izem, mi d-</a:t>
                      </a:r>
                      <a:r>
                        <a:rPr lang="fr-FR" sz="1100" kern="1200" dirty="0" err="1">
                          <a:solidFill>
                            <a:schemeClr val="tx1"/>
                          </a:solidFill>
                          <a:effectLst/>
                          <a:latin typeface="+mn-lt"/>
                          <a:ea typeface="+mn-ea"/>
                          <a:cs typeface="+mn-cs"/>
                        </a:rPr>
                        <a:t>turweḍ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timital-im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zedlent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ssefṛuṛxent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yefṛax</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ten-sḍefṛent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tyemmatin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tiseɛdiyin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iguduyen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tmizar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tebḥirin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ibaḥanen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ičuččiwen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ɛyan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wexbaḍ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tyessawt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ten-jemɛent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wafriwen-nsent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ḥmun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steɛfun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imɣurent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tifṛax</a:t>
                      </a:r>
                      <a:r>
                        <a:rPr lang="fr-FR" sz="1100" kern="1200" dirty="0">
                          <a:solidFill>
                            <a:schemeClr val="tx1"/>
                          </a:solidFill>
                          <a:effectLst/>
                          <a:latin typeface="+mn-lt"/>
                          <a:ea typeface="+mn-ea"/>
                          <a:cs typeface="+mn-cs"/>
                        </a:rPr>
                        <a:t> d sut </a:t>
                      </a:r>
                      <a:r>
                        <a:rPr lang="fr-FR" sz="1100" kern="1200" dirty="0" err="1">
                          <a:solidFill>
                            <a:schemeClr val="tx1"/>
                          </a:solidFill>
                          <a:effectLst/>
                          <a:latin typeface="+mn-lt"/>
                          <a:ea typeface="+mn-ea"/>
                          <a:cs typeface="+mn-cs"/>
                        </a:rPr>
                        <a:t>tcebbubin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as-t-id-terri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messus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Tugi: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qerben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Time passed, and the wolf went to the hen, sang her the song of hens, and said to her:</a:t>
                      </a:r>
                    </a:p>
                    <a:p>
                      <a:pPr indent="216000" algn="l"/>
                      <a:r>
                        <a:rPr lang="en-US" sz="1100" kern="150" dirty="0">
                          <a:effectLst/>
                          <a:latin typeface="Cascadia Mono" panose="020B0609020000020004" pitchFamily="49" charset="0"/>
                          <a:cs typeface="Cascadia Mono" panose="020B0609020000020004" pitchFamily="49" charset="0"/>
                        </a:rPr>
                        <a:t>— My sister, what has left you here? The lion, when you lay an egg, eats it, while your peers are brooding; when they hatch, and the chicks come out, the blessed mothers will guide them through the </a:t>
                      </a:r>
                      <a:r>
                        <a:rPr lang="en-US" sz="1100" kern="150" dirty="0" err="1">
                          <a:effectLst/>
                          <a:latin typeface="Cascadia Mono" panose="020B0609020000020004" pitchFamily="49" charset="0"/>
                          <a:cs typeface="Cascadia Mono" panose="020B0609020000020004" pitchFamily="49" charset="0"/>
                        </a:rPr>
                        <a:t>dungheaps</a:t>
                      </a:r>
                      <a:r>
                        <a:rPr lang="en-US" sz="1100" kern="150" dirty="0">
                          <a:effectLst/>
                          <a:latin typeface="Cascadia Mono" panose="020B0609020000020004" pitchFamily="49" charset="0"/>
                          <a:cs typeface="Cascadia Mono" panose="020B0609020000020004" pitchFamily="49" charset="0"/>
                        </a:rPr>
                        <a:t>, the gardens, and the orchards, all of them beautiful and chirping; when they are tired of walking, scratching, and guarding, or if the cold hurts them, they gather them under their wings so they can warm up and rest; they will grow up, and they will all turn into young pullets with crests!</a:t>
                      </a:r>
                    </a:p>
                    <a:p>
                      <a:pPr indent="216000" algn="l"/>
                      <a:r>
                        <a:rPr lang="en-US" sz="1100" kern="150" dirty="0">
                          <a:effectLst/>
                          <a:latin typeface="Cascadia Mono" panose="020B0609020000020004" pitchFamily="49" charset="0"/>
                          <a:cs typeface="Cascadia Mono" panose="020B0609020000020004" pitchFamily="49" charset="0"/>
                        </a:rPr>
                        <a:t>¶ The hen did not return an answer to him at that moment, neither bitter nor sweet, but she sighed: he had shaken her good faith. She stayed for a few days, then turned back to the wolf's words, went to the lion, and said to him:</a:t>
                      </a:r>
                    </a:p>
                    <a:p>
                      <a:pPr indent="216000" algn="l"/>
                      <a:r>
                        <a:rPr lang="en-US" sz="1100" kern="150" dirty="0">
                          <a:effectLst/>
                          <a:latin typeface="Cascadia Mono" panose="020B0609020000020004" pitchFamily="49" charset="0"/>
                          <a:cs typeface="Cascadia Mono" panose="020B0609020000020004" pitchFamily="49" charset="0"/>
                        </a:rPr>
                        <a:t>— O king of the animals, allow me to leave: I am tired!</a:t>
                      </a:r>
                    </a:p>
                    <a:p>
                      <a:pPr indent="216000" algn="l"/>
                      <a:r>
                        <a:rPr lang="en-US" sz="1100" kern="150" dirty="0">
                          <a:effectLst/>
                          <a:latin typeface="Cascadia Mono" panose="020B0609020000020004" pitchFamily="49" charset="0"/>
                          <a:cs typeface="Cascadia Mono" panose="020B0609020000020004" pitchFamily="49" charset="0"/>
                        </a:rPr>
                        <a:t>The lion tried to catch her, to bring her back to the path: he coaxed, he threatened: he found no way. She refused: never! He struck her and broke her. He said:</a:t>
                      </a:r>
                    </a:p>
                    <a:p>
                      <a:pPr indent="216000" algn="l"/>
                      <a:r>
                        <a:rPr lang="en-US" sz="1100" kern="150" dirty="0">
                          <a:effectLst/>
                          <a:latin typeface="Cascadia Mono" panose="020B0609020000020004" pitchFamily="49" charset="0"/>
                          <a:cs typeface="Cascadia Mono" panose="020B0609020000020004" pitchFamily="49" charset="0"/>
                        </a:rPr>
                        <a:t>— Take her, Ben </a:t>
                      </a:r>
                      <a:r>
                        <a:rPr lang="en-US" sz="1100" kern="150" dirty="0" err="1">
                          <a:effectLst/>
                          <a:latin typeface="Cascadia Mono" panose="020B0609020000020004" pitchFamily="49" charset="0"/>
                          <a:cs typeface="Cascadia Mono" panose="020B0609020000020004" pitchFamily="49" charset="0"/>
                        </a:rPr>
                        <a:t>Yeɛqub</a:t>
                      </a:r>
                      <a:r>
                        <a:rPr lang="en-US" sz="1100" kern="150" dirty="0">
                          <a:effectLst/>
                          <a:latin typeface="Cascadia Mono" panose="020B0609020000020004" pitchFamily="49" charset="0"/>
                          <a:cs typeface="Cascadia Mono" panose="020B0609020000020004" pitchFamily="49" charset="0"/>
                        </a:rPr>
                        <a:t>, and go bury her!</a:t>
                      </a:r>
                    </a:p>
                    <a:p>
                      <a:pPr indent="216000" algn="l"/>
                      <a:r>
                        <a:rPr lang="en-US" sz="1100" kern="150" dirty="0">
                          <a:effectLst/>
                          <a:latin typeface="Cascadia Mono" panose="020B0609020000020004" pitchFamily="49" charset="0"/>
                          <a:cs typeface="Cascadia Mono" panose="020B0609020000020004" pitchFamily="49" charset="0"/>
                        </a:rPr>
                        <a:t>¶ The wolf took her away, ate her, and wiped the blood. He was joyful and said in his heart: The good days are near!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75524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39887775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weɣyul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Donkey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nnuba</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a bu </a:t>
                      </a:r>
                      <a:r>
                        <a:rPr lang="fr-FR" sz="1100" kern="1200" dirty="0" err="1">
                          <a:solidFill>
                            <a:schemeClr val="tx1"/>
                          </a:solidFill>
                          <a:effectLst/>
                          <a:latin typeface="+mn-lt"/>
                          <a:ea typeface="+mn-ea"/>
                          <a:cs typeface="+mn-cs"/>
                        </a:rPr>
                        <a:t>imeẓẓuɣen</a:t>
                      </a:r>
                      <a:r>
                        <a:rPr lang="fr-FR" sz="1100" kern="1200" dirty="0">
                          <a:solidFill>
                            <a:schemeClr val="tx1"/>
                          </a:solidFill>
                          <a:effectLst/>
                          <a:latin typeface="+mn-lt"/>
                          <a:ea typeface="+mn-ea"/>
                          <a:cs typeface="+mn-cs"/>
                        </a:rPr>
                        <a:t>,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asennan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umezzir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ttejɛun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tuqqra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tacemlit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Yiwen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ttemyekmazen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tuyat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yendekwal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alili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ifat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umeslay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Yeskerker-it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i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teǧǧiḍ-aɣ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ass-agi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kfiɣ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tanṭelt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wehdum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Then the wolf turned his attention to the donkey; it was his turn. He said to him:</a:t>
                      </a:r>
                    </a:p>
                    <a:p>
                      <a:pPr indent="216000" algn="l"/>
                      <a:r>
                        <a:rPr lang="en-US" sz="1100" kern="150" dirty="0">
                          <a:effectLst/>
                          <a:latin typeface="Cascadia Mono" panose="020B0609020000020004" pitchFamily="49" charset="0"/>
                          <a:cs typeface="Cascadia Mono" panose="020B0609020000020004" pitchFamily="49" charset="0"/>
                        </a:rPr>
                        <a:t>— Your brothers, O long-eared one, look at them in the meadow, with grass up to their bellies, sated on thistle and lavender, growing fat and kicking up their heels, and no one has a claim over them. You, you stay here to do the Drudgery.</a:t>
                      </a:r>
                    </a:p>
                    <a:p>
                      <a:pPr indent="216000" algn="l"/>
                      <a:r>
                        <a:rPr lang="en-US" sz="1100" kern="150" dirty="0">
                          <a:effectLst/>
                          <a:latin typeface="Cascadia Mono" panose="020B0609020000020004" pitchFamily="49" charset="0"/>
                          <a:cs typeface="Cascadia Mono" panose="020B0609020000020004" pitchFamily="49" charset="0"/>
                        </a:rPr>
                        <a:t>¶ As soon as the donkey heard these words, he let down his ears and sighed. One night, towards the break of dawn, he dreamed that God had placed him in the meadow, he and another donkey, scratching each other's shoulders. Overjoyed, he woke up with a start from his sleep and found himself all alone: the world turned as bitter as oleander in his heart.</a:t>
                      </a:r>
                    </a:p>
                    <a:p>
                      <a:pPr indent="216000" algn="l"/>
                      <a:r>
                        <a:rPr lang="en-US" sz="1100" kern="150" dirty="0">
                          <a:effectLst/>
                          <a:latin typeface="Cascadia Mono" panose="020B0609020000020004" pitchFamily="49" charset="0"/>
                          <a:cs typeface="Cascadia Mono" panose="020B0609020000020004" pitchFamily="49" charset="0"/>
                        </a:rPr>
                        <a:t>¶ He went to the lion and said to him:</a:t>
                      </a:r>
                    </a:p>
                    <a:p>
                      <a:pPr indent="216000" algn="l"/>
                      <a:r>
                        <a:rPr lang="en-US" sz="1100" kern="150" dirty="0">
                          <a:effectLst/>
                          <a:latin typeface="Cascadia Mono" panose="020B0609020000020004" pitchFamily="49" charset="0"/>
                          <a:cs typeface="Cascadia Mono" panose="020B0609020000020004" pitchFamily="49" charset="0"/>
                        </a:rPr>
                        <a:t>— O king of the animals, allow me to leave: I am tired!</a:t>
                      </a:r>
                    </a:p>
                    <a:p>
                      <a:pPr indent="216000" algn="l"/>
                      <a:r>
                        <a:rPr lang="en-US" sz="1100" kern="150" dirty="0">
                          <a:effectLst/>
                          <a:latin typeface="Cascadia Mono" panose="020B0609020000020004" pitchFamily="49" charset="0"/>
                          <a:cs typeface="Cascadia Mono" panose="020B0609020000020004" pitchFamily="49" charset="0"/>
                        </a:rPr>
                        <a:t>The lion tried to bring him back to the path, but found no way: once a donkey becomes stubborn, talking is over. He struck him and broke him, then said:</a:t>
                      </a:r>
                    </a:p>
                    <a:p>
                      <a:pPr indent="216000" algn="l"/>
                      <a:r>
                        <a:rPr lang="en-US" sz="1100" kern="150" dirty="0">
                          <a:effectLst/>
                          <a:latin typeface="Cascadia Mono" panose="020B0609020000020004" pitchFamily="49" charset="0"/>
                          <a:cs typeface="Cascadia Mono" panose="020B0609020000020004" pitchFamily="49" charset="0"/>
                        </a:rPr>
                        <a:t>— Take him, Ben </a:t>
                      </a:r>
                      <a:r>
                        <a:rPr lang="en-US" sz="1100" kern="150" dirty="0" err="1">
                          <a:effectLst/>
                          <a:latin typeface="Cascadia Mono" panose="020B0609020000020004" pitchFamily="49" charset="0"/>
                          <a:cs typeface="Cascadia Mono" panose="020B0609020000020004" pitchFamily="49" charset="0"/>
                        </a:rPr>
                        <a:t>Yeɛqub</a:t>
                      </a:r>
                      <a:r>
                        <a:rPr lang="en-US" sz="1100" kern="150" dirty="0">
                          <a:effectLst/>
                          <a:latin typeface="Cascadia Mono" panose="020B0609020000020004" pitchFamily="49" charset="0"/>
                          <a:cs typeface="Cascadia Mono" panose="020B0609020000020004" pitchFamily="49" charset="0"/>
                        </a:rPr>
                        <a:t>, and go bury him!</a:t>
                      </a:r>
                    </a:p>
                    <a:p>
                      <a:pPr indent="216000" algn="l"/>
                      <a:r>
                        <a:rPr lang="en-US" sz="1100" kern="150" dirty="0">
                          <a:effectLst/>
                          <a:latin typeface="Cascadia Mono" panose="020B0609020000020004" pitchFamily="49" charset="0"/>
                          <a:cs typeface="Cascadia Mono" panose="020B0609020000020004" pitchFamily="49" charset="0"/>
                        </a:rPr>
                        <a:t>¶ The wolf dragged him all the way to the ravine, settled down, and fed on him for several days.</a:t>
                      </a:r>
                    </a:p>
                    <a:p>
                      <a:pPr indent="216000" algn="l"/>
                      <a:r>
                        <a:rPr lang="en-US" sz="1100" kern="150" dirty="0">
                          <a:effectLst/>
                          <a:latin typeface="Cascadia Mono" panose="020B0609020000020004" pitchFamily="49" charset="0"/>
                          <a:cs typeface="Cascadia Mono" panose="020B0609020000020004" pitchFamily="49" charset="0"/>
                        </a:rPr>
                        <a:t>¶ When he returned, the lion said to him:</a:t>
                      </a:r>
                    </a:p>
                    <a:p>
                      <a:pPr indent="216000" algn="l"/>
                      <a:r>
                        <a:rPr lang="en-US" sz="1100" kern="150" dirty="0">
                          <a:effectLst/>
                          <a:latin typeface="Cascadia Mono" panose="020B0609020000020004" pitchFamily="49" charset="0"/>
                          <a:cs typeface="Cascadia Mono" panose="020B0609020000020004" pitchFamily="49" charset="0"/>
                        </a:rPr>
                        <a:t>— Hey,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you have left us to die of thirst!</a:t>
                      </a:r>
                    </a:p>
                    <a:p>
                      <a:pPr indent="216000" algn="l"/>
                      <a:r>
                        <a:rPr lang="en-US" sz="1100" kern="150" dirty="0">
                          <a:effectLst/>
                          <a:latin typeface="Cascadia Mono" panose="020B0609020000020004" pitchFamily="49" charset="0"/>
                          <a:cs typeface="Cascadia Mono" panose="020B0609020000020004" pitchFamily="49" charset="0"/>
                        </a:rPr>
                        <a:t>For it was the wolf who used to fetch the water. He replied to him:</a:t>
                      </a:r>
                    </a:p>
                    <a:p>
                      <a:pPr indent="216000" algn="l"/>
                      <a:r>
                        <a:rPr lang="en-US" sz="1100" kern="150" dirty="0">
                          <a:effectLst/>
                          <a:latin typeface="Cascadia Mono" panose="020B0609020000020004" pitchFamily="49" charset="0"/>
                          <a:cs typeface="Cascadia Mono" panose="020B0609020000020004" pitchFamily="49" charset="0"/>
                        </a:rPr>
                        <a:t>— O king of the animals, only today have I finished burying that carcass: whenever I buried a front hoof, a hind leg appeared; and whenever I buried a hind leg, a front hoof appeared!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49252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9266389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yilef</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Boar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ẓẓaden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abelluḍ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ttfeggilen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akal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ssekfalen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abeɛɛuq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iɛemmuṛen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tagertilt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tḥesbeḍ</a:t>
                      </a:r>
                      <a:r>
                        <a:rPr lang="fr-FR" sz="1100" kern="1200" dirty="0">
                          <a:solidFill>
                            <a:schemeClr val="tx1"/>
                          </a:solidFill>
                          <a:effectLst/>
                          <a:latin typeface="+mn-lt"/>
                          <a:ea typeface="+mn-ea"/>
                          <a:cs typeface="+mn-cs"/>
                        </a:rPr>
                        <a:t> iman-ik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qareɛ</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yesseqḍaɛ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timɣilin-is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ikerres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a:t>
                      </a:r>
                      <a:r>
                        <a:rPr lang="fr-FR" sz="1100" kern="1200" dirty="0">
                          <a:solidFill>
                            <a:schemeClr val="tx1"/>
                          </a:solidFill>
                          <a:effectLst/>
                          <a:latin typeface="+mn-lt"/>
                          <a:ea typeface="+mn-ea"/>
                          <a:cs typeface="+mn-cs"/>
                        </a:rPr>
                        <a:t> iman-ik: la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After the donkey, the wolf turned his attention to the boar. He said to him: </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Your brothers, look at them, they are grinding acorns, digging up the earth with their tusks, and unearthing heaps of starchy tubers. When they are full, they go to sleep in their wallows, snoring, and no one dares to challenge them. But you, you have become like a floor mat for the lion here! And yet, you consider yourself a master of strength!</a:t>
                      </a:r>
                    </a:p>
                    <a:p>
                      <a:pPr indent="216000" algn="l"/>
                      <a:r>
                        <a:rPr lang="en-US" sz="1100" kern="150" dirty="0">
                          <a:effectLst/>
                          <a:latin typeface="Cascadia Mono" panose="020B0609020000020004" pitchFamily="49" charset="0"/>
                          <a:cs typeface="Cascadia Mono" panose="020B0609020000020004" pitchFamily="49" charset="0"/>
                        </a:rPr>
                        <a:t>¶ The boar grew anxious and snorted with anger at him; the wolf fled. The wolf then went to the lion and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O king of the animals, protect yourself: I found the boar sharpening his tusks and swearing against you!</a:t>
                      </a:r>
                    </a:p>
                    <a:p>
                      <a:pPr marL="0" indent="0" algn="l">
                        <a:buFontTx/>
                        <a:buNone/>
                      </a:pPr>
                      <a:r>
                        <a:rPr lang="en-US" sz="1100" kern="150" dirty="0">
                          <a:effectLst/>
                          <a:latin typeface="Cascadia Mono" panose="020B0609020000020004" pitchFamily="49" charset="0"/>
                          <a:cs typeface="Cascadia Mono" panose="020B0609020000020004" pitchFamily="49" charset="0"/>
                        </a:rPr>
                        <a:t> The lion said to him: </a:t>
                      </a:r>
                    </a:p>
                    <a:p>
                      <a:pPr marL="0" indent="0" algn="l">
                        <a:buFontTx/>
                        <a:buNone/>
                      </a:pPr>
                      <a:r>
                        <a:rPr lang="fr-FR" sz="1100" kern="1200" dirty="0">
                          <a:solidFill>
                            <a:schemeClr val="tx1"/>
                          </a:solidFill>
                          <a:effectLst/>
                          <a:latin typeface="+mn-lt"/>
                          <a:ea typeface="+mn-ea"/>
                          <a:cs typeface="+mn-cs"/>
                        </a:rPr>
                        <a:t>   - </a:t>
                      </a:r>
                      <a:r>
                        <a:rPr lang="en-US" sz="1100" kern="150" dirty="0">
                          <a:effectLst/>
                          <a:latin typeface="Cascadia Mono" panose="020B0609020000020004" pitchFamily="49" charset="0"/>
                          <a:cs typeface="Cascadia Mono" panose="020B0609020000020004" pitchFamily="49" charset="0"/>
                        </a:rPr>
                        <a:t>How will I recognize that he is about to attack me?</a:t>
                      </a:r>
                    </a:p>
                    <a:p>
                      <a:pPr marL="0" indent="0" algn="l">
                        <a:buFontTx/>
                        <a:buNone/>
                      </a:pPr>
                      <a:r>
                        <a:rPr lang="en-US" sz="1100" kern="150" dirty="0">
                          <a:effectLst/>
                          <a:latin typeface="Cascadia Mono" panose="020B0609020000020004" pitchFamily="49" charset="0"/>
                          <a:cs typeface="Cascadia Mono" panose="020B0609020000020004" pitchFamily="49" charset="0"/>
                        </a:rPr>
                        <a:t> The wolf replied: </a:t>
                      </a:r>
                    </a:p>
                    <a:p>
                      <a:pPr marL="0" indent="0" algn="l">
                        <a:buFontTx/>
                        <a:buNone/>
                      </a:pPr>
                      <a:r>
                        <a:rPr lang="fr-FR" sz="1100" kern="1200" dirty="0">
                          <a:solidFill>
                            <a:schemeClr val="tx1"/>
                          </a:solidFill>
                          <a:effectLst/>
                          <a:latin typeface="+mn-lt"/>
                          <a:ea typeface="+mn-ea"/>
                          <a:cs typeface="+mn-cs"/>
                        </a:rPr>
                        <a:t>   - </a:t>
                      </a:r>
                      <a:r>
                        <a:rPr lang="en-US" sz="1100" kern="150" dirty="0">
                          <a:effectLst/>
                          <a:latin typeface="Cascadia Mono" panose="020B0609020000020004" pitchFamily="49" charset="0"/>
                          <a:cs typeface="Cascadia Mono" panose="020B0609020000020004" pitchFamily="49" charset="0"/>
                        </a:rPr>
                        <a:t>When you see his brow furrowed, prepare yourself! (Even though the brow of a boar is always furrowed!) </a:t>
                      </a:r>
                    </a:p>
                    <a:p>
                      <a:pPr marL="0" indent="0" algn="l">
                        <a:buFontTx/>
                        <a:buNone/>
                      </a:pPr>
                      <a:r>
                        <a:rPr lang="en-US" sz="1100" kern="150" dirty="0">
                          <a:effectLst/>
                          <a:latin typeface="Cascadia Mono" panose="020B0609020000020004" pitchFamily="49" charset="0"/>
                          <a:cs typeface="Cascadia Mono" panose="020B0609020000020004" pitchFamily="49" charset="0"/>
                        </a:rPr>
                        <a:t>He then turned back to the boar and said to him: </a:t>
                      </a:r>
                    </a:p>
                    <a:p>
                      <a:pPr marL="0" indent="0" algn="l">
                        <a:buFontTx/>
                        <a:buNone/>
                      </a:pPr>
                      <a:r>
                        <a:rPr lang="fr-FR" sz="1100" kern="1200" dirty="0">
                          <a:solidFill>
                            <a:schemeClr val="tx1"/>
                          </a:solidFill>
                          <a:effectLst/>
                          <a:latin typeface="+mn-lt"/>
                          <a:ea typeface="+mn-ea"/>
                          <a:cs typeface="+mn-cs"/>
                        </a:rPr>
                        <a:t>   - </a:t>
                      </a:r>
                      <a:r>
                        <a:rPr lang="en-US" sz="1100" kern="150" dirty="0">
                          <a:effectLst/>
                          <a:latin typeface="Cascadia Mono" panose="020B0609020000020004" pitchFamily="49" charset="0"/>
                          <a:cs typeface="Cascadia Mono" panose="020B0609020000020004" pitchFamily="49" charset="0"/>
                        </a:rPr>
                        <a:t>Watch yourself: the lion is swearing against you!</a:t>
                      </a:r>
                    </a:p>
                    <a:p>
                      <a:pPr marL="0" indent="0" algn="l">
                        <a:buFontTx/>
                        <a:buNone/>
                      </a:pPr>
                      <a:r>
                        <a:rPr lang="en-US" sz="1100" kern="150" dirty="0">
                          <a:effectLst/>
                          <a:latin typeface="Cascadia Mono" panose="020B0609020000020004" pitchFamily="49" charset="0"/>
                          <a:cs typeface="Cascadia Mono" panose="020B0609020000020004" pitchFamily="49" charset="0"/>
                        </a:rPr>
                        <a:t> The boar asked him: </a:t>
                      </a:r>
                    </a:p>
                    <a:p>
                      <a:pPr marL="0" indent="0" algn="l">
                        <a:buFontTx/>
                        <a:buNone/>
                      </a:pPr>
                      <a:r>
                        <a:rPr lang="fr-FR" sz="1100" kern="1200" dirty="0">
                          <a:solidFill>
                            <a:schemeClr val="tx1"/>
                          </a:solidFill>
                          <a:effectLst/>
                          <a:latin typeface="+mn-lt"/>
                          <a:ea typeface="+mn-ea"/>
                          <a:cs typeface="+mn-cs"/>
                        </a:rPr>
                        <a:t>   - </a:t>
                      </a:r>
                      <a:r>
                        <a:rPr lang="en-US" sz="1100" kern="150" dirty="0">
                          <a:effectLst/>
                          <a:latin typeface="Cascadia Mono" panose="020B0609020000020004" pitchFamily="49" charset="0"/>
                          <a:cs typeface="Cascadia Mono" panose="020B0609020000020004" pitchFamily="49" charset="0"/>
                        </a:rPr>
                        <a:t>How will I recognize that he is about to attack me?</a:t>
                      </a:r>
                    </a:p>
                    <a:p>
                      <a:pPr marL="0" indent="0" algn="l">
                        <a:buFontTx/>
                        <a:buNone/>
                      </a:pPr>
                      <a:r>
                        <a:rPr lang="en-US" sz="1100" kern="150" dirty="0">
                          <a:effectLst/>
                          <a:latin typeface="Cascadia Mono" panose="020B0609020000020004" pitchFamily="49" charset="0"/>
                          <a:cs typeface="Cascadia Mono" panose="020B0609020000020004" pitchFamily="49" charset="0"/>
                        </a:rPr>
                        <a:t> The wolf replied: </a:t>
                      </a:r>
                    </a:p>
                    <a:p>
                      <a:pPr marL="0" indent="0" algn="l">
                        <a:buFontTx/>
                        <a:buNone/>
                      </a:pPr>
                      <a:r>
                        <a:rPr lang="fr-FR" sz="1100" kern="1200" dirty="0">
                          <a:solidFill>
                            <a:schemeClr val="tx1"/>
                          </a:solidFill>
                          <a:effectLst/>
                          <a:latin typeface="+mn-lt"/>
                          <a:ea typeface="+mn-ea"/>
                          <a:cs typeface="+mn-cs"/>
                        </a:rPr>
                        <a:t>   - </a:t>
                      </a:r>
                      <a:r>
                        <a:rPr lang="en-US" sz="1100" kern="150" dirty="0">
                          <a:effectLst/>
                          <a:latin typeface="Cascadia Mono" panose="020B0609020000020004" pitchFamily="49" charset="0"/>
                          <a:cs typeface="Cascadia Mono" panose="020B0609020000020004" pitchFamily="49" charset="0"/>
                        </a:rPr>
                        <a:t>When you see his whiskers twitching, prepare yourself! (Even though the whiskers of a lion are always twitching!)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2055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588426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yemmuquel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Msemlalen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icexxeṛ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tiḥeddiṛt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iselx-it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igezm-it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sslayeɛ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tiremt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-d!</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When evening arrived, the lion looked at the boar and saw that his brow was furrowed; the boar looked at the lion and found that his whiskers were twitching. They clashed with tusks and claws, one roaring and the other snorting.</a:t>
                      </a:r>
                    </a:p>
                    <a:p>
                      <a:pPr indent="216000" algn="l"/>
                      <a:r>
                        <a:rPr lang="en-US" sz="1100" dirty="0"/>
                        <a:t>¶ The wolf leaped aside, shouting: </a:t>
                      </a:r>
                    </a:p>
                    <a:p>
                      <a:pPr indent="216000" algn="l"/>
                      <a:r>
                        <a:rPr lang="fr-FR" sz="1100" kern="1200" dirty="0">
                          <a:solidFill>
                            <a:schemeClr val="tx1"/>
                          </a:solidFill>
                          <a:effectLst/>
                          <a:latin typeface="+mn-lt"/>
                          <a:ea typeface="+mn-ea"/>
                          <a:cs typeface="+mn-cs"/>
                        </a:rPr>
                        <a:t>- </a:t>
                      </a:r>
                      <a:r>
                        <a:rPr lang="en-US" sz="1100" dirty="0"/>
                        <a:t>O what a disaster I am witnessing today!… O Uncle Lion! O Uncle Boar!…</a:t>
                      </a:r>
                    </a:p>
                    <a:p>
                      <a:pPr indent="216000" algn="l"/>
                      <a:r>
                        <a:rPr lang="en-US" sz="1100" dirty="0"/>
                        <a:t>¶ The lion struck him and broke his back. The wolf slaughtered him, skinned him, cut him into quarters, and they ate several meals from him. The wolf rejoiced and said in his heart: The good days have returned!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252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27568792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tfunast</a:t>
                      </a: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Cow</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yessinef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yejbid</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teɛṣu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tettɛici</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lḥeṛma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sumeḥɣ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zeddigen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yessemḥes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Ḥesbeɣ</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teɛṣi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a:t>
                      </a:r>
                      <a:r>
                        <a:rPr lang="fr-FR" sz="1100" kern="1200" dirty="0">
                          <a:solidFill>
                            <a:schemeClr val="tx1"/>
                          </a:solidFill>
                          <a:effectLst/>
                          <a:latin typeface="+mn-lt"/>
                          <a:ea typeface="+mn-ea"/>
                          <a:cs typeface="+mn-cs"/>
                        </a:rPr>
                        <a:t> ara ad k-</a:t>
                      </a:r>
                      <a:r>
                        <a:rPr lang="fr-FR" sz="1100" kern="1200" dirty="0" err="1">
                          <a:solidFill>
                            <a:schemeClr val="tx1"/>
                          </a:solidFill>
                          <a:effectLst/>
                          <a:latin typeface="+mn-lt"/>
                          <a:ea typeface="+mn-ea"/>
                          <a:cs typeface="+mn-cs"/>
                        </a:rPr>
                        <a:t>tɛic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llufan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tidireḍ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tellaẓeḍ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ɛṣan</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leɛhed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irreẓ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tɛiceḍ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tseggdeḍ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aksum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iyi-teḥṣel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wemɣar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lɛali-tent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tent-telsiḍ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telḥuḍ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tazzla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tazzleḍ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affug</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tafgeḍ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teṭṭilliḍ</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iseddilen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lweḥc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tettaṭṭafeḍ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tteqṣir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cow remained, and the wolf tried to turn her away: there was no trick he did not pull on her, and no story he did not bring her; she refused to disobey: never! </a:t>
                      </a:r>
                    </a:p>
                    <a:p>
                      <a:pPr indent="216000" algn="l"/>
                      <a:r>
                        <a:rPr lang="en-US" sz="1100" kern="150" dirty="0">
                          <a:effectLst/>
                          <a:latin typeface="Cascadia Mono" panose="020B0609020000020004" pitchFamily="49" charset="0"/>
                          <a:cs typeface="Cascadia Mono" panose="020B0609020000020004" pitchFamily="49" charset="0"/>
                        </a:rPr>
                        <a:t>She said to him: The forest sustains me: the lion has established respect for the forest: I grant him my milk from a pure heart, like water.</a:t>
                      </a:r>
                    </a:p>
                    <a:p>
                      <a:pPr indent="216000" algn="l"/>
                      <a:r>
                        <a:rPr lang="en-US" sz="1100" kern="150" dirty="0">
                          <a:effectLst/>
                          <a:latin typeface="Cascadia Mono" panose="020B0609020000020004" pitchFamily="49" charset="0"/>
                          <a:cs typeface="Cascadia Mono" panose="020B0609020000020004" pitchFamily="49" charset="0"/>
                        </a:rPr>
                        <a:t>¶ Then the wolf turned to the lion, striking against the cow: the lion refused to listen to him. He said to him:</a:t>
                      </a:r>
                    </a:p>
                    <a:p>
                      <a:pPr indent="216000" algn="l"/>
                      <a:r>
                        <a:rPr lang="en-US" sz="1100" kern="150" dirty="0">
                          <a:effectLst/>
                          <a:latin typeface="Cascadia Mono" panose="020B0609020000020004" pitchFamily="49" charset="0"/>
                          <a:cs typeface="Cascadia Mono" panose="020B0609020000020004" pitchFamily="49" charset="0"/>
                        </a:rPr>
                        <a:t>- I consider her like my mother: may her soul rest in peace! </a:t>
                      </a:r>
                    </a:p>
                    <a:p>
                      <a:pPr indent="216000" algn="l"/>
                      <a:r>
                        <a:rPr lang="en-US" sz="1100" kern="150" dirty="0">
                          <a:effectLst/>
                          <a:latin typeface="Cascadia Mono" panose="020B0609020000020004" pitchFamily="49" charset="0"/>
                          <a:cs typeface="Cascadia Mono" panose="020B0609020000020004" pitchFamily="49" charset="0"/>
                        </a:rPr>
                        <a:t>Perplexed, the wolf fell silent.</a:t>
                      </a:r>
                    </a:p>
                    <a:p>
                      <a:pPr indent="216000" algn="l"/>
                      <a:r>
                        <a:rPr lang="en-US" sz="1100" kern="150" dirty="0">
                          <a:effectLst/>
                          <a:latin typeface="Cascadia Mono" panose="020B0609020000020004" pitchFamily="49" charset="0"/>
                          <a:cs typeface="Cascadia Mono" panose="020B0609020000020004" pitchFamily="49" charset="0"/>
                        </a:rPr>
                        <a:t>¶ They went on for some time, then he returned to him and said: </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O king of the animals, it is true, the cow did not disobey you, but she cannot sustain you: you yourself are not a baby to live on milk; furthermore, for the king of the animals, it is not fitting to become a herder or to let hunger kill him. If it comes to the point where you starve, I accept that you eat me, my very self: now the animals have disobeyed you, the pact is broken, how will you live? You must hunt, or hunger will kill you. It is not the meat of the cow that catches my attention, it is her hide: a wise old man told me that they make excellent shoes from it: when you wear them, it is not walking that you will walk or running that you will run: it is flying that you will fly! You will look down upon the thickets and the </a:t>
                      </a:r>
                      <a:r>
                        <a:rPr lang="en-US" sz="1100" kern="150" dirty="0" err="1">
                          <a:effectLst/>
                          <a:latin typeface="Cascadia Mono" panose="020B0609020000020004" pitchFamily="49" charset="0"/>
                          <a:cs typeface="Cascadia Mono" panose="020B0609020000020004" pitchFamily="49" charset="0"/>
                        </a:rPr>
                        <a:t>ravins</a:t>
                      </a:r>
                      <a:r>
                        <a:rPr lang="en-US" sz="1100" kern="150" dirty="0">
                          <a:effectLst/>
                          <a:latin typeface="Cascadia Mono" panose="020B0609020000020004" pitchFamily="49" charset="0"/>
                          <a:cs typeface="Cascadia Mono" panose="020B0609020000020004" pitchFamily="49" charset="0"/>
                        </a:rPr>
                        <a:t>: there is no beast you will not catch in a short distance: hunting will become a pastime for you. </a:t>
                      </a:r>
                      <a:endParaRPr lang="fr-FR" sz="1100" kern="150" dirty="0">
                        <a:effectLst/>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243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8705-E0A3-858D-D3C5-8C8D84B47602}"/>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50198D9-EF4B-5BC5-6AE4-4BAC431924CD}"/>
              </a:ext>
            </a:extLst>
          </p:cNvPr>
          <p:cNvGraphicFramePr>
            <a:graphicFrameLocks noGrp="1"/>
          </p:cNvGraphicFramePr>
          <p:nvPr>
            <p:extLst>
              <p:ext uri="{D42A27DB-BD31-4B8C-83A1-F6EECF244321}">
                <p14:modId xmlns:p14="http://schemas.microsoft.com/office/powerpoint/2010/main" val="54290333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ṛṛay-iw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aksum-is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maḍil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ifeṛṛeǧ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ak-ṣenɛeɣ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selxen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If it is my advice, the cow must die so you can sustain your soul with her meat, until God brings relief; as for her hide, I will craft the shoes for you out of it.</a:t>
                      </a:r>
                      <a:endParaRPr lang="fr-FR" sz="1100" kern="150" dirty="0">
                        <a:effectLst/>
                        <a:latin typeface="Cascadia Mono" panose="020B0609020000020004" pitchFamily="49" charset="0"/>
                        <a:cs typeface="Cascadia Mono" panose="020B0609020000020004" pitchFamily="49" charset="0"/>
                      </a:endParaRPr>
                    </a:p>
                    <a:p>
                      <a:pPr indent="216000" algn="l"/>
                      <a:r>
                        <a:rPr lang="en-US" sz="1100" dirty="0"/>
                        <a:t>¶ </a:t>
                      </a:r>
                      <a:r>
                        <a:rPr lang="en-US" sz="1100" kern="150" dirty="0">
                          <a:effectLst/>
                          <a:latin typeface="Cascadia Mono" panose="020B0609020000020004" pitchFamily="49" charset="0"/>
                          <a:cs typeface="Cascadia Mono" panose="020B0609020000020004" pitchFamily="49" charset="0"/>
                        </a:rPr>
                        <a:t>The lion accepted, against his heart: they killed the cow, skinned her, ate her bit by bit, and hid her hide.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01558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3644501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Ticifaḍ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Shoes Crafted by the Wolf</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yuẓa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uɣamac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ifser-it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lɛql-is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yewǧed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isriḥen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tyigiwin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yextaṛ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-sent </a:t>
                      </a:r>
                      <a:r>
                        <a:rPr lang="fr-FR" sz="1100" kern="1200" dirty="0" err="1">
                          <a:solidFill>
                            <a:schemeClr val="tx1"/>
                          </a:solidFill>
                          <a:effectLst/>
                          <a:latin typeface="+mn-lt"/>
                          <a:ea typeface="+mn-ea"/>
                          <a:cs typeface="+mn-cs"/>
                        </a:rPr>
                        <a:t>snat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iqass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ṣebḥent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tindict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nnefda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Ixerreẓ</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agi si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tinnegnit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ṛebɛa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lhunt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ssmayem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ssewwen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iqubel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lbeɛd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Summer had arrived; the heat became oppressive. The wolf salted the cow's hide, oiled it, and spread it out in the shade so that it would dry slowly.</a:t>
                      </a:r>
                    </a:p>
                    <a:p>
                      <a:pPr indent="216000" algn="l"/>
                      <a:r>
                        <a:rPr lang="en-US" sz="1100" kern="150" dirty="0">
                          <a:effectLst/>
                          <a:latin typeface="Cascadia Mono" panose="020B0609020000020004" pitchFamily="49" charset="0"/>
                          <a:cs typeface="Cascadia Mono" panose="020B0609020000020004" pitchFamily="49" charset="0"/>
                        </a:rPr>
                        <a:t>¶ When it was ready, he cut it into strips and sections; he chose two of the best pieces for the lion. He fitted them to him, and once they were properly sized, he began his cobbling: for every stitch, he passed the needle through the hide of the cow and then through the skin of the lion. Each time the needle pierced, the lion would roar, and the wolf would tell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The more they hurt, the more good they do!</a:t>
                      </a:r>
                    </a:p>
                    <a:p>
                      <a:pPr indent="216000" algn="l"/>
                      <a:r>
                        <a:rPr lang="en-US" sz="1100" kern="150" dirty="0">
                          <a:effectLst/>
                          <a:latin typeface="Cascadia Mono" panose="020B0609020000020004" pitchFamily="49" charset="0"/>
                          <a:cs typeface="Cascadia Mono" panose="020B0609020000020004" pitchFamily="49" charset="0"/>
                        </a:rPr>
                        <a:t>He cobbled away at these shoes from morning until noon: one was roaring, and the other was saying:</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The more they hurt, the more good they do!</a:t>
                      </a:r>
                    </a:p>
                    <a:p>
                      <a:pPr indent="216000" algn="l"/>
                      <a:r>
                        <a:rPr lang="en-US" sz="1100" kern="150" dirty="0">
                          <a:effectLst/>
                          <a:latin typeface="Cascadia Mono" panose="020B0609020000020004" pitchFamily="49" charset="0"/>
                          <a:cs typeface="Cascadia Mono" panose="020B0609020000020004" pitchFamily="49" charset="0"/>
                        </a:rPr>
                        <a:t>¶ Then he led him to a knoll just above a great cave, made him lie on his back, and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Direct your four feet toward the sun: the shoes will not be ready until they are dry.</a:t>
                      </a:r>
                    </a:p>
                    <a:p>
                      <a:pPr indent="216000" algn="l"/>
                      <a:r>
                        <a:rPr lang="en-US" sz="1100" kern="150" dirty="0">
                          <a:effectLst/>
                          <a:latin typeface="Cascadia Mono" panose="020B0609020000020004" pitchFamily="49" charset="0"/>
                          <a:cs typeface="Cascadia Mono" panose="020B0609020000020004" pitchFamily="49" charset="0"/>
                        </a:rPr>
                        <a:t>¶ The lion remained there under the midsummer sun until the afternoon breeze: his feet were burning hot, and the hide dried and tightened upon them. He suffered agonizing pain. The wolf faced him from afar, watching from the shade. When the breeze picked up, he called out to him and said:</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759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5677898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teẓreḍ</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wefṛux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qerru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addud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tmeddit</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lferg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usekkur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tsekkrin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Ɛahed-aɣ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aɣ-teččiḍ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nsellek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Iɛahed-itent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ttawint</a:t>
                      </a:r>
                      <a:r>
                        <a:rPr lang="fr-FR" sz="1100" kern="1200" dirty="0">
                          <a:solidFill>
                            <a:schemeClr val="tx1"/>
                          </a:solidFill>
                          <a:effectLst/>
                          <a:latin typeface="+mn-lt"/>
                          <a:ea typeface="+mn-ea"/>
                          <a:cs typeface="+mn-cs"/>
                        </a:rPr>
                        <a:t> aman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qubab-nsent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slexsent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yerḍeb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xesfent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lexyuḍ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leḥṛaṛa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tsekkurt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yessebleɛ-itt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tufeg</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yexdim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wurrif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Jump now! You will see if you do not fly like a bird in the sky!</a:t>
                      </a:r>
                    </a:p>
                    <a:p>
                      <a:pPr indent="216000" algn="l"/>
                      <a:r>
                        <a:rPr lang="en-US" sz="1100" kern="150" dirty="0">
                          <a:effectLst/>
                          <a:latin typeface="Cascadia Mono" panose="020B0609020000020004" pitchFamily="49" charset="0"/>
                          <a:cs typeface="Cascadia Mono" panose="020B0609020000020004" pitchFamily="49" charset="0"/>
                        </a:rPr>
                        <a:t>¶ The lion jumped into the cliff and tumbled head over heels down to the bottom of the ravine: he was completely broken, and he could not even stand up. The wolf had set this trap for him to kill him so that he could eat him too, but when he saw that he survived, he fled.</a:t>
                      </a:r>
                    </a:p>
                    <a:p>
                      <a:pPr indent="216000" algn="l"/>
                      <a:r>
                        <a:rPr lang="en-US" sz="1100" kern="150" dirty="0">
                          <a:effectLst/>
                          <a:latin typeface="Cascadia Mono" panose="020B0609020000020004" pitchFamily="49" charset="0"/>
                          <a:cs typeface="Cascadia Mono" panose="020B0609020000020004" pitchFamily="49" charset="0"/>
                        </a:rPr>
                        <a:t>¶ Toward evening, a covey of partridges moved up the ravine and found the lion in a terrible state.</a:t>
                      </a:r>
                    </a:p>
                    <a:p>
                      <a:pPr indent="216000" algn="l"/>
                      <a:r>
                        <a:rPr lang="en-US" sz="1100" kern="150" dirty="0">
                          <a:effectLst/>
                          <a:latin typeface="Cascadia Mono" panose="020B0609020000020004" pitchFamily="49" charset="0"/>
                          <a:cs typeface="Cascadia Mono" panose="020B0609020000020004" pitchFamily="49" charset="0"/>
                        </a:rPr>
                        <a:t>The partridges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Swear to us by God that you will not eat us, and we will save you!</a:t>
                      </a:r>
                    </a:p>
                    <a:p>
                      <a:pPr indent="216000" algn="l"/>
                      <a:r>
                        <a:rPr lang="en-US" sz="1100" kern="150" dirty="0">
                          <a:effectLst/>
                          <a:latin typeface="Cascadia Mono" panose="020B0609020000020004" pitchFamily="49" charset="0"/>
                          <a:cs typeface="Cascadia Mono" panose="020B0609020000020004" pitchFamily="49" charset="0"/>
                        </a:rPr>
                        <a:t>¶ He made the pact with them. They began bringing water in their beaks, soaking the shoes until the leather softened; they cut away the threads, and the shoes fell off. Filled with fierce hunger, the lion pounced upon a partridge and swallowed her whole: he broke his oath to God. Then he gaped, and she flew out alive from his stomach!</a:t>
                      </a:r>
                    </a:p>
                    <a:p>
                      <a:pPr indent="216000" algn="l"/>
                      <a:r>
                        <a:rPr lang="en-US" sz="1100" kern="150" dirty="0">
                          <a:effectLst/>
                          <a:latin typeface="Cascadia Mono" panose="020B0609020000020004" pitchFamily="49" charset="0"/>
                          <a:cs typeface="Cascadia Mono" panose="020B0609020000020004" pitchFamily="49" charset="0"/>
                        </a:rPr>
                        <a:t>¶ The lion got up and went groaning back to his cave, where he lay down: he did not suffer from his injuries as much as he suffered from his rage.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7005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17471743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Ttaṛ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Vengeance of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Yeḥbes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ibezgen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ṭṭreḍqen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arṣeḍ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tawla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yettaɣen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yesmekti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lexdiɛa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ccwi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yuman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yessemlal-iten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trigla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tusa</a:t>
                      </a:r>
                      <a:r>
                        <a:rPr lang="fr-FR" sz="1100" kern="1200" dirty="0">
                          <a:solidFill>
                            <a:schemeClr val="tx1"/>
                          </a:solidFill>
                          <a:effectLst/>
                          <a:latin typeface="+mn-lt"/>
                          <a:ea typeface="+mn-ea"/>
                          <a:cs typeface="+mn-cs"/>
                        </a:rPr>
                        <a:t>-d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falku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izgel-it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a:t>
                      </a:r>
                      <a:r>
                        <a:rPr lang="fr-FR" sz="1100" kern="1200" dirty="0">
                          <a:solidFill>
                            <a:schemeClr val="tx1"/>
                          </a:solidFill>
                          <a:effectLst/>
                          <a:latin typeface="+mn-lt"/>
                          <a:ea typeface="+mn-ea"/>
                          <a:cs typeface="+mn-cs"/>
                        </a:rPr>
                        <a:t>-as kan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cṭir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lxaffa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wemcic</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nnug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ifadden-is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Yesxenzer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wuglan-is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ineẓ</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gma</a:t>
                      </a:r>
                      <a:r>
                        <a:rPr lang="fr-FR" sz="1100" kern="1200">
                          <a:solidFill>
                            <a:schemeClr val="tx1"/>
                          </a:solidFill>
                          <a:effectLst/>
                          <a:latin typeface="+mn-lt"/>
                          <a:ea typeface="+mn-ea"/>
                          <a:cs typeface="+mn-cs"/>
                        </a:rPr>
                        <a:t>-s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cfu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imeslayen-iw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zegleɣ</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temneɛḍ-iyi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ɛllmeɣ</a:t>
                      </a:r>
                      <a:r>
                        <a:rPr lang="fr-FR" sz="1100" kern="1200" dirty="0">
                          <a:solidFill>
                            <a:schemeClr val="tx1"/>
                          </a:solidFill>
                          <a:effectLst/>
                          <a:latin typeface="+mn-lt"/>
                          <a:ea typeface="+mn-ea"/>
                          <a:cs typeface="+mn-cs"/>
                        </a:rPr>
                        <a:t>-k: anda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watma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rẓeɣ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tettnejbaṛeḍ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lion stayed inside his cave for many days; his feet became swollen and burst with suppuration, and the fever that caught him from them left him helpless.</a:t>
                      </a:r>
                    </a:p>
                    <a:p>
                      <a:pPr indent="216000" algn="l"/>
                      <a:r>
                        <a:rPr lang="en-US" sz="1100" kern="150" dirty="0">
                          <a:effectLst/>
                          <a:latin typeface="Cascadia Mono" panose="020B0609020000020004" pitchFamily="49" charset="0"/>
                          <a:cs typeface="Cascadia Mono" panose="020B0609020000020004" pitchFamily="49" charset="0"/>
                        </a:rPr>
                        <a:t>¶ When he remembered the laugh the wolf had laughed at him, and the betrayal he had betrayed him with, he would thunder like a storm cloud.</a:t>
                      </a:r>
                    </a:p>
                    <a:p>
                      <a:pPr indent="216000" algn="l"/>
                      <a:r>
                        <a:rPr lang="en-US" sz="1100" kern="150" dirty="0">
                          <a:effectLst/>
                          <a:latin typeface="Cascadia Mono" panose="020B0609020000020004" pitchFamily="49" charset="0"/>
                          <a:cs typeface="Cascadia Mono" panose="020B0609020000020004" pitchFamily="49" charset="0"/>
                        </a:rPr>
                        <a:t>¶ When he felt slightly better, he rose and went out to search for the wolf, to take his revenge. He turned the world upside down and looked everywhere, but he did not find him. One day, God brought them together in a place: from this side and that side, it was a wall of rock straight as a snare. For the wolf, the world came to an end: he saw death present before him: the owner of justice had arrived!</a:t>
                      </a:r>
                    </a:p>
                    <a:p>
                      <a:pPr indent="216000" algn="l"/>
                      <a:r>
                        <a:rPr lang="en-US" sz="1100" kern="150" dirty="0">
                          <a:effectLst/>
                          <a:latin typeface="Cascadia Mono" panose="020B0609020000020004" pitchFamily="49" charset="0"/>
                          <a:cs typeface="Cascadia Mono" panose="020B0609020000020004" pitchFamily="49" charset="0"/>
                        </a:rPr>
                        <a:t>¶ The lion struck at him like a falcon and missed him: he only cut off his tail! The wolf was clever, and fear added to his swiftness: he climbed up the rock like a cat on a wall. He reached safety, out of reach, and sat there: his limbs stiffened, and he was shaking like a leaf.</a:t>
                      </a:r>
                    </a:p>
                    <a:p>
                      <a:pPr indent="216000" algn="l"/>
                      <a:r>
                        <a:rPr lang="en-US" sz="1100" kern="150" dirty="0">
                          <a:effectLst/>
                          <a:latin typeface="Cascadia Mono" panose="020B0609020000020004" pitchFamily="49" charset="0"/>
                          <a:cs typeface="Cascadia Mono" panose="020B0609020000020004" pitchFamily="49" charset="0"/>
                        </a:rPr>
                        <a:t>¶ The lion tore the wolf's tail with his teeth and his claws until it was shredded completely, then he turned and said to him:</a:t>
                      </a:r>
                    </a:p>
                    <a:p>
                      <a:pPr indent="216000" algn="l"/>
                      <a:r>
                        <a:rPr lang="en-US" sz="1100" kern="150" dirty="0">
                          <a:effectLst/>
                          <a:latin typeface="Cascadia Mono" panose="020B0609020000020004" pitchFamily="49" charset="0"/>
                          <a:cs typeface="Cascadia Mono" panose="020B0609020000020004" pitchFamily="49" charset="0"/>
                        </a:rPr>
                        <a:t>— Oh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you betrayer, remember my words, you have sealed your own fate! This time I missed you and you escaped me, but I warn you: wherever you are, I will recognize you among your brothers. Even if the world has only one day left, I will catch you, I will break your backbone so you will never be mended: I will eat your brains and drink your blood!</a:t>
                      </a:r>
                    </a:p>
                    <a:p>
                      <a:pPr indent="216000" algn="l"/>
                      <a:r>
                        <a:rPr lang="en-US" sz="1100" kern="150" dirty="0">
                          <a:effectLst/>
                          <a:latin typeface="Cascadia Mono" panose="020B0609020000020004" pitchFamily="49" charset="0"/>
                          <a:cs typeface="Cascadia Mono" panose="020B0609020000020004" pitchFamily="49" charset="0"/>
                        </a:rPr>
                        <a:t>¶ From then on, each one took his own path.</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3318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111087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Tameɣrust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ḥdeṛ</a:t>
                      </a:r>
                      <a:r>
                        <a:rPr lang="fr-FR" sz="1200" b="1" kern="150" dirty="0">
                          <a:effectLst/>
                          <a:latin typeface="Cascadia Mono" panose="020B0609020000020004" pitchFamily="49" charset="0"/>
                          <a:cs typeface="Cascadia Mono" panose="020B0609020000020004" pitchFamily="49" charset="0"/>
                        </a:rPr>
                        <a:t> </a:t>
                      </a:r>
                      <a:r>
                        <a:rPr lang="fr-FR" sz="1200" b="1" kern="150" dirty="0" err="1">
                          <a:effectLst/>
                          <a:latin typeface="Cascadia Mono" panose="020B0609020000020004" pitchFamily="49" charset="0"/>
                          <a:cs typeface="Cascadia Mono" panose="020B0609020000020004" pitchFamily="49" charset="0"/>
                        </a:rPr>
                        <a:t>bbwa</a:t>
                      </a:r>
                      <a:r>
                        <a:rPr lang="fr-FR" sz="1200" b="1" kern="150" dirty="0">
                          <a:effectLst/>
                          <a:latin typeface="Cascadia Mono" panose="020B0609020000020004" pitchFamily="49" charset="0"/>
                          <a:cs typeface="Cascadia Mono" panose="020B0609020000020004" pitchFamily="49" charset="0"/>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Fig Tree of "Watch out for it!"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ttexmim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uḥebbeṛ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asɣar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tniri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fkan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iferrawen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ṣeggmen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ifurkawen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taneqlett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tbexsisin</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ileqqaqen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lweqt-nsen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tɛeǧǧben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Belɛejjuḍ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taleqqaqt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ttnaɣen</a:t>
                      </a:r>
                      <a:r>
                        <a:rPr lang="fr-FR" sz="1100" kern="1200" dirty="0">
                          <a:solidFill>
                            <a:schemeClr val="tx1"/>
                          </a:solidFill>
                          <a:effectLst/>
                          <a:latin typeface="+mn-lt"/>
                          <a:ea typeface="+mn-ea"/>
                          <a:cs typeface="+mn-cs"/>
                        </a:rPr>
                        <a:t>. Yenna-yasen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d </a:t>
                      </a:r>
                      <a:r>
                        <a:rPr lang="fr-FR" sz="1100" kern="1200" dirty="0" err="1">
                          <a:solidFill>
                            <a:schemeClr val="tx1"/>
                          </a:solidFill>
                          <a:effectLst/>
                          <a:latin typeface="+mn-lt"/>
                          <a:ea typeface="+mn-ea"/>
                          <a:cs typeface="+mn-cs"/>
                        </a:rPr>
                        <a:t>leqbiḥ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yecmet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leqniɛa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From the day his tail was cut off, the wolf was never at peace: worry and anxiety entered him. Because he was so confused about what to do, he went to an ancient elder to consult him. The elder gave him a dry cutting of a fig tree and advised him on what to do.</a:t>
                      </a:r>
                    </a:p>
                    <a:p>
                      <a:pPr indent="216000" algn="l"/>
                      <a:r>
                        <a:rPr lang="en-US" sz="1100" kern="150" dirty="0">
                          <a:effectLst/>
                          <a:latin typeface="Cascadia Mono" panose="020B0609020000020004" pitchFamily="49" charset="0"/>
                          <a:cs typeface="Cascadia Mono" panose="020B0609020000020004" pitchFamily="49" charset="0"/>
                        </a:rPr>
                        <a:t>¶ The wolf took it and planted it in the desert plain. In an instant, it turned green, its buds opened, it put forth leaves, its branches formed, and it became a young fig tree. Then, the figs hatched, the early figs ripened, and the soft, sweet fruits began to fall before their season.</a:t>
                      </a:r>
                    </a:p>
                    <a:p>
                      <a:pPr indent="216000" algn="l"/>
                      <a:r>
                        <a:rPr lang="en-US" sz="1100" kern="150" dirty="0">
                          <a:effectLst/>
                          <a:latin typeface="Cascadia Mono" panose="020B0609020000020004" pitchFamily="49" charset="0"/>
                          <a:cs typeface="Cascadia Mono" panose="020B0609020000020004" pitchFamily="49" charset="0"/>
                        </a:rPr>
                        <a:t>¶ Right away, the wolf called out to his brothers; they all came and were amazed: the marvelous fig tree was ripe! They began to eat the soft figs and fight each other.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said to them:</a:t>
                      </a:r>
                    </a:p>
                    <a:p>
                      <a:pPr indent="216000" algn="l"/>
                      <a:r>
                        <a:rPr lang="en-US" sz="1100" kern="150" dirty="0">
                          <a:effectLst/>
                          <a:latin typeface="Cascadia Mono" panose="020B0609020000020004" pitchFamily="49" charset="0"/>
                          <a:cs typeface="Cascadia Mono" panose="020B0609020000020004" pitchFamily="49" charset="0"/>
                        </a:rPr>
                        <a:t>— Oh brothers, this behavior is wicked and ugly!</a:t>
                      </a:r>
                    </a:p>
                    <a:p>
                      <a:pPr indent="216000" algn="l"/>
                      <a:r>
                        <a:rPr lang="en-US" sz="1100" kern="150" dirty="0">
                          <a:effectLst/>
                          <a:latin typeface="Cascadia Mono" panose="020B0609020000020004" pitchFamily="49" charset="0"/>
                          <a:cs typeface="Cascadia Mono" panose="020B0609020000020004" pitchFamily="49" charset="0"/>
                        </a:rPr>
                        <a:t>¶ Then, so that contentment would settle in their hearts and each one would eat his fair share, he tied all of their tails with a rope to the trunk of the fig tree. Then, he shook it, and the figs became like dust on the ground.</a:t>
                      </a:r>
                      <a:endParaRPr lang="fr-FR" sz="1100" kern="150" dirty="0">
                        <a:effectLst/>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6061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CF9D-4404-3A9E-8387-1CA986033D78}"/>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2F193F3-D890-5D17-287E-8B53139EEDD7}"/>
              </a:ext>
            </a:extLst>
          </p:cNvPr>
          <p:cNvGraphicFramePr>
            <a:graphicFrameLocks noGrp="1"/>
          </p:cNvGraphicFramePr>
          <p:nvPr>
            <p:extLst>
              <p:ext uri="{D42A27DB-BD31-4B8C-83A1-F6EECF244321}">
                <p14:modId xmlns:p14="http://schemas.microsoft.com/office/powerpoint/2010/main" val="3456790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tirni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tqureb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cceɣl-nsen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Imnayen</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Mxeṛwaɛen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jebden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ijeḥnaḍ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The wolves ate, each advancing in his own row, while he stood watch over them from a nearby hill.</a:t>
                      </a:r>
                    </a:p>
                    <a:p>
                      <a:pPr indent="216000" algn="l"/>
                      <a:r>
                        <a:rPr lang="en-US" sz="1100" dirty="0"/>
                        <a:t>¶ As soon as he saw they were fully occupied and felt safe, he began to strike and shout:</a:t>
                      </a:r>
                    </a:p>
                    <a:p>
                      <a:pPr indent="216000" algn="l"/>
                      <a:r>
                        <a:rPr lang="en-US" sz="1100" dirty="0"/>
                        <a:t>— The hounds! The horsemen! Oh Ben </a:t>
                      </a:r>
                      <a:r>
                        <a:rPr lang="en-US" sz="1100" dirty="0" err="1"/>
                        <a:t>Yeɛqub</a:t>
                      </a:r>
                      <a:r>
                        <a:rPr lang="en-US" sz="1100" dirty="0"/>
                        <a:t>, there they are!</a:t>
                      </a:r>
                    </a:p>
                    <a:p>
                      <a:pPr indent="216000" algn="l"/>
                      <a:r>
                        <a:rPr lang="en-US" sz="1100" dirty="0"/>
                        <a:t>The wolves panicked, pulled with all their might, and fled, each taking whichever path opened before them, leaving all of their tails behind in the rope.</a:t>
                      </a:r>
                    </a:p>
                    <a:p>
                      <a:pPr indent="216000" algn="l"/>
                      <a:r>
                        <a:rPr lang="en-US" sz="1100" dirty="0"/>
                        <a:t>¶ </a:t>
                      </a:r>
                      <a:r>
                        <a:rPr lang="fr-FR" sz="1100" kern="1200" dirty="0" err="1">
                          <a:solidFill>
                            <a:schemeClr val="tx1"/>
                          </a:solidFill>
                          <a:effectLst/>
                          <a:latin typeface="+mn-lt"/>
                          <a:ea typeface="+mn-ea"/>
                          <a:cs typeface="+mn-cs"/>
                        </a:rPr>
                        <a:t>Mḥemmed</a:t>
                      </a:r>
                      <a:r>
                        <a:rPr lang="en-US" sz="1100" dirty="0"/>
                        <a:t> rejoiced: he had achieved what he wanted. Now, all of the wolves had no tails: there was no way for the lion to recognize him among them!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62661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96732595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Tibḥrt n lebṣel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Onion Garden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iṣegged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yessegra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aɛdaw-is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ḥdeṛ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bbawa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isserreḥ</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yennan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taɣzut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iketteṛ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urḍan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yettɣimi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tabellust</a:t>
                      </a:r>
                      <a:r>
                        <a:rPr lang="fr-FR" sz="1100" kern="1200" dirty="0">
                          <a:solidFill>
                            <a:schemeClr val="tx1"/>
                          </a:solidFill>
                          <a:effectLst/>
                          <a:latin typeface="+mn-lt"/>
                          <a:ea typeface="+mn-ea"/>
                          <a:cs typeface="+mn-cs"/>
                        </a:rPr>
                        <a:t>. Yenna-yasen:</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lion went out to hunt and met a wolf whose tail was cut off. He struck him, broke him, ate his brains, and licked up his blood; he believed he had killed his enemy. The next day, he met another wolf who also had his tail cut off.</a:t>
                      </a:r>
                    </a:p>
                    <a:p>
                      <a:pPr indent="216000" algn="l"/>
                      <a:r>
                        <a:rPr lang="en-US" sz="1100" kern="150" dirty="0">
                          <a:effectLst/>
                          <a:latin typeface="Cascadia Mono" panose="020B0609020000020004" pitchFamily="49" charset="0"/>
                          <a:cs typeface="Cascadia Mono" panose="020B0609020000020004" pitchFamily="49" charset="0"/>
                        </a:rPr>
                        <a:t>¶ The lion was amazed: he caught him and questioned him, and the wolf told him the story of the "Watch out for it!" fig tree; he let him go, and the wolf left.</a:t>
                      </a:r>
                    </a:p>
                    <a:p>
                      <a:pPr indent="216000" algn="l"/>
                      <a:r>
                        <a:rPr lang="en-US" sz="1100" kern="150" dirty="0">
                          <a:effectLst/>
                          <a:latin typeface="Cascadia Mono" panose="020B0609020000020004" pitchFamily="49" charset="0"/>
                          <a:cs typeface="Cascadia Mono" panose="020B0609020000020004" pitchFamily="49" charset="0"/>
                        </a:rPr>
                        <a:t>¶ Because the lion was so confused about what to do, he went to the ancient elder to consult him and ask for his advice. The elder said to him:</a:t>
                      </a:r>
                    </a:p>
                    <a:p>
                      <a:pPr indent="216000" algn="l"/>
                      <a:r>
                        <a:rPr lang="en-US" sz="1100" kern="150" dirty="0">
                          <a:effectLst/>
                          <a:latin typeface="Cascadia Mono" panose="020B0609020000020004" pitchFamily="49" charset="0"/>
                          <a:cs typeface="Cascadia Mono" panose="020B0609020000020004" pitchFamily="49" charset="0"/>
                        </a:rPr>
                        <a:t>— Go, make a garden of very sharp onions, and bring all the wolves there to chew them up. Whoever says: ḥ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that one is your enemy!</a:t>
                      </a:r>
                    </a:p>
                    <a:p>
                      <a:pPr indent="216000" algn="l"/>
                      <a:r>
                        <a:rPr lang="en-US" sz="1100" kern="150" dirty="0">
                          <a:effectLst/>
                          <a:latin typeface="Cascadia Mono" panose="020B0609020000020004" pitchFamily="49" charset="0"/>
                          <a:cs typeface="Cascadia Mono" panose="020B0609020000020004" pitchFamily="49" charset="0"/>
                        </a:rPr>
                        <a:t>¶ The lion went and plowed a whole fertile valley entirely with his claws, planted it with onions, and watered it heavily. Before long, the garden turned green like the sea. Then, he called out to the wolves, and they all came. He coerced them to chew them all up, so that not a single leaf or bulb would remain. He said to them:</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6702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9136710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Win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ɛeddren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yetḥeṛma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Niɣ</a:t>
                      </a:r>
                      <a:r>
                        <a:rPr lang="fr-FR" sz="1100" kern="1200" dirty="0">
                          <a:solidFill>
                            <a:schemeClr val="tx1"/>
                          </a:solidFill>
                          <a:effectLst/>
                          <a:latin typeface="+mn-lt"/>
                          <a:ea typeface="+mn-ea"/>
                          <a:cs typeface="+mn-cs"/>
                        </a:rPr>
                        <a:t>, a sidi, </a:t>
                      </a:r>
                      <a:r>
                        <a:rPr lang="fr-FR" sz="1100" kern="1200" dirty="0" err="1">
                          <a:solidFill>
                            <a:schemeClr val="tx1"/>
                          </a:solidFill>
                          <a:effectLst/>
                          <a:latin typeface="+mn-lt"/>
                          <a:ea typeface="+mn-ea"/>
                          <a:cs typeface="+mn-cs"/>
                        </a:rPr>
                        <a:t>tenniḍ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yenṭeq</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ɣur-wat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tettum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as-</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tbellust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ara.</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Whoever says: ḥ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I will eat him, health and heartiness, strength and handsomeness!</a:t>
                      </a:r>
                    </a:p>
                    <a:p>
                      <a:pPr indent="216000" algn="l"/>
                      <a:r>
                        <a:rPr lang="en-US" sz="1100" kern="150" dirty="0">
                          <a:effectLst/>
                          <a:latin typeface="Cascadia Mono" panose="020B0609020000020004" pitchFamily="49" charset="0"/>
                          <a:cs typeface="Cascadia Mono" panose="020B0609020000020004" pitchFamily="49" charset="0"/>
                        </a:rPr>
                        <a:t>¶ The wolves began to crunch; not one of them said: ḥ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except the lion's enemy. However, he was clever: to relieve his burning mouth, whenever he chewed a little, he would say to him:</a:t>
                      </a:r>
                    </a:p>
                    <a:p>
                      <a:pPr indent="216000" algn="l"/>
                      <a:r>
                        <a:rPr lang="en-US" sz="1100" kern="150" dirty="0">
                          <a:effectLst/>
                          <a:latin typeface="Cascadia Mono" panose="020B0609020000020004" pitchFamily="49" charset="0"/>
                          <a:cs typeface="Cascadia Mono" panose="020B0609020000020004" pitchFamily="49" charset="0"/>
                        </a:rPr>
                        <a:t>— Is it not so, my lord, that you said whoever says: ḥ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you will eat him, ḥ-ḥ-ḥ-health and ḥ-ḥ-ḥ-heartiness, strength and ḥ-ḥ-ḥ-handsomeness!</a:t>
                      </a:r>
                    </a:p>
                    <a:p>
                      <a:pPr indent="216000" algn="l"/>
                      <a:r>
                        <a:rPr lang="en-US" sz="1100" kern="150" dirty="0">
                          <a:effectLst/>
                          <a:latin typeface="Cascadia Mono" panose="020B0609020000020004" pitchFamily="49" charset="0"/>
                          <a:cs typeface="Cascadia Mono" panose="020B0609020000020004" pitchFamily="49" charset="0"/>
                        </a:rPr>
                        <a:t>The lion replied to him:</a:t>
                      </a:r>
                    </a:p>
                    <a:p>
                      <a:pPr indent="216000" algn="l"/>
                      <a:r>
                        <a:rPr lang="en-US" sz="1100" kern="150" dirty="0">
                          <a:effectLst/>
                          <a:latin typeface="Cascadia Mono" panose="020B0609020000020004" pitchFamily="49" charset="0"/>
                          <a:cs typeface="Cascadia Mono" panose="020B0609020000020004" pitchFamily="49" charset="0"/>
                        </a:rPr>
                        <a:t>— Exactly!</a:t>
                      </a:r>
                    </a:p>
                    <a:p>
                      <a:pPr indent="216000" algn="l"/>
                      <a:r>
                        <a:rPr lang="en-US" sz="1100" kern="150" dirty="0">
                          <a:effectLst/>
                          <a:latin typeface="Cascadia Mono" panose="020B0609020000020004" pitchFamily="49" charset="0"/>
                          <a:cs typeface="Cascadia Mono" panose="020B0609020000020004" pitchFamily="49" charset="0"/>
                        </a:rPr>
                        <a:t>Then he would turn to the other wolves and speak after chewing a bit more:</a:t>
                      </a:r>
                    </a:p>
                    <a:p>
                      <a:pPr indent="216000" algn="l"/>
                      <a:r>
                        <a:rPr lang="en-US" sz="1100" kern="150" dirty="0">
                          <a:effectLst/>
                          <a:latin typeface="Cascadia Mono" panose="020B0609020000020004" pitchFamily="49" charset="0"/>
                          <a:cs typeface="Cascadia Mono" panose="020B0609020000020004" pitchFamily="49" charset="0"/>
                        </a:rPr>
                        <a:t>— Did you hear, my brothers? The king of the animals has warned you, watch out lest you forget: whoever says: ḥ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a:t>
                      </a:r>
                      <a:r>
                        <a:rPr lang="en-US" sz="1100" kern="150" dirty="0" err="1">
                          <a:effectLst/>
                          <a:latin typeface="Cascadia Mono" panose="020B0609020000020004" pitchFamily="49" charset="0"/>
                          <a:cs typeface="Cascadia Mono" panose="020B0609020000020004" pitchFamily="49" charset="0"/>
                        </a:rPr>
                        <a:t>ḥ</a:t>
                      </a:r>
                      <a:r>
                        <a:rPr lang="en-US" sz="1100" kern="150" dirty="0">
                          <a:effectLst/>
                          <a:latin typeface="Cascadia Mono" panose="020B0609020000020004" pitchFamily="49" charset="0"/>
                          <a:cs typeface="Cascadia Mono" panose="020B0609020000020004" pitchFamily="49" charset="0"/>
                        </a:rPr>
                        <a:t>!, he will eat him, ḥ-ḥ-ḥ-health and ḥ-ḥ-ḥ-heartiness, strength and ḥ-ḥ-ḥ-handsomeness!</a:t>
                      </a:r>
                    </a:p>
                    <a:p>
                      <a:pPr indent="216000" algn="l"/>
                      <a:r>
                        <a:rPr lang="en-US" sz="1100" kern="150" dirty="0">
                          <a:effectLst/>
                          <a:latin typeface="Cascadia Mono" panose="020B0609020000020004" pitchFamily="49" charset="0"/>
                          <a:cs typeface="Cascadia Mono" panose="020B0609020000020004" pitchFamily="49" charset="0"/>
                        </a:rPr>
                        <a:t>They would answer him:</a:t>
                      </a:r>
                    </a:p>
                    <a:p>
                      <a:pPr indent="216000" algn="l"/>
                      <a:r>
                        <a:rPr lang="en-US" sz="1100" kern="150" dirty="0">
                          <a:effectLst/>
                          <a:latin typeface="Cascadia Mono" panose="020B0609020000020004" pitchFamily="49" charset="0"/>
                          <a:cs typeface="Cascadia Mono" panose="020B0609020000020004" pitchFamily="49" charset="0"/>
                        </a:rPr>
                        <a:t>— Exactly!</a:t>
                      </a:r>
                    </a:p>
                    <a:p>
                      <a:pPr indent="216000" algn="l"/>
                      <a:r>
                        <a:rPr lang="en-US" sz="1100" kern="150" dirty="0">
                          <a:effectLst/>
                          <a:latin typeface="Cascadia Mono" panose="020B0609020000020004" pitchFamily="49" charset="0"/>
                          <a:cs typeface="Cascadia Mono" panose="020B0609020000020004" pitchFamily="49" charset="0"/>
                        </a:rPr>
                        <a:t>¶ In this way, until the onions were completely gone and not a bulb or a leaf remained, the lion did not understand the trick, and his enemy was never found out.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003918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6514901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wuccanen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Death of the Wolves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yetterra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yendi-yasen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yettekki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wexṣim-is</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Iṣubb-iten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uɛebbuḍ-nsen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tyersi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iẓerman-nsen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ɛellelen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ṭṭemblen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iɛebbaḍ-nsen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snukkufen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ifhem-itt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f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yenṭerr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inheṛ-iten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neggzen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ugaden</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iḥreṣ-iten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ttneggizen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teṭṭerḍeq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umezwaru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nndama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baṭel</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lion saw that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would escape him, and that he would not take his revenge upon him. ¶ He turned to trap all the wolves so they would all die, so that his enemy would be included among them. ¶ He brought them down to the river. The wolves, their bellies were full of sharp, pungent onions: fire had ignited in their throats and their intestines. He coerced them to drink the entire river, to stop its flow, so that not a single drop would pass. </a:t>
                      </a:r>
                    </a:p>
                    <a:p>
                      <a:pPr indent="216000" algn="l"/>
                      <a:r>
                        <a:rPr lang="en-US" sz="1100" kern="150" dirty="0">
                          <a:effectLst/>
                          <a:latin typeface="Cascadia Mono" panose="020B0609020000020004" pitchFamily="49" charset="0"/>
                          <a:cs typeface="Cascadia Mono" panose="020B0609020000020004" pitchFamily="49" charset="0"/>
                        </a:rPr>
                        <a:t>¶ They began to drink until they choked, their bellies bloated from the water and the onions, and they gasped for breath: they stopped, unable to add another drop or to flee.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understood it: he simply placed his mouth on the water and suffered no harm.</a:t>
                      </a:r>
                    </a:p>
                    <a:p>
                      <a:pPr indent="216000" algn="l"/>
                      <a:r>
                        <a:rPr lang="en-US" sz="1100" kern="150" dirty="0">
                          <a:effectLst/>
                          <a:latin typeface="Cascadia Mono" panose="020B0609020000020004" pitchFamily="49" charset="0"/>
                          <a:cs typeface="Cascadia Mono" panose="020B0609020000020004" pitchFamily="49" charset="0"/>
                        </a:rPr>
                        <a:t> ¶ After that, the lion drove them like cattle to that precipice down which he had rolled. He coerced them to jump: it was certain death, but what they feared was exactly what the lion desired: he pressed them, and they began to jump. When one of them leaped, he rolled down the precipice, his belly burst, and he died; another jumped, rolled down, and died just like the first one, until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was left as the last. He bounded into the precipice, fled, and escaped: only then did the lion recognize him. </a:t>
                      </a:r>
                    </a:p>
                    <a:p>
                      <a:pPr indent="216000" algn="l"/>
                      <a:r>
                        <a:rPr lang="en-US" sz="1100" kern="150" dirty="0">
                          <a:effectLst/>
                          <a:latin typeface="Cascadia Mono" panose="020B0609020000020004" pitchFamily="49" charset="0"/>
                          <a:cs typeface="Cascadia Mono" panose="020B0609020000020004" pitchFamily="49" charset="0"/>
                        </a:rPr>
                        <a:t>¶ The king of animals turned back to his cave, neither the sky nor the earth could hold him: he was thundering with rage, compounded by the regret of having killed all the wolves in vain.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97545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8256007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Aṭṭan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Illness of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Yesteɛmel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men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teḥṣil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iwet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Iceggeɛ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mmeẓren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msamaḥen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Ula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ssalem</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Yusa-d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si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yeldi</a:t>
                      </a:r>
                      <a:r>
                        <a:rPr lang="fr-FR" sz="1100" kern="1200" dirty="0">
                          <a:solidFill>
                            <a:schemeClr val="tx1"/>
                          </a:solidFill>
                          <a:effectLst/>
                          <a:latin typeface="+mn-lt"/>
                          <a:ea typeface="+mn-ea"/>
                          <a:cs typeface="+mn-cs"/>
                        </a:rPr>
                        <a:t>-d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a-tt-a </a:t>
                      </a:r>
                      <a:r>
                        <a:rPr lang="fr-FR" sz="1100" kern="1200" dirty="0" err="1">
                          <a:solidFill>
                            <a:schemeClr val="tx1"/>
                          </a:solidFill>
                          <a:effectLst/>
                          <a:latin typeface="+mn-lt"/>
                          <a:ea typeface="+mn-ea"/>
                          <a:cs typeface="+mn-cs"/>
                        </a:rPr>
                        <a:t>teṛwiḥt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lfawatt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Yugi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Armi i t-id-</a:t>
                      </a:r>
                      <a:r>
                        <a:rPr lang="fr-FR" sz="1100" kern="1200" dirty="0" err="1">
                          <a:solidFill>
                            <a:schemeClr val="tx1"/>
                          </a:solidFill>
                          <a:effectLst/>
                          <a:latin typeface="+mn-lt"/>
                          <a:ea typeface="+mn-ea"/>
                          <a:cs typeface="+mn-cs"/>
                        </a:rPr>
                        <a:t>yeḥṛes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uṣubbu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tin n </a:t>
                      </a:r>
                      <a:r>
                        <a:rPr lang="fr-FR" sz="1100" kern="1200" dirty="0" err="1">
                          <a:solidFill>
                            <a:schemeClr val="tx1"/>
                          </a:solidFill>
                          <a:effectLst/>
                          <a:latin typeface="+mn-lt"/>
                          <a:ea typeface="+mn-ea"/>
                          <a:cs typeface="+mn-cs"/>
                        </a:rPr>
                        <a:t>tuɣalin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endParaRPr lang="en-GB" sz="1100"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For a certain time, the lion acted as though the matter were entirely finished, and he no longer paid any mind to the wolf. He did not look for him, nor did he ask about him at all. He wanted to strike him when he felt safe.</a:t>
                      </a:r>
                    </a:p>
                    <a:p>
                      <a:pPr indent="216000" algn="l"/>
                      <a:r>
                        <a:rPr lang="en-US" sz="1100" kern="150" dirty="0">
                          <a:effectLst/>
                          <a:latin typeface="Cascadia Mono" panose="020B0609020000020004" pitchFamily="49" charset="0"/>
                          <a:cs typeface="Cascadia Mono" panose="020B0609020000020004" pitchFamily="49" charset="0"/>
                        </a:rPr>
                        <a:t>¶ When he judged that enough time had passed for it to be forgotten, he brought a great illness upon himself, trembling and groaning.</a:t>
                      </a:r>
                    </a:p>
                    <a:p>
                      <a:pPr indent="216000" algn="l"/>
                      <a:r>
                        <a:rPr lang="en-US" sz="1100" kern="150" dirty="0">
                          <a:effectLst/>
                          <a:latin typeface="Cascadia Mono" panose="020B0609020000020004" pitchFamily="49" charset="0"/>
                          <a:cs typeface="Cascadia Mono" panose="020B0609020000020004" pitchFamily="49" charset="0"/>
                        </a:rPr>
                        <a:t>¶ He sent word to the animals to come, so they could see one another and forgive each other. The animals believed it: they came. Whoever entered his cave to see him, he ate them; whoever entered his cave to see him, he ate them! Not even a single one came out safe and sound!</a:t>
                      </a:r>
                    </a:p>
                    <a:p>
                      <a:pPr indent="216000" algn="l"/>
                      <a:r>
                        <a:rPr lang="en-US" sz="1100" kern="150" dirty="0">
                          <a:effectLst/>
                          <a:latin typeface="Cascadia Mono" panose="020B0609020000020004" pitchFamily="49" charset="0"/>
                          <a:cs typeface="Cascadia Mono" panose="020B0609020000020004" pitchFamily="49" charset="0"/>
                        </a:rPr>
                        <a:t>¶ The wolf came as well. He called out to him from outside, saying to him:</a:t>
                      </a:r>
                    </a:p>
                    <a:p>
                      <a:pPr indent="216000" algn="l"/>
                      <a:r>
                        <a:rPr lang="en-US" sz="1100" kern="150" dirty="0">
                          <a:effectLst/>
                          <a:latin typeface="Cascadia Mono" panose="020B0609020000020004" pitchFamily="49" charset="0"/>
                          <a:cs typeface="Cascadia Mono" panose="020B0609020000020004" pitchFamily="49" charset="0"/>
                        </a:rPr>
                        <a:t>— O king of animals, how are you?</a:t>
                      </a:r>
                    </a:p>
                    <a:p>
                      <a:pPr indent="216000" algn="l"/>
                      <a:r>
                        <a:rPr lang="en-US" sz="1100" kern="150" dirty="0">
                          <a:effectLst/>
                          <a:latin typeface="Cascadia Mono" panose="020B0609020000020004" pitchFamily="49" charset="0"/>
                          <a:cs typeface="Cascadia Mono" panose="020B0609020000020004" pitchFamily="49" charset="0"/>
                        </a:rPr>
                        <a:t>¶ The lion recognized him, opened his eyes, and found him far away. He turned back to weeping as if the bringer of justice had reached him:</a:t>
                      </a:r>
                    </a:p>
                    <a:p>
                      <a:pPr indent="216000" algn="l"/>
                      <a:r>
                        <a:rPr lang="en-US" sz="1100" kern="150" dirty="0">
                          <a:effectLst/>
                          <a:latin typeface="Cascadia Mono" panose="020B0609020000020004" pitchFamily="49" charset="0"/>
                          <a:cs typeface="Cascadia Mono" panose="020B0609020000020004" pitchFamily="49" charset="0"/>
                        </a:rPr>
                        <a:t>— Come in,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so we may forgive each other! As for me, my soul is departing!</a:t>
                      </a:r>
                    </a:p>
                    <a:p>
                      <a:pPr indent="216000" algn="l"/>
                      <a:r>
                        <a:rPr lang="en-US" sz="1100" kern="150" dirty="0">
                          <a:effectLst/>
                          <a:latin typeface="Cascadia Mono" panose="020B0609020000020004" pitchFamily="49" charset="0"/>
                          <a:cs typeface="Cascadia Mono" panose="020B0609020000020004" pitchFamily="49" charset="0"/>
                        </a:rPr>
                        <a:t>¶ The wolf refused, replying to him:</a:t>
                      </a:r>
                    </a:p>
                    <a:p>
                      <a:pPr indent="216000" algn="l"/>
                      <a:r>
                        <a:rPr lang="en-US" sz="1100" kern="150" dirty="0">
                          <a:effectLst/>
                          <a:latin typeface="Cascadia Mono" panose="020B0609020000020004" pitchFamily="49" charset="0"/>
                          <a:cs typeface="Cascadia Mono" panose="020B0609020000020004" pitchFamily="49" charset="0"/>
                        </a:rPr>
                        <a:t>— Let us forgive each other only from right here. I am in a hurry: I have work to do!</a:t>
                      </a:r>
                    </a:p>
                    <a:p>
                      <a:pPr indent="216000" algn="l"/>
                      <a:r>
                        <a:rPr lang="en-US" sz="1100" kern="150" dirty="0">
                          <a:effectLst/>
                          <a:latin typeface="Cascadia Mono" panose="020B0609020000020004" pitchFamily="49" charset="0"/>
                          <a:cs typeface="Cascadia Mono" panose="020B0609020000020004" pitchFamily="49" charset="0"/>
                        </a:rPr>
                        <a:t>¶ When the lion pressed him further, he said to him:</a:t>
                      </a:r>
                    </a:p>
                    <a:p>
                      <a:pPr indent="216000" algn="l"/>
                      <a:r>
                        <a:rPr lang="en-US" sz="1100" kern="150" dirty="0">
                          <a:effectLst/>
                          <a:latin typeface="Cascadia Mono" panose="020B0609020000020004" pitchFamily="49" charset="0"/>
                          <a:cs typeface="Cascadia Mono" panose="020B0609020000020004" pitchFamily="49" charset="0"/>
                        </a:rPr>
                        <a:t>— I find only the tracks of going down; as for tracks of returning, there are none!</a:t>
                      </a:r>
                      <a:endParaRPr lang="en-GB" sz="11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70087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65755206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cciṭan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ddnub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tsewwqeḍ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ak-ɛellqen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lḥisab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lɛiqab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Mazal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yezmawen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k-</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timeḥbibert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bu tissas </a:t>
                      </a:r>
                      <a:r>
                        <a:rPr lang="fr-FR" sz="1100" kern="1200" dirty="0" err="1">
                          <a:solidFill>
                            <a:schemeClr val="tx1"/>
                          </a:solidFill>
                          <a:effectLst/>
                          <a:latin typeface="+mn-lt"/>
                          <a:ea typeface="+mn-ea"/>
                          <a:cs typeface="+mn-cs"/>
                        </a:rPr>
                        <a:t>ulaḥed-it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temsusam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agemmaḍ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twanaṭ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The lion thundered like a storm cloud, saying to him:</a:t>
                      </a:r>
                    </a:p>
                    <a:p>
                      <a:pPr indent="216000" algn="l"/>
                      <a:r>
                        <a:rPr lang="en-US" sz="1100" dirty="0"/>
                        <a:t>— May God curse you, you traitor! O devil who broke the covenants of God! May God place the sin of all those you brought to market—until I killed them—hanging from your neck alone on the day of reckoning and punishment! From this day forward, between me and you, enmity is established; from this day forward, between my children and your children, enmity is established until the world is destroyed!</a:t>
                      </a:r>
                    </a:p>
                    <a:p>
                      <a:pPr indent="216000" algn="l"/>
                      <a:r>
                        <a:rPr lang="en-US" sz="1100" dirty="0"/>
                        <a:t>¶ After that, each one went his own way.</a:t>
                      </a:r>
                    </a:p>
                    <a:p>
                      <a:pPr indent="216000" algn="l"/>
                      <a:r>
                        <a:rPr lang="en-US" sz="1100" dirty="0"/>
                        <a:t>¶ Even to this day, enmity remains established between lions and wolves.</a:t>
                      </a:r>
                    </a:p>
                    <a:p>
                      <a:pPr indent="216000" algn="l"/>
                      <a:r>
                        <a:rPr lang="en-US" sz="1100" dirty="0"/>
                        <a:t>¶ When it catches you at night in the wilderness, and the wolves are calling out or raising a racket together, understand that the master of courage is nowhere in that land; if the world falls silent and the wolves do not call out, or if just one of them barks from the opposite ridge, understand that the king of </a:t>
                      </a:r>
                      <a:r>
                        <a:rPr lang="en-US" sz="1100" kern="150" dirty="0">
                          <a:effectLst/>
                          <a:latin typeface="Cascadia Mono" panose="020B0609020000020004" pitchFamily="49" charset="0"/>
                          <a:cs typeface="Cascadia Mono" panose="020B0609020000020004" pitchFamily="49" charset="0"/>
                        </a:rPr>
                        <a:t>animals</a:t>
                      </a:r>
                      <a:r>
                        <a:rPr lang="en-US" sz="1100" dirty="0"/>
                        <a:t>, the master of the land, is present in that vicinity.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9599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54279012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#2</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en-US" sz="1100" kern="150" dirty="0">
                          <a:effectLst/>
                          <a:latin typeface="Cascadia Mono" panose="020B0609020000020004" pitchFamily="49" charset="0"/>
                          <a:cs typeface="Cascadia Mono" panose="020B0609020000020004" pitchFamily="49" charset="0"/>
                        </a:rPr>
                        <a:t>The Tale of the Wolf and the Hedgehog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49989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17938055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Di </a:t>
                      </a:r>
                      <a:r>
                        <a:rPr lang="fr-FR" sz="1200" b="1" kern="150" dirty="0" err="1">
                          <a:effectLst/>
                          <a:latin typeface="Cascadia Mono" panose="020B0609020000020004" pitchFamily="49" charset="0"/>
                          <a:cs typeface="Cascadia Mono" panose="020B0609020000020004" pitchFamily="49" charset="0"/>
                        </a:rPr>
                        <a:t>tebḥirt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In the Garden</a:t>
                      </a: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yettsellik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ireṭṭel-it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yemdukal-is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ssarmen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yettkatab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yules-itt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izebbel-itt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iḥemmeṛ-itt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yessew-itt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ẓẓerb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yeṭṭilli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tgusa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kecemen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taxsayt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afeqqus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ṭumaṭic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sxelḍen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ifelfel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ticcert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leḥbeq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akeyyas</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iqiss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yeṭṭembel</a:t>
                      </a:r>
                      <a:r>
                        <a:rPr lang="fr-FR" sz="1100" kern="1200" dirty="0">
                          <a:solidFill>
                            <a:schemeClr val="tx1"/>
                          </a:solidFill>
                          <a:effectLst/>
                          <a:latin typeface="+mn-lt"/>
                          <a:ea typeface="+mn-ea"/>
                          <a:cs typeface="+mn-cs"/>
                        </a:rPr>
                        <a:t>. Slan i </a:t>
                      </a:r>
                      <a:r>
                        <a:rPr lang="fr-FR" sz="1100" kern="1200" dirty="0" err="1">
                          <a:solidFill>
                            <a:schemeClr val="tx1"/>
                          </a:solidFill>
                          <a:effectLst/>
                          <a:latin typeface="+mn-lt"/>
                          <a:ea typeface="+mn-ea"/>
                          <a:cs typeface="+mn-cs"/>
                        </a:rPr>
                        <a:t>lhaffa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yessefqed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temmuteḍ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iḥseb-it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yeskifif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master of a hundred ruses, went to share a den with the hedgehog, master of a single ruse by which he saves himself, plus a half-ruse that he lends to his friends.</a:t>
                      </a:r>
                    </a:p>
                    <a:p>
                      <a:pPr indent="216000" algn="l"/>
                      <a:r>
                        <a:rPr lang="en-US" sz="1100" kern="150" dirty="0">
                          <a:effectLst/>
                          <a:latin typeface="Cascadia Mono" panose="020B0609020000020004" pitchFamily="49" charset="0"/>
                          <a:cs typeface="Cascadia Mono" panose="020B0609020000020004" pitchFamily="49" charset="0"/>
                        </a:rPr>
                        <a:t>¶ That day, they went to rob a garden they had hoped for, containing whatever God had provided in it. Its owner had broken its soil, tilled it again, fertilized it, planted it, hoed it, and watered it; he had surrounded it with a hedge so tight that a wolf could not even look through it. ¶ They found an opening between the stakes and entered. They ate to satiety squash, cucumber, and beans, mixing tomatoes with chili pepper, onion, garlic, and basil.</a:t>
                      </a:r>
                    </a:p>
                    <a:p>
                      <a:pPr indent="216000" algn="l"/>
                      <a:r>
                        <a:rPr lang="en-US" sz="1100" kern="150" dirty="0">
                          <a:effectLst/>
                          <a:latin typeface="Cascadia Mono" panose="020B0609020000020004" pitchFamily="49" charset="0"/>
                          <a:cs typeface="Cascadia Mono" panose="020B0609020000020004" pitchFamily="49" charset="0"/>
                        </a:rPr>
                        <a:t>¶ The hedgehog, who was clever, after eating a little bit, went to measure himself against the opening; the wolf ate until he was bloated. They heard the footsteps of the owner of the garden coming to inspect it: they fled: the hedgehog passed through the opening: the wolf could not: he lost his mind. The hedgehog said to him:</a:t>
                      </a:r>
                    </a:p>
                    <a:p>
                      <a:pPr indent="216000" algn="l"/>
                      <a:r>
                        <a:rPr lang="en-US" sz="1100" kern="150" dirty="0">
                          <a:effectLst/>
                          <a:latin typeface="Cascadia Mono" panose="020B0609020000020004" pitchFamily="49" charset="0"/>
                          <a:cs typeface="Cascadia Mono" panose="020B0609020000020004" pitchFamily="49" charset="0"/>
                        </a:rPr>
                        <a:t>— Pretend you are dead!</a:t>
                      </a:r>
                    </a:p>
                    <a:p>
                      <a:pPr indent="216000" algn="l"/>
                      <a:r>
                        <a:rPr lang="en-US" sz="1100" kern="150" dirty="0">
                          <a:effectLst/>
                          <a:latin typeface="Cascadia Mono" panose="020B0609020000020004" pitchFamily="49" charset="0"/>
                          <a:cs typeface="Cascadia Mono" panose="020B0609020000020004" pitchFamily="49" charset="0"/>
                        </a:rPr>
                        <a:t>¶ The owner of the garden entered, found the wolf stretched out, swollen like a goatskin, and thought he was dead. He spat, repeated it, grabbed him by the leg, and threw him outside the garden: he fled.</a:t>
                      </a:r>
                    </a:p>
                    <a:p>
                      <a:pPr indent="216000" algn="l"/>
                      <a:r>
                        <a:rPr lang="en-US" sz="1100" kern="150" dirty="0">
                          <a:effectLst/>
                          <a:latin typeface="Cascadia Mono" panose="020B0609020000020004" pitchFamily="49" charset="0"/>
                          <a:cs typeface="Cascadia Mono" panose="020B0609020000020004" pitchFamily="49" charset="0"/>
                        </a:rPr>
                        <a:t>¶ The man remained behind, throwing insults after him.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02932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2013583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Di </a:t>
                      </a:r>
                      <a:r>
                        <a:rPr lang="fr-FR" sz="1200" b="1" kern="150" dirty="0" err="1">
                          <a:effectLst/>
                          <a:latin typeface="Cascadia Mono" panose="020B0609020000020004" pitchFamily="49" charset="0"/>
                          <a:cs typeface="Cascadia Mono" panose="020B0609020000020004" pitchFamily="49" charset="0"/>
                        </a:rPr>
                        <a:t>tesraft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nneɛma</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In the Grain Silo</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teggara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aɣummu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iɛemmeṛ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uṛciḥen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ad </a:t>
                      </a:r>
                      <a:r>
                        <a:rPr lang="fr-FR" sz="1100" kern="1200" dirty="0" err="1">
                          <a:solidFill>
                            <a:schemeClr val="tx1"/>
                          </a:solidFill>
                          <a:effectLst/>
                          <a:latin typeface="+mn-lt"/>
                          <a:ea typeface="+mn-ea"/>
                          <a:cs typeface="+mn-cs"/>
                        </a:rPr>
                        <a:t>tekkaw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ara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Eg-iyi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taɛrurt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muqleɣ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ɣ-d-</a:t>
                      </a:r>
                      <a:r>
                        <a:rPr lang="fr-FR" sz="1100" kern="1200" dirty="0" err="1">
                          <a:solidFill>
                            <a:schemeClr val="tx1"/>
                          </a:solidFill>
                          <a:effectLst/>
                          <a:latin typeface="+mn-lt"/>
                          <a:ea typeface="+mn-ea"/>
                          <a:cs typeface="+mn-cs"/>
                        </a:rPr>
                        <a:t>yettafen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zagur-is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temgerṭ-is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yas-tent-iwwet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yettneggiz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yemsex</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ččuṛen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iɛefn-itt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zzehṛ-iw</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uceṭṭiḍ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tamseḍ</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end of autumn arrived, the waters fell, the earth was drenched, and the soil became ripe. One day, the hedgehog and the wolf went to steal from a grain silo.</a:t>
                      </a:r>
                    </a:p>
                    <a:p>
                      <a:pPr indent="216000" algn="l"/>
                      <a:r>
                        <a:rPr lang="en-US" sz="1100" kern="150" dirty="0">
                          <a:effectLst/>
                          <a:latin typeface="Cascadia Mono" panose="020B0609020000020004" pitchFamily="49" charset="0"/>
                          <a:cs typeface="Cascadia Mono" panose="020B0609020000020004" pitchFamily="49" charset="0"/>
                        </a:rPr>
                        <a:t>¶ The peasant had removed the cover, and once he found it had taken in water, he gathered the wet wheat and left the silo to dry. They jumped inside and sat eating. The hedgehog did not forget himself: he ate what God had written for him, and then he said to the wolf:</a:t>
                      </a:r>
                    </a:p>
                    <a:p>
                      <a:pPr indent="216000" algn="l"/>
                      <a:r>
                        <a:rPr lang="en-US" sz="1100" kern="150" dirty="0">
                          <a:effectLst/>
                          <a:latin typeface="Cascadia Mono" panose="020B0609020000020004" pitchFamily="49" charset="0"/>
                          <a:cs typeface="Cascadia Mono" panose="020B0609020000020004" pitchFamily="49" charset="0"/>
                        </a:rPr>
                        <a:t>— Give me your back so I can look out for whoever might find us!</a:t>
                      </a:r>
                    </a:p>
                    <a:p>
                      <a:pPr indent="216000" algn="l"/>
                      <a:r>
                        <a:rPr lang="en-US" sz="1100" kern="150" dirty="0">
                          <a:effectLst/>
                          <a:latin typeface="Cascadia Mono" panose="020B0609020000020004" pitchFamily="49" charset="0"/>
                          <a:cs typeface="Cascadia Mono" panose="020B0609020000020004" pitchFamily="49" charset="0"/>
                        </a:rPr>
                        <a:t>¶ The wolf stood up, the hedgehog climbed onto his back and his neck, leaped outside, and fled.</a:t>
                      </a:r>
                    </a:p>
                    <a:p>
                      <a:pPr indent="216000" algn="l"/>
                      <a:r>
                        <a:rPr lang="en-US" sz="1100" kern="150" dirty="0">
                          <a:effectLst/>
                          <a:latin typeface="Cascadia Mono" panose="020B0609020000020004" pitchFamily="49" charset="0"/>
                          <a:cs typeface="Cascadia Mono" panose="020B0609020000020004" pitchFamily="49" charset="0"/>
                        </a:rPr>
                        <a:t>¶ Only then did the wind hit the wolf: he spent the evening leaping in order to escape, but he found no way.</a:t>
                      </a:r>
                    </a:p>
                    <a:p>
                      <a:pPr indent="216000" algn="l"/>
                      <a:r>
                        <a:rPr lang="en-US" sz="1100" kern="150" dirty="0">
                          <a:effectLst/>
                          <a:latin typeface="Cascadia Mono" panose="020B0609020000020004" pitchFamily="49" charset="0"/>
                          <a:cs typeface="Cascadia Mono" panose="020B0609020000020004" pitchFamily="49" charset="0"/>
                        </a:rPr>
                        <a:t>¶ He heard the peasant approaching: fear transformed him. Then he stretched out and made himself appear dead, just as he had done in the vegetable garden.</a:t>
                      </a:r>
                    </a:p>
                    <a:p>
                      <a:pPr indent="216000" algn="l"/>
                      <a:r>
                        <a:rPr lang="en-US" sz="1100" kern="150" dirty="0">
                          <a:effectLst/>
                          <a:latin typeface="Cascadia Mono" panose="020B0609020000020004" pitchFamily="49" charset="0"/>
                          <a:cs typeface="Cascadia Mono" panose="020B0609020000020004" pitchFamily="49" charset="0"/>
                        </a:rPr>
                        <a:t>¶ The peasant arrived and saw him bloated like a goatskin, his mouth and ears stuffed with wheat, and the silo completely soiled; believing him to be dead, he clapped his hands and cried out:</a:t>
                      </a:r>
                    </a:p>
                    <a:p>
                      <a:pPr indent="216000" algn="l"/>
                      <a:r>
                        <a:rPr lang="en-US" sz="1100" kern="150" dirty="0">
                          <a:effectLst/>
                          <a:latin typeface="Cascadia Mono" panose="020B0609020000020004" pitchFamily="49" charset="0"/>
                          <a:cs typeface="Cascadia Mono" panose="020B0609020000020004" pitchFamily="49" charset="0"/>
                        </a:rPr>
                        <a:t>— Oh, my luck!</a:t>
                      </a:r>
                    </a:p>
                    <a:p>
                      <a:pPr indent="216000" algn="l"/>
                      <a:r>
                        <a:rPr lang="en-US" sz="1100" kern="150" dirty="0">
                          <a:effectLst/>
                          <a:latin typeface="Cascadia Mono" panose="020B0609020000020004" pitchFamily="49" charset="0"/>
                          <a:cs typeface="Cascadia Mono" panose="020B0609020000020004" pitchFamily="49" charset="0"/>
                        </a:rPr>
                        <a:t>¶ Then he stepped down into the silo, turned around, spat, grabbed the wolf with a rag, and flung him outside: he fled! </a:t>
                      </a:r>
                    </a:p>
                    <a:p>
                      <a:pPr indent="216000" algn="l"/>
                      <a:r>
                        <a:rPr lang="en-US" sz="1100" kern="150" dirty="0">
                          <a:effectLst/>
                          <a:latin typeface="Cascadia Mono" panose="020B0609020000020004" pitchFamily="49" charset="0"/>
                          <a:cs typeface="Cascadia Mono" panose="020B0609020000020004" pitchFamily="49" charset="0"/>
                        </a:rPr>
                        <a:t>The man remained there, holding his face in utter dismay!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25808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2111206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leɛmeṛ</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A Question of Age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ccetwa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ageffur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adfel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yeddukel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ttqelliben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lxiṛ-im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Tura, mi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ɛmu</a:t>
                      </a:r>
                      <a:r>
                        <a:rPr lang="fr-FR" sz="1100" kern="1200" dirty="0">
                          <a:solidFill>
                            <a:schemeClr val="tx1"/>
                          </a:solidFill>
                          <a:effectLst/>
                          <a:latin typeface="+mn-lt"/>
                          <a:ea typeface="+mn-ea"/>
                          <a:cs typeface="+mn-cs"/>
                        </a:rPr>
                        <a:t>-yi-d! Mi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tarbibt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waḍil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tecwawt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ttejṛa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imeksawen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(Wi d-</a:t>
                      </a:r>
                      <a:r>
                        <a:rPr lang="fr-FR" sz="1100" kern="1200" dirty="0" err="1">
                          <a:solidFill>
                            <a:schemeClr val="tx1"/>
                          </a:solidFill>
                          <a:effectLst/>
                          <a:latin typeface="+mn-lt"/>
                          <a:ea typeface="+mn-ea"/>
                          <a:cs typeface="+mn-cs"/>
                        </a:rPr>
                        <a:t>yecfan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-tt-id-</a:t>
                      </a:r>
                      <a:r>
                        <a:rPr lang="fr-FR" sz="1100" kern="1200" dirty="0" err="1">
                          <a:solidFill>
                            <a:schemeClr val="tx1"/>
                          </a:solidFill>
                          <a:effectLst/>
                          <a:latin typeface="+mn-lt"/>
                          <a:ea typeface="+mn-ea"/>
                          <a:cs typeface="+mn-cs"/>
                        </a:rPr>
                        <a:t>yellfen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Kemmlen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aftat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yemsewwqen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kan: ad tt-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Winter arrived: rain, wind, hail, and snow. One day, the wolf and the hedgehog went out together. They were hungry, searching for what they might eat. The autumn was over, during which the wolf had found figs as common as dirt on the ground and said: "Take back your bounty, O fig tree!" Now, when he passed under it, he said: "Blind me!" When he spotted a small cluster of grapes at the very top of a tree, he said: "Sour! Sour!"</a:t>
                      </a:r>
                    </a:p>
                    <a:p>
                      <a:pPr indent="216000" algn="l"/>
                      <a:r>
                        <a:rPr lang="en-US" sz="1100" kern="150" dirty="0">
                          <a:effectLst/>
                          <a:latin typeface="Cascadia Mono" panose="020B0609020000020004" pitchFamily="49" charset="0"/>
                          <a:cs typeface="Cascadia Mono" panose="020B0609020000020004" pitchFamily="49" charset="0"/>
                        </a:rPr>
                        <a:t>¶ They found a fresh fig on the road, dropped by some shepherds. The hedgehog said to him:</a:t>
                      </a:r>
                    </a:p>
                    <a:p>
                      <a:pPr indent="216000" algn="l"/>
                      <a:r>
                        <a:rPr lang="en-US" sz="1100" kern="150" dirty="0">
                          <a:effectLst/>
                          <a:latin typeface="Cascadia Mono" panose="020B0609020000020004" pitchFamily="49" charset="0"/>
                          <a:cs typeface="Cascadia Mono" panose="020B0609020000020004" pitchFamily="49" charset="0"/>
                        </a:rPr>
                        <a:t>— Let us divide it.</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No! The one of us who is older in age shall eat it!</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When were you born?</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The day the sea burned (Who remembers the day the sea burned?).</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It was I who kindled it for it!</a:t>
                      </a:r>
                    </a:p>
                    <a:p>
                      <a:pPr indent="216000" algn="l"/>
                      <a:r>
                        <a:rPr lang="en-US" sz="1100" kern="150" dirty="0">
                          <a:effectLst/>
                          <a:latin typeface="Cascadia Mono" panose="020B0609020000020004" pitchFamily="49" charset="0"/>
                          <a:cs typeface="Cascadia Mono" panose="020B0609020000020004" pitchFamily="49" charset="0"/>
                        </a:rPr>
                        <a:t>And so, he ate the fig all by himself.</a:t>
                      </a:r>
                    </a:p>
                    <a:p>
                      <a:pPr indent="216000" algn="l"/>
                      <a:r>
                        <a:rPr lang="en-US" sz="1100" kern="150" dirty="0">
                          <a:effectLst/>
                          <a:latin typeface="Cascadia Mono" panose="020B0609020000020004" pitchFamily="49" charset="0"/>
                          <a:cs typeface="Cascadia Mono" panose="020B0609020000020004" pitchFamily="49" charset="0"/>
                        </a:rPr>
                        <a:t>¶ They continued on their way and found a piece of liver dropped by someone returning from the market. The wolf said it was a flat stone so that he could eat it alone. The hedgehog said to him:</a:t>
                      </a:r>
                    </a:p>
                    <a:p>
                      <a:pPr indent="216000" algn="l"/>
                      <a:r>
                        <a:rPr lang="en-US" sz="1100" kern="150" dirty="0">
                          <a:effectLst/>
                          <a:latin typeface="Cascadia Mono" panose="020B0609020000020004" pitchFamily="49" charset="0"/>
                          <a:cs typeface="Cascadia Mono" panose="020B0609020000020004" pitchFamily="49" charset="0"/>
                        </a:rPr>
                        <a:t>— It is just liver: let us divide it.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7052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B48A-E870-8AD1-2235-E7477B8AFFB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30586F-1BF4-8572-EF9C-CF24E811ECCD}"/>
              </a:ext>
            </a:extLst>
          </p:cNvPr>
          <p:cNvGraphicFramePr>
            <a:graphicFrameLocks noGrp="1"/>
          </p:cNvGraphicFramePr>
          <p:nvPr>
            <p:extLst>
              <p:ext uri="{D42A27DB-BD31-4B8C-83A1-F6EECF244321}">
                <p14:modId xmlns:p14="http://schemas.microsoft.com/office/powerpoint/2010/main" val="199643709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-n ad n-</a:t>
                      </a:r>
                      <a:r>
                        <a:rPr lang="fr-FR" sz="1100" kern="1200" dirty="0" err="1">
                          <a:solidFill>
                            <a:schemeClr val="tx1"/>
                          </a:solidFill>
                          <a:effectLst/>
                          <a:latin typeface="+mn-lt"/>
                          <a:ea typeface="+mn-ea"/>
                          <a:cs typeface="+mn-cs"/>
                        </a:rPr>
                        <a:t>laleɣ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tebḍant-is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-as-tt d </a:t>
                      </a:r>
                      <a:r>
                        <a:rPr lang="fr-FR" sz="1100" kern="1200" dirty="0" err="1">
                          <a:solidFill>
                            <a:schemeClr val="tx1"/>
                          </a:solidFill>
                          <a:effectLst/>
                          <a:latin typeface="+mn-lt"/>
                          <a:ea typeface="+mn-ea"/>
                          <a:cs typeface="+mn-cs"/>
                        </a:rPr>
                        <a:t>tuḥsift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No! The one of us who is younger in age shall eat it!</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When were you born?</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Yesterday!</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Hold me, I am about to be born!</a:t>
                      </a:r>
                    </a:p>
                    <a:p>
                      <a:pPr indent="216000" algn="l"/>
                      <a:r>
                        <a:rPr lang="en-US" sz="1100" kern="150" dirty="0">
                          <a:effectLst/>
                          <a:latin typeface="Cascadia Mono" panose="020B0609020000020004" pitchFamily="49" charset="0"/>
                          <a:cs typeface="Cascadia Mono" panose="020B0609020000020004" pitchFamily="49" charset="0"/>
                        </a:rPr>
                        <a:t>He began to emerge from his skin. And so, he ate that liver all by himself again. The wolf remained hungry, harboring a bitter grudge against him.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7864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1761442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tqellalt n lexliɛa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In the Jar of Preserved Meat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ameɛluf</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lɛid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lwacul-is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yeqqimen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fesren</a:t>
                      </a:r>
                      <a:r>
                        <a:rPr lang="fr-FR" sz="1100" kern="1200" dirty="0">
                          <a:solidFill>
                            <a:schemeClr val="tx1"/>
                          </a:solidFill>
                          <a:effectLst/>
                          <a:latin typeface="+mn-lt"/>
                          <a:ea typeface="+mn-ea"/>
                          <a:cs typeface="+mn-cs"/>
                        </a:rPr>
                        <a:t>-t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terra-t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tesleɣ-itt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buṣuf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tissirt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tǧaṛett-is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Igubeṛ-itt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 di tin n </a:t>
                      </a:r>
                      <a:r>
                        <a:rPr lang="fr-FR" sz="1100" kern="1200" dirty="0" err="1">
                          <a:solidFill>
                            <a:schemeClr val="tx1"/>
                          </a:solidFill>
                          <a:effectLst/>
                          <a:latin typeface="+mn-lt"/>
                          <a:ea typeface="+mn-ea"/>
                          <a:cs typeface="+mn-cs"/>
                        </a:rPr>
                        <a:t>yiḍelli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k-id-taf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mmuteɣ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-t-</a:t>
                      </a:r>
                      <a:r>
                        <a:rPr lang="fr-FR" sz="1100" kern="1200" dirty="0" err="1">
                          <a:solidFill>
                            <a:schemeClr val="tx1"/>
                          </a:solidFill>
                          <a:effectLst/>
                          <a:latin typeface="+mn-lt"/>
                          <a:ea typeface="+mn-ea"/>
                          <a:cs typeface="+mn-cs"/>
                        </a:rPr>
                        <a:t>mleɣ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tferqeḍ</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Anida? Anida?</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ameẓẓuɣ</a:t>
                      </a:r>
                      <a:r>
                        <a:rPr lang="fr-FR" sz="1100" kern="1200" dirty="0">
                          <a:solidFill>
                            <a:schemeClr val="tx1"/>
                          </a:solidFill>
                          <a:effectLst/>
                          <a:latin typeface="+mn-lt"/>
                          <a:ea typeface="+mn-ea"/>
                          <a:cs typeface="+mn-cs"/>
                        </a:rPr>
                        <a:t>-ik!</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A man had slaughtered a well-fattened lamb for the Great Eid. He and his family ate what they ate of it; what remained, he sliced, salted, and they spread it out in the sun. When it dried, the woman placed it into a clay jar and sealed it up.</a:t>
                      </a:r>
                    </a:p>
                    <a:p>
                      <a:pPr indent="216000" algn="l"/>
                      <a:r>
                        <a:rPr lang="en-US" sz="1100" kern="150" dirty="0">
                          <a:effectLst/>
                          <a:latin typeface="Cascadia Mono" panose="020B0609020000020004" pitchFamily="49" charset="0"/>
                          <a:cs typeface="Cascadia Mono" panose="020B0609020000020004" pitchFamily="49" charset="0"/>
                        </a:rPr>
                        <a:t>¶ One day, she looked inside it and found that moths had gotten into it. She took that jar outside, set it in the sun, and went to start a mill of words with her neighbor. The wolf was watching her: then he and the hedgehog joined together to go and steal the preserved meat. The wolf feasted first, eating until he was full; then it was the hedgehog's turn, so the wolf lifted him and placed him inside the jar. He too ate what God had written for him, but no matter how much he begged his companion to pull him out, he refused.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This makes up for yesterday's trick, O </a:t>
                      </a:r>
                      <a:r>
                        <a:rPr lang="fr-FR" sz="1100" kern="1200" dirty="0" err="1">
                          <a:solidFill>
                            <a:schemeClr val="tx1"/>
                          </a:solidFill>
                          <a:effectLst/>
                          <a:latin typeface="+mn-lt"/>
                          <a:ea typeface="+mn-ea"/>
                          <a:cs typeface="+mn-cs"/>
                        </a:rPr>
                        <a:t>Muḥend</a:t>
                      </a:r>
                      <a:r>
                        <a:rPr lang="en-US" sz="1100" kern="150" dirty="0">
                          <a:effectLst/>
                          <a:latin typeface="Cascadia Mono" panose="020B0609020000020004" pitchFamily="49" charset="0"/>
                          <a:cs typeface="Cascadia Mono" panose="020B0609020000020004" pitchFamily="49" charset="0"/>
                        </a:rPr>
                        <a:t>! Stay in there until your mistress finds you: a hedgehog makes a fine dinner!</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The hedgehog said to him: As for me, I am already dead, but I have hidden a treasure: come close, let me show it to you so you can divide it between yourself and my children.</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The wolf said to him: Where? Where?</a:t>
                      </a:r>
                    </a:p>
                    <a:p>
                      <a:pPr indent="216000" algn="l"/>
                      <a:r>
                        <a:rPr lang="en-US" sz="1100" kern="150" dirty="0">
                          <a:effectLst/>
                          <a:latin typeface="Cascadia Mono" panose="020B0609020000020004" pitchFamily="49" charset="0"/>
                          <a:cs typeface="Cascadia Mono" panose="020B0609020000020004" pitchFamily="49" charset="0"/>
                        </a:rPr>
                        <a:t>— The hedgehog replied to him: Here it is! Here it is… the treasure! Bring your ear close!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36714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7B436-0C53-34DA-510A-CF4B088FB74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2BF2F03-A279-CE3F-4587-065B2D5ACAC0}"/>
              </a:ext>
            </a:extLst>
          </p:cNvPr>
          <p:cNvGraphicFramePr>
            <a:graphicFrameLocks noGrp="1"/>
          </p:cNvGraphicFramePr>
          <p:nvPr>
            <p:extLst>
              <p:ext uri="{D42A27DB-BD31-4B8C-83A1-F6EECF244321}">
                <p14:modId xmlns:p14="http://schemas.microsoft.com/office/powerpoint/2010/main" val="404708983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tugad</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mkemmda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The wolf brought his ear close: the hedgehog caught it with his teeth and bit into it. Sir </a:t>
                      </a:r>
                      <a:r>
                        <a:rPr lang="fr-FR" sz="1100" kern="1200" dirty="0" err="1">
                          <a:solidFill>
                            <a:schemeClr val="tx1"/>
                          </a:solidFill>
                          <a:effectLst/>
                          <a:latin typeface="+mn-lt"/>
                          <a:ea typeface="+mn-ea"/>
                          <a:cs typeface="+mn-cs"/>
                        </a:rPr>
                        <a:t>Mḥemmed</a:t>
                      </a:r>
                      <a:r>
                        <a:rPr lang="en-US" sz="1100" dirty="0"/>
                        <a:t> leaped backward, and </a:t>
                      </a:r>
                      <a:r>
                        <a:rPr lang="fr-FR" sz="1100" kern="1200" dirty="0" err="1">
                          <a:solidFill>
                            <a:schemeClr val="tx1"/>
                          </a:solidFill>
                          <a:effectLst/>
                          <a:latin typeface="+mn-lt"/>
                          <a:ea typeface="+mn-ea"/>
                          <a:cs typeface="+mn-cs"/>
                        </a:rPr>
                        <a:t>Muḥend</a:t>
                      </a:r>
                      <a:r>
                        <a:rPr lang="en-US" sz="1100" dirty="0"/>
                        <a:t> came out along with him from the jar, escaping safely. As for the woman, because she was so afraid her husband would beat her, she kept the whole matter hidden deep inside.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889499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2719519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tdewwiṛt n tzizwa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In the Bee </a:t>
                      </a:r>
                      <a:r>
                        <a:rPr lang="fr-FR" sz="1200" b="1" kern="150" dirty="0" err="1">
                          <a:effectLst/>
                          <a:latin typeface="Cascadia Mono" panose="020B0609020000020004" pitchFamily="49" charset="0"/>
                          <a:cs typeface="Cascadia Mono" panose="020B0609020000020004" pitchFamily="49" charset="0"/>
                        </a:rPr>
                        <a:t>Apiary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tdewwiṛt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-n ad </a:t>
                      </a:r>
                      <a:r>
                        <a:rPr lang="fr-FR" sz="1100" kern="1200" dirty="0" err="1">
                          <a:solidFill>
                            <a:schemeClr val="tx1"/>
                          </a:solidFill>
                          <a:effectLst/>
                          <a:latin typeface="+mn-lt"/>
                          <a:ea typeface="+mn-ea"/>
                          <a:cs typeface="+mn-cs"/>
                        </a:rPr>
                        <a:t>ilint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teɣrasin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uqeccuc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rsent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tqamtin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ɣumment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udellas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therrew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temdint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Xtaṛen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ǧeɛlen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ttuɛiɣ</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tḥedrin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tadimt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ufus-is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Ẓẓgent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teqqsent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yettemririɣ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rrant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taqerruct-is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yettegliliz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ineqq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hedgehog and the wolf went to steal honey from a bee apiary. The hedgehog intended to get his revenge on the wolf for the matter of the jar of preserved meat.</a:t>
                      </a:r>
                    </a:p>
                    <a:p>
                      <a:pPr indent="216000" algn="l"/>
                      <a:r>
                        <a:rPr lang="en-US" sz="1100" kern="150" dirty="0">
                          <a:effectLst/>
                          <a:latin typeface="Cascadia Mono" panose="020B0609020000020004" pitchFamily="49" charset="0"/>
                          <a:cs typeface="Cascadia Mono" panose="020B0609020000020004" pitchFamily="49" charset="0"/>
                        </a:rPr>
                        <a:t>¶ They found what must have been a hundred bark hives resting on logs, covered with cork and thatch, making a roaring din like a bustling city.</a:t>
                      </a:r>
                    </a:p>
                    <a:p>
                      <a:pPr indent="216000" algn="l"/>
                      <a:r>
                        <a:rPr lang="en-US" sz="1100" kern="150" dirty="0">
                          <a:effectLst/>
                          <a:latin typeface="Cascadia Mono" panose="020B0609020000020004" pitchFamily="49" charset="0"/>
                          <a:cs typeface="Cascadia Mono" panose="020B0609020000020004" pitchFamily="49" charset="0"/>
                        </a:rPr>
                        <a:t>¶ They chose a large hive, assuming it was filled with honey. Then the wolf said to him:</a:t>
                      </a:r>
                    </a:p>
                    <a:p>
                      <a:pPr indent="216000" algn="l"/>
                      <a:r>
                        <a:rPr lang="en-US" sz="1100" kern="150" dirty="0">
                          <a:effectLst/>
                          <a:latin typeface="Cascadia Mono" panose="020B0609020000020004" pitchFamily="49" charset="0"/>
                          <a:cs typeface="Cascadia Mono" panose="020B0609020000020004" pitchFamily="49" charset="0"/>
                        </a:rPr>
                        <a:t>— Go near, O </a:t>
                      </a:r>
                      <a:r>
                        <a:rPr lang="fr-FR" sz="1100" kern="1200" dirty="0" err="1">
                          <a:solidFill>
                            <a:schemeClr val="tx1"/>
                          </a:solidFill>
                          <a:effectLst/>
                          <a:latin typeface="+mn-lt"/>
                          <a:ea typeface="+mn-ea"/>
                          <a:cs typeface="+mn-cs"/>
                        </a:rPr>
                        <a:t>Muḥend</a:t>
                      </a:r>
                      <a:r>
                        <a:rPr lang="en-US" sz="1100" kern="150" dirty="0">
                          <a:effectLst/>
                          <a:latin typeface="Cascadia Mono" panose="020B0609020000020004" pitchFamily="49" charset="0"/>
                          <a:cs typeface="Cascadia Mono" panose="020B0609020000020004" pitchFamily="49" charset="0"/>
                        </a:rPr>
                        <a:t>: you are small: no one will see you: gather us some honey.</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O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my hand is too short: I am not nimble enough: I will stay as a lookout: you pull out some combs for us.</a:t>
                      </a:r>
                    </a:p>
                    <a:p>
                      <a:pPr indent="216000" algn="l"/>
                      <a:r>
                        <a:rPr lang="en-US" sz="1100" kern="150" dirty="0">
                          <a:effectLst/>
                          <a:latin typeface="Cascadia Mono" panose="020B0609020000020004" pitchFamily="49" charset="0"/>
                          <a:cs typeface="Cascadia Mono" panose="020B0609020000020004" pitchFamily="49" charset="0"/>
                        </a:rPr>
                        <a:t>¶ The wolf pulled out the plug of the hive with his teeth and plunged his hand inside to gather the honey. The bees swarmed out upon them in massive clouds: the wolf fled as they stung him, screaming and rolling around, until they made him swell up like a goatskin.</a:t>
                      </a:r>
                    </a:p>
                    <a:p>
                      <a:pPr indent="216000" algn="l"/>
                      <a:r>
                        <a:rPr lang="en-US" sz="1100" kern="150" dirty="0">
                          <a:effectLst/>
                          <a:latin typeface="Cascadia Mono" panose="020B0609020000020004" pitchFamily="49" charset="0"/>
                          <a:cs typeface="Cascadia Mono" panose="020B0609020000020004" pitchFamily="49" charset="0"/>
                        </a:rPr>
                        <a:t>¶ The hedgehog tucked his head inside his shell and had his fill of laughing: then he rolled around on the ground, crushing the bees that had landed on him; when he was finished, he turned on them, ate them up, and went about his business.</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3947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E325-66B0-2724-57D7-6BA708C0FB14}"/>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22BBA1-54F8-3EFE-33ED-822344FEB84B}"/>
              </a:ext>
            </a:extLst>
          </p:cNvPr>
          <p:cNvGraphicFramePr>
            <a:graphicFrameLocks noGrp="1"/>
          </p:cNvGraphicFramePr>
          <p:nvPr>
            <p:extLst>
              <p:ext uri="{D42A27DB-BD31-4B8C-83A1-F6EECF244321}">
                <p14:modId xmlns:p14="http://schemas.microsoft.com/office/powerpoint/2010/main" val="5882899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issetḥa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yemmẓer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As for the wolf, he stayed for many days without coming out of his cave: he was ashamed to be seen in that condition: he had learned his lesson. From that day on, he never again tried to trap the hedgehog.</a:t>
                      </a:r>
                      <a:endParaRPr lang="en-GB" sz="1100" dirty="0">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09211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6607828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Taseqqart n jjwaǧ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Marriage </a:t>
                      </a:r>
                      <a:r>
                        <a:rPr lang="fr-FR" sz="1200" b="1" kern="150" dirty="0" err="1">
                          <a:effectLst/>
                          <a:latin typeface="Cascadia Mono" panose="020B0609020000020004" pitchFamily="49" charset="0"/>
                          <a:cs typeface="Cascadia Mono" panose="020B0609020000020004" pitchFamily="49" charset="0"/>
                        </a:rPr>
                        <a:t>Lottery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ufrarent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awen-mleɣ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texṣer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Acimi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awtul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taɣyult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ṣṣwab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ad yawi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ccetla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ɛedlen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mseɛyan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snejmeɛen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tilawin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taseqqart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iṣaḥen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taberkant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taqurent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ixten</a:t>
                      </a:r>
                      <a:r>
                        <a:rPr lang="fr-FR" sz="1100" kern="1200" dirty="0">
                          <a:solidFill>
                            <a:schemeClr val="tx1"/>
                          </a:solidFill>
                          <a:effectLst/>
                          <a:latin typeface="+mn-lt"/>
                          <a:ea typeface="+mn-ea"/>
                          <a:cs typeface="+mn-cs"/>
                        </a:rPr>
                        <a:t>-as.</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wolf quarreled with his wife, his eyes turned away from her, and he wanted to remarry. He consulted the hedgehog, then gathered the animals and said to them:</a:t>
                      </a:r>
                    </a:p>
                    <a:p>
                      <a:pPr indent="216000" algn="l"/>
                      <a:r>
                        <a:rPr lang="en-US" sz="1100" kern="150" dirty="0">
                          <a:effectLst/>
                          <a:latin typeface="Cascadia Mono" panose="020B0609020000020004" pitchFamily="49" charset="0"/>
                          <a:cs typeface="Cascadia Mono" panose="020B0609020000020004" pitchFamily="49" charset="0"/>
                        </a:rPr>
                        <a:t>— O brothers, it is necessary that I show you a bad custom in marriage so that we may correct it. Why, for example, does a hare marry only a female hare, a donkey marry only a female donkey, and a camel marry only a female camel? This matter is neither just nor proper. We must intermarry across lineages: one will bring to another wisdom, or stature, or strength, so the breed will change, and our children will all come out fine and completely equal.</a:t>
                      </a:r>
                    </a:p>
                    <a:p>
                      <a:pPr indent="216000" algn="l"/>
                      <a:r>
                        <a:rPr lang="en-US" sz="1100" kern="150" dirty="0">
                          <a:effectLst/>
                          <a:latin typeface="Cascadia Mono" panose="020B0609020000020004" pitchFamily="49" charset="0"/>
                          <a:cs typeface="Cascadia Mono" panose="020B0609020000020004" pitchFamily="49" charset="0"/>
                        </a:rPr>
                        <a:t>¶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was a master of speech: the animals happened to be in agreement with him, so they accepted this new custom.</a:t>
                      </a:r>
                    </a:p>
                    <a:p>
                      <a:pPr indent="216000" algn="l"/>
                      <a:r>
                        <a:rPr lang="en-US" sz="1100" kern="150" dirty="0">
                          <a:effectLst/>
                          <a:latin typeface="Cascadia Mono" panose="020B0609020000020004" pitchFamily="49" charset="0"/>
                          <a:cs typeface="Cascadia Mono" panose="020B0609020000020004" pitchFamily="49" charset="0"/>
                        </a:rPr>
                        <a:t>¶ Then they gathered the females together, and the hedgehog cast lots for them. Each one was allotted what fell to his share: the wolf was allotted the female camel, while the camel was allotted the female wolf, who was black and scrawny.</a:t>
                      </a:r>
                    </a:p>
                    <a:p>
                      <a:pPr indent="216000" algn="l"/>
                      <a:r>
                        <a:rPr lang="en-US" sz="1100" kern="150" dirty="0">
                          <a:effectLst/>
                          <a:latin typeface="Cascadia Mono" panose="020B0609020000020004" pitchFamily="49" charset="0"/>
                          <a:cs typeface="Cascadia Mono" panose="020B0609020000020004" pitchFamily="49" charset="0"/>
                        </a:rPr>
                        <a:t>The camel stood up to reject this, but the hedgehog said to him:</a:t>
                      </a:r>
                    </a:p>
                    <a:p>
                      <a:pPr indent="216000" algn="l"/>
                      <a:r>
                        <a:rPr lang="en-US" sz="1100" kern="150" dirty="0">
                          <a:effectLst/>
                          <a:latin typeface="Cascadia Mono" panose="020B0609020000020004" pitchFamily="49" charset="0"/>
                          <a:cs typeface="Cascadia Mono" panose="020B0609020000020004" pitchFamily="49" charset="0"/>
                        </a:rPr>
                        <a:t>— The law binds you!</a:t>
                      </a:r>
                    </a:p>
                    <a:p>
                      <a:pPr indent="216000" algn="l"/>
                      <a:r>
                        <a:rPr lang="en-US" sz="1100" kern="150" dirty="0">
                          <a:effectLst/>
                          <a:latin typeface="Cascadia Mono" panose="020B0609020000020004" pitchFamily="49" charset="0"/>
                          <a:cs typeface="Cascadia Mono" panose="020B0609020000020004" pitchFamily="49" charset="0"/>
                        </a:rPr>
                        <a:t>He fell silent, and the wolf took his wife; as for the hedgehog, he cradled the camel as the wolf performed the circumcision.</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91331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F499-C236-C882-B792-02ABC07C104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91799A0F-00A6-731E-9AAA-18687AC284FA}"/>
              </a:ext>
            </a:extLst>
          </p:cNvPr>
          <p:cNvGraphicFramePr>
            <a:graphicFrameLocks noGrp="1"/>
          </p:cNvGraphicFramePr>
          <p:nvPr>
            <p:extLst>
              <p:ext uri="{D42A27DB-BD31-4B8C-83A1-F6EECF244321}">
                <p14:modId xmlns:p14="http://schemas.microsoft.com/office/powerpoint/2010/main" val="174755616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sshala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teɣleb-it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rejoiced with this new bride: she lacked nothing in stature, strength, or gentleness; however, he was utterly perplexed in his mind: she completely oversized him!</a:t>
                      </a:r>
                      <a:endParaRPr lang="en-GB" sz="1100" dirty="0">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31755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016901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Tameɣṛa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a:t>
                      </a:r>
                      <a:r>
                        <a:rPr lang="fr-FR" sz="1200" b="1" kern="150" dirty="0" err="1">
                          <a:effectLst/>
                          <a:latin typeface="Cascadia Mono" panose="020B0609020000020004" pitchFamily="49" charset="0"/>
                          <a:cs typeface="Cascadia Mono" panose="020B0609020000020004" pitchFamily="49" charset="0"/>
                        </a:rPr>
                        <a:t>Wolf's</a:t>
                      </a:r>
                      <a:r>
                        <a:rPr lang="fr-FR" sz="1200" b="1" kern="150" dirty="0">
                          <a:effectLst/>
                          <a:latin typeface="Cascadia Mono" panose="020B0609020000020004" pitchFamily="49" charset="0"/>
                          <a:cs typeface="Cascadia Mono" panose="020B0609020000020004" pitchFamily="49" charset="0"/>
                        </a:rPr>
                        <a:t> Wedding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taqbaylit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tameɣbunt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leɛṛas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lḥaṣul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tamessast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sbarken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tteklen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ten-yessečč</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tebliɛ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telqimt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yas-yenna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Mebṛuk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-as-d: Ma </a:t>
                      </a:r>
                      <a:r>
                        <a:rPr lang="fr-FR" sz="1100" kern="1200" dirty="0" err="1">
                          <a:solidFill>
                            <a:schemeClr val="tx1"/>
                          </a:solidFill>
                          <a:effectLst/>
                          <a:latin typeface="+mn-lt"/>
                          <a:ea typeface="+mn-ea"/>
                          <a:cs typeface="+mn-cs"/>
                        </a:rPr>
                        <a:t>tebrek</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yehwi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beggnen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ixelṭ</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ugeffur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wanẓar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lebraq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ṛṛɛud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bbehdeln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 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Lehwa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tafukt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Uccen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yewwi</a:t>
                      </a:r>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tameṭṭut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Ur </a:t>
                      </a:r>
                      <a:r>
                        <a:rPr lang="fr-FR" sz="1100" i="1" kern="1200" dirty="0" err="1">
                          <a:solidFill>
                            <a:schemeClr val="tx1"/>
                          </a:solidFill>
                          <a:effectLst/>
                          <a:latin typeface="+mn-lt"/>
                          <a:ea typeface="+mn-ea"/>
                          <a:cs typeface="+mn-cs"/>
                        </a:rPr>
                        <a:t>aɣ</a:t>
                      </a:r>
                      <a:r>
                        <a:rPr lang="fr-FR" sz="1100" i="1" kern="1200" dirty="0">
                          <a:solidFill>
                            <a:schemeClr val="tx1"/>
                          </a:solidFill>
                          <a:effectLst/>
                          <a:latin typeface="+mn-lt"/>
                          <a:ea typeface="+mn-ea"/>
                          <a:cs typeface="+mn-cs"/>
                        </a:rPr>
                        <a:t>-d-</a:t>
                      </a:r>
                      <a:r>
                        <a:rPr lang="fr-FR" sz="1100" i="1" kern="1200" dirty="0" err="1">
                          <a:solidFill>
                            <a:schemeClr val="tx1"/>
                          </a:solidFill>
                          <a:effectLst/>
                          <a:latin typeface="+mn-lt"/>
                          <a:ea typeface="+mn-ea"/>
                          <a:cs typeface="+mn-cs"/>
                        </a:rPr>
                        <a:t>yefki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taqessult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Ad as-d-</a:t>
                      </a:r>
                      <a:r>
                        <a:rPr lang="fr-FR" sz="1100" i="1" kern="1200" dirty="0" err="1">
                          <a:solidFill>
                            <a:schemeClr val="tx1"/>
                          </a:solidFill>
                          <a:effectLst/>
                          <a:latin typeface="+mn-lt"/>
                          <a:ea typeface="+mn-ea"/>
                          <a:cs typeface="+mn-cs"/>
                        </a:rPr>
                        <a:t>yefk</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Ṛebbi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taqeẓẓult</a:t>
                      </a:r>
                      <a:r>
                        <a:rPr lang="fr-FR" sz="1100" i="1" kern="1200" dirty="0">
                          <a:solidFill>
                            <a:schemeClr val="tx1"/>
                          </a:solidFill>
                          <a:effectLst/>
                          <a:latin typeface="+mn-lt"/>
                          <a:ea typeface="+mn-ea"/>
                          <a:cs typeface="+mn-cs"/>
                        </a:rPr>
                        <a:t>!</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held a wedding feast, but he neither followed Kabyle custom nor provided for the bride, leaving her as a poor, neglected soul: there were no wedding processions, there was no cooking, in short, it was a completely tasteless wedding.</a:t>
                      </a:r>
                    </a:p>
                    <a:p>
                      <a:pPr indent="216000" algn="l"/>
                      <a:r>
                        <a:rPr lang="en-US" sz="1100" kern="150" dirty="0">
                          <a:effectLst/>
                          <a:latin typeface="Cascadia Mono" panose="020B0609020000020004" pitchFamily="49" charset="0"/>
                          <a:cs typeface="Cascadia Mono" panose="020B0609020000020004" pitchFamily="49" charset="0"/>
                        </a:rPr>
                        <a:t>¶ The animals arrived to offer their blessings: they counted on him to feed them so they could satisfy their hunger, but not a single one of them swallowed even a single morsel. When someone said to him</a:t>
                      </a:r>
                      <a:r>
                        <a:rPr lang="en-US" sz="1100" kern="150">
                          <a:effectLst/>
                          <a:latin typeface="Cascadia Mono" panose="020B0609020000020004" pitchFamily="49" charset="0"/>
                          <a:cs typeface="Cascadia Mono" panose="020B0609020000020004" pitchFamily="49" charset="0"/>
                        </a:rPr>
                        <a:t>: Congratulations on your new wife, </a:t>
                      </a:r>
                      <a:r>
                        <a:rPr lang="en-US" sz="1100" kern="150" dirty="0">
                          <a:effectLst/>
                          <a:latin typeface="Cascadia Mono" panose="020B0609020000020004" pitchFamily="49" charset="0"/>
                          <a:cs typeface="Cascadia Mono" panose="020B0609020000020004" pitchFamily="49" charset="0"/>
                        </a:rPr>
                        <a:t>O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he replied to them: If she kneels! And so it went until the very last guest.</a:t>
                      </a:r>
                    </a:p>
                    <a:p>
                      <a:pPr indent="216000" algn="l"/>
                      <a:r>
                        <a:rPr lang="en-US" sz="1100" kern="150" dirty="0">
                          <a:effectLst/>
                          <a:latin typeface="Cascadia Mono" panose="020B0609020000020004" pitchFamily="49" charset="0"/>
                          <a:cs typeface="Cascadia Mono" panose="020B0609020000020004" pitchFamily="49" charset="0"/>
                        </a:rPr>
                        <a:t>¶ The people of God, who were displeased by that marriage, showed it in the skies: rain mixed with sun, the bride of the rain appeared along with wind, lightning, thunder, and hail, until people thought the world was coming to an end.</a:t>
                      </a:r>
                    </a:p>
                    <a:p>
                      <a:pPr indent="216000" algn="l"/>
                      <a:r>
                        <a:rPr lang="en-US" sz="1100" kern="150" dirty="0">
                          <a:effectLst/>
                          <a:latin typeface="Cascadia Mono" panose="020B0609020000020004" pitchFamily="49" charset="0"/>
                          <a:cs typeface="Cascadia Mono" panose="020B0609020000020004" pitchFamily="49" charset="0"/>
                        </a:rPr>
                        <a:t>¶ Then the animals went outside, disgracing the wolf and chanting at him:</a:t>
                      </a:r>
                    </a:p>
                    <a:p>
                      <a:pPr indent="216000" algn="l"/>
                      <a:r>
                        <a:rPr lang="en-US" sz="1100" i="1" kern="150" dirty="0">
                          <a:effectLst/>
                          <a:latin typeface="Cascadia Mono" panose="020B0609020000020004" pitchFamily="49" charset="0"/>
                          <a:cs typeface="Cascadia Mono" panose="020B0609020000020004" pitchFamily="49" charset="0"/>
                        </a:rPr>
                        <a:t>O Merciful God! O Merciful God!</a:t>
                      </a:r>
                    </a:p>
                    <a:p>
                      <a:pPr indent="216000" algn="l"/>
                      <a:r>
                        <a:rPr lang="en-US" sz="1100" i="1" kern="150" dirty="0">
                          <a:effectLst/>
                          <a:latin typeface="Cascadia Mono" panose="020B0609020000020004" pitchFamily="49" charset="0"/>
                          <a:cs typeface="Cascadia Mono" panose="020B0609020000020004" pitchFamily="49" charset="0"/>
                        </a:rPr>
                        <a:t>Flee, flee!</a:t>
                      </a:r>
                    </a:p>
                    <a:p>
                      <a:pPr indent="216000" algn="l"/>
                      <a:r>
                        <a:rPr lang="en-US" sz="1100" i="1" kern="150" dirty="0">
                          <a:effectLst/>
                          <a:latin typeface="Cascadia Mono" panose="020B0609020000020004" pitchFamily="49" charset="0"/>
                          <a:cs typeface="Cascadia Mono" panose="020B0609020000020004" pitchFamily="49" charset="0"/>
                        </a:rPr>
                        <a:t>Rain and sun!</a:t>
                      </a:r>
                    </a:p>
                    <a:p>
                      <a:pPr indent="216000" algn="l"/>
                      <a:r>
                        <a:rPr lang="en-US" sz="1100" i="1" kern="150" dirty="0">
                          <a:effectLst/>
                          <a:latin typeface="Cascadia Mono" panose="020B0609020000020004" pitchFamily="49" charset="0"/>
                          <a:cs typeface="Cascadia Mono" panose="020B0609020000020004" pitchFamily="49" charset="0"/>
                        </a:rPr>
                        <a:t>The wolf has taken a wife!</a:t>
                      </a:r>
                    </a:p>
                    <a:p>
                      <a:pPr indent="216000" algn="l"/>
                      <a:r>
                        <a:rPr lang="en-US" sz="1100" i="1" kern="150" dirty="0">
                          <a:effectLst/>
                          <a:latin typeface="Cascadia Mono" panose="020B0609020000020004" pitchFamily="49" charset="0"/>
                          <a:cs typeface="Cascadia Mono" panose="020B0609020000020004" pitchFamily="49" charset="0"/>
                        </a:rPr>
                        <a:t>Flee, flee!</a:t>
                      </a:r>
                    </a:p>
                    <a:p>
                      <a:pPr indent="216000" algn="l"/>
                      <a:r>
                        <a:rPr lang="en-US" sz="1100" i="1" kern="150" dirty="0">
                          <a:effectLst/>
                          <a:latin typeface="Cascadia Mono" panose="020B0609020000020004" pitchFamily="49" charset="0"/>
                          <a:cs typeface="Cascadia Mono" panose="020B0609020000020004" pitchFamily="49" charset="0"/>
                        </a:rPr>
                        <a:t>He did not give us a bowl of food:</a:t>
                      </a:r>
                    </a:p>
                    <a:p>
                      <a:pPr indent="216000" algn="l"/>
                      <a:r>
                        <a:rPr lang="en-US" sz="1100" i="1" kern="150" dirty="0">
                          <a:effectLst/>
                          <a:latin typeface="Cascadia Mono" panose="020B0609020000020004" pitchFamily="49" charset="0"/>
                          <a:cs typeface="Cascadia Mono" panose="020B0609020000020004" pitchFamily="49" charset="0"/>
                        </a:rPr>
                        <a:t>May God strike him with a tumor!</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2749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AF47-D020-8555-010A-25E69FDE2C1B}"/>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4E9874D-07F2-44EE-7810-43593CFDC331}"/>
              </a:ext>
            </a:extLst>
          </p:cNvPr>
          <p:cNvGraphicFramePr>
            <a:graphicFrameLocks noGrp="1"/>
          </p:cNvGraphicFramePr>
          <p:nvPr>
            <p:extLst>
              <p:ext uri="{D42A27DB-BD31-4B8C-83A1-F6EECF244321}">
                <p14:modId xmlns:p14="http://schemas.microsoft.com/office/powerpoint/2010/main" val="387180863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tqeslin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tilmawin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ijeqduṛen-is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tɛedda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i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yessin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leḥkaṛ-is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was throwing empty bowls at them, breaking all of his earthenware vessels.</a:t>
                      </a:r>
                    </a:p>
                    <a:p>
                      <a:pPr indent="216000" algn="l"/>
                      <a:r>
                        <a:rPr lang="en-US" sz="1100" kern="150" dirty="0">
                          <a:effectLst/>
                          <a:latin typeface="Cascadia Mono" panose="020B0609020000020004" pitchFamily="49" charset="0"/>
                          <a:cs typeface="Cascadia Mono" panose="020B0609020000020004" pitchFamily="49" charset="0"/>
                        </a:rPr>
                        <a:t>¶ From then on, he lived with the female camel until he realized she completely overpowered him: so he put her to the plow; a fine woman is often wed to a worthless man, who does not know her true worth!</a:t>
                      </a:r>
                      <a:endParaRPr lang="en-GB" sz="1100" i="1" strike="sngStrike" dirty="0">
                        <a:solidFill>
                          <a:srgbClr val="FF0000"/>
                        </a:solidFill>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492416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5168570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lleft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a:t>
                      </a:r>
                      <a:r>
                        <a:rPr lang="fr-FR" sz="1200" b="1" kern="150" dirty="0" err="1">
                          <a:effectLst/>
                          <a:latin typeface="Cascadia Mono" panose="020B0609020000020004" pitchFamily="49" charset="0"/>
                          <a:cs typeface="Cascadia Mono" panose="020B0609020000020004" pitchFamily="49" charset="0"/>
                        </a:rPr>
                        <a:t>Turnip</a:t>
                      </a:r>
                      <a:r>
                        <a:rPr lang="fr-FR" sz="1200" b="1" kern="150" dirty="0">
                          <a:effectLst/>
                          <a:latin typeface="Cascadia Mono" panose="020B0609020000020004" pitchFamily="49" charset="0"/>
                          <a:cs typeface="Cascadia Mono" panose="020B0609020000020004" pitchFamily="49" charset="0"/>
                        </a:rPr>
                        <a:t> Field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taffellaḥt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tṛemmant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zzerriɛa</a:t>
                      </a:r>
                      <a:r>
                        <a:rPr lang="fr-FR" sz="1100" kern="1200" dirty="0">
                          <a:solidFill>
                            <a:schemeClr val="tx1"/>
                          </a:solidFill>
                          <a:effectLst/>
                          <a:latin typeface="+mn-lt"/>
                          <a:ea typeface="+mn-ea"/>
                          <a:cs typeface="+mn-cs"/>
                        </a:rPr>
                        <a:t>. Heggan-d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tagersa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tazaglutt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tafekkalt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ijebdan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tmazirt</a:t>
                      </a:r>
                      <a:r>
                        <a:rPr lang="fr-FR" sz="1100" kern="1200" dirty="0">
                          <a:solidFill>
                            <a:schemeClr val="tx1"/>
                          </a:solidFill>
                          <a:effectLst/>
                          <a:latin typeface="+mn-lt"/>
                          <a:ea typeface="+mn-ea"/>
                          <a:cs typeface="+mn-cs"/>
                        </a:rPr>
                        <a:t>, bran, </a:t>
                      </a:r>
                      <a:r>
                        <a:rPr lang="fr-FR" sz="1100" kern="1200" dirty="0" err="1">
                          <a:solidFill>
                            <a:schemeClr val="tx1"/>
                          </a:solidFill>
                          <a:effectLst/>
                          <a:latin typeface="+mn-lt"/>
                          <a:ea typeface="+mn-ea"/>
                          <a:cs typeface="+mn-cs"/>
                        </a:rPr>
                        <a:t>steɛfan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yejbed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tamezzurt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yebberber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sserris</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nefreq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Ssextaṛeɣ-k: </a:t>
                      </a:r>
                      <a:r>
                        <a:rPr lang="fr-FR" sz="1100" kern="1200" dirty="0" err="1">
                          <a:solidFill>
                            <a:schemeClr val="tx1"/>
                          </a:solidFill>
                          <a:effectLst/>
                          <a:latin typeface="+mn-lt"/>
                          <a:ea typeface="+mn-ea"/>
                          <a:cs typeface="+mn-cs"/>
                        </a:rPr>
                        <a: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Tɛeǧb-it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tizzegzewt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entered into a farming partnership with the hedgehog: the wolf provided the female camel, and the hedgehog, whose home was as well-stocked as a pomegranate, provided the seed. They prepared the tools: the plowshare, the yoke, the wooden neck-collar, and the leather harness-straps.</a:t>
                      </a:r>
                    </a:p>
                    <a:p>
                      <a:pPr indent="216000" algn="l"/>
                      <a:r>
                        <a:rPr lang="en-US" sz="1100" kern="150" dirty="0">
                          <a:effectLst/>
                          <a:latin typeface="Cascadia Mono" panose="020B0609020000020004" pitchFamily="49" charset="0"/>
                          <a:cs typeface="Cascadia Mono" panose="020B0609020000020004" pitchFamily="49" charset="0"/>
                        </a:rPr>
                        <a:t>¶ When the first waters fell, they braced themselves for the cultivation of the turnips. They harnessed the camel, sowed the seed, and began plowing: the hedgehog rode upon the plow-tail to guide it, while the wolf held the pickaxe to break the clods. ¶ When the field was entirely worked, they unyoked and rested. The turnip seed had sworn not to spend a single night in the earth: right away, it germinated along the path and shot up into rows.</a:t>
                      </a:r>
                    </a:p>
                    <a:p>
                      <a:pPr indent="216000" algn="l"/>
                      <a:r>
                        <a:rPr lang="en-US" sz="1100" kern="150" dirty="0">
                          <a:effectLst/>
                          <a:latin typeface="Cascadia Mono" panose="020B0609020000020004" pitchFamily="49" charset="0"/>
                          <a:cs typeface="Cascadia Mono" panose="020B0609020000020004" pitchFamily="49" charset="0"/>
                        </a:rPr>
                        <a:t>¶ It did not delay in spreading out, turning as green as grass. When it became ripe, the hedgehog said to him:</a:t>
                      </a:r>
                    </a:p>
                    <a:p>
                      <a:pPr indent="216000" algn="l"/>
                      <a:r>
                        <a:rPr lang="en-US" sz="1100" kern="150" dirty="0">
                          <a:effectLst/>
                          <a:latin typeface="Cascadia Mono" panose="020B0609020000020004" pitchFamily="49" charset="0"/>
                          <a:cs typeface="Cascadia Mono" panose="020B0609020000020004" pitchFamily="49" charset="0"/>
                        </a:rPr>
                        <a:t>— Let us gather our harvest and divide it.</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No! I give you the choice: take either what is above the earth or what is below the earth.</a:t>
                      </a:r>
                    </a:p>
                    <a:p>
                      <a:pPr indent="216000" algn="l"/>
                      <a:r>
                        <a:rPr lang="en-US" sz="1100" kern="150" dirty="0">
                          <a:effectLst/>
                          <a:latin typeface="Cascadia Mono" panose="020B0609020000020004" pitchFamily="49" charset="0"/>
                          <a:cs typeface="Cascadia Mono" panose="020B0609020000020004" pitchFamily="49" charset="0"/>
                        </a:rPr>
                        <a:t>The wolf was charmed by the green foliage. The hedgehog said to him:</a:t>
                      </a:r>
                    </a:p>
                    <a:p>
                      <a:pPr indent="216000" algn="l"/>
                      <a:r>
                        <a:rPr lang="en-US" sz="1100" kern="150" dirty="0">
                          <a:effectLst/>
                          <a:latin typeface="Cascadia Mono" panose="020B0609020000020004" pitchFamily="49" charset="0"/>
                          <a:cs typeface="Cascadia Mono" panose="020B0609020000020004" pitchFamily="49" charset="0"/>
                        </a:rPr>
                        <a:t>— What will you take?</a:t>
                      </a:r>
                    </a:p>
                    <a:p>
                      <a:pPr indent="216000" algn="l"/>
                      <a:r>
                        <a:rPr lang="en-US" sz="1100" kern="150" dirty="0">
                          <a:effectLst/>
                          <a:latin typeface="Cascadia Mono" panose="020B0609020000020004" pitchFamily="49" charset="0"/>
                          <a:cs typeface="Cascadia Mono" panose="020B0609020000020004" pitchFamily="49" charset="0"/>
                        </a:rPr>
                        <a:t>The wolf replied to him:</a:t>
                      </a:r>
                    </a:p>
                    <a:p>
                      <a:pPr indent="216000" algn="l"/>
                      <a:r>
                        <a:rPr lang="en-US" sz="1100" kern="150" dirty="0">
                          <a:effectLst/>
                          <a:latin typeface="Cascadia Mono" panose="020B0609020000020004" pitchFamily="49" charset="0"/>
                          <a:cs typeface="Cascadia Mono" panose="020B0609020000020004" pitchFamily="49" charset="0"/>
                        </a:rPr>
                        <a:t>— Above the earth!</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It is a deal! You have taken it!</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8829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7F029-667C-8807-17FC-5BE1438A3F41}"/>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4D5269-9368-7B0A-C9D7-8FA47C3AD520}"/>
              </a:ext>
            </a:extLst>
          </p:cNvPr>
          <p:cNvGraphicFramePr>
            <a:graphicFrameLocks noGrp="1"/>
          </p:cNvGraphicFramePr>
          <p:nvPr>
            <p:extLst>
              <p:ext uri="{D42A27DB-BD31-4B8C-83A1-F6EECF244321}">
                <p14:modId xmlns:p14="http://schemas.microsoft.com/office/powerpoint/2010/main" val="227182172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sellaw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yeqqaz</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tdeggar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called together a communal work-party, and they reaped all of those leaves for him. When they dried out, he flung them entirely away, ending up completely empty-handed. Meanwhile, the hedgehog began to dig out the turnip roots, carrying them to his home until it was stuffed full.</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21036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79833066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nneɛma</a:t>
                      </a: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Grain Cultivation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Gan </a:t>
                      </a:r>
                      <a:r>
                        <a:rPr lang="fr-FR" sz="1100" kern="1200" dirty="0" err="1">
                          <a:solidFill>
                            <a:schemeClr val="tx1"/>
                          </a:solidFill>
                          <a:effectLst/>
                          <a:latin typeface="+mn-lt"/>
                          <a:ea typeface="+mn-ea"/>
                          <a:cs typeface="+mn-cs"/>
                        </a:rPr>
                        <a:t>asudu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seksu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dehnen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yellexs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sen-</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iḥbiben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lǧiran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ɣran-asen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lfattiḥa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ɛellmen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taferka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timẓin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taɣezzut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ssusun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anɛam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lḥeb</a:t>
                      </a:r>
                      <a:r>
                        <a:rPr lang="fr-FR" sz="1100" kern="1200" dirty="0">
                          <a:solidFill>
                            <a:schemeClr val="tx1"/>
                          </a:solidFill>
                          <a:effectLst/>
                          <a:latin typeface="+mn-lt"/>
                          <a:ea typeface="+mn-ea"/>
                          <a:cs typeface="+mn-cs"/>
                        </a:rPr>
                        <a:t> alim.</a:t>
                      </a:r>
                    </a:p>
                    <a:p>
                      <a:pPr indent="457200"/>
                      <a:r>
                        <a:rPr lang="fr-FR" sz="1100" kern="1200" dirty="0" err="1">
                          <a:solidFill>
                            <a:schemeClr val="tx1"/>
                          </a:solidFill>
                          <a:effectLst/>
                          <a:latin typeface="+mn-lt"/>
                          <a:ea typeface="+mn-ea"/>
                          <a:cs typeface="+mn-cs"/>
                        </a:rPr>
                        <a:t>Cellfen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After some time passed, they braced themselves to cultivate grain. They prepared the traditional plowing feast (</a:t>
                      </a:r>
                      <a:r>
                        <a:rPr lang="en-US" sz="1100" kern="150" dirty="0" err="1">
                          <a:effectLst/>
                          <a:latin typeface="Cascadia Mono" panose="020B0609020000020004" pitchFamily="49" charset="0"/>
                          <a:cs typeface="Cascadia Mono" panose="020B0609020000020004" pitchFamily="49" charset="0"/>
                        </a:rPr>
                        <a:t>asudu</a:t>
                      </a:r>
                      <a:r>
                        <a:rPr lang="en-US" sz="1100" kern="150" dirty="0">
                          <a:effectLst/>
                          <a:latin typeface="Cascadia Mono" panose="020B0609020000020004" pitchFamily="49" charset="0"/>
                          <a:cs typeface="Cascadia Mono" panose="020B0609020000020004" pitchFamily="49" charset="0"/>
                        </a:rPr>
                        <a:t>): they rolled couscous with fava beans and coated it with oil until it was thoroughly drenched; they invited their relatives, friends, and neighbors. They ate until they were full, and then they recited the opening prayer (</a:t>
                      </a:r>
                      <a:r>
                        <a:rPr lang="en-US" sz="1100" kern="150" dirty="0" err="1">
                          <a:effectLst/>
                          <a:latin typeface="Cascadia Mono" panose="020B0609020000020004" pitchFamily="49" charset="0"/>
                          <a:cs typeface="Cascadia Mono" panose="020B0609020000020004" pitchFamily="49" charset="0"/>
                        </a:rPr>
                        <a:t>lfattiḥa</a:t>
                      </a:r>
                      <a:r>
                        <a:rPr lang="en-US" sz="1100" kern="150" dirty="0">
                          <a:effectLst/>
                          <a:latin typeface="Cascadia Mono" panose="020B0609020000020004" pitchFamily="49" charset="0"/>
                          <a:cs typeface="Cascadia Mono" panose="020B0609020000020004" pitchFamily="49" charset="0"/>
                        </a:rPr>
                        <a:t>) for them.</a:t>
                      </a:r>
                    </a:p>
                    <a:p>
                      <a:pPr indent="216000" algn="l"/>
                      <a:r>
                        <a:rPr lang="en-US" sz="1100" kern="150" dirty="0">
                          <a:effectLst/>
                          <a:latin typeface="Cascadia Mono" panose="020B0609020000020004" pitchFamily="49" charset="0"/>
                          <a:cs typeface="Cascadia Mono" panose="020B0609020000020004" pitchFamily="49" charset="0"/>
                        </a:rPr>
                        <a:t>¶ They harnessed the female camel and began the work. Once they marked out the field, they sowed it with wheat or barley. After that, one would hold the plow-tail and the other the pickaxe: furrow followed furrow, day followed day, until the entire plot of land was completely plowed.</a:t>
                      </a:r>
                    </a:p>
                    <a:p>
                      <a:pPr indent="216000" algn="l"/>
                      <a:r>
                        <a:rPr lang="en-US" sz="1100" kern="150" dirty="0">
                          <a:effectLst/>
                          <a:latin typeface="Cascadia Mono" panose="020B0609020000020004" pitchFamily="49" charset="0"/>
                          <a:cs typeface="Cascadia Mono" panose="020B0609020000020004" pitchFamily="49" charset="0"/>
                        </a:rPr>
                        <a:t>¶ Spring arrived, and they weeded the crop; summer came, and it was ripe. God had granted abundance: more grain than straw. They plucked a few green ears and roasted them to make </a:t>
                      </a:r>
                      <a:r>
                        <a:rPr lang="en-US" sz="1100" kern="150" dirty="0" err="1">
                          <a:effectLst/>
                          <a:latin typeface="Cascadia Mono" panose="020B0609020000020004" pitchFamily="49" charset="0"/>
                          <a:cs typeface="Cascadia Mono" panose="020B0609020000020004" pitchFamily="49" charset="0"/>
                        </a:rPr>
                        <a:t>arkul</a:t>
                      </a:r>
                      <a:r>
                        <a:rPr lang="en-US" sz="1100" kern="150" dirty="0">
                          <a:effectLst/>
                          <a:latin typeface="Cascadia Mono" panose="020B0609020000020004" pitchFamily="49" charset="0"/>
                          <a:cs typeface="Cascadia Mono" panose="020B0609020000020004" pitchFamily="49" charset="0"/>
                        </a:rPr>
                        <a:t>, testing it: they found it to be excellent.</a:t>
                      </a:r>
                    </a:p>
                    <a:p>
                      <a:pPr indent="216000" algn="l"/>
                      <a:r>
                        <a:rPr lang="en-US" sz="1100" kern="150" dirty="0">
                          <a:effectLst/>
                          <a:latin typeface="Cascadia Mono" panose="020B0609020000020004" pitchFamily="49" charset="0"/>
                          <a:cs typeface="Cascadia Mono" panose="020B0609020000020004" pitchFamily="49" charset="0"/>
                        </a:rPr>
                        <a:t>¶ When it dried, the hedgehog said to him:</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99939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003CE-CC13-6EBD-5A32-E25CCD79583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6F234AAE-1694-11F5-A0ED-71912B61B23C}"/>
              </a:ext>
            </a:extLst>
          </p:cNvPr>
          <p:cNvGraphicFramePr>
            <a:graphicFrameLocks noGrp="1"/>
          </p:cNvGraphicFramePr>
          <p:nvPr>
            <p:extLst>
              <p:ext uri="{D42A27DB-BD31-4B8C-83A1-F6EECF244321}">
                <p14:modId xmlns:p14="http://schemas.microsoft.com/office/powerpoint/2010/main" val="327041008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rreẓq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Awi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tafellaḥt-is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tcadd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tadliwin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irinen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adellas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iẓuran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Let us gather our provision first, and then we will divide it.</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No! Take either what is above the earth or what is below the earth.</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What will you take?</a:t>
                      </a:r>
                    </a:p>
                    <a:p>
                      <a:pPr indent="216000" algn="l"/>
                      <a:r>
                        <a:rPr lang="en-US" sz="1100" kern="150" dirty="0">
                          <a:effectLst/>
                          <a:latin typeface="Cascadia Mono" panose="020B0609020000020004" pitchFamily="49" charset="0"/>
                          <a:cs typeface="Cascadia Mono" panose="020B0609020000020004" pitchFamily="49" charset="0"/>
                        </a:rPr>
                        <a:t>The wolf replied to him:</a:t>
                      </a:r>
                    </a:p>
                    <a:p>
                      <a:pPr indent="216000" algn="l"/>
                      <a:r>
                        <a:rPr lang="en-US" sz="1100" kern="150" dirty="0">
                          <a:effectLst/>
                          <a:latin typeface="Cascadia Mono" panose="020B0609020000020004" pitchFamily="49" charset="0"/>
                          <a:cs typeface="Cascadia Mono" panose="020B0609020000020004" pitchFamily="49" charset="0"/>
                        </a:rPr>
                        <a:t>— Below the earth! (He wanted to get his revenge for the turnip field affair).</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It is a deal! You have taken it!</a:t>
                      </a:r>
                    </a:p>
                    <a:p>
                      <a:pPr indent="216000" algn="l"/>
                      <a:r>
                        <a:rPr lang="en-US" sz="1100" kern="150" dirty="0">
                          <a:effectLst/>
                          <a:latin typeface="Cascadia Mono" panose="020B0609020000020004" pitchFamily="49" charset="0"/>
                          <a:cs typeface="Cascadia Mono" panose="020B0609020000020004" pitchFamily="49" charset="0"/>
                        </a:rPr>
                        <a:t>¶ The hedgehog called together a communal work-party, and they reaped his crop for him; along the way, it was bound into handfuls and then into larger sheaves, and it reached the threshing floor.</a:t>
                      </a:r>
                    </a:p>
                    <a:p>
                      <a:pPr indent="216000" algn="l"/>
                      <a:r>
                        <a:rPr lang="en-US" sz="1100" kern="150" dirty="0">
                          <a:effectLst/>
                          <a:latin typeface="Cascadia Mono" panose="020B0609020000020004" pitchFamily="49" charset="0"/>
                          <a:cs typeface="Cascadia Mono" panose="020B0609020000020004" pitchFamily="49" charset="0"/>
                        </a:rPr>
                        <a:t>¶ The wolf summoned a communal work-party as well, but they found nothing except weeds and roots. Once again,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came out completely empty-handed.</a:t>
                      </a:r>
                      <a:endParaRPr lang="en-GB" sz="1100" dirty="0">
                        <a:latin typeface="Cascadia Mono" panose="020B0609020000020004" pitchFamily="49" charset="0"/>
                        <a:cs typeface="Cascadia Mono" panose="020B0609020000020004" pitchFamily="49" charset="0"/>
                      </a:endParaRPr>
                    </a:p>
                    <a:p>
                      <a:pPr indent="216000" algn="l"/>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1671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4125112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Tazzala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Race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acrik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-w: ad </a:t>
                      </a:r>
                      <a:r>
                        <a:rPr lang="fr-FR" sz="1100" kern="1200" dirty="0" err="1">
                          <a:solidFill>
                            <a:schemeClr val="tx1"/>
                          </a:solidFill>
                          <a:effectLst/>
                          <a:latin typeface="+mn-lt"/>
                          <a:ea typeface="+mn-ea"/>
                          <a:cs typeface="+mn-cs"/>
                        </a:rPr>
                        <a:t>nɛiwed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zzazedgen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tazzert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telweḥt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ukerfa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nemzazzal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leflani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yewwḍen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amezwaru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ad yawi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ttemcabin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sin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Netta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usaku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uqerwi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Yemzazzal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yesnukkuf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yettiqi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sbeɛṭac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asaku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tednect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turned to the hedgehog and said to him:</a:t>
                      </a:r>
                    </a:p>
                    <a:p>
                      <a:pPr indent="216000" algn="l"/>
                      <a:r>
                        <a:rPr lang="en-US" sz="1100" kern="150" dirty="0">
                          <a:effectLst/>
                          <a:latin typeface="Cascadia Mono" panose="020B0609020000020004" pitchFamily="49" charset="0"/>
                          <a:cs typeface="Cascadia Mono" panose="020B0609020000020004" pitchFamily="49" charset="0"/>
                        </a:rPr>
                        <a:t>— O partner, you have eaten my share and drunk my sweat: we must divide it again!</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It is a deal!</a:t>
                      </a:r>
                    </a:p>
                    <a:p>
                      <a:pPr indent="216000" algn="l"/>
                      <a:r>
                        <a:rPr lang="en-US" sz="1100" kern="150" dirty="0">
                          <a:effectLst/>
                          <a:latin typeface="Cascadia Mono" panose="020B0609020000020004" pitchFamily="49" charset="0"/>
                          <a:cs typeface="Cascadia Mono" panose="020B0609020000020004" pitchFamily="49" charset="0"/>
                        </a:rPr>
                        <a:t>¶ So they threshed and cleaned the crop with the winnowing fork and the wooden shovel: one pile of clean grain stood high, and another pile of chaff. The wolf said to him:</a:t>
                      </a:r>
                    </a:p>
                    <a:p>
                      <a:pPr indent="216000" algn="l"/>
                      <a:r>
                        <a:rPr lang="en-US" sz="1100" kern="150" dirty="0">
                          <a:effectLst/>
                          <a:latin typeface="Cascadia Mono" panose="020B0609020000020004" pitchFamily="49" charset="0"/>
                          <a:cs typeface="Cascadia Mono" panose="020B0609020000020004" pitchFamily="49" charset="0"/>
                        </a:rPr>
                        <a:t>— Let us race from such-and-such a place: the one who arrives first at the threshing floor shall take the entire harvest for himself alone.</a:t>
                      </a:r>
                    </a:p>
                    <a:p>
                      <a:pPr indent="216000" algn="l"/>
                      <a:r>
                        <a:rPr lang="en-US" sz="1100" kern="150" dirty="0">
                          <a:effectLst/>
                          <a:latin typeface="Cascadia Mono" panose="020B0609020000020004" pitchFamily="49" charset="0"/>
                          <a:cs typeface="Cascadia Mono" panose="020B0609020000020004" pitchFamily="49" charset="0"/>
                        </a:rPr>
                        <a:t>The hedgehog said to him:</a:t>
                      </a:r>
                    </a:p>
                    <a:p>
                      <a:pPr indent="216000" algn="l"/>
                      <a:r>
                        <a:rPr lang="en-US" sz="1100" kern="150" dirty="0">
                          <a:effectLst/>
                          <a:latin typeface="Cascadia Mono" panose="020B0609020000020004" pitchFamily="49" charset="0"/>
                          <a:cs typeface="Cascadia Mono" panose="020B0609020000020004" pitchFamily="49" charset="0"/>
                        </a:rPr>
                        <a:t>— It is a deal!</a:t>
                      </a:r>
                    </a:p>
                    <a:p>
                      <a:pPr indent="216000" algn="l"/>
                      <a:r>
                        <a:rPr lang="en-US" sz="1100" kern="150" dirty="0">
                          <a:effectLst/>
                          <a:latin typeface="Cascadia Mono" panose="020B0609020000020004" pitchFamily="49" charset="0"/>
                          <a:cs typeface="Cascadia Mono" panose="020B0609020000020004" pitchFamily="49" charset="0"/>
                        </a:rPr>
                        <a:t>¶ Hedgehogs all look completely alike. </a:t>
                      </a:r>
                      <a:r>
                        <a:rPr lang="fr-FR" sz="1100" kern="1200" dirty="0" err="1">
                          <a:solidFill>
                            <a:schemeClr val="tx1"/>
                          </a:solidFill>
                          <a:effectLst/>
                          <a:latin typeface="+mn-lt"/>
                          <a:ea typeface="+mn-ea"/>
                          <a:cs typeface="+mn-cs"/>
                        </a:rPr>
                        <a:t>Muḥend</a:t>
                      </a:r>
                      <a:r>
                        <a:rPr lang="en-US" sz="1100" kern="150" dirty="0">
                          <a:effectLst/>
                          <a:latin typeface="Cascadia Mono" panose="020B0609020000020004" pitchFamily="49" charset="0"/>
                          <a:cs typeface="Cascadia Mono" panose="020B0609020000020004" pitchFamily="49" charset="0"/>
                        </a:rPr>
                        <a:t> brought along a couple of his relatives: one he sent with the wolf to that starting point, and the others he stationed at intervals along the track. As for himself and his son, they stayed right by the grain pile with a large sack and a wooden measuring bucket.</a:t>
                      </a:r>
                    </a:p>
                    <a:p>
                      <a:pPr indent="216000" algn="l"/>
                      <a:r>
                        <a:rPr lang="en-US" sz="1100" kern="150" dirty="0">
                          <a:effectLst/>
                          <a:latin typeface="Cascadia Mono" panose="020B0609020000020004" pitchFamily="49" charset="0"/>
                          <a:cs typeface="Cascadia Mono" panose="020B0609020000020004" pitchFamily="49" charset="0"/>
                        </a:rPr>
                        <a:t>¶ The wolf ran the race against his companion.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flew like the wind: he left him behind, but then he found another one right ahead of him and passed him again. When he finally reached the threshing floor, panting heavily and dripping with sweat, he found the hedgehog and his son right by the pile of grain, having their fill of measuring it! The father was saying to him:</a:t>
                      </a:r>
                    </a:p>
                    <a:p>
                      <a:pPr indent="216000" algn="l"/>
                      <a:r>
                        <a:rPr lang="en-US" sz="1100" kern="150" dirty="0">
                          <a:effectLst/>
                          <a:latin typeface="Cascadia Mono" panose="020B0609020000020004" pitchFamily="49" charset="0"/>
                          <a:cs typeface="Cascadia Mono" panose="020B0609020000020004" pitchFamily="49" charset="0"/>
                        </a:rPr>
                        <a:t>— Sixteen, sixteen, seventeen! Shake the sack, my boy!</a:t>
                      </a:r>
                    </a:p>
                    <a:p>
                      <a:pPr indent="216000" algn="l"/>
                      <a:r>
                        <a:rPr lang="en-US" sz="1100" kern="150" dirty="0">
                          <a:effectLst/>
                          <a:latin typeface="Cascadia Mono" panose="020B0609020000020004" pitchFamily="49" charset="0"/>
                          <a:cs typeface="Cascadia Mono" panose="020B0609020000020004" pitchFamily="49" charset="0"/>
                        </a:rPr>
                        <a:t>The wolf, master of a hundred tricks, walked away without taking a single grain or even a bit of chaff!</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47860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6139031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Tacekkukt n wudi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Jar of Butter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bdun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tacekkukt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mmektin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-as: Ad </a:t>
                      </a:r>
                      <a:r>
                        <a:rPr lang="fr-FR" sz="1100" kern="1200" dirty="0" err="1">
                          <a:solidFill>
                            <a:schemeClr val="tx1"/>
                          </a:solidFill>
                          <a:effectLst/>
                          <a:latin typeface="+mn-lt"/>
                          <a:ea typeface="+mn-ea"/>
                          <a:cs typeface="+mn-cs"/>
                        </a:rPr>
                        <a:t>nekfu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neḥlu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wussay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tmegra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werwa</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deqqal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s-d-</a:t>
                      </a:r>
                      <a:r>
                        <a:rPr lang="fr-FR" sz="1100" kern="1200" dirty="0" err="1">
                          <a:solidFill>
                            <a:schemeClr val="tx1"/>
                          </a:solidFill>
                          <a:effectLst/>
                          <a:latin typeface="+mn-lt"/>
                          <a:ea typeface="+mn-ea"/>
                          <a:cs typeface="+mn-cs"/>
                        </a:rPr>
                        <a:t>yessawlen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Anɛ</a:t>
                      </a:r>
                      <a:r>
                        <a:rPr lang="fr-FR" sz="1100" kern="1200" dirty="0">
                          <a:solidFill>
                            <a:schemeClr val="tx1"/>
                          </a:solidFill>
                          <a:effectLst/>
                          <a:latin typeface="+mn-lt"/>
                          <a:ea typeface="+mn-ea"/>
                          <a:cs typeface="+mn-cs"/>
                        </a:rPr>
                        <a:t> ɛ </a:t>
                      </a:r>
                      <a:r>
                        <a:rPr lang="fr-FR" sz="1100" kern="1200" dirty="0" err="1">
                          <a:solidFill>
                            <a:schemeClr val="tx1"/>
                          </a:solidFill>
                          <a:effectLst/>
                          <a:latin typeface="+mn-lt"/>
                          <a:ea typeface="+mn-ea"/>
                          <a:cs typeface="+mn-cs"/>
                        </a:rPr>
                        <a:t>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ixeddem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tzirett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teqcict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nga-yas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Mnaṣfa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Mmelqaɛ</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tcekkukt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taseɛdit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ɣnan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temmečč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anida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neffer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neṭṭes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nsers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nteffeɣ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yuki: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llqeḍ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yeṭṭaxer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It so happened that before they began farming, the wolf and the hedgehog hid a jar of butter. Whenever they remembered it, they would say: "When we finish the work, we shall feast upon it!" Throughout the plowing, the weeding, the harvesting, and the threshing, the hedgehog would suddenly answer back as if someone had called out to him:</a:t>
                      </a:r>
                    </a:p>
                    <a:p>
                      <a:pPr indent="216000" algn="l"/>
                      <a:r>
                        <a:rPr lang="en-US" sz="1100" kern="150" dirty="0">
                          <a:effectLst/>
                          <a:latin typeface="Cascadia Mono" panose="020B0609020000020004" pitchFamily="49" charset="0"/>
                          <a:cs typeface="Cascadia Mono" panose="020B0609020000020004" pitchFamily="49" charset="0"/>
                        </a:rPr>
                        <a:t>— Yes-e-e-s!</a:t>
                      </a:r>
                    </a:p>
                    <a:p>
                      <a:pPr indent="216000" algn="l"/>
                      <a:r>
                        <a:rPr lang="en-US" sz="1100" kern="150" dirty="0">
                          <a:effectLst/>
                          <a:latin typeface="Cascadia Mono" panose="020B0609020000020004" pitchFamily="49" charset="0"/>
                          <a:cs typeface="Cascadia Mono" panose="020B0609020000020004" pitchFamily="49" charset="0"/>
                        </a:rPr>
                        <a:t>¶ Then he would leave the wolf working alone, go to eat some butter from that small clay pot, and return. If his companion asked him: What is it now, O </a:t>
                      </a:r>
                      <a:r>
                        <a:rPr lang="fr-FR" sz="1100" kern="1200" dirty="0" err="1">
                          <a:solidFill>
                            <a:schemeClr val="tx1"/>
                          </a:solidFill>
                          <a:effectLst/>
                          <a:latin typeface="+mn-lt"/>
                          <a:ea typeface="+mn-ea"/>
                          <a:cs typeface="+mn-cs"/>
                        </a:rPr>
                        <a:t>Muḥend</a:t>
                      </a:r>
                      <a:r>
                        <a:rPr lang="en-US" sz="1100" kern="150" dirty="0">
                          <a:effectLst/>
                          <a:latin typeface="Cascadia Mono" panose="020B0609020000020004" pitchFamily="49" charset="0"/>
                          <a:cs typeface="Cascadia Mono" panose="020B0609020000020004" pitchFamily="49" charset="0"/>
                        </a:rPr>
                        <a:t>?, he would reply to him:</a:t>
                      </a:r>
                    </a:p>
                    <a:p>
                      <a:pPr indent="216000" algn="l"/>
                      <a:r>
                        <a:rPr lang="en-US" sz="1100" kern="150" dirty="0">
                          <a:effectLst/>
                          <a:latin typeface="Cascadia Mono" panose="020B0609020000020004" pitchFamily="49" charset="0"/>
                          <a:cs typeface="Cascadia Mono" panose="020B0609020000020004" pitchFamily="49" charset="0"/>
                        </a:rPr>
                        <a:t>— Another baby girl has been born to me; we named her Beginning… Or Half, or Bottom. And so it went until that blessed jar was completely finished.</a:t>
                      </a:r>
                    </a:p>
                    <a:p>
                      <a:pPr indent="216000" algn="l"/>
                      <a:r>
                        <a:rPr lang="en-US" sz="1100" kern="150" dirty="0">
                          <a:effectLst/>
                          <a:latin typeface="Cascadia Mono" panose="020B0609020000020004" pitchFamily="49" charset="0"/>
                          <a:cs typeface="Cascadia Mono" panose="020B0609020000020004" pitchFamily="49" charset="0"/>
                        </a:rPr>
                        <a:t>¶ When they were done with the work, they went to check on it and found it had been eaten. The wolf said to him:</a:t>
                      </a:r>
                    </a:p>
                    <a:p>
                      <a:pPr indent="216000" algn="l"/>
                      <a:r>
                        <a:rPr lang="en-US" sz="1100" kern="150" dirty="0">
                          <a:effectLst/>
                          <a:latin typeface="Cascadia Mono" panose="020B0609020000020004" pitchFamily="49" charset="0"/>
                          <a:cs typeface="Cascadia Mono" panose="020B0609020000020004" pitchFamily="49" charset="0"/>
                        </a:rPr>
                        <a:t>— O </a:t>
                      </a:r>
                      <a:r>
                        <a:rPr lang="fr-FR" sz="1100" kern="1200" dirty="0" err="1">
                          <a:solidFill>
                            <a:schemeClr val="tx1"/>
                          </a:solidFill>
                          <a:effectLst/>
                          <a:latin typeface="+mn-lt"/>
                          <a:ea typeface="+mn-ea"/>
                          <a:cs typeface="+mn-cs"/>
                        </a:rPr>
                        <a:t>Muḥend</a:t>
                      </a:r>
                      <a:r>
                        <a:rPr lang="en-US" sz="1100" kern="150" dirty="0">
                          <a:effectLst/>
                          <a:latin typeface="Cascadia Mono" panose="020B0609020000020004" pitchFamily="49" charset="0"/>
                          <a:cs typeface="Cascadia Mono" panose="020B0609020000020004" pitchFamily="49" charset="0"/>
                        </a:rPr>
                        <a:t>, it was you who ate it! Only the two of us knew where we hid it!</a:t>
                      </a:r>
                    </a:p>
                    <a:p>
                      <a:pPr indent="216000" algn="l"/>
                      <a:r>
                        <a:rPr lang="en-US" sz="1100" kern="150" dirty="0">
                          <a:effectLst/>
                          <a:latin typeface="Cascadia Mono" panose="020B0609020000020004" pitchFamily="49" charset="0"/>
                          <a:cs typeface="Cascadia Mono" panose="020B0609020000020004" pitchFamily="49" charset="0"/>
                        </a:rPr>
                        <a:t>The hedgehog kept saying to him:</a:t>
                      </a:r>
                    </a:p>
                    <a:p>
                      <a:pPr indent="216000" algn="l"/>
                      <a:r>
                        <a:rPr lang="en-US" sz="1100" kern="150" dirty="0">
                          <a:effectLst/>
                          <a:latin typeface="Cascadia Mono" panose="020B0609020000020004" pitchFamily="49" charset="0"/>
                          <a:cs typeface="Cascadia Mono" panose="020B0609020000020004" pitchFamily="49" charset="0"/>
                        </a:rPr>
                        <a:t>— It was you!</a:t>
                      </a:r>
                    </a:p>
                    <a:p>
                      <a:pPr indent="216000" algn="l"/>
                      <a:r>
                        <a:rPr lang="en-US" sz="1100" kern="150" dirty="0">
                          <a:effectLst/>
                          <a:latin typeface="Cascadia Mono" panose="020B0609020000020004" pitchFamily="49" charset="0"/>
                          <a:cs typeface="Cascadia Mono" panose="020B0609020000020004" pitchFamily="49" charset="0"/>
                        </a:rPr>
                        <a:t>Then they said:</a:t>
                      </a:r>
                    </a:p>
                    <a:p>
                      <a:pPr indent="216000" algn="l"/>
                      <a:r>
                        <a:rPr lang="en-US" sz="1100" kern="150" dirty="0">
                          <a:effectLst/>
                          <a:latin typeface="Cascadia Mono" panose="020B0609020000020004" pitchFamily="49" charset="0"/>
                          <a:cs typeface="Cascadia Mono" panose="020B0609020000020004" pitchFamily="49" charset="0"/>
                        </a:rPr>
                        <a:t>— The one who ate the butter, it shall pass through him: before we sleep, we will place clay shards next to us to relieve ourselves into them, and the truth will be revealed!</a:t>
                      </a:r>
                    </a:p>
                    <a:p>
                      <a:pPr indent="216000" algn="l"/>
                      <a:r>
                        <a:rPr lang="en-US" sz="1100" kern="150" dirty="0">
                          <a:effectLst/>
                          <a:latin typeface="Cascadia Mono" panose="020B0609020000020004" pitchFamily="49" charset="0"/>
                          <a:cs typeface="Cascadia Mono" panose="020B0609020000020004" pitchFamily="49" charset="0"/>
                        </a:rPr>
                        <a:t>¶ They did exactly that, but the one who had eaten the butter was alert: he got up in the middle of the night while his companion was fast asleep and switched the positions of the shards.</a:t>
                      </a:r>
                    </a:p>
                    <a:p>
                      <a:pPr indent="216000" algn="l"/>
                      <a:r>
                        <a:rPr lang="en-US" sz="1100" kern="150" dirty="0">
                          <a:effectLst/>
                          <a:latin typeface="Cascadia Mono" panose="020B0609020000020004" pitchFamily="49" charset="0"/>
                          <a:cs typeface="Cascadia Mono" panose="020B0609020000020004" pitchFamily="49" charset="0"/>
                        </a:rPr>
                        <a:t>¶ The next morning, each one kept saying to the other: "It was you!" The matter could not be settled between them.</a:t>
                      </a:r>
                    </a:p>
                    <a:p>
                      <a:pPr indent="216000" algn="l"/>
                      <a:r>
                        <a:rPr lang="en-US" sz="1100" kern="150" dirty="0">
                          <a:effectLst/>
                          <a:latin typeface="Cascadia Mono" panose="020B0609020000020004" pitchFamily="49" charset="0"/>
                          <a:cs typeface="Cascadia Mono" panose="020B0609020000020004" pitchFamily="49" charset="0"/>
                        </a:rPr>
                        <a:t>¶ The wolf realized there was no profit left to gather from tracking the hedgehog: he distanced himself from him, and each one went his own way.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13804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6428440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91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Argaz d wezrem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Man and the Serpent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tṣebḥit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igezzem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aqelmun-is</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yecreq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yetḥaya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lxelq</a:t>
                      </a:r>
                      <a:r>
                        <a:rPr lang="fr-FR" sz="1100" kern="1200" dirty="0">
                          <a:solidFill>
                            <a:schemeClr val="tx1"/>
                          </a:solidFill>
                          <a:effectLst/>
                          <a:latin typeface="+mn-lt"/>
                          <a:ea typeface="+mn-ea"/>
                          <a:cs typeface="+mn-cs"/>
                        </a:rPr>
                        <a:t> agi,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iyi-tqaleḍ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xedmeɣ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Anida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wemruj-iw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ddheb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lfeṭṭa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iyi-iwet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iɛiwed-iyi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sneṣleɣ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taslest-iw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tseɛreqḍ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cehhed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temmteḍ</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ḥkan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morning, in a cold that cut like scissors, a man went out to the wilderness. He found a serpent on the path, broken by the frost. He felt pity for him. He lifted him and put him into his hood. As soon as the sun rose and the land warmed up, the serpent came back to life; he coiled around the man's neck and choked him: his eyes bulged out. The man said to him: </a:t>
                      </a:r>
                    </a:p>
                    <a:p>
                      <a:pPr indent="216000" algn="l"/>
                      <a:r>
                        <a:rPr lang="en-US" sz="1100" kern="150" dirty="0">
                          <a:effectLst/>
                          <a:latin typeface="Cascadia Mono" panose="020B0609020000020004" pitchFamily="49" charset="0"/>
                          <a:cs typeface="Cascadia Mono" panose="020B0609020000020004" pitchFamily="49" charset="0"/>
                        </a:rPr>
                        <a:t>- I implore you by God, O creature, spare me! I found you broken by the frost, about to kill you: I saved you from death; it was good that I did for you.</a:t>
                      </a:r>
                    </a:p>
                    <a:p>
                      <a:pPr indent="216000" algn="l"/>
                      <a:r>
                        <a:rPr lang="en-US" sz="1100" kern="150" dirty="0">
                          <a:effectLst/>
                          <a:latin typeface="Cascadia Mono" panose="020B0609020000020004" pitchFamily="49" charset="0"/>
                          <a:cs typeface="Cascadia Mono" panose="020B0609020000020004" pitchFamily="49" charset="0"/>
                        </a:rPr>
                        <a:t>¶ The serpent replied to him: </a:t>
                      </a:r>
                    </a:p>
                    <a:p>
                      <a:pPr indent="216000" algn="l"/>
                      <a:r>
                        <a:rPr lang="en-US" sz="1100" kern="150" dirty="0">
                          <a:effectLst/>
                          <a:latin typeface="Cascadia Mono" panose="020B0609020000020004" pitchFamily="49" charset="0"/>
                          <a:cs typeface="Cascadia Mono" panose="020B0609020000020004" pitchFamily="49" charset="0"/>
                        </a:rPr>
                        <a:t>- Where is the good that you did for me? I came out of my burrow of gold and silver so the frost would strike me and the sun would follow, so that I could strip off my old skin, and you took me away! How will I find my room: you have made me lose it! You have brought death upon yourself: say your prayers, for you shall die!</a:t>
                      </a:r>
                    </a:p>
                    <a:p>
                      <a:pPr indent="216000" algn="l"/>
                      <a:r>
                        <a:rPr lang="en-US" sz="1100" kern="150" dirty="0">
                          <a:effectLst/>
                          <a:latin typeface="Cascadia Mono" panose="020B0609020000020004" pitchFamily="49" charset="0"/>
                          <a:cs typeface="Cascadia Mono" panose="020B0609020000020004" pitchFamily="49" charset="0"/>
                        </a:rPr>
                        <a:t>¶ The man said to him: </a:t>
                      </a:r>
                    </a:p>
                    <a:p>
                      <a:pPr indent="216000" algn="l"/>
                      <a:r>
                        <a:rPr lang="en-US" sz="1100" kern="150" dirty="0">
                          <a:effectLst/>
                          <a:latin typeface="Cascadia Mono" panose="020B0609020000020004" pitchFamily="49" charset="0"/>
                          <a:cs typeface="Cascadia Mono" panose="020B0609020000020004" pitchFamily="49" charset="0"/>
                        </a:rPr>
                        <a:t>- I implore you by God, grant me a trial.</a:t>
                      </a:r>
                    </a:p>
                    <a:p>
                      <a:pPr indent="216000" algn="l"/>
                      <a:r>
                        <a:rPr lang="en-US" sz="1100" kern="150" dirty="0">
                          <a:effectLst/>
                          <a:latin typeface="Cascadia Mono" panose="020B0609020000020004" pitchFamily="49" charset="0"/>
                          <a:cs typeface="Cascadia Mono" panose="020B0609020000020004" pitchFamily="49" charset="0"/>
                        </a:rPr>
                        <a:t>He granted it to him. They went to the wolf, told him their story, and he said to them:</a:t>
                      </a:r>
                    </a:p>
                    <a:p>
                      <a:pPr indent="216000" algn="l"/>
                      <a:r>
                        <a:rPr lang="en-US" sz="1100" kern="150" dirty="0">
                          <a:effectLst/>
                          <a:latin typeface="Cascadia Mono" panose="020B0609020000020004" pitchFamily="49" charset="0"/>
                          <a:cs typeface="Cascadia Mono" panose="020B0609020000020004" pitchFamily="49" charset="0"/>
                        </a:rPr>
                        <a:t>- I know nothing of these matters: go to the hedgehog.</a:t>
                      </a:r>
                    </a:p>
                    <a:p>
                      <a:pPr indent="216000" algn="l"/>
                      <a:r>
                        <a:rPr lang="en-US" sz="1100" kern="150" dirty="0">
                          <a:effectLst/>
                          <a:latin typeface="Cascadia Mono" panose="020B0609020000020004" pitchFamily="49" charset="0"/>
                          <a:cs typeface="Cascadia Mono" panose="020B0609020000020004" pitchFamily="49" charset="0"/>
                        </a:rPr>
                        <a:t>¶ As soon as they arrived, he looked at them and understood their case. They stood up to pray for judgment, but he said to them: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929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8312598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ers-d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 ad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deg-wen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icaṛeɛ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fruɣ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gar-awen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lgn="l"/>
                      <a:r>
                        <a:rPr lang="fr-FR" sz="1100" i="1" kern="1200" dirty="0" err="1">
                          <a:solidFill>
                            <a:schemeClr val="tx1"/>
                          </a:solidFill>
                          <a:effectLst/>
                          <a:latin typeface="+mn-lt"/>
                          <a:ea typeface="+mn-ea"/>
                          <a:cs typeface="+mn-cs"/>
                        </a:rPr>
                        <a:t>W’iṭṭfen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aḥdif</a:t>
                      </a:r>
                      <a:r>
                        <a:rPr lang="fr-FR" sz="1100" i="1" kern="1200" dirty="0">
                          <a:solidFill>
                            <a:schemeClr val="tx1"/>
                          </a:solidFill>
                          <a:effectLst/>
                          <a:latin typeface="+mn-lt"/>
                          <a:ea typeface="+mn-ea"/>
                          <a:cs typeface="+mn-cs"/>
                        </a:rPr>
                        <a:t> yawi </a:t>
                      </a:r>
                      <a:r>
                        <a:rPr lang="fr-FR" sz="1100" i="1" kern="1200" dirty="0" err="1">
                          <a:solidFill>
                            <a:schemeClr val="tx1"/>
                          </a:solidFill>
                          <a:effectLst/>
                          <a:latin typeface="+mn-lt"/>
                          <a:ea typeface="+mn-ea"/>
                          <a:cs typeface="+mn-cs"/>
                        </a:rPr>
                        <a:t>lḥif</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A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yebḍu</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uɣilif</a:t>
                      </a:r>
                      <a:r>
                        <a:rPr lang="fr-FR" sz="1100" i="1" kern="1200" dirty="0">
                          <a:solidFill>
                            <a:schemeClr val="tx1"/>
                          </a:solidFill>
                          <a:effectLst/>
                          <a:latin typeface="+mn-lt"/>
                          <a:ea typeface="+mn-ea"/>
                          <a:cs typeface="+mn-cs"/>
                        </a:rPr>
                        <a:t>!</a:t>
                      </a:r>
                      <a:endParaRPr lang="fr-FR"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mnaṣef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inɣed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iɛeggalen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W’ittamnen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tɣellteḍ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mi t-</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yeqleɛ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indent="0" algn="l">
                        <a:buFontTx/>
                        <a:buNone/>
                      </a:pPr>
                      <a:r>
                        <a:rPr lang="en-US" sz="1100" kern="150" dirty="0">
                          <a:effectLst/>
                          <a:latin typeface="Cascadia Mono" panose="020B0609020000020004" pitchFamily="49" charset="0"/>
                          <a:cs typeface="Cascadia Mono" panose="020B0609020000020004" pitchFamily="49" charset="0"/>
                        </a:rPr>
                        <a:t>   </a:t>
                      </a:r>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No! A trial in the sky has never existed! You, O serpent, come down to the ground and sit here, and your opponent will sit over there: each one of you will plead his case, and I will settle it between you. </a:t>
                      </a:r>
                    </a:p>
                    <a:p>
                      <a:pPr marL="0" indent="0" algn="l">
                        <a:buFontTx/>
                        <a:buNone/>
                      </a:pPr>
                      <a:r>
                        <a:rPr lang="en-US" sz="1100" kern="150" dirty="0">
                          <a:effectLst/>
                          <a:latin typeface="Cascadia Mono" panose="020B0609020000020004" pitchFamily="49" charset="0"/>
                          <a:cs typeface="Cascadia Mono" panose="020B0609020000020004" pitchFamily="49" charset="0"/>
                        </a:rPr>
                        <a:t>     </a:t>
                      </a:r>
                      <a:r>
                        <a:rPr lang="en-US" sz="1100" dirty="0"/>
                        <a:t>¶ </a:t>
                      </a:r>
                      <a:r>
                        <a:rPr lang="en-US" sz="1100" kern="150" dirty="0">
                          <a:effectLst/>
                          <a:latin typeface="Cascadia Mono" panose="020B0609020000020004" pitchFamily="49" charset="0"/>
                          <a:cs typeface="Cascadia Mono" panose="020B0609020000020004" pitchFamily="49" charset="0"/>
                        </a:rPr>
                        <a:t>As soon as the serpent came down to the ground, the hedgehog urged the man on, saying: </a:t>
                      </a:r>
                    </a:p>
                    <a:p>
                      <a:pPr marL="0" indent="0" algn="l">
                        <a:buFontTx/>
                        <a:buNone/>
                      </a:pPr>
                      <a:r>
                        <a:rPr lang="en-US" sz="1100" kern="150" dirty="0">
                          <a:effectLst/>
                          <a:latin typeface="Cascadia Mono" panose="020B0609020000020004" pitchFamily="49" charset="0"/>
                          <a:cs typeface="Cascadia Mono" panose="020B0609020000020004" pitchFamily="49" charset="0"/>
                        </a:rPr>
                        <a:t>     </a:t>
                      </a:r>
                      <a:r>
                        <a:rPr lang="en-US" sz="1100" i="1" kern="150" dirty="0">
                          <a:effectLst/>
                          <a:latin typeface="Cascadia Mono" panose="020B0609020000020004" pitchFamily="49" charset="0"/>
                          <a:cs typeface="Cascadia Mono" panose="020B0609020000020004" pitchFamily="49" charset="0"/>
                        </a:rPr>
                        <a:t>He who holds a stick and suffers harm,</a:t>
                      </a:r>
                    </a:p>
                    <a:p>
                      <a:pPr marL="0" indent="0" algn="l">
                        <a:buFontTx/>
                        <a:buNone/>
                      </a:pPr>
                      <a:r>
                        <a:rPr lang="en-US" sz="1100" i="1" kern="150" dirty="0">
                          <a:effectLst/>
                          <a:latin typeface="Cascadia Mono" panose="020B0609020000020004" pitchFamily="49" charset="0"/>
                          <a:cs typeface="Cascadia Mono" panose="020B0609020000020004" pitchFamily="49" charset="0"/>
                        </a:rPr>
                        <a:t>     may he never be free from affliction!</a:t>
                      </a:r>
                      <a:endParaRPr lang="en-US" sz="1100" kern="150" dirty="0">
                        <a:effectLst/>
                        <a:latin typeface="Cascadia Mono" panose="020B0609020000020004" pitchFamily="49" charset="0"/>
                        <a:cs typeface="Cascadia Mono" panose="020B0609020000020004" pitchFamily="49" charset="0"/>
                      </a:endParaRPr>
                    </a:p>
                    <a:p>
                      <a:pPr indent="216000" algn="l"/>
                      <a:r>
                        <a:rPr lang="en-US" sz="1100" dirty="0"/>
                        <a:t>¶ The man struck the serpent and split him in half: he took a stone and crushed his head.</a:t>
                      </a:r>
                    </a:p>
                    <a:p>
                      <a:pPr indent="216000" algn="l"/>
                      <a:r>
                        <a:rPr lang="en-US" sz="1100" dirty="0"/>
                        <a:t>¶ Then he turned back around, only to find that the hedgehog had fled. He clapped his hands in regret and shouted: </a:t>
                      </a:r>
                    </a:p>
                    <a:p>
                      <a:pPr indent="216000" algn="l"/>
                      <a:r>
                        <a:rPr lang="fr-FR" sz="1100" kern="1200" dirty="0">
                          <a:solidFill>
                            <a:schemeClr val="tx1"/>
                          </a:solidFill>
                          <a:effectLst/>
                          <a:latin typeface="+mn-lt"/>
                          <a:ea typeface="+mn-ea"/>
                          <a:cs typeface="+mn-cs"/>
                        </a:rPr>
                        <a:t>- </a:t>
                      </a:r>
                      <a:r>
                        <a:rPr lang="en-US" sz="1100" dirty="0"/>
                        <a:t>Ah! The supper for my family has escaped!</a:t>
                      </a:r>
                    </a:p>
                    <a:p>
                      <a:pPr indent="216000" algn="l"/>
                      <a:r>
                        <a:rPr lang="en-US" sz="1100" dirty="0"/>
                        <a:t> He who trusts a human being, black-headed creature!</a:t>
                      </a:r>
                      <a:r>
                        <a:rPr lang="fr-FR" sz="1100" kern="1200" dirty="0">
                          <a:solidFill>
                            <a:schemeClr val="tx1"/>
                          </a:solidFill>
                          <a:effectLst/>
                          <a:latin typeface="+mn-lt"/>
                          <a:ea typeface="+mn-ea"/>
                          <a:cs typeface="+mn-cs"/>
                        </a:rPr>
                        <a:t>…</a:t>
                      </a:r>
                      <a:endParaRPr lang="en-US" sz="1100" dirty="0"/>
                    </a:p>
                    <a:p>
                      <a:pPr indent="216000" algn="l"/>
                      <a:r>
                        <a:rPr lang="en-US" sz="1100" dirty="0"/>
                        <a:t>¶ In this world, what you plant, you shall harvest; but a human being, when you plant him, he roots you out!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8970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99120385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#3</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#3</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wegdi</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ctr"/>
                      <a:r>
                        <a:rPr lang="en-US" sz="1100" kern="150" dirty="0">
                          <a:effectLst/>
                          <a:latin typeface="Cascadia Mono" panose="020B0609020000020004" pitchFamily="49" charset="0"/>
                          <a:cs typeface="Cascadia Mono" panose="020B0609020000020004" pitchFamily="49" charset="0"/>
                        </a:rPr>
                        <a:t>The Tale of the Wolf and the Dog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87671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02100307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kern="150">
                          <a:effectLst/>
                          <a:latin typeface="Cascadia Mono" panose="020B0609020000020004" pitchFamily="49" charset="0"/>
                          <a:cs typeface="Cascadia Mono" panose="020B0609020000020004" pitchFamily="49" charset="0"/>
                        </a:rPr>
                        <a:t>Ɣ</a:t>
                      </a:r>
                      <a:r>
                        <a:rPr lang="fr-FR" sz="1200" b="1" kern="150">
                          <a:effectLst/>
                          <a:latin typeface="Cascadia Mono" panose="020B0609020000020004" pitchFamily="49" charset="0"/>
                          <a:cs typeface="Cascadia Mono" panose="020B0609020000020004" pitchFamily="49" charset="0"/>
                        </a:rPr>
                        <a:t>ef tbenɛemmett n wuccen d wegdi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On the Ancient Feud Between the Wolf and the Dog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taqdimt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Yiwen, </a:t>
                      </a:r>
                      <a:r>
                        <a:rPr lang="fr-FR" sz="1100" kern="1200" dirty="0" err="1">
                          <a:solidFill>
                            <a:schemeClr val="tx1"/>
                          </a:solidFill>
                          <a:effectLst/>
                          <a:latin typeface="+mn-lt"/>
                          <a:ea typeface="+mn-ea"/>
                          <a:cs typeface="+mn-cs"/>
                        </a:rPr>
                        <a:t>isem-is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Kessen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 ad brun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yeṛwu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irren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yecɣel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-tt-in </a:t>
                      </a:r>
                      <a:r>
                        <a:rPr lang="fr-FR" sz="1100" kern="1200" dirty="0" err="1">
                          <a:solidFill>
                            <a:schemeClr val="tx1"/>
                          </a:solidFill>
                          <a:effectLst/>
                          <a:latin typeface="+mn-lt"/>
                          <a:ea typeface="+mn-ea"/>
                          <a:cs typeface="+mn-cs"/>
                        </a:rPr>
                        <a:t>tejreḥ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bernen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tlemmast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ɛezlen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-as-d i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Amarezg</a:t>
                      </a:r>
                      <a:r>
                        <a:rPr lang="fr-FR" sz="1100" kern="1200" dirty="0">
                          <a:solidFill>
                            <a:schemeClr val="tx1"/>
                          </a:solidFill>
                          <a:effectLst/>
                          <a:latin typeface="+mn-lt"/>
                          <a:ea typeface="+mn-ea"/>
                          <a:cs typeface="+mn-cs"/>
                        </a:rPr>
                        <a:t>-ik, ay </a:t>
                      </a:r>
                      <a:r>
                        <a:rPr lang="fr-FR" sz="1100" kern="1200" dirty="0" err="1">
                          <a:solidFill>
                            <a:schemeClr val="tx1"/>
                          </a:solidFill>
                          <a:effectLst/>
                          <a:latin typeface="+mn-lt"/>
                          <a:ea typeface="+mn-ea"/>
                          <a:cs typeface="+mn-cs"/>
                        </a:rPr>
                        <a:t>agdi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tegganeḍ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leɛmal</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Talli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yaɣ-yurwen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meqqar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nemɛahad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nemyučč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In the old world, the wolf and the hound were brothers. One was named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the other, </a:t>
                      </a:r>
                      <a:r>
                        <a:rPr lang="en-US" sz="1100" kern="150" dirty="0" err="1">
                          <a:effectLst/>
                          <a:latin typeface="Cascadia Mono" panose="020B0609020000020004" pitchFamily="49" charset="0"/>
                          <a:cs typeface="Cascadia Mono" panose="020B0609020000020004" pitchFamily="49" charset="0"/>
                        </a:rPr>
                        <a:t>Rabeḥ</a:t>
                      </a:r>
                      <a:r>
                        <a:rPr lang="en-US" sz="1100" kern="150" dirty="0">
                          <a:effectLst/>
                          <a:latin typeface="Cascadia Mono" panose="020B0609020000020004" pitchFamily="49" charset="0"/>
                          <a:cs typeface="Cascadia Mono" panose="020B0609020000020004" pitchFamily="49" charset="0"/>
                        </a:rPr>
                        <a:t>. They pastured the livestock by themselves: they would let them out in the morning, pasture them until evening, and when the livestock was full, they would bring them back home. ¶ That day, they pastured the livestock, and a ewe happened to slip into a cave. She cried out. The hound was occupied elsewhere at that moment, so the wolf said to her: </a:t>
                      </a:r>
                    </a:p>
                    <a:p>
                      <a:pPr marL="171450" indent="-171450" algn="l">
                        <a:buFontTx/>
                        <a:buChar char="-"/>
                      </a:pPr>
                      <a:r>
                        <a:rPr lang="en-US" sz="1100" kern="150" dirty="0">
                          <a:effectLst/>
                          <a:latin typeface="Cascadia Mono" panose="020B0609020000020004" pitchFamily="49" charset="0"/>
                          <a:cs typeface="Cascadia Mono" panose="020B0609020000020004" pitchFamily="49" charset="0"/>
                        </a:rPr>
                        <a:t>Do not fear!</a:t>
                      </a:r>
                    </a:p>
                    <a:p>
                      <a:pPr marL="0" indent="0" algn="l">
                        <a:buFontTx/>
                        <a:buNone/>
                      </a:pPr>
                      <a:r>
                        <a:rPr lang="en-US" sz="1100" kern="150" dirty="0">
                          <a:effectLst/>
                          <a:latin typeface="Cascadia Mono" panose="020B0609020000020004" pitchFamily="49" charset="0"/>
                          <a:cs typeface="Cascadia Mono" panose="020B0609020000020004" pitchFamily="49" charset="0"/>
                        </a:rPr>
                        <a:t> He went down to rescue her, but he found her wounded. He licked the blood, and then he finished her off: he killed her and ate her.</a:t>
                      </a:r>
                    </a:p>
                    <a:p>
                      <a:pPr indent="216000" algn="l"/>
                      <a:r>
                        <a:rPr lang="en-US" sz="1100" dirty="0"/>
                        <a:t>¶ In the evening, when they returned home, the hound walked in the middle of the livestock, while the wolf was isolated far away.</a:t>
                      </a:r>
                    </a:p>
                    <a:p>
                      <a:pPr indent="216000" algn="l"/>
                      <a:r>
                        <a:rPr lang="en-US" sz="1100" dirty="0"/>
                        <a:t>¶ He remained alone in the forest. During the first days, night fell upon him as he regretted what he had done.  ¶ One day, he stood upon a ridge, called out to the hound, and said to him:</a:t>
                      </a:r>
                    </a:p>
                    <a:p>
                      <a:pPr indent="216000" algn="l"/>
                      <a:r>
                        <a:rPr lang="en-US" sz="1100" dirty="0"/>
                        <a:t>    Blessed are you, oh dog:</a:t>
                      </a:r>
                    </a:p>
                    <a:p>
                      <a:pPr indent="216000" algn="l"/>
                      <a:r>
                        <a:rPr lang="en-US" sz="1100" dirty="0"/>
                        <a:t>    Sleeping in the midst of the sheep!</a:t>
                      </a:r>
                    </a:p>
                    <a:p>
                      <a:pPr indent="216000" algn="l"/>
                      <a:r>
                        <a:rPr lang="en-US" sz="1100" dirty="0"/>
                        <a:t>The hound answered him:</a:t>
                      </a:r>
                    </a:p>
                    <a:p>
                      <a:pPr indent="216000" algn="l"/>
                      <a:r>
                        <a:rPr lang="en-US" sz="1100" dirty="0"/>
                        <a:t>    Go away from there!</a:t>
                      </a:r>
                    </a:p>
                    <a:p>
                      <a:pPr indent="216000" algn="l"/>
                      <a:r>
                        <a:rPr lang="en-US" sz="1100" dirty="0"/>
                        <a:t>    It is your actions that are not good:</a:t>
                      </a:r>
                    </a:p>
                    <a:p>
                      <a:pPr indent="216000" algn="l"/>
                      <a:r>
                        <a:rPr lang="en-US" sz="1100" dirty="0"/>
                        <a:t>    Otherwise, you would be just like me!</a:t>
                      </a:r>
                    </a:p>
                    <a:p>
                      <a:pPr indent="216000" algn="l"/>
                      <a:r>
                        <a:rPr lang="en-US" sz="1100" dirty="0"/>
                        <a:t>He added:</a:t>
                      </a:r>
                    </a:p>
                    <a:p>
                      <a:pPr indent="216000" algn="l"/>
                      <a:r>
                        <a:rPr lang="fr-FR" sz="1100" kern="1200" dirty="0">
                          <a:solidFill>
                            <a:schemeClr val="tx1"/>
                          </a:solidFill>
                          <a:effectLst/>
                          <a:latin typeface="+mn-lt"/>
                          <a:ea typeface="+mn-ea"/>
                          <a:cs typeface="+mn-cs"/>
                        </a:rPr>
                        <a:t>- </a:t>
                      </a:r>
                      <a:r>
                        <a:rPr lang="en-US" sz="1100" dirty="0"/>
                        <a:t>You and I are brothers: the same belly gave birth to us: come, at least, let us swear by God not to eat one another!</a:t>
                      </a:r>
                    </a:p>
                    <a:p>
                      <a:pPr indent="216000" algn="l"/>
                      <a:r>
                        <a:rPr lang="en-US" sz="1100" dirty="0"/>
                        <a:t>The hound said to him: I swear to you by God that I will not eat you!</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55075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688C-4C8D-2E73-EEF3-DCB01573F125}"/>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DACF3CF-BBCC-7BF2-6FE1-780980AE0209}"/>
              </a:ext>
            </a:extLst>
          </p:cNvPr>
          <p:cNvGraphicFramePr>
            <a:graphicFrameLocks noGrp="1"/>
          </p:cNvGraphicFramePr>
          <p:nvPr>
            <p:extLst>
              <p:ext uri="{D42A27DB-BD31-4B8C-83A1-F6EECF244321}">
                <p14:modId xmlns:p14="http://schemas.microsoft.com/office/powerpoint/2010/main" val="396045972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dderya-nsen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The wolf laughed at him and replied:</a:t>
                      </a:r>
                    </a:p>
                    <a:p>
                      <a:pPr indent="216000" algn="l"/>
                      <a:r>
                        <a:rPr lang="fr-FR" sz="1100" kern="1200" dirty="0">
                          <a:solidFill>
                            <a:schemeClr val="tx1"/>
                          </a:solidFill>
                          <a:effectLst/>
                          <a:latin typeface="+mn-lt"/>
                          <a:ea typeface="+mn-ea"/>
                          <a:cs typeface="+mn-cs"/>
                        </a:rPr>
                        <a:t>- </a:t>
                      </a:r>
                      <a:r>
                        <a:rPr lang="en-US" sz="1100" dirty="0"/>
                        <a:t>I swear to you by God that wherever I find you, I will eat you! </a:t>
                      </a:r>
                    </a:p>
                    <a:p>
                      <a:pPr indent="216000" algn="l"/>
                      <a:r>
                        <a:rPr lang="en-US" sz="1100" dirty="0"/>
                        <a:t>¶ From then on, each one took his own path.</a:t>
                      </a:r>
                    </a:p>
                    <a:p>
                      <a:pPr indent="216000" algn="l"/>
                      <a:r>
                        <a:rPr lang="en-US" sz="1100" dirty="0"/>
                        <a:t>It is from that day that the enmity was established between them, as well as between their offspring.</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46732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0309490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taɣaṭ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She-Goat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nnḍeɣ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tqejjiṛt-iw</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kkiɣ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teqḍeɛt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tḍehṛ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sufella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tneqlett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tɣeẓẓ</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ers-d ad </a:t>
                      </a:r>
                      <a:r>
                        <a:rPr lang="fr-FR" sz="1100" kern="1200" dirty="0" err="1">
                          <a:solidFill>
                            <a:schemeClr val="tx1"/>
                          </a:solidFill>
                          <a:effectLst/>
                          <a:latin typeface="+mn-lt"/>
                          <a:ea typeface="+mn-ea"/>
                          <a:cs typeface="+mn-cs"/>
                        </a:rPr>
                        <a:t>neddukel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ɛahed-iyi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Iɛuhed-itt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teḍfeṛ-it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tqejbabin-iw</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ewe said:</a:t>
                      </a:r>
                    </a:p>
                    <a:p>
                      <a:pPr indent="216000" algn="l"/>
                      <a:r>
                        <a:rPr lang="en-US" sz="1100" kern="150" dirty="0">
                          <a:effectLst/>
                          <a:latin typeface="Cascadia Mono" panose="020B0609020000020004" pitchFamily="49" charset="0"/>
                          <a:cs typeface="Cascadia Mono" panose="020B0609020000020004" pitchFamily="49" charset="0"/>
                        </a:rPr>
                        <a:t>- I only need to turn around my own leg to be full.</a:t>
                      </a:r>
                    </a:p>
                    <a:p>
                      <a:pPr indent="216000" algn="l"/>
                      <a:r>
                        <a:rPr lang="en-US" sz="1100" kern="150" dirty="0">
                          <a:effectLst/>
                          <a:latin typeface="Cascadia Mono" panose="020B0609020000020004" pitchFamily="49" charset="0"/>
                          <a:cs typeface="Cascadia Mono" panose="020B0609020000020004" pitchFamily="49" charset="0"/>
                        </a:rPr>
                        <a:t>The she-goat said to her:</a:t>
                      </a:r>
                    </a:p>
                    <a:p>
                      <a:pPr indent="216000" algn="l"/>
                      <a:r>
                        <a:rPr lang="en-US" sz="1100" kern="150" dirty="0">
                          <a:effectLst/>
                          <a:latin typeface="Cascadia Mono" panose="020B0609020000020004" pitchFamily="49" charset="0"/>
                          <a:cs typeface="Cascadia Mono" panose="020B0609020000020004" pitchFamily="49" charset="0"/>
                        </a:rPr>
                        <a:t>- Not until I cross seven countries will I be full. </a:t>
                      </a:r>
                    </a:p>
                    <a:p>
                      <a:pPr indent="216000" algn="l"/>
                      <a:r>
                        <a:rPr lang="en-US" sz="1100" kern="150" dirty="0">
                          <a:effectLst/>
                          <a:latin typeface="Cascadia Mono" panose="020B0609020000020004" pitchFamily="49" charset="0"/>
                          <a:cs typeface="Cascadia Mono" panose="020B0609020000020004" pitchFamily="49" charset="0"/>
                        </a:rPr>
                        <a:t>¶ One day, she left the flock and went, in the middle of the day like the dead of night, to the edge of the river. The wolf passed by and saw her reflection in the water; he thought it was really her. He leaped into the deep pool to seize her, but found nothing. </a:t>
                      </a:r>
                    </a:p>
                    <a:p>
                      <a:pPr indent="216000" algn="l"/>
                      <a:r>
                        <a:rPr lang="en-US" sz="1100" kern="150" dirty="0">
                          <a:effectLst/>
                          <a:latin typeface="Cascadia Mono" panose="020B0609020000020004" pitchFamily="49" charset="0"/>
                          <a:cs typeface="Cascadia Mono" panose="020B0609020000020004" pitchFamily="49" charset="0"/>
                        </a:rPr>
                        <a:t>¶ He came back out, and she appeared to him up on a fig tree, munching away.</a:t>
                      </a:r>
                    </a:p>
                    <a:p>
                      <a:pPr indent="216000" algn="l"/>
                      <a:r>
                        <a:rPr lang="en-US" sz="1100" kern="150" dirty="0">
                          <a:effectLst/>
                          <a:latin typeface="Cascadia Mono" panose="020B0609020000020004" pitchFamily="49" charset="0"/>
                          <a:cs typeface="Cascadia Mono" panose="020B0609020000020004" pitchFamily="49" charset="0"/>
                        </a:rPr>
                        <a:t>He said to her:</a:t>
                      </a:r>
                    </a:p>
                    <a:p>
                      <a:pPr indent="216000" algn="l"/>
                      <a:r>
                        <a:rPr lang="en-US" sz="1100" kern="150" dirty="0">
                          <a:effectLst/>
                          <a:latin typeface="Cascadia Mono" panose="020B0609020000020004" pitchFamily="49" charset="0"/>
                          <a:cs typeface="Cascadia Mono" panose="020B0609020000020004" pitchFamily="49" charset="0"/>
                        </a:rPr>
                        <a:t>- Praise be to God! I thought, my sister, that the deep pool had eaten you: come down so we can walk together!</a:t>
                      </a:r>
                    </a:p>
                    <a:p>
                      <a:pPr indent="216000" algn="l"/>
                      <a:r>
                        <a:rPr lang="en-US" sz="1100" kern="150" dirty="0">
                          <a:effectLst/>
                          <a:latin typeface="Cascadia Mono" panose="020B0609020000020004" pitchFamily="49" charset="0"/>
                          <a:cs typeface="Cascadia Mono" panose="020B0609020000020004" pitchFamily="49" charset="0"/>
                        </a:rPr>
                        <a:t>She replied to him:</a:t>
                      </a:r>
                    </a:p>
                    <a:p>
                      <a:pPr indent="216000" algn="l"/>
                      <a:r>
                        <a:rPr lang="en-US" sz="1100" kern="150" dirty="0">
                          <a:effectLst/>
                          <a:latin typeface="Cascadia Mono" panose="020B0609020000020004" pitchFamily="49" charset="0"/>
                          <a:cs typeface="Cascadia Mono" panose="020B0609020000020004" pitchFamily="49" charset="0"/>
                        </a:rPr>
                        <a:t>- I am afraid you will eat me, oh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swear to me by God!</a:t>
                      </a:r>
                    </a:p>
                    <a:p>
                      <a:pPr indent="216000" algn="l"/>
                      <a:r>
                        <a:rPr lang="en-US" sz="1100" kern="150" dirty="0">
                          <a:effectLst/>
                          <a:latin typeface="Cascadia Mono" panose="020B0609020000020004" pitchFamily="49" charset="0"/>
                          <a:cs typeface="Cascadia Mono" panose="020B0609020000020004" pitchFamily="49" charset="0"/>
                        </a:rPr>
                        <a:t>He swore to her, and she came down to join him.</a:t>
                      </a:r>
                    </a:p>
                    <a:p>
                      <a:pPr indent="216000" algn="l"/>
                      <a:r>
                        <a:rPr lang="en-US" sz="1100" dirty="0"/>
                        <a:t>¶ The wolf walked ahead, and the she-goat followed him. When they had walked a little, he turned back toward her: he was afraid she would escape. Then he said to her:</a:t>
                      </a:r>
                    </a:p>
                    <a:p>
                      <a:pPr indent="216000" algn="l"/>
                      <a:r>
                        <a:rPr lang="en-US" sz="1100" dirty="0"/>
                        <a:t>- Are you mocking my stride and my hind legs?</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99348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5536716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zwireɣ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iḍfeṛ-itt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lefḥul-is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ceṭṭḥen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a:t>
                      </a:r>
                      <a:r>
                        <a:rPr lang="fr-FR" sz="1100" kern="1200" dirty="0">
                          <a:solidFill>
                            <a:schemeClr val="tx1"/>
                          </a:solidFill>
                          <a:effectLst/>
                          <a:latin typeface="+mn-lt"/>
                          <a:ea typeface="+mn-ea"/>
                          <a:cs typeface="+mn-cs"/>
                        </a:rPr>
                        <a:t>-s aman.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Liwelli</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tettafeḍ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tisebbiwin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Armi i tt-</a:t>
                      </a:r>
                      <a:r>
                        <a:rPr lang="fr-FR" sz="1100" kern="1200" dirty="0" err="1">
                          <a:solidFill>
                            <a:schemeClr val="tx1"/>
                          </a:solidFill>
                          <a:effectLst/>
                          <a:latin typeface="+mn-lt"/>
                          <a:ea typeface="+mn-ea"/>
                          <a:cs typeface="+mn-cs"/>
                        </a:rPr>
                        <a:t>yeẓẓemlal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Anida?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leḥḥun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yettqeggil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tamcumt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She replied to him: May God preserve me, oh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Let me go ahead.</a:t>
                      </a:r>
                    </a:p>
                    <a:p>
                      <a:pPr indent="216000" algn="l"/>
                      <a:r>
                        <a:rPr lang="en-US" sz="1100" kern="150" dirty="0">
                          <a:effectLst/>
                          <a:latin typeface="Cascadia Mono" panose="020B0609020000020004" pitchFamily="49" charset="0"/>
                          <a:cs typeface="Cascadia Mono" panose="020B0609020000020004" pitchFamily="49" charset="0"/>
                        </a:rPr>
                        <a:t>¶ So she went ahead, and the wolf followed her. When he stared at her hindquarters bouncing as she walked, his mouth began to water. He said to her:</a:t>
                      </a:r>
                    </a:p>
                    <a:p>
                      <a:pPr indent="216000" algn="l"/>
                      <a:r>
                        <a:rPr lang="en-US" sz="1100" kern="150" dirty="0">
                          <a:effectLst/>
                          <a:latin typeface="Cascadia Mono" panose="020B0609020000020004" pitchFamily="49" charset="0"/>
                          <a:cs typeface="Cascadia Mono" panose="020B0609020000020004" pitchFamily="49" charset="0"/>
                        </a:rPr>
                        <a:t>- You are kicking up dust at me! First you were mocking me, and now you are kicking up dust at me: I am going to eat you!</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She answered him: May God preserve me, oh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you are just looking for excuses against me!</a:t>
                      </a:r>
                    </a:p>
                    <a:p>
                      <a:pPr indent="216000" algn="l"/>
                      <a:r>
                        <a:rPr lang="en-US" sz="1100" kern="150" dirty="0">
                          <a:effectLst/>
                          <a:latin typeface="Cascadia Mono" panose="020B0609020000020004" pitchFamily="49" charset="0"/>
                          <a:cs typeface="Cascadia Mono" panose="020B0609020000020004" pitchFamily="49" charset="0"/>
                        </a:rPr>
                        <a:t>When he cornered her, she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Swear to me, then eat me!</a:t>
                      </a:r>
                    </a:p>
                    <a:p>
                      <a:pPr indent="216000" algn="l"/>
                      <a:r>
                        <a:rPr lang="en-US" sz="1100" kern="150" dirty="0">
                          <a:effectLst/>
                          <a:latin typeface="Cascadia Mono" panose="020B0609020000020004" pitchFamily="49" charset="0"/>
                          <a:cs typeface="Cascadia Mono" panose="020B0609020000020004" pitchFamily="49" charset="0"/>
                        </a:rPr>
                        <a:t>- He asked her: Where?</a:t>
                      </a:r>
                    </a:p>
                    <a:p>
                      <a:pPr indent="216000" algn="l"/>
                      <a:r>
                        <a:rPr lang="en-US" sz="1100" kern="150" dirty="0">
                          <a:effectLst/>
                          <a:latin typeface="Cascadia Mono" panose="020B0609020000020004" pitchFamily="49" charset="0"/>
                          <a:cs typeface="Cascadia Mono" panose="020B0609020000020004" pitchFamily="49" charset="0"/>
                        </a:rPr>
                        <a:t>- She said to him: At the White Rock.</a:t>
                      </a:r>
                    </a:p>
                    <a:p>
                      <a:pPr indent="216000" algn="l"/>
                      <a:r>
                        <a:rPr lang="en-US" sz="1100" kern="150" dirty="0">
                          <a:effectLst/>
                          <a:latin typeface="Cascadia Mono" panose="020B0609020000020004" pitchFamily="49" charset="0"/>
                          <a:cs typeface="Cascadia Mono" panose="020B0609020000020004" pitchFamily="49" charset="0"/>
                        </a:rPr>
                        <a:t>¶ They kept walking until they reached the White Rock —the place where the livestock takes shelter from the heat— and the hound bounded out at him. He mauled him and left him looking wretched; the wolf fled. The cunning she-goat was saved.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18231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319219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uḥuli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Young Goat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sin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tesɛa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amalas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Ixutel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Tqubel-it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wacciwen-is</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tberrez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iwexxeṛ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teddun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la tt-</a:t>
                      </a:r>
                      <a:r>
                        <a:rPr lang="fr-FR" sz="1100" kern="1200" dirty="0" err="1">
                          <a:solidFill>
                            <a:schemeClr val="tx1"/>
                          </a:solidFill>
                          <a:effectLst/>
                          <a:latin typeface="+mn-lt"/>
                          <a:ea typeface="+mn-ea"/>
                          <a:cs typeface="+mn-cs"/>
                        </a:rPr>
                        <a:t>ttdarayen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ifureq-itt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mɣint</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tacciwin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neṭṭa</a:t>
                      </a:r>
                      <a:r>
                        <a:rPr lang="fr-FR" sz="1100" kern="1200" dirty="0">
                          <a:solidFill>
                            <a:schemeClr val="tx1"/>
                          </a:solidFill>
                          <a:effectLst/>
                          <a:latin typeface="+mn-lt"/>
                          <a:ea typeface="+mn-ea"/>
                          <a:cs typeface="+mn-cs"/>
                        </a:rPr>
                        <a:t>. Akken i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ifeṛṛed-it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idhem-it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yuzzel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ten-lḥiqen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wuglan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-as-t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iẓur</a:t>
                      </a:r>
                      <a:r>
                        <a:rPr lang="fr-FR" sz="1100" kern="1200" dirty="0">
                          <a:solidFill>
                            <a:schemeClr val="tx1"/>
                          </a:solidFill>
                          <a:effectLst/>
                          <a:latin typeface="+mn-lt"/>
                          <a:ea typeface="+mn-ea"/>
                          <a:cs typeface="+mn-cs"/>
                        </a:rPr>
                        <a:t>-d at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yettawin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she-goat was pasturing with her two kids, one of whom was her firstborn, and the other her youngest.</a:t>
                      </a:r>
                    </a:p>
                    <a:p>
                      <a:pPr indent="216000" algn="l"/>
                      <a:r>
                        <a:rPr lang="en-US" sz="1100" kern="150" dirty="0">
                          <a:effectLst/>
                          <a:latin typeface="Cascadia Mono" panose="020B0609020000020004" pitchFamily="49" charset="0"/>
                          <a:cs typeface="Cascadia Mono" panose="020B0609020000020004" pitchFamily="49" charset="0"/>
                        </a:rPr>
                        <a:t>The wolf stalked them and leaped upon them. The she-goat confronted him with her horns: whenever he advanced toward the kids, she would charge him, and he would back away; her offspring kept moving between her legs, taking shelter under her. </a:t>
                      </a:r>
                    </a:p>
                    <a:p>
                      <a:pPr indent="216000" algn="l"/>
                      <a:r>
                        <a:rPr lang="en-US" sz="1100" kern="150" dirty="0">
                          <a:effectLst/>
                          <a:latin typeface="Cascadia Mono" panose="020B0609020000020004" pitchFamily="49" charset="0"/>
                          <a:cs typeface="Cascadia Mono" panose="020B0609020000020004" pitchFamily="49" charset="0"/>
                        </a:rPr>
                        <a:t>¶ At one moment, the firstborn separated himself from them—he was a young goat whose little horns were just growing, and he felt brave, wanting to charge the wolf himself. As soon as he struck at him,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cut off his retreat and drove him down into a ravine. The goat rushed after them, and the hound came running. However, they found that it was already too late: they did not reach them until they found that the wolf had throttled him and given him several bites. </a:t>
                      </a:r>
                    </a:p>
                    <a:p>
                      <a:pPr indent="216000" algn="l"/>
                      <a:r>
                        <a:rPr lang="en-US" sz="1100" kern="150" dirty="0">
                          <a:effectLst/>
                          <a:latin typeface="Cascadia Mono" panose="020B0609020000020004" pitchFamily="49" charset="0"/>
                          <a:cs typeface="Cascadia Mono" panose="020B0609020000020004" pitchFamily="49" charset="0"/>
                        </a:rPr>
                        <a:t>¶ They snatched him away so he escaped death, but he had looked straight into the next world.</a:t>
                      </a:r>
                    </a:p>
                    <a:p>
                      <a:pPr indent="216000" algn="l"/>
                      <a:r>
                        <a:rPr lang="en-US" sz="1100" kern="150" dirty="0">
                          <a:effectLst/>
                          <a:latin typeface="Cascadia Mono" panose="020B0609020000020004" pitchFamily="49" charset="0"/>
                          <a:cs typeface="Cascadia Mono" panose="020B0609020000020004" pitchFamily="49" charset="0"/>
                        </a:rPr>
                        <a:t>The hound said to him:</a:t>
                      </a:r>
                    </a:p>
                    <a:p>
                      <a:pPr indent="216000" algn="l"/>
                      <a:r>
                        <a:rPr lang="fr-FR" sz="1100" kern="1200" dirty="0">
                          <a:solidFill>
                            <a:schemeClr val="tx1"/>
                          </a:solidFill>
                          <a:effectLst/>
                          <a:latin typeface="+mn-lt"/>
                          <a:ea typeface="+mn-ea"/>
                          <a:cs typeface="+mn-cs"/>
                        </a:rPr>
                        <a:t>- </a:t>
                      </a:r>
                      <a:r>
                        <a:rPr lang="en-US" sz="1100" kern="150" dirty="0">
                          <a:effectLst/>
                          <a:latin typeface="Cascadia Mono" panose="020B0609020000020004" pitchFamily="49" charset="0"/>
                          <a:cs typeface="Cascadia Mono" panose="020B0609020000020004" pitchFamily="49" charset="0"/>
                        </a:rPr>
                        <a:t>What possesses you, oh young goat, to fly so high?</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3942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4686228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107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tixsi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Ewe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Iɛuh</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tettiwriɣ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sswen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teṣbeḥ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tala,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tuɛi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sswan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ucekkuk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tettagem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axlaf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lwin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sseɣren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yehwa-yas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nca-lleh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ihewwu</a:t>
                      </a:r>
                      <a:r>
                        <a:rPr lang="fr-FR" sz="1100" kern="1200" dirty="0">
                          <a:solidFill>
                            <a:schemeClr val="tx1"/>
                          </a:solidFill>
                          <a:effectLst/>
                          <a:latin typeface="+mn-lt"/>
                          <a:ea typeface="+mn-ea"/>
                          <a:cs typeface="+mn-cs"/>
                        </a:rPr>
                        <a:t> ara!</a:t>
                      </a:r>
                    </a:p>
                    <a:p>
                      <a:pPr indent="457200"/>
                      <a:r>
                        <a:rPr lang="en-US" sz="1100" dirty="0"/>
                        <a:t>¶ </a:t>
                      </a:r>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teqbil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mcaṛaɛen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t>
                      </a:r>
                      <a:r>
                        <a:rPr lang="fr-FR" sz="1100" kern="1200" dirty="0" err="1">
                          <a:solidFill>
                            <a:schemeClr val="tx1"/>
                          </a:solidFill>
                          <a:effectLst/>
                          <a:latin typeface="+mn-lt"/>
                          <a:ea typeface="+mn-ea"/>
                          <a:cs typeface="+mn-cs"/>
                        </a:rPr>
                        <a:t>leɛraḍ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d as-</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lekdeb</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partnered with the ewe to cultivate a vegetable garden. He swore to her by God that he would not eat her, nor would he take her rightful share. They broke the ground, ploughed it again, and sowed beans. The rains fell, the crop grew, and it turned as green as the sea. </a:t>
                      </a:r>
                    </a:p>
                    <a:p>
                      <a:pPr indent="216000" algn="l"/>
                      <a:r>
                        <a:rPr lang="en-US" sz="1100" kern="150" dirty="0">
                          <a:effectLst/>
                          <a:latin typeface="Cascadia Mono" panose="020B0609020000020004" pitchFamily="49" charset="0"/>
                          <a:cs typeface="Cascadia Mono" panose="020B0609020000020004" pitchFamily="49" charset="0"/>
                        </a:rPr>
                        <a:t>¶ Summer arrived, and the plants began to turn yellow. They prepared to water them; however, the garden sat higher than the spring, and a trench could not reach it. Consequently, they had to water it using a pitcher. </a:t>
                      </a:r>
                    </a:p>
                    <a:p>
                      <a:pPr indent="216000" algn="l"/>
                      <a:r>
                        <a:rPr lang="en-US" sz="1100" dirty="0"/>
                        <a:t>¶ The ewe kept fetching the water until her heart was bursting, while Sir </a:t>
                      </a:r>
                      <a:r>
                        <a:rPr lang="en-US" sz="1100" dirty="0" err="1"/>
                        <a:t>Mḥemmed</a:t>
                      </a:r>
                      <a:r>
                        <a:rPr lang="en-US" sz="1100" dirty="0"/>
                        <a:t> watered and sang contentedly! </a:t>
                      </a:r>
                      <a:endParaRPr lang="fr-FR"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The harvest season arrived, bringing an abundance of crop. They gathered it, dried it, and threshed it; all that remained was to divide it. The wolf took a large basket. After measuring out six portions for himself, he measured a seventh for the ewe, saying:</a:t>
                      </a:r>
                    </a:p>
                    <a:p>
                      <a:pPr indent="216000" algn="l"/>
                      <a:r>
                        <a:rPr lang="en-US" sz="1100" kern="150" dirty="0">
                          <a:effectLst/>
                          <a:latin typeface="Cascadia Mono" panose="020B0609020000020004" pitchFamily="49" charset="0"/>
                          <a:cs typeface="Cascadia Mono" panose="020B0609020000020004" pitchFamily="49" charset="0"/>
                        </a:rPr>
                        <a:t>- My aunt can take this, if she likes: God willing, may it not satisfy her!</a:t>
                      </a:r>
                    </a:p>
                    <a:p>
                      <a:pPr indent="216000" algn="l"/>
                      <a:r>
                        <a:rPr lang="fr-FR" sz="1100" kern="150" dirty="0">
                          <a:effectLst/>
                          <a:latin typeface="Cascadia Mono" panose="020B0609020000020004" pitchFamily="49" charset="0"/>
                          <a:cs typeface="Cascadia Mono" panose="020B0609020000020004" pitchFamily="49" charset="0"/>
                        </a:rPr>
                        <a:t> </a:t>
                      </a:r>
                      <a:r>
                        <a:rPr lang="en-US" sz="1100" kern="150" dirty="0">
                          <a:effectLst/>
                          <a:latin typeface="Cascadia Mono" panose="020B0609020000020004" pitchFamily="49" charset="0"/>
                          <a:cs typeface="Cascadia Mono" panose="020B0609020000020004" pitchFamily="49" charset="0"/>
                        </a:rPr>
                        <a:t>¶ The ewe absolutely refused this division. She said to him:</a:t>
                      </a:r>
                    </a:p>
                    <a:p>
                      <a:pPr indent="216000" algn="l"/>
                      <a:r>
                        <a:rPr lang="en-US" sz="1100" kern="150" dirty="0">
                          <a:effectLst/>
                          <a:latin typeface="Cascadia Mono" panose="020B0609020000020004" pitchFamily="49" charset="0"/>
                          <a:cs typeface="Cascadia Mono" panose="020B0609020000020004" pitchFamily="49" charset="0"/>
                        </a:rPr>
                        <a:t>- I appeal to you by God to grant me a trial.</a:t>
                      </a:r>
                    </a:p>
                    <a:p>
                      <a:pPr indent="216000" algn="l"/>
                      <a:r>
                        <a:rPr lang="en-US" sz="1100" kern="150" dirty="0">
                          <a:effectLst/>
                          <a:latin typeface="Cascadia Mono" panose="020B0609020000020004" pitchFamily="49" charset="0"/>
                          <a:cs typeface="Cascadia Mono" panose="020B0609020000020004" pitchFamily="49" charset="0"/>
                        </a:rPr>
                        <a:t>He agreed. They went to seek judgment before the animals. The wolf said to them:</a:t>
                      </a:r>
                    </a:p>
                    <a:p>
                      <a:pPr indent="216000" algn="l"/>
                      <a:r>
                        <a:rPr lang="en-US" sz="1100" kern="150" dirty="0">
                          <a:effectLst/>
                          <a:latin typeface="Cascadia Mono" panose="020B0609020000020004" pitchFamily="49" charset="0"/>
                          <a:cs typeface="Cascadia Mono" panose="020B0609020000020004" pitchFamily="49" charset="0"/>
                        </a:rPr>
                        <a:t>- Oh noble guests, how can I give half to her when I was the one fetching the water until my heart was bursting?</a:t>
                      </a:r>
                    </a:p>
                    <a:p>
                      <a:pPr indent="216000" algn="l"/>
                      <a:r>
                        <a:rPr lang="en-US" sz="1100" kern="150" dirty="0">
                          <a:effectLst/>
                          <a:latin typeface="Cascadia Mono" panose="020B0609020000020004" pitchFamily="49" charset="0"/>
                          <a:cs typeface="Cascadia Mono" panose="020B0609020000020004" pitchFamily="49" charset="0"/>
                        </a:rPr>
                        <a:t>- She replied to them: It is a lie! It was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whom you heard singing: anyone who is fetching water does not sing! </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140945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9441297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Inkeṛ-itt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ccfeṛ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wennar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tanalt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ḍehrent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reqqent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nazir.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teɛteb</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He denied it completely!</a:t>
                      </a:r>
                    </a:p>
                    <a:p>
                      <a:pPr indent="216000" algn="l"/>
                      <a:r>
                        <a:rPr lang="en-US" sz="1100" dirty="0"/>
                        <a:t>So she went and brought the hound inside a leather sack, placing it at the edge of the threshing floor. The wolf thought it was just a sack of grain resting there. He advanced to take it, but the eyes of the hound appeared, gleaming from inside like burning embers. ¶  He quickly gave her what was fair and even what was not: while measuring one basket for himself, he measured six for the ewe, saying:</a:t>
                      </a:r>
                    </a:p>
                    <a:p>
                      <a:pPr indent="216000" algn="l"/>
                      <a:r>
                        <a:rPr lang="en-US" sz="1100" dirty="0"/>
                        <a:t>- My poor aunt, she labored so much!</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464978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71617897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izimer</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Lamb</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Mṛeḥba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-k,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fudeɣ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usiɣ</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Teskaddbeḍ</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teččêḍ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 Si </a:t>
                      </a:r>
                      <a:r>
                        <a:rPr lang="fr-FR" sz="1100" kern="1200" dirty="0" err="1">
                          <a:solidFill>
                            <a:schemeClr val="tx1"/>
                          </a:solidFill>
                          <a:effectLst/>
                          <a:latin typeface="+mn-lt"/>
                          <a:ea typeface="+mn-ea"/>
                          <a:cs typeface="+mn-cs"/>
                        </a:rPr>
                        <a:t>Mḥemmend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tɣeswatin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iɛemṛen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Sebru</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wagguren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nnerniɣ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qewwiɣ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yezmumeg</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tusiḍ</a:t>
                      </a:r>
                      <a:r>
                        <a:rPr lang="fr-FR" sz="1100" kern="1200" dirty="0">
                          <a:solidFill>
                            <a:schemeClr val="tx1"/>
                          </a:solidFill>
                          <a:effectLst/>
                          <a:latin typeface="+mn-lt"/>
                          <a:ea typeface="+mn-ea"/>
                          <a:cs typeface="+mn-cs"/>
                        </a:rPr>
                        <a:t>-d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yemmaleɛtab</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wolf met the lamb near a stream of water.</a:t>
                      </a:r>
                    </a:p>
                    <a:p>
                      <a:pPr indent="216000" algn="l"/>
                      <a:r>
                        <a:rPr lang="en-US" sz="1100" kern="150" dirty="0">
                          <a:effectLst/>
                          <a:latin typeface="Cascadia Mono" panose="020B0609020000020004" pitchFamily="49" charset="0"/>
                          <a:cs typeface="Cascadia Mono" panose="020B0609020000020004" pitchFamily="49" charset="0"/>
                        </a:rPr>
                        <a:t>The wolf said to him:</a:t>
                      </a:r>
                    </a:p>
                    <a:p>
                      <a:pPr indent="216000" algn="l"/>
                      <a:r>
                        <a:rPr lang="en-US" sz="1100" kern="150" dirty="0">
                          <a:effectLst/>
                          <a:latin typeface="Cascadia Mono" panose="020B0609020000020004" pitchFamily="49" charset="0"/>
                          <a:cs typeface="Cascadia Mono" panose="020B0609020000020004" pitchFamily="49" charset="0"/>
                        </a:rPr>
                        <a:t>- Welcome, son of my aunt! What brought you here?</a:t>
                      </a:r>
                    </a:p>
                    <a:p>
                      <a:pPr indent="216000" algn="l"/>
                      <a:r>
                        <a:rPr lang="en-US" sz="1100" kern="150" dirty="0">
                          <a:effectLst/>
                          <a:latin typeface="Cascadia Mono" panose="020B0609020000020004" pitchFamily="49" charset="0"/>
                          <a:cs typeface="Cascadia Mono" panose="020B0609020000020004" pitchFamily="49" charset="0"/>
                        </a:rPr>
                        <a:t>- The lamb replied to him: It is thirst, I am parched, oh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I came to drink.</a:t>
                      </a:r>
                    </a:p>
                    <a:p>
                      <a:pPr indent="216000" algn="l"/>
                      <a:r>
                        <a:rPr lang="en-US" sz="1100" kern="150" dirty="0">
                          <a:effectLst/>
                          <a:latin typeface="Cascadia Mono" panose="020B0609020000020004" pitchFamily="49" charset="0"/>
                          <a:cs typeface="Cascadia Mono" panose="020B0609020000020004" pitchFamily="49" charset="0"/>
                        </a:rPr>
                        <a:t>The wolf said to him: You lie! There is something under your head! Furthermore, your mother ate my share of the beans: God brought you here so I can take my revenge!</a:t>
                      </a:r>
                    </a:p>
                    <a:p>
                      <a:pPr indent="216000" algn="l"/>
                      <a:r>
                        <a:rPr lang="en-US" sz="1100" kern="150" dirty="0">
                          <a:effectLst/>
                          <a:latin typeface="Cascadia Mono" panose="020B0609020000020004" pitchFamily="49" charset="0"/>
                          <a:cs typeface="Cascadia Mono" panose="020B0609020000020004" pitchFamily="49" charset="0"/>
                        </a:rPr>
                        <a:t>- The lamb said to him: What could you possibly eat on me, oh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Look: nothing but skin and little bones fill my body! Grant me a few months until I grow and become strong: I swear to you by God that I will return! </a:t>
                      </a:r>
                    </a:p>
                    <a:p>
                      <a:pPr indent="216000" algn="l"/>
                      <a:r>
                        <a:rPr lang="en-US" sz="1100" dirty="0"/>
                        <a:t>¶ He let him go, and the lamb went away. He reached his mother and told her everything. </a:t>
                      </a:r>
                    </a:p>
                    <a:p>
                      <a:pPr indent="216000" algn="l"/>
                      <a:r>
                        <a:rPr lang="en-US" sz="1100" dirty="0"/>
                        <a:t>¶ Some time passed, and they carried the hound inside a large wicker basket, going down to that same ravine. Behold, the wolf arrived. As soon as he saw the lamb, he beamed with a smile and said to him:</a:t>
                      </a:r>
                    </a:p>
                    <a:p>
                      <a:pPr indent="216000" algn="l"/>
                      <a:r>
                        <a:rPr lang="en-US" sz="1100" dirty="0"/>
                        <a:t>- You are a man of one word: you have come so I may eat you</a:t>
                      </a:r>
                      <a:r>
                        <a:rPr lang="fr-FR" sz="1100" kern="1200" dirty="0">
                          <a:solidFill>
                            <a:schemeClr val="tx1"/>
                          </a:solidFill>
                          <a:effectLst/>
                          <a:latin typeface="+mn-lt"/>
                          <a:ea typeface="+mn-ea"/>
                          <a:cs typeface="+mn-cs"/>
                        </a:rPr>
                        <a:t>…</a:t>
                      </a:r>
                      <a:endParaRPr lang="en-US" sz="1100" dirty="0"/>
                    </a:p>
                    <a:p>
                      <a:pPr indent="216000" algn="l"/>
                      <a:r>
                        <a:rPr lang="en-US" sz="1100" dirty="0"/>
                        <a:t>- The lamb replied to him: Swear upon this wicker basket that my mother ate the reward of your hard labor, and then you may eat me.</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139790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3089E-D933-4644-351D-D213796CFC5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CF17539-B1E8-4AEB-5732-3D5F450F08CB}"/>
              </a:ext>
            </a:extLst>
          </p:cNvPr>
          <p:cNvGraphicFramePr>
            <a:graphicFrameLocks noGrp="1"/>
          </p:cNvGraphicFramePr>
          <p:nvPr>
            <p:extLst>
              <p:ext uri="{D42A27DB-BD31-4B8C-83A1-F6EECF244321}">
                <p14:modId xmlns:p14="http://schemas.microsoft.com/office/powerpoint/2010/main" val="294809494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taqejjiṛt-is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yeggall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yebri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abaḥan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The wolf raised his paw and placed it on the basket to swear: the hound lunged at it and bit it. The wolf began to yelp and howl, but the hound did not let go until the wolf had completely soiled himself in terror.</a:t>
                      </a:r>
                    </a:p>
                    <a:p>
                      <a:pPr indent="216000" algn="l"/>
                      <a:r>
                        <a:rPr lang="en-US" sz="1100" dirty="0"/>
                        <a:t>¶ Sir </a:t>
                      </a:r>
                      <a:r>
                        <a:rPr lang="en-US" sz="1100" dirty="0" err="1"/>
                        <a:t>Mḥemmed</a:t>
                      </a:r>
                      <a:r>
                        <a:rPr lang="en-US" sz="1100" dirty="0"/>
                        <a:t> turned back to his den on three legs; the lovely lamb was saved.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24369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49472181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uyaẓiḍ</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Rooster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Ḍallen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zegren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qegglen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tɣezza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tluta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tasaft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taɛlayant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yeddari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izewweq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lefjer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afriwen-is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yesɣuggu</a:t>
                      </a:r>
                      <a:r>
                        <a:rPr lang="fr-FR" sz="1100" kern="1200" dirty="0">
                          <a:solidFill>
                            <a:schemeClr val="tx1"/>
                          </a:solidFill>
                          <a:effectLst/>
                          <a:latin typeface="+mn-lt"/>
                          <a:ea typeface="+mn-ea"/>
                          <a:cs typeface="+mn-cs"/>
                        </a:rPr>
                        <a:t>. Mazal </a:t>
                      </a:r>
                      <a:r>
                        <a:rPr lang="fr-FR" sz="1100" kern="1200" dirty="0" err="1">
                          <a:solidFill>
                            <a:schemeClr val="tx1"/>
                          </a:solidFill>
                          <a:effectLst/>
                          <a:latin typeface="+mn-lt"/>
                          <a:ea typeface="+mn-ea"/>
                          <a:cs typeface="+mn-cs"/>
                        </a:rPr>
                        <a:t>werɛed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Ttbarik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taɣect</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i s-d-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yiḥnin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yejjem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taẓallit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ṣṣut-is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ndekwaleɣ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uzzleɣ</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Tura, a </a:t>
                      </a:r>
                      <a:r>
                        <a:rPr lang="fr-FR" sz="1100" kern="1200" dirty="0" err="1">
                          <a:solidFill>
                            <a:schemeClr val="tx1"/>
                          </a:solidFill>
                          <a:effectLst/>
                          <a:latin typeface="+mn-lt"/>
                          <a:ea typeface="+mn-ea"/>
                          <a:cs typeface="+mn-cs"/>
                        </a:rPr>
                        <a:t>lḥaǧ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tuddna</a:t>
                      </a:r>
                      <a:r>
                        <a:rPr lang="fr-FR" sz="1100" kern="1200" dirty="0">
                          <a:solidFill>
                            <a:schemeClr val="tx1"/>
                          </a:solidFill>
                          <a:effectLst/>
                          <a:latin typeface="+mn-lt"/>
                          <a:ea typeface="+mn-ea"/>
                          <a:cs typeface="+mn-cs"/>
                        </a:rPr>
                        <a:t>, ers-d an </a:t>
                      </a:r>
                      <a:r>
                        <a:rPr lang="fr-FR" sz="1100" kern="1200" dirty="0" err="1">
                          <a:solidFill>
                            <a:schemeClr val="tx1"/>
                          </a:solidFill>
                          <a:effectLst/>
                          <a:latin typeface="+mn-lt"/>
                          <a:ea typeface="+mn-ea"/>
                          <a:cs typeface="+mn-cs"/>
                        </a:rPr>
                        <a:t>neẓẓal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Ixẓer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ṭṭaɛa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kan i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A-t-an </a:t>
                      </a:r>
                      <a:r>
                        <a:rPr lang="fr-FR" sz="1100" kern="1200" dirty="0" err="1">
                          <a:solidFill>
                            <a:schemeClr val="tx1"/>
                          </a:solidFill>
                          <a:effectLst/>
                          <a:latin typeface="+mn-lt"/>
                          <a:ea typeface="+mn-ea"/>
                          <a:cs typeface="+mn-cs"/>
                        </a:rPr>
                        <a:t>wemṛabeḍ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ssaki</a:t>
                      </a:r>
                      <a:r>
                        <a:rPr lang="fr-FR" sz="1100" kern="1200" dirty="0">
                          <a:solidFill>
                            <a:schemeClr val="tx1"/>
                          </a:solidFill>
                          <a:effectLst/>
                          <a:latin typeface="+mn-lt"/>
                          <a:ea typeface="+mn-ea"/>
                          <a:cs typeface="+mn-cs"/>
                        </a:rPr>
                        <a:t>-t-id si </a:t>
                      </a:r>
                      <a:r>
                        <a:rPr lang="fr-FR" sz="1100" kern="1200" dirty="0" err="1">
                          <a:solidFill>
                            <a:schemeClr val="tx1"/>
                          </a:solidFill>
                          <a:effectLst/>
                          <a:latin typeface="+mn-lt"/>
                          <a:ea typeface="+mn-ea"/>
                          <a:cs typeface="+mn-cs"/>
                        </a:rPr>
                        <a:t>meɛḍil</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rseɣ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Iga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iɛawez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aǧel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iḥwes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sebɣeɣ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luḍu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Yennser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usaɣur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Once, the hound and the rooster went on a long journey. They looked out over mountains and ridges, crossed rivers, and halted in fields and vales. That day, night fell upon them in a forest. The rooster flew up onto a tall oak tree, while the hound went into a hollow space to shelter himself and remained there as a guard. ¶ As the dawn began to color the sky, the rooster shook his wings and started crowing. Before he had even finished, the wolf came to the foot of the tree and said to him: </a:t>
                      </a:r>
                    </a:p>
                    <a:p>
                      <a:pPr indent="216000" algn="l"/>
                      <a:r>
                        <a:rPr lang="en-US" sz="1100" kern="150" dirty="0">
                          <a:effectLst/>
                          <a:latin typeface="Cascadia Mono" panose="020B0609020000020004" pitchFamily="49" charset="0"/>
                          <a:cs typeface="Cascadia Mono" panose="020B0609020000020004" pitchFamily="49" charset="0"/>
                        </a:rPr>
                        <a:t>- Blessed be God for the voice He has given you! Whoever hears it, his heart will soften and he will perform his prayer. As soon as your voice struck my ear this morning, I woke up from my sleep and ran over.</a:t>
                      </a:r>
                    </a:p>
                    <a:p>
                      <a:pPr indent="216000" algn="l"/>
                      <a:r>
                        <a:rPr lang="en-US" sz="1100" kern="150" dirty="0">
                          <a:effectLst/>
                          <a:latin typeface="Cascadia Mono" panose="020B0609020000020004" pitchFamily="49" charset="0"/>
                          <a:cs typeface="Cascadia Mono" panose="020B0609020000020004" pitchFamily="49" charset="0"/>
                        </a:rPr>
                        <a:t>Now, O Pilgrim, since you have finished the call to prayer, come down so that we may pray.</a:t>
                      </a:r>
                    </a:p>
                    <a:p>
                      <a:pPr indent="216000" algn="l"/>
                      <a:r>
                        <a:rPr lang="en-US" sz="1100" kern="150" dirty="0">
                          <a:effectLst/>
                          <a:latin typeface="Cascadia Mono" panose="020B0609020000020004" pitchFamily="49" charset="0"/>
                          <a:cs typeface="Cascadia Mono" panose="020B0609020000020004" pitchFamily="49" charset="0"/>
                        </a:rPr>
                        <a:t>¶ The rooster looked down at him and understood that it was not the devotion to God that had brought him, but that he simply wanted to crunch his head. He replied to him: </a:t>
                      </a:r>
                    </a:p>
                    <a:p>
                      <a:pPr indent="216000" algn="l"/>
                      <a:r>
                        <a:rPr lang="en-US" sz="1100" kern="150" dirty="0">
                          <a:effectLst/>
                          <a:latin typeface="Cascadia Mono" panose="020B0609020000020004" pitchFamily="49" charset="0"/>
                          <a:cs typeface="Cascadia Mono" panose="020B0609020000020004" pitchFamily="49" charset="0"/>
                        </a:rPr>
                        <a:t>- The holy man is right there in the hollow. Wake him up while I come down!</a:t>
                      </a:r>
                    </a:p>
                    <a:p>
                      <a:pPr indent="216000" algn="l"/>
                      <a:r>
                        <a:rPr lang="en-US" sz="1100" kern="150" dirty="0">
                          <a:effectLst/>
                          <a:latin typeface="Cascadia Mono" panose="020B0609020000020004" pitchFamily="49" charset="0"/>
                          <a:cs typeface="Cascadia Mono" panose="020B0609020000020004" pitchFamily="49" charset="0"/>
                        </a:rPr>
                        <a:t>¶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looked toward the hollow in the tree and saw the hound sleeping: he had watched all night as a guard, and sleep had overcome him towards the morning. </a:t>
                      </a:r>
                    </a:p>
                    <a:p>
                      <a:pPr indent="216000" algn="l"/>
                      <a:r>
                        <a:rPr lang="en-US" sz="1100" kern="150" dirty="0">
                          <a:effectLst/>
                          <a:latin typeface="Cascadia Mono" panose="020B0609020000020004" pitchFamily="49" charset="0"/>
                          <a:cs typeface="Cascadia Mono" panose="020B0609020000020004" pitchFamily="49" charset="0"/>
                        </a:rPr>
                        <a:t>The wolf began to tremble and said to the rooster:</a:t>
                      </a:r>
                    </a:p>
                    <a:p>
                      <a:pPr marL="0" indent="0" algn="l">
                        <a:buFontTx/>
                        <a:buNone/>
                      </a:pPr>
                      <a:r>
                        <a:rPr lang="en-US" sz="1100" kern="150" dirty="0">
                          <a:effectLst/>
                          <a:latin typeface="Cascadia Mono" panose="020B0609020000020004" pitchFamily="49" charset="0"/>
                          <a:cs typeface="Cascadia Mono" panose="020B0609020000020004" pitchFamily="49" charset="0"/>
                        </a:rPr>
                        <a:t>   - Wait, wait! Let me perform my ritual ablutions and I will return!</a:t>
                      </a:r>
                    </a:p>
                    <a:p>
                      <a:pPr marL="0" indent="0" algn="l">
                        <a:buFontTx/>
                        <a:buNone/>
                      </a:pPr>
                      <a:r>
                        <a:rPr lang="en-US" sz="1100" kern="150" dirty="0">
                          <a:effectLst/>
                          <a:latin typeface="Cascadia Mono" panose="020B0609020000020004" pitchFamily="49" charset="0"/>
                          <a:cs typeface="Cascadia Mono" panose="020B0609020000020004" pitchFamily="49" charset="0"/>
                        </a:rPr>
                        <a:t> He slipped away like a snake into the dry grass, took to his path, and left.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03178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39713919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wergaz</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and the Man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yesnegr-iyi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ddebb-is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Mesewwaqen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iqewwan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mɛahaden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myexdeɛen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tatiṭuḥt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tkeččem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meẓẓuɣen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lemnaxeṛ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tessufuɣ-it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lɛeql-is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umehbul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yesmar-itt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afrag.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uzeqqur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ameslut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azegzaw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yesseww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man went to the wolf and said to him:  </a:t>
                      </a:r>
                    </a:p>
                    <a:p>
                      <a:pPr marL="0" indent="0" algn="l">
                        <a:buFontTx/>
                        <a:buNone/>
                      </a:pPr>
                      <a:r>
                        <a:rPr lang="en-US" sz="1100" kern="150" dirty="0">
                          <a:effectLst/>
                          <a:latin typeface="Cascadia Mono" panose="020B0609020000020004" pitchFamily="49" charset="0"/>
                          <a:cs typeface="Cascadia Mono" panose="020B0609020000020004" pitchFamily="49" charset="0"/>
                        </a:rPr>
                        <a:t>   - O Sir </a:t>
                      </a:r>
                      <a:r>
                        <a:rPr lang="fr-FR" sz="1100" kern="1200" dirty="0" err="1">
                          <a:solidFill>
                            <a:schemeClr val="tx1"/>
                          </a:solidFill>
                          <a:effectLst/>
                          <a:latin typeface="+mn-lt"/>
                          <a:ea typeface="+mn-ea"/>
                          <a:cs typeface="+mn-cs"/>
                        </a:rPr>
                        <a:t>Mḥemmed</a:t>
                      </a:r>
                      <a:r>
                        <a:rPr lang="en-US" sz="1100" kern="150" dirty="0">
                          <a:effectLst/>
                          <a:latin typeface="Cascadia Mono" panose="020B0609020000020004" pitchFamily="49" charset="0"/>
                          <a:cs typeface="Cascadia Mono" panose="020B0609020000020004" pitchFamily="49" charset="0"/>
                        </a:rPr>
                        <a:t>, the lion is destroying my livestock. Neither I nor the hound can do anything against him. If you find a solution for me, I will give you your reward. </a:t>
                      </a:r>
                    </a:p>
                    <a:p>
                      <a:pPr marL="0" indent="0" algn="l">
                        <a:buFontTx/>
                        <a:buNone/>
                      </a:pPr>
                      <a:r>
                        <a:rPr lang="en-US" sz="1100" kern="150" dirty="0">
                          <a:effectLst/>
                          <a:latin typeface="Cascadia Mono" panose="020B0609020000020004" pitchFamily="49" charset="0"/>
                          <a:cs typeface="Cascadia Mono" panose="020B0609020000020004" pitchFamily="49" charset="0"/>
                        </a:rPr>
                        <a:t>   - The wolf replied to him: The lion exists, but so does his master!</a:t>
                      </a:r>
                    </a:p>
                    <a:p>
                      <a:pPr indent="216000" algn="l"/>
                      <a:r>
                        <a:rPr lang="en-US" sz="1100" kern="150" dirty="0">
                          <a:effectLst/>
                          <a:latin typeface="Cascadia Mono" panose="020B0609020000020004" pitchFamily="49" charset="0"/>
                          <a:cs typeface="Cascadia Mono" panose="020B0609020000020004" pitchFamily="49" charset="0"/>
                        </a:rPr>
                        <a:t>¶ The deal was struck over a plump lamb, and they swore by God not to betray each other. </a:t>
                      </a:r>
                    </a:p>
                    <a:p>
                      <a:pPr indent="216000" algn="l"/>
                      <a:r>
                        <a:rPr lang="en-US" sz="1100" kern="150" dirty="0">
                          <a:effectLst/>
                          <a:latin typeface="Cascadia Mono" panose="020B0609020000020004" pitchFamily="49" charset="0"/>
                          <a:cs typeface="Cascadia Mono" panose="020B0609020000020004" pitchFamily="49" charset="0"/>
                        </a:rPr>
                        <a:t>¶ The wolf filled a sack with those tiny stinging gnats that gather in swarms in the marshlands. When the lion snaps at them with his teeth, they get into his ears and nostrils, driving him out of his mind and out of the forest, making him run around like a madman. </a:t>
                      </a:r>
                    </a:p>
                    <a:p>
                      <a:pPr indent="216000" algn="l"/>
                      <a:r>
                        <a:rPr lang="en-US" sz="1100" kern="150" dirty="0">
                          <a:effectLst/>
                          <a:latin typeface="Cascadia Mono" panose="020B0609020000020004" pitchFamily="49" charset="0"/>
                          <a:cs typeface="Cascadia Mono" panose="020B0609020000020004" pitchFamily="49" charset="0"/>
                        </a:rPr>
                        <a:t>¶ The wolf gave that sack to the man, who emptied it in the evening inside the courtyard.</a:t>
                      </a:r>
                    </a:p>
                    <a:p>
                      <a:pPr indent="216000" algn="l"/>
                      <a:r>
                        <a:rPr lang="en-US" sz="1100" kern="150" dirty="0">
                          <a:effectLst/>
                          <a:latin typeface="Cascadia Mono" panose="020B0609020000020004" pitchFamily="49" charset="0"/>
                          <a:cs typeface="Cascadia Mono" panose="020B0609020000020004" pitchFamily="49" charset="0"/>
                        </a:rPr>
                        <a:t>¶ As soon as the lion leapt in, he found the courtyard full of gnats. He lost his senses, stretched out on the ground like a log, and began to tremble like a leaf.</a:t>
                      </a:r>
                    </a:p>
                    <a:p>
                      <a:pPr indent="216000" algn="l"/>
                      <a:r>
                        <a:rPr lang="en-US" sz="1100" kern="150" dirty="0">
                          <a:effectLst/>
                          <a:latin typeface="Cascadia Mono" panose="020B0609020000020004" pitchFamily="49" charset="0"/>
                          <a:cs typeface="Cascadia Mono" panose="020B0609020000020004" pitchFamily="49" charset="0"/>
                        </a:rPr>
                        <a:t>¶ The man grabbed a fresh wooden cudgel, went at him until he thoroughly thrashed his back, then let him go, and the lion left.</a:t>
                      </a:r>
                    </a:p>
                    <a:p>
                      <a:pPr indent="216000" algn="l"/>
                      <a:r>
                        <a:rPr lang="en-US" sz="1100" kern="150" dirty="0">
                          <a:effectLst/>
                          <a:latin typeface="Cascadia Mono" panose="020B0609020000020004" pitchFamily="49" charset="0"/>
                          <a:cs typeface="Cascadia Mono" panose="020B0609020000020004" pitchFamily="49" charset="0"/>
                        </a:rPr>
                        <a:t>¶ The lion was corrected; from that day on, he never returned.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9124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8472162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Ayen d-</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terr,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terra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Armi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yefsi-yas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iciddi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Y</a:t>
                      </a:r>
                      <a:r>
                        <a:rPr lang="fr-FR" sz="1100" kern="1200" dirty="0" err="1">
                          <a:solidFill>
                            <a:schemeClr val="tx1"/>
                          </a:solidFill>
                          <a:effectLst/>
                          <a:latin typeface="+mn-lt"/>
                          <a:ea typeface="+mn-ea"/>
                          <a:cs typeface="+mn-cs"/>
                        </a:rPr>
                        <a:t>enna-yas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mesḍir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winna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yettarwen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As for the wife, she said to herself</a:t>
                      </a:r>
                      <a:r>
                        <a:rPr lang="en-US" sz="1100"/>
                        <a:t>: More than I bargained for! </a:t>
                      </a:r>
                      <a:r>
                        <a:rPr lang="en-US" sz="1100" dirty="0"/>
                        <a:t>What the king of the </a:t>
                      </a:r>
                      <a:r>
                        <a:rPr lang="en-US" sz="1100" kern="150" dirty="0">
                          <a:effectLst/>
                          <a:latin typeface="Cascadia Mono" panose="020B0609020000020004" pitchFamily="49" charset="0"/>
                          <a:cs typeface="Cascadia Mono" panose="020B0609020000020004" pitchFamily="49" charset="0"/>
                        </a:rPr>
                        <a:t>animals</a:t>
                      </a:r>
                      <a:r>
                        <a:rPr lang="en-US" sz="1100" dirty="0"/>
                        <a:t> spared, Sir </a:t>
                      </a:r>
                      <a:r>
                        <a:rPr lang="fr-FR" sz="1100" kern="1200" dirty="0" err="1">
                          <a:solidFill>
                            <a:schemeClr val="tx1"/>
                          </a:solidFill>
                          <a:effectLst/>
                          <a:latin typeface="+mn-lt"/>
                          <a:ea typeface="+mn-ea"/>
                          <a:cs typeface="+mn-cs"/>
                        </a:rPr>
                        <a:t>Mḥemmed</a:t>
                      </a:r>
                      <a:r>
                        <a:rPr lang="en-US" sz="1100" dirty="0"/>
                        <a:t> will finish off!</a:t>
                      </a:r>
                    </a:p>
                    <a:p>
                      <a:pPr indent="216000" algn="l"/>
                      <a:r>
                        <a:rPr lang="en-US" sz="1100" dirty="0"/>
                        <a:t>¶ Instead of putting what her husband had instructed—the lamb in the sack—she put the </a:t>
                      </a:r>
                      <a:r>
                        <a:rPr lang="en-US" sz="1100" kern="150" dirty="0">
                          <a:effectLst/>
                          <a:latin typeface="Cascadia Mono" panose="020B0609020000020004" pitchFamily="49" charset="0"/>
                          <a:cs typeface="Cascadia Mono" panose="020B0609020000020004" pitchFamily="49" charset="0"/>
                        </a:rPr>
                        <a:t>hound</a:t>
                      </a:r>
                      <a:r>
                        <a:rPr lang="en-US" sz="1100" dirty="0"/>
                        <a:t> inside.</a:t>
                      </a:r>
                    </a:p>
                    <a:p>
                      <a:pPr indent="216000" algn="l"/>
                      <a:r>
                        <a:rPr lang="en-US" sz="1100" dirty="0"/>
                        <a:t>¶ The wolf carried the sack away. Once on the road, he stopped to rest and untied the knot. The </a:t>
                      </a:r>
                      <a:r>
                        <a:rPr lang="en-US" sz="1100" kern="150" dirty="0">
                          <a:effectLst/>
                          <a:latin typeface="Cascadia Mono" panose="020B0609020000020004" pitchFamily="49" charset="0"/>
                          <a:cs typeface="Cascadia Mono" panose="020B0609020000020004" pitchFamily="49" charset="0"/>
                        </a:rPr>
                        <a:t>hound</a:t>
                      </a:r>
                      <a:r>
                        <a:rPr lang="en-US" sz="1100" dirty="0"/>
                        <a:t> sprang out at him, mauled him, and tore him all over.</a:t>
                      </a:r>
                    </a:p>
                    <a:p>
                      <a:pPr indent="216000" algn="l"/>
                      <a:r>
                        <a:rPr lang="en-US" sz="1100" dirty="0"/>
                        <a:t>¶ Sir </a:t>
                      </a:r>
                      <a:r>
                        <a:rPr lang="fr-FR" sz="1100" kern="1200" dirty="0" err="1">
                          <a:solidFill>
                            <a:schemeClr val="tx1"/>
                          </a:solidFill>
                          <a:effectLst/>
                          <a:latin typeface="+mn-lt"/>
                          <a:ea typeface="+mn-ea"/>
                          <a:cs typeface="+mn-cs"/>
                        </a:rPr>
                        <a:t>Mḥemmed</a:t>
                      </a:r>
                      <a:r>
                        <a:rPr lang="en-US" sz="1100" dirty="0"/>
                        <a:t> said: A good deed brings misfortune! Indeed, as the ancient saying goes: An egg belonging to the woman was laid by a female camel!</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653988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7602933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tmeṭṭut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and the Woman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taqabact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yesɣaren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icidden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issiwḍen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lḥenk-is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tettxemmim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tamɣart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ttar</a:t>
                      </a:r>
                      <a:r>
                        <a:rPr lang="fr-FR" sz="1100" kern="1200" dirty="0">
                          <a:solidFill>
                            <a:schemeClr val="tx1"/>
                          </a:solidFill>
                          <a:effectLst/>
                          <a:latin typeface="+mn-lt"/>
                          <a:ea typeface="+mn-ea"/>
                          <a:cs typeface="+mn-cs"/>
                        </a:rPr>
                        <a:t> i s-terra: </a:t>
                      </a:r>
                      <a:r>
                        <a:rPr lang="fr-FR" sz="1100" kern="1200" dirty="0" err="1">
                          <a:solidFill>
                            <a:schemeClr val="tx1"/>
                          </a:solidFill>
                          <a:effectLst/>
                          <a:latin typeface="+mn-lt"/>
                          <a:ea typeface="+mn-ea"/>
                          <a:cs typeface="+mn-cs"/>
                        </a:rPr>
                        <a:t>tɣaḍ-it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f </a:t>
                      </a:r>
                      <a:r>
                        <a:rPr lang="fr-FR" sz="1100" kern="1200" dirty="0" err="1">
                          <a:solidFill>
                            <a:schemeClr val="tx1"/>
                          </a:solidFill>
                          <a:effectLst/>
                          <a:latin typeface="+mn-lt"/>
                          <a:ea typeface="+mn-ea"/>
                          <a:cs typeface="+mn-cs"/>
                        </a:rPr>
                        <a:t>weɛrur-is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ccqayeq</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tsellkeḍ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steqsan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tiniḍ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meɛna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yettfuḥ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nnefs-is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yenneḥcam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yennezrureḍ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woman picked up a small axe and a rope, and went to the forest to gather wood. Because she was so worn out by the hardship of gathering firewood, she kept gathering, breaking, and setting it aside in a pile, until she had made a bundle as large as God could make it.</a:t>
                      </a:r>
                    </a:p>
                    <a:p>
                      <a:pPr indent="216000" algn="l"/>
                      <a:r>
                        <a:rPr lang="en-US" sz="1100" kern="150" dirty="0">
                          <a:effectLst/>
                          <a:latin typeface="Cascadia Mono" panose="020B0609020000020004" pitchFamily="49" charset="0"/>
                          <a:cs typeface="Cascadia Mono" panose="020B0609020000020004" pitchFamily="49" charset="0"/>
                        </a:rPr>
                        <a:t>¶ Who was going to bind it? Who was going to bring it home? So she sat back down on the ground, held her cheek in her hand, and fell into deep thought.</a:t>
                      </a:r>
                    </a:p>
                    <a:p>
                      <a:pPr indent="216000" algn="l"/>
                      <a:r>
                        <a:rPr lang="en-US" sz="1100" kern="150" dirty="0">
                          <a:effectLst/>
                          <a:latin typeface="Cascadia Mono" panose="020B0609020000020004" pitchFamily="49" charset="0"/>
                          <a:cs typeface="Cascadia Mono" panose="020B0609020000020004" pitchFamily="49" charset="0"/>
                        </a:rPr>
                        <a:t>¶ The lion found her there and said to her: </a:t>
                      </a:r>
                    </a:p>
                    <a:p>
                      <a:pPr marL="171450" indent="-171450" algn="l">
                        <a:buFontTx/>
                        <a:buChar char="-"/>
                      </a:pPr>
                      <a:r>
                        <a:rPr lang="en-US" sz="1100" kern="150" dirty="0">
                          <a:effectLst/>
                          <a:latin typeface="Cascadia Mono" panose="020B0609020000020004" pitchFamily="49" charset="0"/>
                          <a:cs typeface="Cascadia Mono" panose="020B0609020000020004" pitchFamily="49" charset="0"/>
                        </a:rPr>
                        <a:t>O old mother, what is the matter with you?</a:t>
                      </a:r>
                    </a:p>
                    <a:p>
                      <a:pPr marL="0" indent="0" algn="l">
                        <a:buFontTx/>
                        <a:buNone/>
                      </a:pPr>
                      <a:r>
                        <a:rPr lang="en-US" sz="1100" kern="150" dirty="0">
                          <a:effectLst/>
                          <a:latin typeface="Cascadia Mono" panose="020B0609020000020004" pitchFamily="49" charset="0"/>
                          <a:cs typeface="Cascadia Mono" panose="020B0609020000020004" pitchFamily="49" charset="0"/>
                        </a:rPr>
                        <a:t> She then related to him the hardship she was in. She told him everything, from this side and that, and she also recounted the matter of the wolf and the leather bag and the revenge she had taken for him; he felt pity for her. Then he bound the bundle of wood, placed it on his back, mounted the woman behind him, and they went all the way to the door of the house.</a:t>
                      </a:r>
                    </a:p>
                    <a:p>
                      <a:pPr indent="216000" algn="l"/>
                      <a:r>
                        <a:rPr lang="en-US" sz="1100" kern="150" dirty="0">
                          <a:effectLst/>
                          <a:latin typeface="Cascadia Mono" panose="020B0609020000020004" pitchFamily="49" charset="0"/>
                          <a:cs typeface="Cascadia Mono" panose="020B0609020000020004" pitchFamily="49" charset="0"/>
                        </a:rPr>
                        <a:t>¶ The woman brought the bundle of wood inside, while the lion placed his ear between the cracks of the door. </a:t>
                      </a:r>
                    </a:p>
                    <a:p>
                      <a:pPr indent="216000" algn="l"/>
                      <a:r>
                        <a:rPr lang="en-US" sz="1100" kern="150" dirty="0">
                          <a:effectLst/>
                          <a:latin typeface="Cascadia Mono" panose="020B0609020000020004" pitchFamily="49" charset="0"/>
                          <a:cs typeface="Cascadia Mono" panose="020B0609020000020004" pitchFamily="49" charset="0"/>
                        </a:rPr>
                        <a:t>The people of the house looked at the bundle of wood—it was not something you could easily get away with bringing: they questioned the woman, and she </a:t>
                      </a:r>
                      <a:r>
                        <a:rPr lang="en-US" sz="1100" kern="150">
                          <a:effectLst/>
                          <a:latin typeface="Cascadia Mono" panose="020B0609020000020004" pitchFamily="49" charset="0"/>
                          <a:cs typeface="Cascadia Mono" panose="020B0609020000020004" pitchFamily="49" charset="0"/>
                        </a:rPr>
                        <a:t>narrated to </a:t>
                      </a:r>
                      <a:r>
                        <a:rPr lang="en-US" sz="1100" kern="150" dirty="0">
                          <a:effectLst/>
                          <a:latin typeface="Cascadia Mono" panose="020B0609020000020004" pitchFamily="49" charset="0"/>
                          <a:cs typeface="Cascadia Mono" panose="020B0609020000020004" pitchFamily="49" charset="0"/>
                        </a:rPr>
                        <a:t>them. They asked her:</a:t>
                      </a:r>
                    </a:p>
                    <a:p>
                      <a:pPr indent="216000" algn="l"/>
                      <a:r>
                        <a:rPr lang="en-US" sz="1100" kern="150" dirty="0">
                          <a:effectLst/>
                          <a:latin typeface="Cascadia Mono" panose="020B0609020000020004" pitchFamily="49" charset="0"/>
                          <a:cs typeface="Cascadia Mono" panose="020B0609020000020004" pitchFamily="49" charset="0"/>
                        </a:rPr>
                        <a:t>- What do you say about the king of the animals? </a:t>
                      </a:r>
                    </a:p>
                    <a:p>
                      <a:pPr indent="216000" algn="l"/>
                      <a:r>
                        <a:rPr lang="en-US" sz="1100" kern="150" dirty="0">
                          <a:effectLst/>
                          <a:latin typeface="Cascadia Mono" panose="020B0609020000020004" pitchFamily="49" charset="0"/>
                          <a:cs typeface="Cascadia Mono" panose="020B0609020000020004" pitchFamily="49" charset="0"/>
                        </a:rPr>
                        <a:t>- She told them: He is a good man, but how his breath stinks!</a:t>
                      </a:r>
                    </a:p>
                    <a:p>
                      <a:pPr indent="216000" algn="l"/>
                      <a:r>
                        <a:rPr lang="en-US" sz="1100" dirty="0"/>
                        <a:t>¶ As soon as the lion heard this, he felt deeply ashamed, slunk away, and left.</a:t>
                      </a:r>
                    </a:p>
                    <a:p>
                      <a:pPr indent="216000" algn="l"/>
                      <a:r>
                        <a:rPr lang="en-US" sz="1100" dirty="0"/>
                        <a:t>¶ After some time had passed, the woman returned to the forest to gather wood. The lion found her there and said to her: </a:t>
                      </a:r>
                    </a:p>
                    <a:p>
                      <a:pPr indent="216000" algn="l"/>
                      <a:r>
                        <a:rPr lang="en-US" sz="1100" dirty="0"/>
                        <a:t>- Strike me with the axe on the forehead!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920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26202599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txedmeḍ-iyi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tewteḍ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tewt-it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yezzazzal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Ani-yi-d.</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tettani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temlal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ccama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tyita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 mmi,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teḥliḍ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Leǧruḥ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ḥellun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rennun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She replied to him: I cannot; you did a good deed for me! </a:t>
                      </a:r>
                    </a:p>
                    <a:p>
                      <a:pPr indent="216000" algn="l"/>
                      <a:r>
                        <a:rPr lang="en-US" sz="1100" kern="150" dirty="0">
                          <a:effectLst/>
                          <a:latin typeface="Cascadia Mono" panose="020B0609020000020004" pitchFamily="49" charset="0"/>
                          <a:cs typeface="Cascadia Mono" panose="020B0609020000020004" pitchFamily="49" charset="0"/>
                        </a:rPr>
                        <a:t>- He told her: You will strike me, or I will eat you. </a:t>
                      </a:r>
                    </a:p>
                    <a:p>
                      <a:pPr indent="216000" algn="l"/>
                      <a:r>
                        <a:rPr lang="en-US" sz="1100" kern="150" dirty="0">
                          <a:effectLst/>
                          <a:latin typeface="Cascadia Mono" panose="020B0609020000020004" pitchFamily="49" charset="0"/>
                          <a:cs typeface="Cascadia Mono" panose="020B0609020000020004" pitchFamily="49" charset="0"/>
                        </a:rPr>
                        <a:t>So she struck him with the axe right between the eyes. He left whimpering, making the blood run.</a:t>
                      </a:r>
                    </a:p>
                    <a:p>
                      <a:pPr indent="216000" algn="l"/>
                      <a:r>
                        <a:rPr lang="en-US" sz="1100" kern="150" dirty="0">
                          <a:effectLst/>
                          <a:latin typeface="Cascadia Mono" panose="020B0609020000020004" pitchFamily="49" charset="0"/>
                          <a:cs typeface="Cascadia Mono" panose="020B0609020000020004" pitchFamily="49" charset="0"/>
                        </a:rPr>
                        <a:t>¶ After some time had gone by, he found her again in the forest gathering wood.</a:t>
                      </a:r>
                    </a:p>
                    <a:p>
                      <a:pPr indent="216000" algn="l"/>
                      <a:r>
                        <a:rPr lang="en-US" sz="1100" kern="150" dirty="0">
                          <a:effectLst/>
                          <a:latin typeface="Cascadia Mono" panose="020B0609020000020004" pitchFamily="49" charset="0"/>
                          <a:cs typeface="Cascadia Mono" panose="020B0609020000020004" pitchFamily="49" charset="0"/>
                        </a:rPr>
                        <a:t>He said to her: </a:t>
                      </a:r>
                    </a:p>
                    <a:p>
                      <a:pPr indent="216000" algn="l"/>
                      <a:r>
                        <a:rPr lang="en-US" sz="1100" kern="150" dirty="0">
                          <a:effectLst/>
                          <a:latin typeface="Cascadia Mono" panose="020B0609020000020004" pitchFamily="49" charset="0"/>
                          <a:cs typeface="Cascadia Mono" panose="020B0609020000020004" pitchFamily="49" charset="0"/>
                        </a:rPr>
                        <a:t>- Delouse me.</a:t>
                      </a:r>
                    </a:p>
                    <a:p>
                      <a:pPr indent="216000" algn="l"/>
                      <a:r>
                        <a:rPr lang="en-US" sz="1100" kern="150" dirty="0">
                          <a:effectLst/>
                          <a:latin typeface="Cascadia Mono" panose="020B0609020000020004" pitchFamily="49" charset="0"/>
                          <a:cs typeface="Cascadia Mono" panose="020B0609020000020004" pitchFamily="49" charset="0"/>
                        </a:rPr>
                        <a:t>So she began delousing him, until she came across the scar of her blow between his eyes. She said to him: </a:t>
                      </a:r>
                    </a:p>
                    <a:p>
                      <a:pPr marL="171450" indent="-171450" algn="l">
                        <a:buFontTx/>
                        <a:buChar char="-"/>
                      </a:pPr>
                      <a:r>
                        <a:rPr lang="en-US" sz="1100" kern="150" dirty="0">
                          <a:effectLst/>
                          <a:latin typeface="Cascadia Mono" panose="020B0609020000020004" pitchFamily="49" charset="0"/>
                          <a:cs typeface="Cascadia Mono" panose="020B0609020000020004" pitchFamily="49" charset="0"/>
                        </a:rPr>
                        <a:t>Praise be to God, my son, you are healed!</a:t>
                      </a:r>
                    </a:p>
                    <a:p>
                      <a:pPr marL="171450" indent="-171450" algn="l">
                        <a:buFontTx/>
                        <a:buChar char="-"/>
                      </a:pPr>
                      <a:r>
                        <a:rPr lang="en-US" sz="1100" kern="150" dirty="0">
                          <a:effectLst/>
                          <a:latin typeface="Cascadia Mono" panose="020B0609020000020004" pitchFamily="49" charset="0"/>
                          <a:cs typeface="Cascadia Mono" panose="020B0609020000020004" pitchFamily="49" charset="0"/>
                        </a:rPr>
                        <a:t>He said to her: Wounds dig and heal; words dig and multiply! Then he sprang upon her and ate her.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617126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0268942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nnesba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Matter of Alliance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Tdiwa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ḍebbreɣ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taqcict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ten-nsemyejwaǧ</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aɛebbuḍ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aɣ-ttnasaben</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Armi i t-</a:t>
                      </a:r>
                      <a:r>
                        <a:rPr lang="fr-FR" sz="1100" kern="1200" dirty="0" err="1">
                          <a:solidFill>
                            <a:schemeClr val="tx1"/>
                          </a:solidFill>
                          <a:effectLst/>
                          <a:latin typeface="+mn-lt"/>
                          <a:ea typeface="+mn-ea"/>
                          <a:cs typeface="+mn-cs"/>
                        </a:rPr>
                        <a:t>teḥṛes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ɛreḍ</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Tcebbeḥ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tnawel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texḍeb</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Tberra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ssemḥessen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bezbazen</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abbu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sxenzeren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lkanun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tteqqed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arrived at his den in a terrible state. The she-wolf nursed him back to health through much effort. Afterward, she said to him:</a:t>
                      </a:r>
                    </a:p>
                    <a:p>
                      <a:pPr indent="216000" algn="l"/>
                      <a:r>
                        <a:rPr lang="en-US" sz="1100" kern="150" dirty="0">
                          <a:effectLst/>
                          <a:latin typeface="Cascadia Mono" panose="020B0609020000020004" pitchFamily="49" charset="0"/>
                          <a:cs typeface="Cascadia Mono" panose="020B0609020000020004" pitchFamily="49" charset="0"/>
                        </a:rPr>
                        <a:t>- Come, husband, let me propose a plan. The dogs are our brothers: we have a boy, and they have a girl. Let us marry them to one another, and the enmity between us will be wiped away.</a:t>
                      </a:r>
                    </a:p>
                    <a:p>
                      <a:pPr indent="216000" algn="l"/>
                      <a:r>
                        <a:rPr lang="en-US" sz="1100" kern="150" dirty="0">
                          <a:effectLst/>
                          <a:latin typeface="Cascadia Mono" panose="020B0609020000020004" pitchFamily="49" charset="0"/>
                          <a:cs typeface="Cascadia Mono" panose="020B0609020000020004" pitchFamily="49" charset="0"/>
                        </a:rPr>
                        <a:t>- He replied to her: Brothers are brothers, but the womb divides them. They will never accept an alliance with us.</a:t>
                      </a:r>
                    </a:p>
                    <a:p>
                      <a:pPr indent="216000" algn="l"/>
                      <a:r>
                        <a:rPr lang="en-US" sz="1100" kern="150" dirty="0">
                          <a:effectLst/>
                          <a:latin typeface="Cascadia Mono" panose="020B0609020000020004" pitchFamily="49" charset="0"/>
                          <a:cs typeface="Cascadia Mono" panose="020B0609020000020004" pitchFamily="49" charset="0"/>
                        </a:rPr>
                        <a:t>Only when she relentlessly pressed him did he say to her:</a:t>
                      </a:r>
                    </a:p>
                    <a:p>
                      <a:pPr indent="216000" algn="l"/>
                      <a:r>
                        <a:rPr lang="en-US" sz="1100" kern="150" dirty="0">
                          <a:effectLst/>
                          <a:latin typeface="Cascadia Mono" panose="020B0609020000020004" pitchFamily="49" charset="0"/>
                          <a:cs typeface="Cascadia Mono" panose="020B0609020000020004" pitchFamily="49" charset="0"/>
                        </a:rPr>
                        <a:t>- Go on then, try it yourself!</a:t>
                      </a:r>
                    </a:p>
                    <a:p>
                      <a:pPr indent="216000" algn="l"/>
                      <a:r>
                        <a:rPr lang="en-US" sz="1100" kern="150" dirty="0">
                          <a:effectLst/>
                          <a:latin typeface="Cascadia Mono" panose="020B0609020000020004" pitchFamily="49" charset="0"/>
                          <a:cs typeface="Cascadia Mono" panose="020B0609020000020004" pitchFamily="49" charset="0"/>
                        </a:rPr>
                        <a:t>¶ The she-wolf dressed herself up, prepared a meal, and went out to propose the marriage. As soon as she arrived, they came out against her. She protested, saying:</a:t>
                      </a:r>
                    </a:p>
                    <a:p>
                      <a:pPr indent="216000" algn="l"/>
                      <a:r>
                        <a:rPr lang="en-US" sz="1100" kern="150" dirty="0">
                          <a:effectLst/>
                          <a:latin typeface="Cascadia Mono" panose="020B0609020000020004" pitchFamily="49" charset="0"/>
                          <a:cs typeface="Cascadia Mono" panose="020B0609020000020004" pitchFamily="49" charset="0"/>
                        </a:rPr>
                        <a:t>- It is an alliance in the name of God that has brought me here!</a:t>
                      </a:r>
                    </a:p>
                    <a:p>
                      <a:pPr indent="216000" algn="l"/>
                      <a:r>
                        <a:rPr lang="en-US" sz="1100" kern="150" dirty="0">
                          <a:effectLst/>
                          <a:latin typeface="Cascadia Mono" panose="020B0609020000020004" pitchFamily="49" charset="0"/>
                          <a:cs typeface="Cascadia Mono" panose="020B0609020000020004" pitchFamily="49" charset="0"/>
                        </a:rPr>
                        <a:t>¶ They did not listen to a word she said: they fell upon her and tore at her, that prepared meal went up in smoke, and they all fiercely mangled her; she owed her survival only to her legs.</a:t>
                      </a:r>
                    </a:p>
                    <a:p>
                      <a:pPr indent="216000" algn="l"/>
                      <a:r>
                        <a:rPr lang="en-US" sz="1100" kern="150" dirty="0">
                          <a:effectLst/>
                          <a:latin typeface="Cascadia Mono" panose="020B0609020000020004" pitchFamily="49" charset="0"/>
                          <a:cs typeface="Cascadia Mono" panose="020B0609020000020004" pitchFamily="49" charset="0"/>
                        </a:rPr>
                        <a:t>¶ The wolf found her by the hearth, cauterizing her wounds with fire. He looked at her, and she looked back at him: he said nothing to her, and she said nothing to him. She had fully tasted the consequences of her own counsel.</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81830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4421378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Lmut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wuccay</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Death of the Hound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Ya </a:t>
                      </a:r>
                      <a:r>
                        <a:rPr lang="fr-FR" sz="1100" kern="1200" dirty="0" err="1">
                          <a:solidFill>
                            <a:schemeClr val="tx1"/>
                          </a:solidFill>
                          <a:effectLst/>
                          <a:latin typeface="+mn-lt"/>
                          <a:ea typeface="+mn-ea"/>
                          <a:cs typeface="+mn-cs"/>
                        </a:rPr>
                        <a:t>ɛǧaba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Lewlegga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yeḍrun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taneggarut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Ayen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sser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yettwakksen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i </a:t>
                      </a:r>
                      <a:r>
                        <a:rPr lang="fr-FR" sz="1100" kern="1200" dirty="0" err="1">
                          <a:solidFill>
                            <a:schemeClr val="tx1"/>
                          </a:solidFill>
                          <a:effectLst/>
                          <a:latin typeface="+mn-lt"/>
                          <a:ea typeface="+mn-ea"/>
                          <a:cs typeface="+mn-cs"/>
                        </a:rPr>
                        <a:t>wegdi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yiɣil-is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ijbed</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lxalayeq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imeddukal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ečč</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-d.</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tameḍrurt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iyi-tɛiwneḍ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en-US" sz="1100" dirty="0"/>
                        <a:t>¶ </a:t>
                      </a:r>
                      <a:r>
                        <a:rPr lang="fr-FR" sz="1100" kern="1200" dirty="0">
                          <a:solidFill>
                            <a:schemeClr val="tx1"/>
                          </a:solidFill>
                          <a:effectLst/>
                          <a:latin typeface="+mn-lt"/>
                          <a:ea typeface="+mn-ea"/>
                          <a:cs typeface="+mn-cs"/>
                        </a:rPr>
                        <a:t>Iqbel-as </a:t>
                      </a:r>
                      <a:r>
                        <a:rPr lang="fr-FR" sz="1100" kern="1200" dirty="0" err="1">
                          <a:solidFill>
                            <a:schemeClr val="tx1"/>
                          </a:solidFill>
                          <a:effectLst/>
                          <a:latin typeface="+mn-lt"/>
                          <a:ea typeface="+mn-ea"/>
                          <a:cs typeface="+mn-cs"/>
                        </a:rPr>
                        <a:t>ufuḥan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asulef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qesden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yessleqḍ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a:t>
                      </a:r>
                    </a:p>
                    <a:p>
                      <a:pPr indent="457200"/>
                      <a:r>
                        <a:rPr lang="en-US"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Ssyenna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nehṛen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tbaqit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wammas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 Asmi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aɛewẓal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Akka i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yettɛassan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agugam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Isewweq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gma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yendeq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sat by himself and said: How astonishing! The delicate one went for an alliance in the name of God, and it was only her legs that saved her; who knows what could have happened to her! This is the end between me and the hound.</a:t>
                      </a:r>
                    </a:p>
                    <a:p>
                      <a:pPr indent="216000" algn="l"/>
                      <a:r>
                        <a:rPr lang="en-US" sz="1100" kern="150" dirty="0">
                          <a:effectLst/>
                          <a:latin typeface="Cascadia Mono" panose="020B0609020000020004" pitchFamily="49" charset="0"/>
                          <a:cs typeface="Cascadia Mono" panose="020B0609020000020004" pitchFamily="49" charset="0"/>
                        </a:rPr>
                        <a:t>¶ Of everything that had ever happened to him before that day, he had never felt anything like the blow to his honor regarding his wife. Because he was not strong enough to face the dog by brute force, he drew upon an acquaintance with the hyena —a wretched outcast! The lowest of all creatures! They became companions, eating together.</a:t>
                      </a:r>
                    </a:p>
                    <a:p>
                      <a:pPr indent="216000" algn="l"/>
                      <a:r>
                        <a:rPr lang="en-US" sz="1100" kern="150" dirty="0">
                          <a:effectLst/>
                          <a:latin typeface="Cascadia Mono" panose="020B0609020000020004" pitchFamily="49" charset="0"/>
                          <a:cs typeface="Cascadia Mono" panose="020B0609020000020004" pitchFamily="49" charset="0"/>
                        </a:rPr>
                        <a:t>¶ One day, he lamented to him the misfortune and hardship that had befallen him, saying:</a:t>
                      </a:r>
                    </a:p>
                    <a:p>
                      <a:pPr indent="216000" algn="l"/>
                      <a:r>
                        <a:rPr lang="en-US" sz="1100" kern="150" dirty="0">
                          <a:effectLst/>
                          <a:latin typeface="Cascadia Mono" panose="020B0609020000020004" pitchFamily="49" charset="0"/>
                          <a:cs typeface="Cascadia Mono" panose="020B0609020000020004" pitchFamily="49" charset="0"/>
                        </a:rPr>
                        <a:t>- Help me against the hound so I can take my revenge on him, and I will give you your share.</a:t>
                      </a:r>
                    </a:p>
                    <a:p>
                      <a:pPr indent="216000" algn="l"/>
                      <a:r>
                        <a:rPr lang="en-US" sz="1100" kern="150" dirty="0">
                          <a:effectLst/>
                          <a:latin typeface="Cascadia Mono" panose="020B0609020000020004" pitchFamily="49" charset="0"/>
                          <a:cs typeface="Cascadia Mono" panose="020B0609020000020004" pitchFamily="49" charset="0"/>
                        </a:rPr>
                        <a:t>¶ The foul-smelling beast accepted. They watched him until they found an opportunity, and they went after him. The wolf lured him out, and the hyena struck him down and killed him; they ate him.</a:t>
                      </a:r>
                    </a:p>
                    <a:p>
                      <a:pPr indent="216000" algn="l"/>
                      <a:r>
                        <a:rPr lang="en-US" sz="1100" kern="150" dirty="0">
                          <a:effectLst/>
                          <a:latin typeface="Cascadia Mono" panose="020B0609020000020004" pitchFamily="49" charset="0"/>
                          <a:cs typeface="Cascadia Mono" panose="020B0609020000020004" pitchFamily="49" charset="0"/>
                        </a:rPr>
                        <a:t>¶ From there, they drove away the livestock, until along the road they crossed paths with the lion.</a:t>
                      </a:r>
                    </a:p>
                    <a:p>
                      <a:pPr indent="216000" algn="l"/>
                      <a:r>
                        <a:rPr lang="en-US" sz="1100" kern="150" dirty="0">
                          <a:effectLst/>
                          <a:latin typeface="Cascadia Mono" panose="020B0609020000020004" pitchFamily="49" charset="0"/>
                          <a:cs typeface="Cascadia Mono" panose="020B0609020000020004" pitchFamily="49" charset="0"/>
                        </a:rPr>
                        <a:t>The wolf leaped away and fled. As for the hyena, God took justice from him: the lion struck him, breaking the small of his back, and left him. When he healed, his leg was shortened and he remained lame, which is why people call him the three-legged one.</a:t>
                      </a:r>
                    </a:p>
                    <a:p>
                      <a:pPr indent="216000" algn="l"/>
                      <a:r>
                        <a:rPr lang="en-US" sz="1100" kern="150" dirty="0">
                          <a:effectLst/>
                          <a:latin typeface="Cascadia Mono" panose="020B0609020000020004" pitchFamily="49" charset="0"/>
                          <a:cs typeface="Cascadia Mono" panose="020B0609020000020004" pitchFamily="49" charset="0"/>
                        </a:rPr>
                        <a:t>¶ That is how the poor hound died, he who used to guard the mute livestock.</a:t>
                      </a:r>
                    </a:p>
                    <a:p>
                      <a:pPr indent="216000" algn="l"/>
                      <a:r>
                        <a:rPr lang="en-US" sz="1100" kern="150" dirty="0">
                          <a:effectLst/>
                          <a:latin typeface="Cascadia Mono" panose="020B0609020000020004" pitchFamily="49" charset="0"/>
                          <a:cs typeface="Cascadia Mono" panose="020B0609020000020004" pitchFamily="49" charset="0"/>
                        </a:rPr>
                        <a:t>His own brother plotted against him, and he was killed by the hyena who has no honor! It is from that very day that goodness vanished.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5924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6553074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tmelqubeɛt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Lark</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tezdel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tsefṛuṛx</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ifṛax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yenqer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tesselqaḍ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yefṛax-is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ččewčiwen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lizar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tenqeb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ttkellixen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tqejjiṛt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tferrett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iruḥ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A certain lark made her nest in the hollow of a rock. She laid her eggs there in abundance, and hatched her chicks. From then on, from the rising of the sun until it set into the sea, in the midday heat like fire, there she was, going out and coming back, gathering food for her children.</a:t>
                      </a:r>
                    </a:p>
                    <a:p>
                      <a:pPr indent="216000" algn="l"/>
                      <a:r>
                        <a:rPr lang="en-US" sz="1100" kern="150" dirty="0">
                          <a:effectLst/>
                          <a:latin typeface="Cascadia Mono" panose="020B0609020000020004" pitchFamily="49" charset="0"/>
                          <a:cs typeface="Cascadia Mono" panose="020B0609020000020004" pitchFamily="49" charset="0"/>
                        </a:rPr>
                        <a:t>¶ That day, the wolf passed by, saw her, and heard her chicks chirping. He said to her:</a:t>
                      </a:r>
                    </a:p>
                    <a:p>
                      <a:pPr indent="216000" algn="l"/>
                      <a:r>
                        <a:rPr lang="en-US" sz="1100" kern="150" dirty="0">
                          <a:effectLst/>
                          <a:latin typeface="Cascadia Mono" panose="020B0609020000020004" pitchFamily="49" charset="0"/>
                          <a:cs typeface="Cascadia Mono" panose="020B0609020000020004" pitchFamily="49" charset="0"/>
                        </a:rPr>
                        <a:t>- Throw one down to me, or else I will climb up!</a:t>
                      </a:r>
                    </a:p>
                    <a:p>
                      <a:pPr indent="216000" algn="l"/>
                      <a:r>
                        <a:rPr lang="en-US" sz="1100" kern="150" dirty="0">
                          <a:effectLst/>
                          <a:latin typeface="Cascadia Mono" panose="020B0609020000020004" pitchFamily="49" charset="0"/>
                          <a:cs typeface="Cascadia Mono" panose="020B0609020000020004" pitchFamily="49" charset="0"/>
                        </a:rPr>
                        <a:t>The lark began her alarm cry, fluttering wildly down upon him to peck at him. Then the wolf began to laugh:</a:t>
                      </a:r>
                    </a:p>
                    <a:p>
                      <a:pPr indent="216000" algn="l"/>
                      <a:r>
                        <a:rPr lang="en-US" sz="1100" kern="150" dirty="0">
                          <a:effectLst/>
                          <a:latin typeface="Cascadia Mono" panose="020B0609020000020004" pitchFamily="49" charset="0"/>
                          <a:cs typeface="Cascadia Mono" panose="020B0609020000020004" pitchFamily="49" charset="0"/>
                        </a:rPr>
                        <a:t>- It is not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who is so easily fooled! Throw one down, or else I will climb up!</a:t>
                      </a:r>
                    </a:p>
                    <a:p>
                      <a:pPr indent="216000" algn="l"/>
                      <a:r>
                        <a:rPr lang="en-US" sz="1100" kern="150" dirty="0">
                          <a:effectLst/>
                          <a:latin typeface="Cascadia Mono" panose="020B0609020000020004" pitchFamily="49" charset="0"/>
                          <a:cs typeface="Cascadia Mono" panose="020B0609020000020004" pitchFamily="49" charset="0"/>
                        </a:rPr>
                        <a:t>She took one of them by the leg and threw it down to him; he ate it and left.</a:t>
                      </a:r>
                    </a:p>
                    <a:p>
                      <a:pPr indent="216000" algn="l"/>
                      <a:r>
                        <a:rPr lang="en-US" sz="1100" kern="150" dirty="0">
                          <a:effectLst/>
                          <a:latin typeface="Cascadia Mono" panose="020B0609020000020004" pitchFamily="49" charset="0"/>
                          <a:cs typeface="Cascadia Mono" panose="020B0609020000020004" pitchFamily="49" charset="0"/>
                        </a:rPr>
                        <a:t>¶ The next day he returned and said to her:</a:t>
                      </a:r>
                    </a:p>
                    <a:p>
                      <a:pPr indent="216000" algn="l"/>
                      <a:r>
                        <a:rPr lang="en-US" sz="1100" kern="150" dirty="0">
                          <a:effectLst/>
                          <a:latin typeface="Cascadia Mono" panose="020B0609020000020004" pitchFamily="49" charset="0"/>
                          <a:cs typeface="Cascadia Mono" panose="020B0609020000020004" pitchFamily="49" charset="0"/>
                        </a:rPr>
                        <a:t>- Throw one down to me, or else I will climb up!</a:t>
                      </a:r>
                    </a:p>
                    <a:p>
                      <a:pPr indent="216000" algn="l"/>
                      <a:r>
                        <a:rPr lang="en-US" sz="1100" kern="150" dirty="0">
                          <a:effectLst/>
                          <a:latin typeface="Cascadia Mono" panose="020B0609020000020004" pitchFamily="49" charset="0"/>
                          <a:cs typeface="Cascadia Mono" panose="020B0609020000020004" pitchFamily="49" charset="0"/>
                        </a:rPr>
                        <a:t>She begged, she cried, but it was no use! She took one of them by the wing and threw it down to him; he ate it and left.</a:t>
                      </a:r>
                    </a:p>
                    <a:p>
                      <a:pPr indent="216000" algn="l"/>
                      <a:r>
                        <a:rPr lang="en-US" sz="1100" kern="150" dirty="0">
                          <a:effectLst/>
                          <a:latin typeface="Cascadia Mono" panose="020B0609020000020004" pitchFamily="49" charset="0"/>
                          <a:cs typeface="Cascadia Mono" panose="020B0609020000020004" pitchFamily="49" charset="0"/>
                        </a:rPr>
                        <a:t>The lark remained there weeping tears of blood, her heart utterly broken.</a:t>
                      </a:r>
                    </a:p>
                    <a:p>
                      <a:pPr indent="216000" algn="l"/>
                      <a:r>
                        <a:rPr lang="en-US" sz="1100" kern="150" dirty="0">
                          <a:effectLst/>
                          <a:latin typeface="Cascadia Mono" panose="020B0609020000020004" pitchFamily="49" charset="0"/>
                          <a:cs typeface="Cascadia Mono" panose="020B0609020000020004" pitchFamily="49" charset="0"/>
                        </a:rPr>
                        <a:t>¶ The stork passed by and found her in a terrible state. He said to her:</a:t>
                      </a:r>
                    </a:p>
                    <a:p>
                      <a:pPr indent="216000" algn="l"/>
                      <a:r>
                        <a:rPr lang="en-US" sz="1100" kern="150" dirty="0">
                          <a:effectLst/>
                          <a:latin typeface="Cascadia Mono" panose="020B0609020000020004" pitchFamily="49" charset="0"/>
                          <a:cs typeface="Cascadia Mono" panose="020B0609020000020004" pitchFamily="49" charset="0"/>
                        </a:rPr>
                        <a:t>- What is the matter with you, sister?</a:t>
                      </a:r>
                    </a:p>
                    <a:p>
                      <a:pPr indent="216000" algn="l"/>
                      <a:r>
                        <a:rPr lang="en-US" sz="1100" kern="150" dirty="0">
                          <a:effectLst/>
                          <a:latin typeface="Cascadia Mono" panose="020B0609020000020004" pitchFamily="49" charset="0"/>
                          <a:cs typeface="Cascadia Mono" panose="020B0609020000020004" pitchFamily="49" charset="0"/>
                        </a:rPr>
                        <a:t>She related to him the injustice that had befallen her and the hardship she was in.</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584454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4642877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Ikellex-ikem</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ad n-yali,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i m-</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s-</a:t>
                      </a:r>
                      <a:r>
                        <a:rPr lang="fr-FR" sz="1100" kern="1200" dirty="0" err="1">
                          <a:solidFill>
                            <a:schemeClr val="tx1"/>
                          </a:solidFill>
                          <a:effectLst/>
                          <a:latin typeface="+mn-lt"/>
                          <a:ea typeface="+mn-ea"/>
                          <a:cs typeface="+mn-cs"/>
                        </a:rPr>
                        <a:t>temmaleḍ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Tugi.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yettagges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uberwaq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yettcebbib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ukellex</a:t>
                      </a:r>
                      <a:r>
                        <a:rPr lang="fr-FR" sz="1100" kern="1200" dirty="0">
                          <a:solidFill>
                            <a:schemeClr val="tx1"/>
                          </a:solidFill>
                          <a:effectLst/>
                          <a:latin typeface="+mn-lt"/>
                          <a:ea typeface="+mn-ea"/>
                          <a:cs typeface="+mn-cs"/>
                        </a:rPr>
                        <a:t>! Yenna-yi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tezmireḍ</a:t>
                      </a:r>
                      <a:r>
                        <a:rPr lang="fr-FR" sz="1100" kern="1200" dirty="0">
                          <a:solidFill>
                            <a:schemeClr val="tx1"/>
                          </a:solidFill>
                          <a:effectLst/>
                          <a:latin typeface="+mn-lt"/>
                          <a:ea typeface="+mn-ea"/>
                          <a:cs typeface="+mn-cs"/>
                        </a:rPr>
                        <a:t> ara ad d-</a:t>
                      </a:r>
                      <a:r>
                        <a:rPr lang="fr-FR" sz="1100" kern="1200" dirty="0" err="1">
                          <a:solidFill>
                            <a:schemeClr val="tx1"/>
                          </a:solidFill>
                          <a:effectLst/>
                          <a:latin typeface="+mn-lt"/>
                          <a:ea typeface="+mn-ea"/>
                          <a:cs typeface="+mn-cs"/>
                        </a:rPr>
                        <a:t>taliḍ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txedɛeḍ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d bu </a:t>
                      </a:r>
                      <a:r>
                        <a:rPr lang="fr-FR" sz="1100" kern="1200" dirty="0" err="1">
                          <a:solidFill>
                            <a:schemeClr val="tx1"/>
                          </a:solidFill>
                          <a:effectLst/>
                          <a:latin typeface="+mn-lt"/>
                          <a:ea typeface="+mn-ea"/>
                          <a:cs typeface="+mn-cs"/>
                        </a:rPr>
                        <a:t>iɛejquren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kem-yesḥeṛcen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iɛefnaḍ</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mleɣ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Netta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tɛeggen</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He told her:</a:t>
                      </a:r>
                    </a:p>
                    <a:p>
                      <a:pPr indent="216000" algn="l"/>
                      <a:r>
                        <a:rPr lang="en-US" sz="1100" kern="150" dirty="0">
                          <a:effectLst/>
                          <a:latin typeface="Cascadia Mono" panose="020B0609020000020004" pitchFamily="49" charset="0"/>
                          <a:cs typeface="Cascadia Mono" panose="020B0609020000020004" pitchFamily="49" charset="0"/>
                        </a:rPr>
                        <a:t>- The trickster has fooled you! If he were able to climb up, he would have eaten them all at once. But whatever you do, do not show him that you know!</a:t>
                      </a:r>
                    </a:p>
                    <a:p>
                      <a:pPr indent="216000" algn="l"/>
                      <a:r>
                        <a:rPr lang="en-US" sz="1100" kern="150" dirty="0">
                          <a:effectLst/>
                          <a:latin typeface="Cascadia Mono" panose="020B0609020000020004" pitchFamily="49" charset="0"/>
                          <a:cs typeface="Cascadia Mono" panose="020B0609020000020004" pitchFamily="49" charset="0"/>
                        </a:rPr>
                        <a:t>Then he went about his business.</a:t>
                      </a:r>
                    </a:p>
                    <a:p>
                      <a:pPr indent="216000" algn="l"/>
                      <a:r>
                        <a:rPr lang="en-US" sz="1100" dirty="0"/>
                        <a:t>¶ The next day, Sir </a:t>
                      </a:r>
                      <a:r>
                        <a:rPr lang="en-US" sz="1100" dirty="0" err="1"/>
                        <a:t>Mḥemmed</a:t>
                      </a:r>
                      <a:r>
                        <a:rPr lang="en-US" sz="1100" dirty="0"/>
                        <a:t> arrived and said to her:</a:t>
                      </a:r>
                    </a:p>
                    <a:p>
                      <a:pPr indent="216000" algn="l"/>
                      <a:r>
                        <a:rPr lang="en-US" sz="1100" dirty="0"/>
                        <a:t>- Throw one down to me, or else I will climb up!</a:t>
                      </a:r>
                    </a:p>
                    <a:p>
                      <a:pPr indent="216000" algn="l"/>
                      <a:r>
                        <a:rPr lang="en-US" sz="1100" dirty="0"/>
                        <a:t>She refused. He tried everything to terrify her, making a show of climbing while rustling the asphodel stalks and scaling the rock, but he accomplished nothing. The lark, in her innocence, said to him:</a:t>
                      </a:r>
                    </a:p>
                    <a:p>
                      <a:pPr indent="216000" algn="l"/>
                      <a:r>
                        <a:rPr lang="en-US" sz="1100" dirty="0"/>
                        <a:t>- Go on your way; the fooling is over! Uncle Stork told me you are unable to climb up. May God betray you just as you betrayed me regarding my children!</a:t>
                      </a:r>
                    </a:p>
                    <a:p>
                      <a:pPr indent="216000" algn="l"/>
                      <a:r>
                        <a:rPr lang="en-US" sz="1100" dirty="0"/>
                        <a:t>The wolf replied to her:</a:t>
                      </a:r>
                    </a:p>
                    <a:p>
                      <a:pPr indent="216000" algn="l"/>
                      <a:r>
                        <a:rPr lang="en-US" sz="1100" dirty="0"/>
                        <a:t>- Ah! So it is that long-legged one who made you clever? Just let me catch him, that eater of filth: I will show him!</a:t>
                      </a:r>
                    </a:p>
                    <a:p>
                      <a:pPr indent="216000" algn="l"/>
                      <a:r>
                        <a:rPr lang="en-US" sz="1100" dirty="0"/>
                        <a:t>He left, and the lark immediately sent warning to the stork.</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05985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23481049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Ibellireǧ d yemqerqren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Stork and the Frogs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imqurqren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yessebges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xlun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Yenna-yasen:</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ttmettaten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asen-teččuṛ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tqeblem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ken-ikeffu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ujenwi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Ixuṣṣ-aɣ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lluɣa-nsen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mtafaqen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nexlu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lfetna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tiɣugga</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tiẓẓift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gellid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lemḥella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umenqar-is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yettissix</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Abbuh</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nenna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imerjan-nsen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yeɣmes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went to the frogs to rouse them, so that they would destroy the stork. He said to them:</a:t>
                      </a:r>
                    </a:p>
                    <a:p>
                      <a:pPr indent="216000" algn="l"/>
                      <a:r>
                        <a:rPr lang="en-US" sz="1100" kern="150" dirty="0">
                          <a:effectLst/>
                          <a:latin typeface="Cascadia Mono" panose="020B0609020000020004" pitchFamily="49" charset="0"/>
                          <a:cs typeface="Cascadia Mono" panose="020B0609020000020004" pitchFamily="49" charset="0"/>
                        </a:rPr>
                        <a:t>- O brothers, the stork has eaten your very liver: your children are dying before their time is full. How can you accept this state of affairs, when he is all alone, while a whole valley would not be enough to contain you all?</a:t>
                      </a:r>
                    </a:p>
                    <a:p>
                      <a:pPr indent="216000" algn="l"/>
                      <a:r>
                        <a:rPr lang="en-US" sz="1100" kern="150" dirty="0">
                          <a:effectLst/>
                          <a:latin typeface="Cascadia Mono" panose="020B0609020000020004" pitchFamily="49" charset="0"/>
                          <a:cs typeface="Cascadia Mono" panose="020B0609020000020004" pitchFamily="49" charset="0"/>
                        </a:rPr>
                        <a:t>They said to him:</a:t>
                      </a:r>
                    </a:p>
                    <a:p>
                      <a:pPr indent="216000" algn="l"/>
                      <a:r>
                        <a:rPr lang="en-US" sz="1100" kern="150" dirty="0">
                          <a:effectLst/>
                          <a:latin typeface="Cascadia Mono" panose="020B0609020000020004" pitchFamily="49" charset="0"/>
                          <a:cs typeface="Cascadia Mono" panose="020B0609020000020004" pitchFamily="49" charset="0"/>
                        </a:rPr>
                        <a:t>- We lack wise counsel. Guide us, O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So he gathered them together in the night: they struck up their language: croak! croak! croak! Each one spoke what they had to speak, until they agreed upon a single word: Tomorrow we will destroy Uncle Stork!</a:t>
                      </a:r>
                    </a:p>
                    <a:p>
                      <a:pPr indent="216000" algn="l"/>
                      <a:r>
                        <a:rPr lang="en-US" sz="1100" kern="150" dirty="0">
                          <a:effectLst/>
                          <a:latin typeface="Cascadia Mono" panose="020B0609020000020004" pitchFamily="49" charset="0"/>
                          <a:cs typeface="Cascadia Mono" panose="020B0609020000020004" pitchFamily="49" charset="0"/>
                        </a:rPr>
                        <a:t>¶ the next day, they equipped themselves for strife and divided into teams. As soon as the stork landed in the river, they advanced toward him with low croaking murmurs. As it happened, one among them, a master of honor and a master of strength, marched ahead of them like a king before his army. The stork lunged down upon him with his beak and seized him; the others drew back. Then he began to wail:</a:t>
                      </a:r>
                    </a:p>
                    <a:p>
                      <a:pPr indent="216000" algn="l"/>
                      <a:r>
                        <a:rPr lang="en-US" sz="1100" kern="150" dirty="0">
                          <a:effectLst/>
                          <a:latin typeface="Cascadia Mono" panose="020B0609020000020004" pitchFamily="49" charset="0"/>
                          <a:cs typeface="Cascadia Mono" panose="020B0609020000020004" pitchFamily="49" charset="0"/>
                        </a:rPr>
                        <a:t>- Mercy, O brothers! By God, this is not what we agreed!</a:t>
                      </a:r>
                    </a:p>
                    <a:p>
                      <a:pPr indent="216000" algn="l"/>
                      <a:r>
                        <a:rPr lang="en-US" sz="1100" kern="150" dirty="0">
                          <a:effectLst/>
                          <a:latin typeface="Cascadia Mono" panose="020B0609020000020004" pitchFamily="49" charset="0"/>
                          <a:cs typeface="Cascadia Mono" panose="020B0609020000020004" pitchFamily="49" charset="0"/>
                        </a:rPr>
                        <a:t>They did not listen to him: they fled back to their swamps, scattered like cowards. Each one, as they dived deep into the pool, said: Let the wretched one look out for his own head! Let the wretched one look out for his own head!</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27370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BFCC-9589-C595-B673-83A9F65729CF}"/>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5A834E1-31F2-F275-7E11-C44842830BD7}"/>
              </a:ext>
            </a:extLst>
          </p:cNvPr>
          <p:cNvGraphicFramePr>
            <a:graphicFrameLocks noGrp="1"/>
          </p:cNvGraphicFramePr>
          <p:nvPr>
            <p:extLst>
              <p:ext uri="{D42A27DB-BD31-4B8C-83A1-F6EECF244321}">
                <p14:modId xmlns:p14="http://schemas.microsoft.com/office/powerpoint/2010/main" val="341865354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imqerqren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wezduz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stork carried that master of honor to his nest and tore him apart; his children ate him. The frogs were left behind like a mallet that has no handle.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08372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7059099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ibellireǧ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and the Stork</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Iɛass-it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yesseɣfel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uselsul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ixella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izuɣar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calwaw</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wallen-iw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frizeɣ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mliḥ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tamurt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Nxella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asigna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yeqber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 d-</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aḍiḥan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Sidi </a:t>
                      </a:r>
                      <a:r>
                        <a:rPr lang="fr-FR" sz="1100" kern="1200" dirty="0" err="1">
                          <a:solidFill>
                            <a:schemeClr val="tx1"/>
                          </a:solidFill>
                          <a:effectLst/>
                          <a:latin typeface="+mn-lt"/>
                          <a:ea typeface="+mn-ea"/>
                          <a:cs typeface="+mn-cs"/>
                        </a:rPr>
                        <a:t>ɛebdelqader</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stork did not give the wolf time to prepare another trap for him. He watched him until he caught him off guard, lunged at him, gripped him by the spine of his back, flew up with him, and carried him into the heavens.</a:t>
                      </a:r>
                    </a:p>
                    <a:p>
                      <a:pPr indent="216000" algn="l"/>
                      <a:r>
                        <a:rPr lang="en-US" sz="1100" kern="150" dirty="0">
                          <a:effectLst/>
                          <a:latin typeface="Cascadia Mono" panose="020B0609020000020004" pitchFamily="49" charset="0"/>
                          <a:cs typeface="Cascadia Mono" panose="020B0609020000020004" pitchFamily="49" charset="0"/>
                        </a:rPr>
                        <a:t>¶ He kept circling and rising, circling and rising, until he had left the high mountains far below. Then, he said to him:</a:t>
                      </a:r>
                    </a:p>
                    <a:p>
                      <a:pPr indent="216000" algn="l"/>
                      <a:r>
                        <a:rPr lang="en-US" sz="1100" kern="150" dirty="0">
                          <a:effectLst/>
                          <a:latin typeface="Cascadia Mono" panose="020B0609020000020004" pitchFamily="49" charset="0"/>
                          <a:cs typeface="Cascadia Mono" panose="020B0609020000020004" pitchFamily="49" charset="0"/>
                        </a:rPr>
                        <a:t>- What do you see, O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The wolf replied to him: The mountains, the plains, the rivers—there they all are beneath us!</a:t>
                      </a:r>
                    </a:p>
                    <a:p>
                      <a:pPr indent="216000" algn="l"/>
                      <a:r>
                        <a:rPr lang="en-US" sz="1100" kern="150" dirty="0">
                          <a:effectLst/>
                          <a:latin typeface="Cascadia Mono" panose="020B0609020000020004" pitchFamily="49" charset="0"/>
                          <a:cs typeface="Cascadia Mono" panose="020B0609020000020004" pitchFamily="49" charset="0"/>
                        </a:rPr>
                        <a:t>He rose with him even higher and said to him:</a:t>
                      </a:r>
                    </a:p>
                    <a:p>
                      <a:pPr indent="216000" algn="l"/>
                      <a:r>
                        <a:rPr lang="en-US" sz="1100" kern="150" dirty="0">
                          <a:effectLst/>
                          <a:latin typeface="Cascadia Mono" panose="020B0609020000020004" pitchFamily="49" charset="0"/>
                          <a:cs typeface="Cascadia Mono" panose="020B0609020000020004" pitchFamily="49" charset="0"/>
                        </a:rPr>
                        <a:t>- What do you see?</a:t>
                      </a:r>
                    </a:p>
                    <a:p>
                      <a:pPr indent="216000" algn="l"/>
                      <a:r>
                        <a:rPr lang="en-US" sz="1100" kern="150" dirty="0">
                          <a:effectLst/>
                          <a:latin typeface="Cascadia Mono" panose="020B0609020000020004" pitchFamily="49" charset="0"/>
                          <a:cs typeface="Cascadia Mono" panose="020B0609020000020004" pitchFamily="49" charset="0"/>
                        </a:rPr>
                        <a:t>- He replied to him: A dimness has fallen over my eyes; I can no longer make out the land clearly!</a:t>
                      </a:r>
                    </a:p>
                    <a:p>
                      <a:pPr indent="216000" algn="l"/>
                      <a:r>
                        <a:rPr lang="en-US" sz="1100" kern="150" dirty="0">
                          <a:effectLst/>
                          <a:latin typeface="Cascadia Mono" panose="020B0609020000020004" pitchFamily="49" charset="0"/>
                          <a:cs typeface="Cascadia Mono" panose="020B0609020000020004" pitchFamily="49" charset="0"/>
                        </a:rPr>
                        <a:t>He rose with him even higher and said to him:</a:t>
                      </a:r>
                    </a:p>
                    <a:p>
                      <a:pPr indent="216000" algn="l"/>
                      <a:r>
                        <a:rPr lang="en-US" sz="1100" kern="150" dirty="0">
                          <a:effectLst/>
                          <a:latin typeface="Cascadia Mono" panose="020B0609020000020004" pitchFamily="49" charset="0"/>
                          <a:cs typeface="Cascadia Mono" panose="020B0609020000020004" pitchFamily="49" charset="0"/>
                        </a:rPr>
                        <a:t>- And now, what do you see?</a:t>
                      </a:r>
                    </a:p>
                    <a:p>
                      <a:pPr indent="216000" algn="l"/>
                      <a:r>
                        <a:rPr lang="en-US" sz="1100" kern="150" dirty="0">
                          <a:effectLst/>
                          <a:latin typeface="Cascadia Mono" panose="020B0609020000020004" pitchFamily="49" charset="0"/>
                          <a:cs typeface="Cascadia Mono" panose="020B0609020000020004" pitchFamily="49" charset="0"/>
                        </a:rPr>
                        <a:t>- He replied to him: We have left the clouds behind!</a:t>
                      </a:r>
                    </a:p>
                    <a:p>
                      <a:pPr indent="216000" algn="l"/>
                      <a:r>
                        <a:rPr lang="en-US" sz="1100" kern="150" dirty="0">
                          <a:effectLst/>
                          <a:latin typeface="Cascadia Mono" panose="020B0609020000020004" pitchFamily="49" charset="0"/>
                          <a:cs typeface="Cascadia Mono" panose="020B0609020000020004" pitchFamily="49" charset="0"/>
                        </a:rPr>
                        <a:t>¶ Right then, the stork let go of the wolf, so that he would fall from the seventh heaven, smash to pieces, and die.</a:t>
                      </a:r>
                    </a:p>
                    <a:p>
                      <a:pPr indent="216000" algn="l"/>
                      <a:r>
                        <a:rPr lang="en-US" sz="1100" kern="150" dirty="0">
                          <a:effectLst/>
                          <a:latin typeface="Cascadia Mono" panose="020B0609020000020004" pitchFamily="49" charset="0"/>
                          <a:cs typeface="Cascadia Mono" panose="020B0609020000020004" pitchFamily="49" charset="0"/>
                        </a:rPr>
                        <a:t>The wolf kept twisting as he fell, twisting as he fell, until his liver was spent and his spleen burst from sheer terror.</a:t>
                      </a:r>
                    </a:p>
                    <a:p>
                      <a:pPr indent="216000" algn="l"/>
                      <a:r>
                        <a:rPr lang="en-US" sz="1100" kern="150" dirty="0">
                          <a:effectLst/>
                          <a:latin typeface="Cascadia Mono" panose="020B0609020000020004" pitchFamily="49" charset="0"/>
                          <a:cs typeface="Cascadia Mono" panose="020B0609020000020004" pitchFamily="49" charset="0"/>
                        </a:rPr>
                        <a:t>He lost his mind completely: forgetting Saint Abdelqader, he kept crying out to him: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90491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282B-A304-7352-CE3B-5D8378A2762A}"/>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D4F4C2-60AD-9038-95E2-51F762645AE0}"/>
              </a:ext>
            </a:extLst>
          </p:cNvPr>
          <p:cNvGraphicFramePr>
            <a:graphicFrameLocks noGrp="1"/>
          </p:cNvGraphicFramePr>
          <p:nvPr>
            <p:extLst>
              <p:ext uri="{D42A27DB-BD31-4B8C-83A1-F6EECF244321}">
                <p14:modId xmlns:p14="http://schemas.microsoft.com/office/powerpoint/2010/main" val="237258155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endParaRPr lang="fr-FR" sz="1100" i="1" kern="1200" dirty="0">
                        <a:solidFill>
                          <a:schemeClr val="tx1"/>
                        </a:solidFill>
                        <a:effectLst/>
                        <a:latin typeface="+mn-lt"/>
                        <a:ea typeface="+mn-ea"/>
                        <a:cs typeface="+mn-cs"/>
                      </a:endParaRP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Yeṭṭerḍq</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yecɣil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i="1" kern="150" dirty="0">
                          <a:effectLst/>
                          <a:latin typeface="Cascadia Mono" panose="020B0609020000020004" pitchFamily="49" charset="0"/>
                          <a:cs typeface="Cascadia Mono" panose="020B0609020000020004" pitchFamily="49" charset="0"/>
                        </a:rPr>
                        <a:t>O Saint </a:t>
                      </a:r>
                      <a:r>
                        <a:rPr lang="en-US" sz="1100" i="1" kern="150" dirty="0" err="1">
                          <a:effectLst/>
                          <a:latin typeface="Cascadia Mono" panose="020B0609020000020004" pitchFamily="49" charset="0"/>
                          <a:cs typeface="Cascadia Mono" panose="020B0609020000020004" pitchFamily="49" charset="0"/>
                        </a:rPr>
                        <a:t>Abdelgernin</a:t>
                      </a:r>
                      <a:r>
                        <a:rPr lang="en-US" sz="1100" i="1" kern="150" dirty="0">
                          <a:effectLst/>
                          <a:latin typeface="Cascadia Mono" panose="020B0609020000020004" pitchFamily="49" charset="0"/>
                          <a:cs typeface="Cascadia Mono" panose="020B0609020000020004" pitchFamily="49" charset="0"/>
                        </a:rPr>
                        <a:t>!</a:t>
                      </a:r>
                    </a:p>
                    <a:p>
                      <a:pPr indent="216000" algn="l"/>
                      <a:r>
                        <a:rPr lang="en-US" sz="1100" i="1" kern="150" dirty="0">
                          <a:effectLst/>
                          <a:latin typeface="Cascadia Mono" panose="020B0609020000020004" pitchFamily="49" charset="0"/>
                          <a:cs typeface="Cascadia Mono" panose="020B0609020000020004" pitchFamily="49" charset="0"/>
                        </a:rPr>
                        <a:t>In a pool or in the straw!</a:t>
                      </a:r>
                    </a:p>
                    <a:p>
                      <a:pPr indent="216000" algn="l"/>
                      <a:r>
                        <a:rPr lang="en-US" sz="1100" i="1" kern="150" dirty="0">
                          <a:effectLst/>
                          <a:latin typeface="Cascadia Mono" panose="020B0609020000020004" pitchFamily="49" charset="0"/>
                          <a:cs typeface="Cascadia Mono" panose="020B0609020000020004" pitchFamily="49" charset="0"/>
                        </a:rPr>
                        <a:t>O Saint </a:t>
                      </a:r>
                      <a:r>
                        <a:rPr lang="en-US" sz="1100" i="1" kern="150" dirty="0" err="1">
                          <a:effectLst/>
                          <a:latin typeface="Cascadia Mono" panose="020B0609020000020004" pitchFamily="49" charset="0"/>
                          <a:cs typeface="Cascadia Mono" panose="020B0609020000020004" pitchFamily="49" charset="0"/>
                        </a:rPr>
                        <a:t>Abdelgernin</a:t>
                      </a:r>
                      <a:r>
                        <a:rPr lang="en-US" sz="1100" i="1" kern="150" dirty="0">
                          <a:effectLst/>
                          <a:latin typeface="Cascadia Mono" panose="020B0609020000020004" pitchFamily="49" charset="0"/>
                          <a:cs typeface="Cascadia Mono" panose="020B0609020000020004" pitchFamily="49" charset="0"/>
                        </a:rPr>
                        <a:t>!</a:t>
                      </a:r>
                    </a:p>
                    <a:p>
                      <a:pPr indent="216000" algn="l"/>
                      <a:r>
                        <a:rPr lang="en-US" sz="1100" i="1" kern="150" dirty="0">
                          <a:effectLst/>
                          <a:latin typeface="Cascadia Mono" panose="020B0609020000020004" pitchFamily="49" charset="0"/>
                          <a:cs typeface="Cascadia Mono" panose="020B0609020000020004" pitchFamily="49" charset="0"/>
                        </a:rPr>
                        <a:t>In a pool or in the straw!</a:t>
                      </a:r>
                    </a:p>
                    <a:p>
                      <a:pPr indent="216000" algn="l"/>
                      <a:endParaRPr lang="en-US" sz="1100" i="1" kern="150" dirty="0">
                        <a:effectLst/>
                        <a:latin typeface="Cascadia Mono" panose="020B0609020000020004" pitchFamily="49" charset="0"/>
                        <a:cs typeface="Cascadia Mono" panose="020B0609020000020004" pitchFamily="49" charset="0"/>
                      </a:endParaRPr>
                    </a:p>
                    <a:p>
                      <a:pPr indent="216000" algn="l"/>
                      <a:r>
                        <a:rPr lang="en-US" sz="1100" i="0" kern="150" dirty="0">
                          <a:effectLst/>
                          <a:latin typeface="Cascadia Mono" panose="020B0609020000020004" pitchFamily="49" charset="0"/>
                          <a:cs typeface="Cascadia Mono" panose="020B0609020000020004" pitchFamily="49" charset="0"/>
                        </a:rPr>
                        <a:t>¶ He burst right into a pool, and the waters splashed all the way up into the sky. He escaped death, but what a severe penance he had endured!</a:t>
                      </a:r>
                    </a:p>
                    <a:p>
                      <a:pPr indent="216000" algn="l"/>
                      <a:r>
                        <a:rPr lang="en-US" sz="1100" i="0" kern="150" dirty="0">
                          <a:effectLst/>
                          <a:latin typeface="Cascadia Mono" panose="020B0609020000020004" pitchFamily="49" charset="0"/>
                          <a:cs typeface="Cascadia Mono" panose="020B0609020000020004" pitchFamily="49" charset="0"/>
                        </a:rPr>
                        <a:t>He had learned his lesson: from that day forward, he never troubled himself with the stork again.</a:t>
                      </a:r>
                      <a:endParaRPr lang="en-GB" i="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580959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33093198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yizem</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en-US" sz="1100" kern="150" dirty="0">
                          <a:effectLst/>
                          <a:latin typeface="Cascadia Mono" panose="020B0609020000020004" pitchFamily="49" charset="0"/>
                          <a:cs typeface="Cascadia Mono" panose="020B0609020000020004" pitchFamily="49" charset="0"/>
                        </a:rPr>
                        <a:t>The Tale of the Wolf and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091960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36526919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Leqṛaya</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wuccen</a:t>
                      </a:r>
                      <a:endParaRPr lang="en-GB" sz="1200"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a:t>
                      </a:r>
                      <a:r>
                        <a:rPr lang="fr-FR" sz="1200" b="1" kern="150" dirty="0" err="1">
                          <a:effectLst/>
                          <a:latin typeface="Cascadia Mono" panose="020B0609020000020004" pitchFamily="49" charset="0"/>
                          <a:cs typeface="Cascadia Mono" panose="020B0609020000020004" pitchFamily="49" charset="0"/>
                        </a:rPr>
                        <a:t>Wolf's</a:t>
                      </a:r>
                      <a:r>
                        <a:rPr lang="fr-FR" sz="1200" b="1" kern="150" dirty="0">
                          <a:effectLst/>
                          <a:latin typeface="Cascadia Mono" panose="020B0609020000020004" pitchFamily="49" charset="0"/>
                          <a:cs typeface="Cascadia Mono" panose="020B0609020000020004" pitchFamily="49" charset="0"/>
                        </a:rPr>
                        <a:t> Education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aɣerbal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amendayer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    Ta </a:t>
                      </a:r>
                      <a:r>
                        <a:rPr lang="fr-FR" sz="1100" i="1" kern="1200" dirty="0" err="1">
                          <a:solidFill>
                            <a:schemeClr val="tx1"/>
                          </a:solidFill>
                          <a:effectLst/>
                          <a:latin typeface="+mn-lt"/>
                          <a:ea typeface="+mn-ea"/>
                          <a:cs typeface="+mn-cs"/>
                        </a:rPr>
                        <a:t>tefla</a:t>
                      </a:r>
                      <a:r>
                        <a:rPr lang="fr-FR" sz="1100" i="1" kern="1200" dirty="0">
                          <a:solidFill>
                            <a:schemeClr val="tx1"/>
                          </a:solidFill>
                          <a:effectLst/>
                          <a:latin typeface="+mn-lt"/>
                          <a:ea typeface="+mn-ea"/>
                          <a:cs typeface="+mn-cs"/>
                        </a:rPr>
                        <a:t>, ta </a:t>
                      </a:r>
                      <a:r>
                        <a:rPr lang="fr-FR" sz="1100" i="1" kern="1200" dirty="0" err="1">
                          <a:solidFill>
                            <a:schemeClr val="tx1"/>
                          </a:solidFill>
                          <a:effectLst/>
                          <a:latin typeface="+mn-lt"/>
                          <a:ea typeface="+mn-ea"/>
                          <a:cs typeface="+mn-cs"/>
                        </a:rPr>
                        <a:t>ur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tefli</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ajdid</a:t>
                      </a:r>
                      <a:r>
                        <a:rPr lang="fr-FR" sz="1100" i="1" kern="1200" dirty="0">
                          <a:solidFill>
                            <a:schemeClr val="tx1"/>
                          </a:solidFill>
                          <a:effectLst/>
                          <a:latin typeface="+mn-lt"/>
                          <a:ea typeface="+mn-ea"/>
                          <a:cs typeface="+mn-cs"/>
                        </a:rPr>
                        <a:t> i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nufi</a:t>
                      </a:r>
                      <a:r>
                        <a:rPr lang="fr-FR" sz="1100" i="1"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Twala-t-id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Teɣriḍ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usenfuf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teẓriḍ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ɣriɣ</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tqubbett-is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inna</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Tumen-</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Fran ad as-</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iṛebbi-ten</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tefk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leɛtab-is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tnac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ibelkuken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yemmatsen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Yesself-asen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came out of the pool trembling like a leaf. The world had turned upside down for him from sheer terror and cold.</a:t>
                      </a:r>
                    </a:p>
                    <a:p>
                      <a:pPr indent="216000" algn="l"/>
                      <a:r>
                        <a:rPr lang="en-US" sz="1100" kern="150" dirty="0">
                          <a:effectLst/>
                          <a:latin typeface="Cascadia Mono" panose="020B0609020000020004" pitchFamily="49" charset="0"/>
                          <a:cs typeface="Cascadia Mono" panose="020B0609020000020004" pitchFamily="49" charset="0"/>
                        </a:rPr>
                        <a:t>¶ He found an old sieve. Seeing the sow approaching, he held it like a frame drum and began to beat it, singing:</a:t>
                      </a:r>
                    </a:p>
                    <a:p>
                      <a:pPr indent="216000" algn="l"/>
                      <a:r>
                        <a:rPr lang="en-US" sz="1100" kern="150" dirty="0">
                          <a:effectLst/>
                          <a:latin typeface="Cascadia Mono" panose="020B0609020000020004" pitchFamily="49" charset="0"/>
                          <a:cs typeface="Cascadia Mono" panose="020B0609020000020004" pitchFamily="49" charset="0"/>
                        </a:rPr>
                        <a:t>    </a:t>
                      </a:r>
                      <a:r>
                        <a:rPr lang="en-US" sz="1100" i="1" kern="150" dirty="0">
                          <a:effectLst/>
                          <a:latin typeface="Cascadia Mono" panose="020B0609020000020004" pitchFamily="49" charset="0"/>
                          <a:cs typeface="Cascadia Mono" panose="020B0609020000020004" pitchFamily="49" charset="0"/>
                        </a:rPr>
                        <a:t>This hole is pierced, that one is not:</a:t>
                      </a:r>
                    </a:p>
                    <a:p>
                      <a:pPr indent="216000" algn="l"/>
                      <a:r>
                        <a:rPr lang="en-US" sz="1100" i="1" kern="150" dirty="0">
                          <a:effectLst/>
                          <a:latin typeface="Cascadia Mono" panose="020B0609020000020004" pitchFamily="49" charset="0"/>
                          <a:cs typeface="Cascadia Mono" panose="020B0609020000020004" pitchFamily="49" charset="0"/>
                        </a:rPr>
                        <a:t>    We could not find anything newer!</a:t>
                      </a:r>
                    </a:p>
                    <a:p>
                      <a:pPr indent="216000" algn="l"/>
                      <a:r>
                        <a:rPr lang="en-US" sz="1100" kern="150" dirty="0">
                          <a:effectLst/>
                          <a:latin typeface="Cascadia Mono" panose="020B0609020000020004" pitchFamily="49" charset="0"/>
                          <a:cs typeface="Cascadia Mono" panose="020B0609020000020004" pitchFamily="49" charset="0"/>
                        </a:rPr>
                        <a:t>¶ The sow saw him trembling and muttering as if possessed by a mystical trance. She asked him:</a:t>
                      </a:r>
                    </a:p>
                    <a:p>
                      <a:pPr indent="216000" algn="l"/>
                      <a:r>
                        <a:rPr lang="en-US" sz="1100" kern="150" dirty="0">
                          <a:effectLst/>
                          <a:latin typeface="Cascadia Mono" panose="020B0609020000020004" pitchFamily="49" charset="0"/>
                          <a:cs typeface="Cascadia Mono" panose="020B0609020000020004" pitchFamily="49" charset="0"/>
                        </a:rPr>
                        <a:t>- Are you educated, O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He replied to her: O snout-mouth, O muzzle-snout! Do you not know that I am educated? My father was educated, and my grandfather was educated. Look, there is his domed shrine over on that hill!</a:t>
                      </a:r>
                    </a:p>
                    <a:p>
                      <a:pPr indent="216000" algn="l"/>
                      <a:r>
                        <a:rPr lang="en-US" sz="1100" dirty="0"/>
                        <a:t>¶ The sow believed him. They agreed that he would teach her children and raise them, and she would pay him for his labor. She brought them to his cave: all twelve of them, plump little piglets. Whenever their mother looked at them, her heart bloomed with joy as if she had eaten and drunk her fill.</a:t>
                      </a:r>
                    </a:p>
                    <a:p>
                      <a:pPr indent="216000" algn="l"/>
                      <a:r>
                        <a:rPr lang="en-US" sz="1100" dirty="0"/>
                        <a:t>¶ Sir </a:t>
                      </a:r>
                      <a:r>
                        <a:rPr lang="en-US" sz="1100" dirty="0" err="1"/>
                        <a:t>Mḥemmed</a:t>
                      </a:r>
                      <a:r>
                        <a:rPr lang="en-US" sz="1100" dirty="0"/>
                        <a:t> stroked every single one of them. When he finished, he washed his hands of the sow and said to her:</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638775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2430633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ttṛuḥu</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ten-tettcewwileḍ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kull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mi sen-d-</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efk</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mi n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ttbeɛṛuṛucent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imeṭṭawen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yečč-iten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Yerra </a:t>
                      </a:r>
                      <a:r>
                        <a:rPr lang="fr-FR" sz="1100" kern="1200" dirty="0" err="1">
                          <a:solidFill>
                            <a:schemeClr val="tx1"/>
                          </a:solidFill>
                          <a:effectLst/>
                          <a:latin typeface="+mn-lt"/>
                          <a:ea typeface="+mn-ea"/>
                          <a:cs typeface="+mn-cs"/>
                        </a:rPr>
                        <a:t>iɣsan-nsen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tebḍanin-nsen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iɛelleq-itent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ttẓenẓunen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wareẓẓen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izegzawen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Sel! Sel! Akken la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sel!</a:t>
                      </a:r>
                    </a:p>
                    <a:p>
                      <a:pPr indent="457200"/>
                      <a:r>
                        <a:rPr lang="en-US" sz="1100" dirty="0"/>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tejjem-iten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thenna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tedhem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ten-tẓer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ṭṭlam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marL="171450" indent="-171450">
                        <a:buFontTx/>
                        <a:buChar char="-"/>
                      </a:pPr>
                      <a:r>
                        <a:rPr lang="fr-FR" sz="1100" kern="1200" dirty="0" err="1">
                          <a:solidFill>
                            <a:schemeClr val="tx1"/>
                          </a:solidFill>
                          <a:effectLst/>
                          <a:latin typeface="+mn-lt"/>
                          <a:ea typeface="+mn-ea"/>
                          <a:cs typeface="+mn-cs"/>
                        </a:rPr>
                        <a:t>Uh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p>
                    <a:p>
                      <a:pPr marL="0" indent="0">
                        <a:buFontTx/>
                        <a:buNone/>
                      </a:pPr>
                      <a:r>
                        <a:rPr lang="en-US" sz="1100" dirty="0"/>
                        <a:t>¶ </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tebra-ya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Noble lady, for the children to learn well, you must not come and disturb them every day. When you bring their provisions, leave them right at the threshold of the door and go.</a:t>
                      </a:r>
                    </a:p>
                    <a:p>
                      <a:pPr indent="216000" algn="l"/>
                      <a:r>
                        <a:rPr lang="en-US" sz="1100" kern="150" dirty="0">
                          <a:effectLst/>
                          <a:latin typeface="Cascadia Mono" panose="020B0609020000020004" pitchFamily="49" charset="0"/>
                          <a:cs typeface="Cascadia Mono" panose="020B0609020000020004" pitchFamily="49" charset="0"/>
                        </a:rPr>
                        <a:t>- She told him: Agreed!</a:t>
                      </a:r>
                    </a:p>
                    <a:p>
                      <a:pPr indent="216000" algn="l"/>
                      <a:r>
                        <a:rPr lang="en-US" sz="1100" kern="150" dirty="0">
                          <a:effectLst/>
                          <a:latin typeface="Cascadia Mono" panose="020B0609020000020004" pitchFamily="49" charset="0"/>
                          <a:cs typeface="Cascadia Mono" panose="020B0609020000020004" pitchFamily="49" charset="0"/>
                        </a:rPr>
                        <a:t>¶ She left her children behind, her eyes blurring with heavy tears.</a:t>
                      </a:r>
                    </a:p>
                    <a:p>
                      <a:pPr indent="216000" algn="l"/>
                      <a:r>
                        <a:rPr lang="en-US" sz="1100" kern="150" dirty="0">
                          <a:effectLst/>
                          <a:latin typeface="Cascadia Mono" panose="020B0609020000020004" pitchFamily="49" charset="0"/>
                          <a:cs typeface="Cascadia Mono" panose="020B0609020000020004" pitchFamily="49" charset="0"/>
                        </a:rPr>
                        <a:t>¶ The wolf turned upon the sow's children and ate them all. ¶ He placed their bones inside their hollow skins and hung them up. Swarms of wasps and green flies began to buzz all over them.</a:t>
                      </a:r>
                    </a:p>
                    <a:p>
                      <a:pPr indent="216000" algn="l"/>
                      <a:r>
                        <a:rPr lang="en-US" sz="1100" kern="150" dirty="0">
                          <a:effectLst/>
                          <a:latin typeface="Cascadia Mono" panose="020B0609020000020004" pitchFamily="49" charset="0"/>
                          <a:cs typeface="Cascadia Mono" panose="020B0609020000020004" pitchFamily="49" charset="0"/>
                        </a:rPr>
                        <a:t>¶ Whenever the sow stood outside with the provisions, the wolf would say to her:</a:t>
                      </a:r>
                    </a:p>
                    <a:p>
                      <a:pPr indent="216000" algn="l"/>
                      <a:r>
                        <a:rPr lang="en-US" sz="1100" kern="150" dirty="0">
                          <a:effectLst/>
                          <a:latin typeface="Cascadia Mono" panose="020B0609020000020004" pitchFamily="49" charset="0"/>
                          <a:cs typeface="Cascadia Mono" panose="020B0609020000020004" pitchFamily="49" charset="0"/>
                        </a:rPr>
                        <a:t>- Listen! Listen! Hear how they are reciting! Listen!</a:t>
                      </a:r>
                    </a:p>
                    <a:p>
                      <a:pPr indent="216000" algn="l"/>
                      <a:r>
                        <a:rPr lang="en-US" sz="1100" kern="150" dirty="0">
                          <a:effectLst/>
                          <a:latin typeface="Cascadia Mono" panose="020B0609020000020004" pitchFamily="49" charset="0"/>
                          <a:cs typeface="Cascadia Mono" panose="020B0609020000020004" pitchFamily="49" charset="0"/>
                        </a:rPr>
                        <a:t>¶ One day, she missed them too much and her heart could not rest. She rushed inside to see them, and she found what she found! The wolf leaped away and fled deeper into the cave. The sow pursued him and caught him by the leg in the darkness. He began to laugh, saying:</a:t>
                      </a:r>
                    </a:p>
                    <a:p>
                      <a:pPr indent="216000" algn="l"/>
                      <a:r>
                        <a:rPr lang="en-US" sz="1100" kern="150" dirty="0">
                          <a:effectLst/>
                          <a:latin typeface="Cascadia Mono" panose="020B0609020000020004" pitchFamily="49" charset="0"/>
                          <a:cs typeface="Cascadia Mono" panose="020B0609020000020004" pitchFamily="49" charset="0"/>
                        </a:rPr>
                        <a:t>- Oh! She grabbed a root and thought it was a leg! She grabbed a root and thought it was a leg!</a:t>
                      </a:r>
                    </a:p>
                    <a:p>
                      <a:pPr indent="216000" algn="l"/>
                      <a:r>
                        <a:rPr lang="en-US" sz="1100" kern="150" dirty="0">
                          <a:effectLst/>
                          <a:latin typeface="Cascadia Mono" panose="020B0609020000020004" pitchFamily="49" charset="0"/>
                          <a:cs typeface="Cascadia Mono" panose="020B0609020000020004" pitchFamily="49" charset="0"/>
                        </a:rPr>
                        <a:t>¶ He tricked her. She let go, and he fled out through the other side and escaped safely.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8775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6267854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Izem d </a:t>
                      </a:r>
                      <a:r>
                        <a:rPr lang="fr-FR" sz="1200" b="1" kern="150" dirty="0" err="1">
                          <a:effectLst/>
                          <a:latin typeface="Cascadia Mono" panose="020B0609020000020004" pitchFamily="49" charset="0"/>
                          <a:cs typeface="Cascadia Mono" panose="020B0609020000020004" pitchFamily="49" charset="0"/>
                        </a:rPr>
                        <a:t>tileft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and the Sow</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lehwa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Acu ara </a:t>
                      </a:r>
                      <a:r>
                        <a:rPr lang="fr-FR" sz="1100" kern="1200" dirty="0" err="1">
                          <a:solidFill>
                            <a:schemeClr val="tx1"/>
                          </a:solidFill>
                          <a:effectLst/>
                          <a:latin typeface="+mn-lt"/>
                          <a:ea typeface="+mn-ea"/>
                          <a:cs typeface="+mn-cs"/>
                        </a:rPr>
                        <a:t>texdem</a:t>
                      </a:r>
                      <a:r>
                        <a:rPr lang="fr-FR" sz="1100" kern="1200" dirty="0">
                          <a:solidFill>
                            <a:schemeClr val="tx1"/>
                          </a:solidFill>
                          <a:effectLst/>
                          <a:latin typeface="+mn-lt"/>
                          <a:ea typeface="+mn-ea"/>
                          <a:cs typeface="+mn-cs"/>
                        </a:rPr>
                        <a:t>? Acu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txeddem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tcetki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ɛzizen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tessɛac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ten-yečča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aɣeddaṛ</a:t>
                      </a:r>
                      <a:r>
                        <a:rPr lang="fr-FR" sz="1100" kern="1200" dirty="0">
                          <a:solidFill>
                            <a:schemeClr val="tx1"/>
                          </a:solidFill>
                          <a:effectLst/>
                          <a:latin typeface="+mn-lt"/>
                          <a:ea typeface="+mn-ea"/>
                          <a:cs typeface="+mn-cs"/>
                        </a:rPr>
                        <a:t>. Nella </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aneɣ</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texdeɛ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tgella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lemleḥ</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tesseččeḍ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afus-is</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tɛemleḍ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lemzegga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iyi-tefkeḍ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ɣeẓẓeɣ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taṣwiɛt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tḥemmel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tessemḥes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yeɣdeṛ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Her children had been eaten and the wolf had escaped her; the sow remained there weeping like the rain, her heart utterly broken. What was she to do? What was she not to do?</a:t>
                      </a:r>
                    </a:p>
                    <a:p>
                      <a:pPr indent="216000" algn="l"/>
                      <a:r>
                        <a:rPr lang="en-US" sz="1100" kern="150" dirty="0">
                          <a:effectLst/>
                          <a:latin typeface="Cascadia Mono" panose="020B0609020000020004" pitchFamily="49" charset="0"/>
                          <a:cs typeface="Cascadia Mono" panose="020B0609020000020004" pitchFamily="49" charset="0"/>
                        </a:rPr>
                        <a:t>¶ She went to complain to the lion, the king of the animals, and she recounted to him how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had tricked her until she gave him her beloved children to educate, how much she had provided for his livelihood, how he had eaten them, and how he had escaped her. The lion said to her:</a:t>
                      </a:r>
                    </a:p>
                    <a:p>
                      <a:pPr indent="216000" algn="l"/>
                      <a:r>
                        <a:rPr lang="en-US" sz="1100" kern="150" dirty="0">
                          <a:effectLst/>
                          <a:latin typeface="Cascadia Mono" panose="020B0609020000020004" pitchFamily="49" charset="0"/>
                          <a:cs typeface="Cascadia Mono" panose="020B0609020000020004" pitchFamily="49" charset="0"/>
                        </a:rPr>
                        <a:t>- My daughter, since olden times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has been a traitor. We had set the world in order, and he ruined it for us. May the bread and the salt you fed him betray him! He has broken the covenants of God; His hand will surely seize him! Do not fear: I will take revenge for you.</a:t>
                      </a:r>
                    </a:p>
                    <a:p>
                      <a:pPr indent="216000" algn="l"/>
                      <a:r>
                        <a:rPr lang="en-US" sz="1100" kern="150" dirty="0">
                          <a:effectLst/>
                          <a:latin typeface="Cascadia Mono" panose="020B0609020000020004" pitchFamily="49" charset="0"/>
                          <a:cs typeface="Cascadia Mono" panose="020B0609020000020004" pitchFamily="49" charset="0"/>
                        </a:rPr>
                        <a:t>¶ Then he said to her:</a:t>
                      </a:r>
                    </a:p>
                    <a:p>
                      <a:pPr indent="216000" algn="l"/>
                      <a:r>
                        <a:rPr lang="en-US" sz="1100" kern="150" dirty="0">
                          <a:effectLst/>
                          <a:latin typeface="Cascadia Mono" panose="020B0609020000020004" pitchFamily="49" charset="0"/>
                          <a:cs typeface="Cascadia Mono" panose="020B0609020000020004" pitchFamily="49" charset="0"/>
                        </a:rPr>
                        <a:t>- However, I am hungry: if you would do me a favor, give me your head to chew on, and I will give you a measure of broad beans in the summer.</a:t>
                      </a:r>
                    </a:p>
                    <a:p>
                      <a:pPr indent="216000" algn="l"/>
                      <a:r>
                        <a:rPr lang="en-US" sz="1100" kern="150" dirty="0">
                          <a:effectLst/>
                          <a:latin typeface="Cascadia Mono" panose="020B0609020000020004" pitchFamily="49" charset="0"/>
                          <a:cs typeface="Cascadia Mono" panose="020B0609020000020004" pitchFamily="49" charset="0"/>
                        </a:rPr>
                        <a:t>¶ The sow loved broad beans: she listened to the offer, but ever since the wolf had betrayed her regarding her children, trust had been carried away by the waters.</a:t>
                      </a:r>
                      <a:endParaRPr lang="fr-FR" sz="1100" kern="150" dirty="0">
                        <a:effectLst/>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64582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405D-F627-5DA0-786D-CC5B056CAB5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1370DAE-4DBB-EEC3-1B52-2AE6D833AD02}"/>
              </a:ext>
            </a:extLst>
          </p:cNvPr>
          <p:cNvGraphicFramePr>
            <a:graphicFrameLocks noGrp="1"/>
          </p:cNvGraphicFramePr>
          <p:nvPr>
            <p:extLst>
              <p:ext uri="{D42A27DB-BD31-4B8C-83A1-F6EECF244321}">
                <p14:modId xmlns:p14="http://schemas.microsoft.com/office/powerpoint/2010/main" val="320520382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148</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-i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iyi-tanfeḍ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uyaleɣ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She replied to him:</a:t>
                      </a:r>
                    </a:p>
                    <a:p>
                      <a:pPr indent="216000" algn="l"/>
                      <a:r>
                        <a:rPr lang="en-US" sz="1100" kern="150" dirty="0">
                          <a:effectLst/>
                          <a:latin typeface="Cascadia Mono" panose="020B0609020000020004" pitchFamily="49" charset="0"/>
                          <a:cs typeface="Cascadia Mono" panose="020B0609020000020004" pitchFamily="49" charset="0"/>
                        </a:rPr>
                        <a:t>- O king of the animals, I am in a terrible state: leave me be until I can compose myself. I bind you by God that I will return and bring you word.</a:t>
                      </a:r>
                    </a:p>
                    <a:p>
                      <a:pPr indent="216000" algn="l"/>
                      <a:r>
                        <a:rPr lang="en-US" sz="1100" kern="150" dirty="0">
                          <a:effectLst/>
                          <a:latin typeface="Cascadia Mono" panose="020B0609020000020004" pitchFamily="49" charset="0"/>
                          <a:cs typeface="Cascadia Mono" panose="020B0609020000020004" pitchFamily="49" charset="0"/>
                        </a:rPr>
                        <a:t>He let her go, and she departed.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61582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93596327"/>
              </p:ext>
            </p:extLst>
          </p:nvPr>
        </p:nvGraphicFramePr>
        <p:xfrm>
          <a:off x="291150" y="164513"/>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Uccen</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tileft</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yizem</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Wolf, the Sow, and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tin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la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yettagad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iɛass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ten-yettɛassa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refden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i </a:t>
                      </a:r>
                      <a:r>
                        <a:rPr lang="fr-FR" sz="1100" kern="1200" dirty="0" err="1">
                          <a:solidFill>
                            <a:schemeClr val="tx1"/>
                          </a:solidFill>
                          <a:effectLst/>
                          <a:latin typeface="+mn-lt"/>
                          <a:ea typeface="+mn-ea"/>
                          <a:cs typeface="+mn-cs"/>
                        </a:rPr>
                        <a:t>tcetka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uzenfuf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i m-d-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Tergem-it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tedɛa-yas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kem-menɛeɣ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tamehbult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tamebhult</a:t>
                      </a:r>
                      <a:r>
                        <a:rPr lang="fr-FR" sz="1100" kern="1200" dirty="0">
                          <a:solidFill>
                            <a:schemeClr val="tx1"/>
                          </a:solidFill>
                          <a:effectLst/>
                          <a:latin typeface="+mn-lt"/>
                          <a:ea typeface="+mn-ea"/>
                          <a:cs typeface="+mn-cs"/>
                        </a:rPr>
                        <a:t>! Imi ara d as-</a:t>
                      </a:r>
                      <a:r>
                        <a:rPr lang="fr-FR" sz="1100" kern="1200" dirty="0" err="1">
                          <a:solidFill>
                            <a:schemeClr val="tx1"/>
                          </a:solidFill>
                          <a:effectLst/>
                          <a:latin typeface="+mn-lt"/>
                          <a:ea typeface="+mn-ea"/>
                          <a:cs typeface="+mn-cs"/>
                        </a:rPr>
                        <a:t>tekfeḍ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teẓdeḍ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ibawen-is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nger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wessreɣ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aselli</a:t>
                      </a:r>
                      <a:r>
                        <a:rPr lang="fr-FR" sz="1100" kern="1200" dirty="0">
                          <a:solidFill>
                            <a:schemeClr val="tx1"/>
                          </a:solidFill>
                          <a:effectLst/>
                          <a:latin typeface="+mn-lt"/>
                          <a:ea typeface="+mn-ea"/>
                          <a:cs typeface="+mn-cs"/>
                        </a:rPr>
                        <a:t>-w…</a:t>
                      </a:r>
                    </a:p>
                    <a:p>
                      <a:pPr indent="457200"/>
                      <a:r>
                        <a:rPr lang="fr-FR" sz="1100" kern="1200" dirty="0" err="1">
                          <a:solidFill>
                            <a:schemeClr val="tx1"/>
                          </a:solidFill>
                          <a:effectLst/>
                          <a:latin typeface="+mn-lt"/>
                          <a:ea typeface="+mn-ea"/>
                          <a:cs typeface="+mn-cs"/>
                        </a:rPr>
                        <a:t>Tkukra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ara 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-w ad t-</a:t>
                      </a:r>
                      <a:r>
                        <a:rPr lang="fr-FR" sz="1100" kern="1200" dirty="0" err="1">
                          <a:solidFill>
                            <a:schemeClr val="tx1"/>
                          </a:solidFill>
                          <a:effectLst/>
                          <a:latin typeface="+mn-lt"/>
                          <a:ea typeface="+mn-ea"/>
                          <a:cs typeface="+mn-cs"/>
                        </a:rPr>
                        <a:t>tɣeẓẓeḍ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ẓdeɣ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-ik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Mmeggreɣ</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Terwel.</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knowing what he had done to both the lion and the sow, was now afraid of his own shadow. How was he to protect himself? He kept a constant eye on them: whenever they lifted a foot, he set down his foot.</a:t>
                      </a:r>
                    </a:p>
                    <a:p>
                      <a:pPr indent="216000" algn="l"/>
                      <a:r>
                        <a:rPr lang="en-US" sz="1100" kern="150" dirty="0">
                          <a:effectLst/>
                          <a:latin typeface="Cascadia Mono" panose="020B0609020000020004" pitchFamily="49" charset="0"/>
                          <a:cs typeface="Cascadia Mono" panose="020B0609020000020004" pitchFamily="49" charset="0"/>
                        </a:rPr>
                        <a:t>¶ When the sow went to complain to the lion, he watched them. He waited for the sow along her path, and when she was returning, he said to her:</a:t>
                      </a:r>
                    </a:p>
                    <a:p>
                      <a:pPr indent="216000" algn="l"/>
                      <a:r>
                        <a:rPr lang="en-US" sz="1100" kern="150" dirty="0">
                          <a:effectLst/>
                          <a:latin typeface="Cascadia Mono" panose="020B0609020000020004" pitchFamily="49" charset="0"/>
                          <a:cs typeface="Cascadia Mono" panose="020B0609020000020004" pitchFamily="49" charset="0"/>
                        </a:rPr>
                        <a:t>- O snout-mouth, O muzzle-snout, what did the king of the animals say to you?</a:t>
                      </a:r>
                    </a:p>
                    <a:p>
                      <a:pPr indent="216000" algn="l"/>
                      <a:r>
                        <a:rPr lang="en-US" sz="1100" kern="150" dirty="0">
                          <a:effectLst/>
                          <a:latin typeface="Cascadia Mono" panose="020B0609020000020004" pitchFamily="49" charset="0"/>
                          <a:cs typeface="Cascadia Mono" panose="020B0609020000020004" pitchFamily="49" charset="0"/>
                        </a:rPr>
                        <a:t>She insulted him and cursed him; when she grew tired, she narrated to him. Sir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 said to her:</a:t>
                      </a:r>
                    </a:p>
                    <a:p>
                      <a:pPr marL="171450" indent="-171450" algn="l">
                        <a:buFontTx/>
                        <a:buChar char="-"/>
                      </a:pPr>
                      <a:r>
                        <a:rPr lang="en-US" sz="1100" kern="150" dirty="0">
                          <a:effectLst/>
                          <a:latin typeface="Cascadia Mono" panose="020B0609020000020004" pitchFamily="49" charset="0"/>
                          <a:cs typeface="Cascadia Mono" panose="020B0609020000020004" pitchFamily="49" charset="0"/>
                        </a:rPr>
                        <a:t>I will save you from death, and we shall be even. O foolish woman, O foolish woman! Once you have given him your head to chew on, with what will you grind his broad beans in the summer?</a:t>
                      </a:r>
                    </a:p>
                    <a:p>
                      <a:pPr indent="216000" algn="l"/>
                      <a:r>
                        <a:rPr lang="en-US" sz="1100" kern="150" dirty="0">
                          <a:effectLst/>
                          <a:latin typeface="Cascadia Mono" panose="020B0609020000020004" pitchFamily="49" charset="0"/>
                          <a:cs typeface="Cascadia Mono" panose="020B0609020000020004" pitchFamily="49" charset="0"/>
                        </a:rPr>
                        <a:t>¶ The sow waited for a time, then she returned to the lion so as not to break her covenant with God. She called out to him and said:</a:t>
                      </a:r>
                    </a:p>
                    <a:p>
                      <a:pPr indent="216000" algn="l"/>
                      <a:r>
                        <a:rPr lang="en-US" sz="1100" kern="150" dirty="0">
                          <a:effectLst/>
                          <a:latin typeface="Cascadia Mono" panose="020B0609020000020004" pitchFamily="49" charset="0"/>
                          <a:cs typeface="Cascadia Mono" panose="020B0609020000020004" pitchFamily="49" charset="0"/>
                        </a:rPr>
                        <a:t>- O king of the animals, nothing will come of that matter we brought up!</a:t>
                      </a:r>
                    </a:p>
                    <a:p>
                      <a:pPr indent="216000" algn="l"/>
                      <a:r>
                        <a:rPr lang="en-US" sz="1100" kern="150" dirty="0">
                          <a:effectLst/>
                          <a:latin typeface="Cascadia Mono" panose="020B0609020000020004" pitchFamily="49" charset="0"/>
                          <a:cs typeface="Cascadia Mono" panose="020B0609020000020004" pitchFamily="49" charset="0"/>
                        </a:rPr>
                        <a:t>He answered her, saying:</a:t>
                      </a:r>
                    </a:p>
                    <a:p>
                      <a:pPr indent="216000" algn="l"/>
                      <a:r>
                        <a:rPr lang="en-US" sz="1100" kern="150" dirty="0">
                          <a:effectLst/>
                          <a:latin typeface="Cascadia Mono" panose="020B0609020000020004" pitchFamily="49" charset="0"/>
                          <a:cs typeface="Cascadia Mono" panose="020B0609020000020004" pitchFamily="49" charset="0"/>
                        </a:rPr>
                        <a:t>- My daughter, come closer: I have grown old now: my sight has dimmed, and my hearing as well</a:t>
                      </a:r>
                      <a:r>
                        <a:rPr lang="fr-FR" sz="1100" kern="1200" dirty="0">
                          <a:solidFill>
                            <a:schemeClr val="tx1"/>
                          </a:solidFill>
                          <a:effectLst/>
                          <a:latin typeface="+mn-lt"/>
                          <a:ea typeface="+mn-ea"/>
                          <a:cs typeface="+mn-cs"/>
                        </a:rPr>
                        <a:t>…</a:t>
                      </a:r>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She hesitated and said to him:</a:t>
                      </a:r>
                    </a:p>
                    <a:p>
                      <a:pPr indent="216000" algn="l"/>
                      <a:r>
                        <a:rPr lang="en-US" sz="1100" kern="150" dirty="0">
                          <a:effectLst/>
                          <a:latin typeface="Cascadia Mono" panose="020B0609020000020004" pitchFamily="49" charset="0"/>
                          <a:cs typeface="Cascadia Mono" panose="020B0609020000020004" pitchFamily="49" charset="0"/>
                        </a:rPr>
                        <a:t>- If I give you my head to chew on, with what will I grind your broad beans in the summer?</a:t>
                      </a:r>
                    </a:p>
                    <a:p>
                      <a:pPr indent="216000" algn="l"/>
                      <a:r>
                        <a:rPr lang="en-US" sz="1100" kern="150" dirty="0">
                          <a:effectLst/>
                          <a:latin typeface="Cascadia Mono" panose="020B0609020000020004" pitchFamily="49" charset="0"/>
                          <a:cs typeface="Cascadia Mono" panose="020B0609020000020004" pitchFamily="49" charset="0"/>
                        </a:rPr>
                        <a:t>He roared like a thunderstorm and said to her:</a:t>
                      </a:r>
                    </a:p>
                    <a:p>
                      <a:pPr indent="216000" algn="l"/>
                      <a:r>
                        <a:rPr lang="en-US" sz="1100" kern="150" dirty="0">
                          <a:effectLst/>
                          <a:latin typeface="Cascadia Mono" panose="020B0609020000020004" pitchFamily="49" charset="0"/>
                          <a:cs typeface="Cascadia Mono" panose="020B0609020000020004" pitchFamily="49" charset="0"/>
                        </a:rPr>
                        <a:t>- You have crossed paths with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She replied to him: I have crossed paths with him!</a:t>
                      </a:r>
                    </a:p>
                    <a:p>
                      <a:pPr indent="216000" algn="l"/>
                      <a:r>
                        <a:rPr lang="en-US" sz="1100" kern="150" dirty="0">
                          <a:effectLst/>
                          <a:latin typeface="Cascadia Mono" panose="020B0609020000020004" pitchFamily="49" charset="0"/>
                          <a:cs typeface="Cascadia Mono" panose="020B0609020000020004" pitchFamily="49" charset="0"/>
                        </a:rPr>
                        <a:t>And she fled.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70906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3189554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welɣem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and the Camel</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irwel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iyi-tsellkeḍ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leɛnaya</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Yerra-t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a:t>
                      </a:r>
                    </a:p>
                    <a:p>
                      <a:pPr indent="457200"/>
                      <a:r>
                        <a:rPr lang="en-US" sz="1100" dirty="0"/>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temmeggerḍ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ibges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lmuḥal</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tḍelbeḍ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Xedmeɣ-ak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aɛlaxaṭer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iyi-tunifeḍ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berneɣ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yeḥku-yas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One day, the lion fled: hunters were pursuing him. He crossed paths with the camel and said to him:</a:t>
                      </a:r>
                    </a:p>
                    <a:p>
                      <a:pPr indent="216000" algn="l"/>
                      <a:r>
                        <a:rPr lang="en-US" sz="1100" kern="150" dirty="0">
                          <a:effectLst/>
                          <a:latin typeface="Cascadia Mono" panose="020B0609020000020004" pitchFamily="49" charset="0"/>
                          <a:cs typeface="Cascadia Mono" panose="020B0609020000020004" pitchFamily="49" charset="0"/>
                        </a:rPr>
                        <a:t>- I implore you by God, if you would only save me, under your protection!</a:t>
                      </a:r>
                    </a:p>
                    <a:p>
                      <a:pPr indent="216000" algn="l"/>
                      <a:r>
                        <a:rPr lang="en-US" sz="1100" kern="150" dirty="0">
                          <a:effectLst/>
                          <a:latin typeface="Cascadia Mono" panose="020B0609020000020004" pitchFamily="49" charset="0"/>
                          <a:cs typeface="Cascadia Mono" panose="020B0609020000020004" pitchFamily="49" charset="0"/>
                        </a:rPr>
                        <a:t>The camel put him into a large sack, loaded him up, and carried him away.</a:t>
                      </a:r>
                    </a:p>
                    <a:p>
                      <a:pPr indent="216000" algn="l"/>
                      <a:r>
                        <a:rPr lang="en-US" sz="1100" kern="150" dirty="0">
                          <a:effectLst/>
                          <a:latin typeface="Cascadia Mono" panose="020B0609020000020004" pitchFamily="49" charset="0"/>
                          <a:cs typeface="Cascadia Mono" panose="020B0609020000020004" pitchFamily="49" charset="0"/>
                        </a:rPr>
                        <a:t>¶ Along the way, he met the hunters, who asked him:</a:t>
                      </a:r>
                    </a:p>
                    <a:p>
                      <a:pPr indent="216000" algn="l"/>
                      <a:r>
                        <a:rPr lang="en-US" sz="1100" kern="150" dirty="0">
                          <a:effectLst/>
                          <a:latin typeface="Cascadia Mono" panose="020B0609020000020004" pitchFamily="49" charset="0"/>
                          <a:cs typeface="Cascadia Mono" panose="020B0609020000020004" pitchFamily="49" charset="0"/>
                        </a:rPr>
                        <a:t>- O camel, did you not cross paths with the lion passing by?</a:t>
                      </a:r>
                    </a:p>
                    <a:p>
                      <a:pPr indent="216000" algn="l"/>
                      <a:r>
                        <a:rPr lang="en-US" sz="1100" kern="150" dirty="0">
                          <a:effectLst/>
                          <a:latin typeface="Cascadia Mono" panose="020B0609020000020004" pitchFamily="49" charset="0"/>
                          <a:cs typeface="Cascadia Mono" panose="020B0609020000020004" pitchFamily="49" charset="0"/>
                        </a:rPr>
                        <a:t>- He replied to them: He passed!</a:t>
                      </a:r>
                    </a:p>
                    <a:p>
                      <a:pPr indent="216000" algn="l"/>
                      <a:r>
                        <a:rPr lang="en-US" sz="1100" kern="150" dirty="0">
                          <a:effectLst/>
                          <a:latin typeface="Cascadia Mono" panose="020B0609020000020004" pitchFamily="49" charset="0"/>
                          <a:cs typeface="Cascadia Mono" panose="020B0609020000020004" pitchFamily="49" charset="0"/>
                        </a:rPr>
                        <a:t>They went on. The camel carried him until he brought him to safety, and he set him down. Right then, the lion stepped up to him and said:</a:t>
                      </a:r>
                    </a:p>
                    <a:p>
                      <a:pPr indent="216000" algn="l"/>
                      <a:r>
                        <a:rPr lang="en-US" sz="1100" kern="150" dirty="0">
                          <a:effectLst/>
                          <a:latin typeface="Cascadia Mono" panose="020B0609020000020004" pitchFamily="49" charset="0"/>
                          <a:cs typeface="Cascadia Mono" panose="020B0609020000020004" pitchFamily="49" charset="0"/>
                        </a:rPr>
                        <a:t>- I am going to eat you!</a:t>
                      </a:r>
                    </a:p>
                    <a:p>
                      <a:pPr indent="216000" algn="l"/>
                      <a:r>
                        <a:rPr lang="en-US" sz="1100" kern="150" dirty="0">
                          <a:effectLst/>
                          <a:latin typeface="Cascadia Mono" panose="020B0609020000020004" pitchFamily="49" charset="0"/>
                          <a:cs typeface="Cascadia Mono" panose="020B0609020000020004" pitchFamily="49" charset="0"/>
                        </a:rPr>
                        <a:t>- The camel replied to him: It is an impossible thing that you demand! Hunters were pursuing you to kill you, and I saved you from death: now you want to eat me? I did a good deed for you: return it to me.</a:t>
                      </a:r>
                    </a:p>
                    <a:p>
                      <a:pPr indent="216000" algn="l"/>
                      <a:r>
                        <a:rPr lang="en-US" sz="1100" kern="150" dirty="0">
                          <a:effectLst/>
                          <a:latin typeface="Cascadia Mono" panose="020B0609020000020004" pitchFamily="49" charset="0"/>
                          <a:cs typeface="Cascadia Mono" panose="020B0609020000020004" pitchFamily="49" charset="0"/>
                        </a:rPr>
                        <a:t>- The lion told him: I will eat you, because a good deed is never returned.</a:t>
                      </a:r>
                    </a:p>
                    <a:p>
                      <a:pPr indent="216000" algn="l"/>
                      <a:r>
                        <a:rPr lang="en-US" sz="1100" kern="150" dirty="0">
                          <a:effectLst/>
                          <a:latin typeface="Cascadia Mono" panose="020B0609020000020004" pitchFamily="49" charset="0"/>
                          <a:cs typeface="Cascadia Mono" panose="020B0609020000020004" pitchFamily="49" charset="0"/>
                        </a:rPr>
                        <a:t>The camel replied to him:</a:t>
                      </a:r>
                    </a:p>
                    <a:p>
                      <a:pPr indent="216000" algn="l"/>
                      <a:r>
                        <a:rPr lang="en-US" sz="1100" kern="150" dirty="0">
                          <a:effectLst/>
                          <a:latin typeface="Cascadia Mono" panose="020B0609020000020004" pitchFamily="49" charset="0"/>
                          <a:cs typeface="Cascadia Mono" panose="020B0609020000020004" pitchFamily="49" charset="0"/>
                        </a:rPr>
                        <a:t>- I implore you by God, if you would only let me go and ask! I bind you by God, if I find that a good deed is not returned, I will come back so you can eat me!</a:t>
                      </a:r>
                    </a:p>
                    <a:p>
                      <a:pPr indent="216000" algn="l"/>
                      <a:r>
                        <a:rPr lang="en-US" sz="1100" kern="150" dirty="0">
                          <a:effectLst/>
                          <a:latin typeface="Cascadia Mono" panose="020B0609020000020004" pitchFamily="49" charset="0"/>
                          <a:cs typeface="Cascadia Mono" panose="020B0609020000020004" pitchFamily="49" charset="0"/>
                        </a:rPr>
                        <a:t>He let him go, and he departed.</a:t>
                      </a:r>
                    </a:p>
                    <a:p>
                      <a:pPr indent="216000" algn="l"/>
                      <a:r>
                        <a:rPr lang="en-US" sz="1100" dirty="0"/>
                        <a:t>¶ The camel went to the </a:t>
                      </a:r>
                      <a:r>
                        <a:rPr lang="en-US" sz="1100" kern="150" dirty="0">
                          <a:effectLst/>
                          <a:latin typeface="Cascadia Mono" panose="020B0609020000020004" pitchFamily="49" charset="0"/>
                          <a:cs typeface="Cascadia Mono" panose="020B0609020000020004" pitchFamily="49" charset="0"/>
                        </a:rPr>
                        <a:t>animals</a:t>
                      </a:r>
                      <a:r>
                        <a:rPr lang="en-US" sz="1100" dirty="0"/>
                        <a:t>. Whomever he crossed paths with, he narrated to him; not a single one, for God's sake, gave him justice. The donkey said to him: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09444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633804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ɛebbiɣ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srekbeɣ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tmecḥa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yisem-iw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taselqubt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taduṭ</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arweɣ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izamaren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ten-zlun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zlun-iyi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ḍḍalem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kerzeɣ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temẓin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meggleɣ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izemran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wurtan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ara d </a:t>
                      </a:r>
                      <a:r>
                        <a:rPr lang="fr-FR" sz="1100" kern="1200" dirty="0" err="1">
                          <a:solidFill>
                            <a:schemeClr val="tx1"/>
                          </a:solidFill>
                          <a:effectLst/>
                          <a:latin typeface="+mn-lt"/>
                          <a:ea typeface="+mn-ea"/>
                          <a:cs typeface="+mn-cs"/>
                        </a:rPr>
                        <a:t>iyi-rren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iyi-qeddmen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aɛric</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uɣilif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yettmečča</a:t>
                      </a:r>
                      <a:r>
                        <a:rPr lang="fr-FR" sz="1100" kern="1200" dirty="0">
                          <a:solidFill>
                            <a:schemeClr val="tx1"/>
                          </a:solidFill>
                          <a:effectLst/>
                          <a:latin typeface="+mn-lt"/>
                          <a:ea typeface="+mn-ea"/>
                          <a:cs typeface="+mn-cs"/>
                        </a:rPr>
                        <a:t>, ad as-t-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i d-yuki!</a:t>
                      </a:r>
                    </a:p>
                    <a:p>
                      <a:pPr indent="457200"/>
                      <a:r>
                        <a:rPr lang="en-US" sz="1100" dirty="0"/>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Bumgerḍ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yettreɛreɛ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Tettalaseḍ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ad k-</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lion has not wronged you: I am the slave of the house. I carry loads, I carry riders; I eat bad food, and I receive the stick besides. Then my name becomes an insult: a good deed is never returned.</a:t>
                      </a:r>
                    </a:p>
                    <a:p>
                      <a:pPr indent="216000" algn="l"/>
                      <a:r>
                        <a:rPr lang="en-US" sz="1100" kern="150" dirty="0">
                          <a:effectLst/>
                          <a:latin typeface="Cascadia Mono" panose="020B0609020000020004" pitchFamily="49" charset="0"/>
                          <a:cs typeface="Cascadia Mono" panose="020B0609020000020004" pitchFamily="49" charset="0"/>
                        </a:rPr>
                        <a:t>- The ewe said to him: The lion has not wronged you: I give milk and wool, I bring forth lambs, they slaughter them, and they slaughter me; they eat them, and they eat me: a good deed is never returned.</a:t>
                      </a:r>
                    </a:p>
                    <a:p>
                      <a:pPr indent="216000" algn="l"/>
                      <a:r>
                        <a:rPr lang="en-US" sz="1100" kern="150" dirty="0">
                          <a:effectLst/>
                          <a:latin typeface="Cascadia Mono" panose="020B0609020000020004" pitchFamily="49" charset="0"/>
                          <a:cs typeface="Cascadia Mono" panose="020B0609020000020004" pitchFamily="49" charset="0"/>
                        </a:rPr>
                        <a:t>- The ox said to him: It is you who are the wrongdoer: I plow the wheat and the barley, I cultivate the olive trees and the orchards: what good deed do they return to me? They lead me straight to the butchery slab! If a good deed were ever returned, it would have been returned to the ox.</a:t>
                      </a:r>
                    </a:p>
                    <a:p>
                      <a:pPr indent="216000" algn="l"/>
                      <a:r>
                        <a:rPr lang="en-US" sz="1100" kern="150" dirty="0">
                          <a:effectLst/>
                          <a:latin typeface="Cascadia Mono" panose="020B0609020000020004" pitchFamily="49" charset="0"/>
                          <a:cs typeface="Cascadia Mono" panose="020B0609020000020004" pitchFamily="49" charset="0"/>
                        </a:rPr>
                        <a:t>¶ The camel turned back in deep sorrow; it was not as he had imagined, for since the good deed was spent, the lion would now just eat him, and finish him off completely.</a:t>
                      </a:r>
                    </a:p>
                    <a:p>
                      <a:pPr indent="216000" algn="l"/>
                      <a:r>
                        <a:rPr lang="en-US" sz="1100" kern="150" dirty="0">
                          <a:effectLst/>
                          <a:latin typeface="Cascadia Mono" panose="020B0609020000020004" pitchFamily="49" charset="0"/>
                          <a:cs typeface="Cascadia Mono" panose="020B0609020000020004" pitchFamily="49" charset="0"/>
                        </a:rPr>
                        <a:t>The camel walked along weeping: it was not as he had slept that he awoke!</a:t>
                      </a:r>
                    </a:p>
                    <a:p>
                      <a:pPr indent="216000" algn="l"/>
                      <a:r>
                        <a:rPr lang="en-US" sz="1100" kern="150" dirty="0">
                          <a:effectLst/>
                          <a:latin typeface="Cascadia Mono" panose="020B0609020000020004" pitchFamily="49" charset="0"/>
                          <a:cs typeface="Cascadia Mono" panose="020B0609020000020004" pitchFamily="49" charset="0"/>
                        </a:rPr>
                        <a:t>¶ He crossed paths with the wolf along the way, who said to him:</a:t>
                      </a:r>
                    </a:p>
                    <a:p>
                      <a:pPr indent="216000" algn="l"/>
                      <a:r>
                        <a:rPr lang="en-US" sz="1100" kern="150" dirty="0">
                          <a:effectLst/>
                          <a:latin typeface="Cascadia Mono" panose="020B0609020000020004" pitchFamily="49" charset="0"/>
                          <a:cs typeface="Cascadia Mono" panose="020B0609020000020004" pitchFamily="49" charset="0"/>
                        </a:rPr>
                        <a:t>- What is the matter with you, Uncle Long-Neck?</a:t>
                      </a:r>
                    </a:p>
                    <a:p>
                      <a:pPr indent="216000" algn="l"/>
                      <a:r>
                        <a:rPr lang="en-US" sz="1100" kern="150" dirty="0">
                          <a:effectLst/>
                          <a:latin typeface="Cascadia Mono" panose="020B0609020000020004" pitchFamily="49" charset="0"/>
                          <a:cs typeface="Cascadia Mono" panose="020B0609020000020004" pitchFamily="49" charset="0"/>
                        </a:rPr>
                        <a:t>The camel narrated the matter to him. The wolf said to him:</a:t>
                      </a:r>
                    </a:p>
                    <a:p>
                      <a:pPr indent="216000" algn="l"/>
                      <a:r>
                        <a:rPr lang="en-US" sz="1100" kern="150" dirty="0">
                          <a:effectLst/>
                          <a:latin typeface="Cascadia Mono" panose="020B0609020000020004" pitchFamily="49" charset="0"/>
                          <a:cs typeface="Cascadia Mono" panose="020B0609020000020004" pitchFamily="49" charset="0"/>
                        </a:rPr>
                        <a:t>- It is the truth: a good deed is never returned. Now he will eat you, you wretched one.</a:t>
                      </a:r>
                    </a:p>
                    <a:p>
                      <a:pPr indent="216000" algn="l"/>
                      <a:r>
                        <a:rPr lang="en-US" sz="1100" kern="150" dirty="0">
                          <a:effectLst/>
                          <a:latin typeface="Cascadia Mono" panose="020B0609020000020004" pitchFamily="49" charset="0"/>
                          <a:cs typeface="Cascadia Mono" panose="020B0609020000020004" pitchFamily="49" charset="0"/>
                        </a:rPr>
                        <a:t>¶ Then the camel began to groan. The wolf said to him:</a:t>
                      </a:r>
                    </a:p>
                    <a:p>
                      <a:pPr indent="216000" algn="l"/>
                      <a:r>
                        <a:rPr lang="en-US" sz="1100" kern="150" dirty="0">
                          <a:effectLst/>
                          <a:latin typeface="Cascadia Mono" panose="020B0609020000020004" pitchFamily="49" charset="0"/>
                          <a:cs typeface="Cascadia Mono" panose="020B0609020000020004" pitchFamily="49" charset="0"/>
                        </a:rPr>
                        <a:t>- You have a claim on me: I will save you, if God saves you, and we shall be even. Right then, he whispered into his ear.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941117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3243848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lewḥyc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yettmiẓẓid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Ssiweḍ-iyi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tarrawt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Yedduqqes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yessemsu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Mmugreɣ</a:t>
                      </a:r>
                      <a:r>
                        <a:rPr lang="fr-FR" sz="1100" kern="1200" dirty="0">
                          <a:solidFill>
                            <a:schemeClr val="tx1"/>
                          </a:solidFill>
                          <a:effectLst/>
                          <a:latin typeface="+mn-lt"/>
                          <a:ea typeface="+mn-ea"/>
                          <a:cs typeface="+mn-cs"/>
                        </a:rPr>
                        <a:t>-t,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ḍman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The camel walked on until he reached the lion, and he said to him:</a:t>
                      </a:r>
                    </a:p>
                    <a:p>
                      <a:pPr indent="216000" algn="l"/>
                      <a:r>
                        <a:rPr lang="en-US" sz="1100" dirty="0"/>
                        <a:t>- O king of the </a:t>
                      </a:r>
                      <a:r>
                        <a:rPr lang="en-US" sz="1100" kern="150" dirty="0">
                          <a:effectLst/>
                          <a:latin typeface="Cascadia Mono" panose="020B0609020000020004" pitchFamily="49" charset="0"/>
                          <a:cs typeface="Cascadia Mono" panose="020B0609020000020004" pitchFamily="49" charset="0"/>
                        </a:rPr>
                        <a:t>animals</a:t>
                      </a:r>
                      <a:r>
                        <a:rPr lang="en-US" sz="1100" dirty="0"/>
                        <a:t>, it is the truth: a good deed is never returned.</a:t>
                      </a:r>
                    </a:p>
                    <a:p>
                      <a:pPr indent="216000" algn="l"/>
                      <a:r>
                        <a:rPr lang="en-US" sz="1100" dirty="0"/>
                        <a:t>The lion began to stretch himself and said to him:</a:t>
                      </a:r>
                    </a:p>
                    <a:p>
                      <a:pPr indent="216000" algn="l"/>
                      <a:r>
                        <a:rPr lang="en-US" sz="1100" dirty="0"/>
                        <a:t>- Therefore, I will eat you!</a:t>
                      </a:r>
                    </a:p>
                    <a:p>
                      <a:pPr indent="216000" algn="l"/>
                      <a:r>
                        <a:rPr lang="en-US" sz="1100" dirty="0"/>
                        <a:t>The camel said to him: Gently, O king of the </a:t>
                      </a:r>
                      <a:r>
                        <a:rPr lang="en-US" sz="1100" kern="150" dirty="0">
                          <a:effectLst/>
                          <a:latin typeface="Cascadia Mono" panose="020B0609020000020004" pitchFamily="49" charset="0"/>
                          <a:cs typeface="Cascadia Mono" panose="020B0609020000020004" pitchFamily="49" charset="0"/>
                        </a:rPr>
                        <a:t>animals</a:t>
                      </a:r>
                      <a:r>
                        <a:rPr lang="en-US" sz="1100" dirty="0"/>
                        <a:t>! Let me finish my words: a good deed is never returned to a wicked origin; to the children of noble origin, a good deed is always returned.</a:t>
                      </a:r>
                    </a:p>
                    <a:p>
                      <a:pPr indent="216000" algn="l"/>
                      <a:r>
                        <a:rPr lang="en-US" sz="1100" dirty="0"/>
                        <a:t>¶ The lion startled. He roared like a thunderstorm: he could not allow his own origin to be defiled. He said to the camel:</a:t>
                      </a:r>
                    </a:p>
                    <a:p>
                      <a:pPr indent="216000" algn="l"/>
                      <a:r>
                        <a:rPr lang="en-US" sz="1100" dirty="0"/>
                        <a:t>- You have crossed paths with the wolf!</a:t>
                      </a:r>
                    </a:p>
                    <a:p>
                      <a:pPr indent="216000" algn="l"/>
                      <a:r>
                        <a:rPr lang="en-US" sz="1100" dirty="0"/>
                        <a:t>- He replied to him: I have crossed paths with him, O king of the </a:t>
                      </a:r>
                      <a:r>
                        <a:rPr lang="en-US" sz="1100" kern="150" dirty="0">
                          <a:effectLst/>
                          <a:latin typeface="Cascadia Mono" panose="020B0609020000020004" pitchFamily="49" charset="0"/>
                          <a:cs typeface="Cascadia Mono" panose="020B0609020000020004" pitchFamily="49" charset="0"/>
                        </a:rPr>
                        <a:t>animals.</a:t>
                      </a:r>
                      <a:endParaRPr lang="en-US" sz="1100" dirty="0"/>
                    </a:p>
                    <a:p>
                      <a:pPr indent="216000" algn="l"/>
                      <a:r>
                        <a:rPr lang="en-US" sz="1100" dirty="0"/>
                        <a:t>- The lion said to him: Go; the one of a hundred ruses has saved you! </a:t>
                      </a:r>
                    </a:p>
                    <a:p>
                      <a:pPr indent="216000" algn="l"/>
                      <a:r>
                        <a:rPr lang="en-US" sz="1100" dirty="0"/>
                        <a:t>The camel departed in safety and security.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4905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A89A-D6D6-9203-984C-1834E267923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A139746-3106-F029-BF55-00DC0C0E6FFF}"/>
              </a:ext>
            </a:extLst>
          </p:cNvPr>
          <p:cNvGraphicFramePr>
            <a:graphicFrameLocks noGrp="1"/>
          </p:cNvGraphicFramePr>
          <p:nvPr>
            <p:extLst>
              <p:ext uri="{D42A27DB-BD31-4B8C-83A1-F6EECF244321}">
                <p14:modId xmlns:p14="http://schemas.microsoft.com/office/powerpoint/2010/main" val="190100041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err="1">
                          <a:solidFill>
                            <a:schemeClr val="accent6">
                              <a:lumMod val="75000"/>
                            </a:schemeClr>
                          </a:solidFill>
                          <a:latin typeface="Cascadia Mono" panose="020B0609020000020004" pitchFamily="49" charset="0"/>
                          <a:cs typeface="Cascadia Mono" panose="020B0609020000020004" pitchFamily="49" charset="0"/>
                        </a:rPr>
                        <a:t>Tlata</a:t>
                      </a:r>
                      <a:r>
                        <a:rPr lang="en-GB" dirty="0">
                          <a:solidFill>
                            <a:schemeClr val="accent6">
                              <a:lumMod val="75000"/>
                            </a:schemeClr>
                          </a:solidFill>
                          <a:latin typeface="Cascadia Mono" panose="020B0609020000020004" pitchFamily="49" charset="0"/>
                          <a:cs typeface="Cascadia Mono" panose="020B0609020000020004" pitchFamily="49" charset="0"/>
                        </a:rPr>
                        <a:t> </a:t>
                      </a:r>
                      <a:r>
                        <a:rPr lang="en-GB" dirty="0" err="1">
                          <a:solidFill>
                            <a:schemeClr val="accent6">
                              <a:lumMod val="75000"/>
                            </a:schemeClr>
                          </a:solidFill>
                          <a:latin typeface="Cascadia Mono" panose="020B0609020000020004" pitchFamily="49" charset="0"/>
                          <a:cs typeface="Cascadia Mono" panose="020B0609020000020004" pitchFamily="49" charset="0"/>
                        </a:rPr>
                        <a:t>yezgaren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wuccen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yizem</a:t>
                      </a:r>
                      <a:endParaRPr lang="en-GB" dirty="0">
                        <a:solidFill>
                          <a:schemeClr val="accent6">
                            <a:lumMod val="75000"/>
                          </a:schemeClr>
                        </a:solidFill>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50" dirty="0">
                          <a:solidFill>
                            <a:schemeClr val="accent6">
                              <a:lumMod val="75000"/>
                            </a:schemeClr>
                          </a:solidFill>
                          <a:effectLst/>
                          <a:latin typeface="Cascadia Mono" panose="020B0609020000020004" pitchFamily="49" charset="0"/>
                          <a:cs typeface="Cascadia Mono" panose="020B0609020000020004" pitchFamily="49" charset="0"/>
                        </a:rPr>
                        <a:t>The Three Oxen, the Wolf, and the Lion</a:t>
                      </a:r>
                      <a:endParaRPr lang="en-GB" dirty="0">
                        <a:solidFill>
                          <a:schemeClr val="accent6">
                            <a:lumMod val="75000"/>
                          </a:schemeClr>
                        </a:solidFill>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yezgaren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weqmen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tagmatt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yussa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iqurɛ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-s: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assen-yezmir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Sliɣ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watmaten</a:t>
                      </a:r>
                      <a:r>
                        <a:rPr lang="fr-FR" sz="1100" kern="1200" dirty="0">
                          <a:solidFill>
                            <a:schemeClr val="tx1"/>
                          </a:solidFill>
                          <a:effectLst/>
                          <a:latin typeface="+mn-lt"/>
                          <a:ea typeface="+mn-ea"/>
                          <a:cs typeface="+mn-cs"/>
                        </a:rPr>
                        <a:t>-ik la </a:t>
                      </a:r>
                      <a:r>
                        <a:rPr lang="fr-FR" sz="1100" kern="1200" dirty="0" err="1">
                          <a:solidFill>
                            <a:schemeClr val="tx1"/>
                          </a:solidFill>
                          <a:effectLst/>
                          <a:latin typeface="+mn-lt"/>
                          <a:ea typeface="+mn-ea"/>
                          <a:cs typeface="+mn-cs"/>
                        </a:rPr>
                        <a:t>ttsewwiqen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ad k-</a:t>
                      </a:r>
                      <a:r>
                        <a:rPr lang="fr-FR" sz="1100" kern="1200" dirty="0" err="1">
                          <a:solidFill>
                            <a:schemeClr val="tx1"/>
                          </a:solidFill>
                          <a:effectLst/>
                          <a:latin typeface="+mn-lt"/>
                          <a:ea typeface="+mn-ea"/>
                          <a:cs typeface="+mn-cs"/>
                        </a:rPr>
                        <a:t>sebblen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There were three oxen: one was white, another black, and the third red; they formed a brotherhood in the forest. When they grazed together until evening, they would join their backsides together, project their horns outward, and sleep. When the lion arrived, he would find that every single one of them was guarding his own side; he would circle around them and leave, for he was not strong enough to face them.</a:t>
                      </a:r>
                    </a:p>
                    <a:p>
                      <a:pPr indent="216000" algn="l"/>
                      <a:r>
                        <a:rPr lang="en-US" sz="1100" kern="150" dirty="0">
                          <a:effectLst/>
                          <a:latin typeface="Cascadia Mono" panose="020B0609020000020004" pitchFamily="49" charset="0"/>
                          <a:cs typeface="Cascadia Mono" panose="020B0609020000020004" pitchFamily="49" charset="0"/>
                        </a:rPr>
                        <a:t>¶ One day, the wolf went to the black ox and said to him:</a:t>
                      </a:r>
                    </a:p>
                    <a:p>
                      <a:pPr indent="216000" algn="l"/>
                      <a:r>
                        <a:rPr lang="en-US" sz="1100" kern="150" dirty="0">
                          <a:effectLst/>
                          <a:latin typeface="Cascadia Mono" panose="020B0609020000020004" pitchFamily="49" charset="0"/>
                          <a:cs typeface="Cascadia Mono" panose="020B0609020000020004" pitchFamily="49" charset="0"/>
                        </a:rPr>
                        <a:t>- I heard your brothers plotting against you; they are going to sacrifice you to the lion so he will eat you, and then the forest will belong to them alone.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76586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36425256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yeḍmeɛ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ten-yessemneɣ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err="1">
                          <a:solidFill>
                            <a:schemeClr val="tx1"/>
                          </a:solidFill>
                          <a:effectLst/>
                          <a:latin typeface="+mn-lt"/>
                          <a:ea typeface="+mn-ea"/>
                          <a:cs typeface="+mn-cs"/>
                        </a:rPr>
                        <a:t>Yessekcem-asen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ttemyexẓaren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ttemyenfasen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ssemlilin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ttemɛassan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gujil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ewt-it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eǧǧ-it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Ihuz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 s-</a:t>
                      </a:r>
                      <a:r>
                        <a:rPr lang="fr-FR" sz="1100" kern="1200" dirty="0" err="1">
                          <a:solidFill>
                            <a:schemeClr val="tx1"/>
                          </a:solidFill>
                          <a:effectLst/>
                          <a:latin typeface="+mn-lt"/>
                          <a:ea typeface="+mn-ea"/>
                          <a:cs typeface="+mn-cs"/>
                        </a:rPr>
                        <a:t>yessefhem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tazurant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He repeated the same thing to the red ox, and did the same again to the white ox, hoping to set them against one another so that he could eat from their remains.</a:t>
                      </a:r>
                    </a:p>
                    <a:p>
                      <a:pPr indent="216000" algn="l"/>
                      <a:r>
                        <a:rPr lang="en-US" sz="1100" dirty="0"/>
                        <a:t>¶ He planted doubt among them, and from then on trust was finished between them: they glared at one another with hostility and mutual suspicion. When night fell, instead of joining their backsides as they used to do, projecting their horns outward, they turned to join their horns inward, watching each other for any sudden betrayal.</a:t>
                      </a:r>
                    </a:p>
                    <a:p>
                      <a:pPr indent="216000" algn="l"/>
                      <a:r>
                        <a:rPr lang="en-US" sz="1100" dirty="0"/>
                        <a:t>¶ One day, the lion struck the black ox, broke his spine, carried him away, and ate him. Another day, he struck the red ox, broke his spine, carried him away, and ate him. The white ox was left all alone, like an orphan: strike him, for God's sake—leave him, for God's sake!</a:t>
                      </a:r>
                    </a:p>
                    <a:p>
                      <a:pPr indent="216000" algn="l"/>
                      <a:r>
                        <a:rPr lang="en-US" sz="1100" dirty="0"/>
                        <a:t>¶ The white ox remained there weeping for his brothers and trembling for his own skin. He went to the wolf to seek his counsel. He said to him:</a:t>
                      </a:r>
                    </a:p>
                    <a:p>
                      <a:pPr indent="216000" algn="l"/>
                      <a:r>
                        <a:rPr lang="en-US" sz="1100" dirty="0"/>
                        <a:t>- I implore you by God: advise me just as you advised the camel and the sow, otherwise the lion will eat me!</a:t>
                      </a:r>
                    </a:p>
                    <a:p>
                      <a:pPr indent="216000" algn="l"/>
                      <a:r>
                        <a:rPr lang="en-US" sz="1100" dirty="0"/>
                        <a:t>The wolf shook his head and answered him:</a:t>
                      </a:r>
                    </a:p>
                    <a:p>
                      <a:pPr indent="216000" algn="l"/>
                      <a:r>
                        <a:rPr lang="en-US" sz="1100" dirty="0"/>
                        <a:t>- Your case is a difficult one!</a:t>
                      </a:r>
                    </a:p>
                    <a:p>
                      <a:pPr indent="216000" algn="l"/>
                      <a:r>
                        <a:rPr lang="en-US" sz="1100" dirty="0"/>
                        <a:t>The master of a hundred ruses tried to explain the matter to him, but the ox's innocence was too thick: the wolf found no way to instruct him. Finally, he gave him this warning:</a:t>
                      </a:r>
                    </a:p>
                    <a:p>
                      <a:pPr indent="216000" algn="l"/>
                      <a:r>
                        <a:rPr lang="en-US" sz="1100" dirty="0"/>
                        <a:t>- When you cross paths with the king of the </a:t>
                      </a:r>
                      <a:r>
                        <a:rPr lang="en-US" sz="1100" kern="150" dirty="0">
                          <a:effectLst/>
                          <a:latin typeface="Cascadia Mono" panose="020B0609020000020004" pitchFamily="49" charset="0"/>
                          <a:cs typeface="Cascadia Mono" panose="020B0609020000020004" pitchFamily="49" charset="0"/>
                        </a:rPr>
                        <a:t>animals</a:t>
                      </a:r>
                      <a:r>
                        <a:rPr lang="en-US" sz="1100" dirty="0"/>
                        <a:t>, speak the truth to him.</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830961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222201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ṭikkuk</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taseṭṭa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yesruhmut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tettak-it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tsawleḍ-iyi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yeskiddeb</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uɛerrum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lukan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ẓriɣ</a:t>
                      </a:r>
                      <a:r>
                        <a:rPr lang="fr-FR" sz="1100" kern="1200" dirty="0">
                          <a:solidFill>
                            <a:schemeClr val="tx1"/>
                          </a:solidFill>
                          <a:effectLst/>
                          <a:latin typeface="+mn-lt"/>
                          <a:ea typeface="+mn-ea"/>
                          <a:cs typeface="+mn-cs"/>
                        </a:rPr>
                        <a:t> ad k-id-</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rwileɣ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-w! Yenna-yi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Tselkeḍ</a:t>
                      </a:r>
                      <a:r>
                        <a:rPr lang="fr-FR" sz="1100" kern="1200" dirty="0">
                          <a:solidFill>
                            <a:schemeClr val="tx1"/>
                          </a:solidFill>
                          <a:effectLst/>
                          <a:latin typeface="+mn-lt"/>
                          <a:ea typeface="+mn-ea"/>
                          <a:cs typeface="+mn-cs"/>
                        </a:rPr>
                        <a:t> a bu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tessineḍ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teskiddbeḍ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tesserbaḥ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tessukkus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One day during the seasons between summer and spring, when the world was green and blooming and the </a:t>
                      </a:r>
                      <a:r>
                        <a:rPr lang="en-US" sz="1100" dirty="0" err="1"/>
                        <a:t>coucou</a:t>
                      </a:r>
                      <a:r>
                        <a:rPr lang="en-US" sz="1100" dirty="0"/>
                        <a:t> bird was calling, the horsefly struck the white ox. He bolted in a panic, his tail raised high into the air, bellowing and running blindly: valley gave him up to valley, ravine to ravine, ridge to ridge, until he crashed right on top of the lion without having expected him.</a:t>
                      </a:r>
                    </a:p>
                    <a:p>
                      <a:pPr indent="216000" algn="l"/>
                      <a:r>
                        <a:rPr lang="en-US" sz="1100" dirty="0"/>
                        <a:t>The lion said to him:</a:t>
                      </a:r>
                    </a:p>
                    <a:p>
                      <a:pPr indent="216000" algn="l"/>
                      <a:r>
                        <a:rPr lang="en-US" sz="1100" dirty="0"/>
                        <a:t>- What has brought you here, O son of the cow? Something bad is brewing under your head! However, I covenant with you by God that I will not eat you if you tell me the truth.</a:t>
                      </a:r>
                    </a:p>
                    <a:p>
                      <a:pPr indent="216000" algn="l"/>
                      <a:r>
                        <a:rPr lang="en-US" sz="1100" dirty="0"/>
                        <a:t>The lion thought he would catch him in a lie and eat him. The honest simpleton replied to him:</a:t>
                      </a:r>
                    </a:p>
                    <a:p>
                      <a:pPr indent="216000" algn="l"/>
                      <a:r>
                        <a:rPr lang="en-US" sz="1100" dirty="0"/>
                        <a:t>- By the truth of this... and this... O king of the </a:t>
                      </a:r>
                      <a:r>
                        <a:rPr lang="en-US" sz="1100" kern="150" dirty="0">
                          <a:effectLst/>
                          <a:latin typeface="Cascadia Mono" panose="020B0609020000020004" pitchFamily="49" charset="0"/>
                          <a:cs typeface="Cascadia Mono" panose="020B0609020000020004" pitchFamily="49" charset="0"/>
                        </a:rPr>
                        <a:t>animals</a:t>
                      </a:r>
                      <a:r>
                        <a:rPr lang="en-US" sz="1100" dirty="0"/>
                        <a:t>, if I had known I would find you here, I would never have fled my home, even if the horsefly had eaten my very liver! Sir </a:t>
                      </a:r>
                      <a:r>
                        <a:rPr lang="en-US" sz="1100" dirty="0" err="1"/>
                        <a:t>Mḥemmed</a:t>
                      </a:r>
                      <a:r>
                        <a:rPr lang="en-US" sz="1100" dirty="0"/>
                        <a:t> told me: speak the truth to him!</a:t>
                      </a:r>
                    </a:p>
                    <a:p>
                      <a:pPr indent="216000" algn="l"/>
                      <a:r>
                        <a:rPr lang="en-US" sz="1100" dirty="0"/>
                        <a:t>The lion roared like a thunderstorm and said to him:</a:t>
                      </a:r>
                    </a:p>
                    <a:p>
                      <a:pPr indent="216000" algn="l"/>
                      <a:r>
                        <a:rPr lang="en-US" sz="1100" dirty="0"/>
                        <a:t>- Go! Your innocence has saved you, O master of simplicity.</a:t>
                      </a:r>
                    </a:p>
                    <a:p>
                      <a:pPr indent="216000" algn="l"/>
                      <a:r>
                        <a:rPr lang="en-US" sz="1100" dirty="0"/>
                        <a:t>¶ If you do not know how to lie, speak the truth: innocence brings good fortune or delivers one from ruin.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14437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55456512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yifis</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the Wolf, and the Hyena</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tent-iger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la t-</a:t>
                      </a:r>
                      <a:r>
                        <a:rPr lang="fr-FR" sz="1100" kern="1200" dirty="0" err="1">
                          <a:solidFill>
                            <a:schemeClr val="tx1"/>
                          </a:solidFill>
                          <a:effectLst/>
                          <a:latin typeface="+mn-lt"/>
                          <a:ea typeface="+mn-ea"/>
                          <a:cs typeface="+mn-cs"/>
                        </a:rPr>
                        <a:t>ttabaɛen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yemṣalaḥ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i sin, </a:t>
                      </a:r>
                      <a:r>
                        <a:rPr lang="fr-FR" sz="1100" kern="1200" dirty="0" err="1">
                          <a:solidFill>
                            <a:schemeClr val="tx1"/>
                          </a:solidFill>
                          <a:effectLst/>
                          <a:latin typeface="+mn-lt"/>
                          <a:ea typeface="+mn-ea"/>
                          <a:cs typeface="+mn-cs"/>
                        </a:rPr>
                        <a:t>iɛahed-iten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ten-yečči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Yya</a:t>
                      </a:r>
                      <a:r>
                        <a:rPr lang="fr-FR" sz="1100" i="1" kern="1200" dirty="0">
                          <a:solidFill>
                            <a:schemeClr val="tx1"/>
                          </a:solidFill>
                          <a:effectLst/>
                          <a:latin typeface="+mn-lt"/>
                          <a:ea typeface="+mn-ea"/>
                          <a:cs typeface="+mn-cs"/>
                        </a:rPr>
                        <a:t>, a </a:t>
                      </a:r>
                      <a:r>
                        <a:rPr lang="fr-FR" sz="1100" i="1" kern="1200" dirty="0" err="1">
                          <a:solidFill>
                            <a:schemeClr val="tx1"/>
                          </a:solidFill>
                          <a:effectLst/>
                          <a:latin typeface="+mn-lt"/>
                          <a:ea typeface="+mn-ea"/>
                          <a:cs typeface="+mn-cs"/>
                        </a:rPr>
                        <a:t>ddib</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nṣafeṛ</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rrbeḥ</a:t>
                      </a:r>
                      <a:r>
                        <a:rPr lang="fr-FR" sz="1100" i="1" kern="1200" dirty="0">
                          <a:solidFill>
                            <a:schemeClr val="tx1"/>
                          </a:solidFill>
                          <a:effectLst/>
                          <a:latin typeface="+mn-lt"/>
                          <a:ea typeface="+mn-ea"/>
                          <a:cs typeface="+mn-cs"/>
                        </a:rPr>
                        <a:t>-ik </a:t>
                      </a:r>
                      <a:r>
                        <a:rPr lang="fr-FR" sz="1100" i="1" kern="1200" dirty="0" err="1">
                          <a:solidFill>
                            <a:schemeClr val="tx1"/>
                          </a:solidFill>
                          <a:effectLst/>
                          <a:latin typeface="+mn-lt"/>
                          <a:ea typeface="+mn-ea"/>
                          <a:cs typeface="+mn-cs"/>
                        </a:rPr>
                        <a:t>iban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fell</a:t>
                      </a:r>
                      <a:r>
                        <a:rPr lang="fr-FR" sz="1100" i="1" kern="1200" dirty="0">
                          <a:solidFill>
                            <a:schemeClr val="tx1"/>
                          </a:solidFill>
                          <a:effectLst/>
                          <a:latin typeface="+mn-lt"/>
                          <a:ea typeface="+mn-ea"/>
                          <a:cs typeface="+mn-cs"/>
                        </a:rPr>
                        <a:t>-i:</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nɣiɣ</a:t>
                      </a:r>
                      <a:r>
                        <a:rPr lang="fr-FR" sz="1100" i="1" kern="1200" dirty="0">
                          <a:solidFill>
                            <a:schemeClr val="tx1"/>
                          </a:solidFill>
                          <a:effectLst/>
                          <a:latin typeface="+mn-lt"/>
                          <a:ea typeface="+mn-ea"/>
                          <a:cs typeface="+mn-cs"/>
                        </a:rPr>
                        <a:t> si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nɣan</a:t>
                      </a:r>
                      <a:r>
                        <a:rPr lang="fr-FR" sz="1100" i="1" kern="1200" dirty="0">
                          <a:solidFill>
                            <a:schemeClr val="tx1"/>
                          </a:solidFill>
                          <a:effectLst/>
                          <a:latin typeface="+mn-lt"/>
                          <a:ea typeface="+mn-ea"/>
                          <a:cs typeface="+mn-cs"/>
                        </a:rPr>
                        <a:t>-i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-i!</a:t>
                      </a:r>
                    </a:p>
                    <a:p>
                      <a:pPr indent="457200"/>
                      <a:r>
                        <a:rPr lang="en-US" sz="1100" dirty="0"/>
                        <a:t>¶ </a:t>
                      </a:r>
                      <a:r>
                        <a:rPr lang="fr-FR" sz="1100" kern="1200" dirty="0" err="1">
                          <a:solidFill>
                            <a:schemeClr val="tx1"/>
                          </a:solidFill>
                          <a:effectLst/>
                          <a:latin typeface="+mn-lt"/>
                          <a:ea typeface="+mn-ea"/>
                          <a:cs typeface="+mn-cs"/>
                        </a:rPr>
                        <a:t>Cerken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taxerraẓt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ttqeddimen</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yettɣimi-yas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yettruẓu</a:t>
                      </a:r>
                      <a:r>
                        <a:rPr lang="fr-FR" sz="1100" kern="1200" dirty="0">
                          <a:solidFill>
                            <a:schemeClr val="tx1"/>
                          </a:solidFill>
                          <a:effectLst/>
                          <a:latin typeface="+mn-lt"/>
                          <a:ea typeface="+mn-ea"/>
                          <a:cs typeface="+mn-cs"/>
                        </a:rPr>
                        <a:t>-tt. Mi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lmakla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tisigar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Iḍleb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leɛmeṛ-is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Once the lion realized that all his attempts against the wolf had failed, and whatever prey he left behind would be eaten by the wolf and the hyena —who both always followed him—, he then made peace with them. He covenanted with them by God that he would never eat them. The lion said to the wolf:</a:t>
                      </a:r>
                    </a:p>
                    <a:p>
                      <a:pPr indent="216000" algn="l"/>
                      <a:r>
                        <a:rPr lang="en-US" sz="1100" i="1" kern="150" dirty="0">
                          <a:effectLst/>
                          <a:latin typeface="Cascadia Mono" panose="020B0609020000020004" pitchFamily="49" charset="0"/>
                          <a:cs typeface="Cascadia Mono" panose="020B0609020000020004" pitchFamily="49" charset="0"/>
                        </a:rPr>
                        <a:t>Come, O wolf, let us travel together,</a:t>
                      </a:r>
                    </a:p>
                    <a:p>
                      <a:pPr indent="216000" algn="l"/>
                      <a:r>
                        <a:rPr lang="en-US" sz="1100" i="1" kern="150" dirty="0">
                          <a:effectLst/>
                          <a:latin typeface="Cascadia Mono" panose="020B0609020000020004" pitchFamily="49" charset="0"/>
                          <a:cs typeface="Cascadia Mono" panose="020B0609020000020004" pitchFamily="49" charset="0"/>
                        </a:rPr>
                        <a:t>Your good fortune is guaranteed with me:</a:t>
                      </a:r>
                    </a:p>
                    <a:p>
                      <a:pPr indent="216000" algn="l"/>
                      <a:r>
                        <a:rPr lang="en-US" sz="1100" i="1" kern="150" dirty="0">
                          <a:effectLst/>
                          <a:latin typeface="Cascadia Mono" panose="020B0609020000020004" pitchFamily="49" charset="0"/>
                          <a:cs typeface="Cascadia Mono" panose="020B0609020000020004" pitchFamily="49" charset="0"/>
                        </a:rPr>
                        <a:t>If I kill anyone, you shall eat;</a:t>
                      </a:r>
                    </a:p>
                    <a:p>
                      <a:pPr indent="216000" algn="l"/>
                      <a:r>
                        <a:rPr lang="en-US" sz="1100" i="1" kern="150" dirty="0">
                          <a:effectLst/>
                          <a:latin typeface="Cascadia Mono" panose="020B0609020000020004" pitchFamily="49" charset="0"/>
                          <a:cs typeface="Cascadia Mono" panose="020B0609020000020004" pitchFamily="49" charset="0"/>
                        </a:rPr>
                        <a:t>If anyone kills me, you shall eat me!</a:t>
                      </a:r>
                    </a:p>
                    <a:p>
                      <a:pPr indent="216000" algn="l"/>
                      <a:r>
                        <a:rPr lang="en-US" sz="1100" kern="150" dirty="0">
                          <a:effectLst/>
                          <a:latin typeface="Cascadia Mono" panose="020B0609020000020004" pitchFamily="49" charset="0"/>
                          <a:cs typeface="Cascadia Mono" panose="020B0609020000020004" pitchFamily="49" charset="0"/>
                        </a:rPr>
                        <a:t>¶ They joined together in banditry from that day forward: the two of them would flush out the prey, while he would wait for it in his place and crush it down. When he finished eating, they would eat the scraps. They went on like this for some time.</a:t>
                      </a:r>
                    </a:p>
                    <a:p>
                      <a:pPr indent="216000" algn="l"/>
                      <a:r>
                        <a:rPr lang="en-US" sz="1100" kern="150" dirty="0">
                          <a:effectLst/>
                          <a:latin typeface="Cascadia Mono" panose="020B0609020000020004" pitchFamily="49" charset="0"/>
                          <a:cs typeface="Cascadia Mono" panose="020B0609020000020004" pitchFamily="49" charset="0"/>
                        </a:rPr>
                        <a:t>¶ One day, they killed a ram, a ewe, and a lamb. The hyena demanded a division of the spoils. The lion said to him:</a:t>
                      </a:r>
                    </a:p>
                    <a:p>
                      <a:pPr indent="216000" algn="l"/>
                      <a:r>
                        <a:rPr lang="en-US" sz="1100" kern="150" dirty="0">
                          <a:effectLst/>
                          <a:latin typeface="Cascadia Mono" panose="020B0609020000020004" pitchFamily="49" charset="0"/>
                          <a:cs typeface="Cascadia Mono" panose="020B0609020000020004" pitchFamily="49" charset="0"/>
                        </a:rPr>
                        <a:t>- Divide them among us.</a:t>
                      </a:r>
                    </a:p>
                    <a:p>
                      <a:pPr indent="216000" algn="l"/>
                      <a:r>
                        <a:rPr lang="en-US" sz="1100" kern="150" dirty="0">
                          <a:effectLst/>
                          <a:latin typeface="Cascadia Mono" panose="020B0609020000020004" pitchFamily="49" charset="0"/>
                          <a:cs typeface="Cascadia Mono" panose="020B0609020000020004" pitchFamily="49" charset="0"/>
                        </a:rPr>
                        <a:t>The hyena divided them: </a:t>
                      </a:r>
                      <a:r>
                        <a:rPr lang="en-US" sz="1100" kern="150">
                          <a:effectLst/>
                          <a:latin typeface="Cascadia Mono" panose="020B0609020000020004" pitchFamily="49" charset="0"/>
                          <a:cs typeface="Cascadia Mono" panose="020B0609020000020004" pitchFamily="49" charset="0"/>
                        </a:rPr>
                        <a:t>the ram </a:t>
                      </a:r>
                      <a:r>
                        <a:rPr lang="en-US" sz="1100" kern="150" dirty="0">
                          <a:effectLst/>
                          <a:latin typeface="Cascadia Mono" panose="020B0609020000020004" pitchFamily="49" charset="0"/>
                          <a:cs typeface="Cascadia Mono" panose="020B0609020000020004" pitchFamily="49" charset="0"/>
                        </a:rPr>
                        <a:t>for the lion, the ewe for himself, and the lamb for the wolf. The lion struck him, his claws sinking deep into his liver, and his life went with it. Then he said to the wolf:</a:t>
                      </a:r>
                    </a:p>
                    <a:p>
                      <a:pPr indent="216000" algn="l"/>
                      <a:r>
                        <a:rPr lang="en-US" sz="1100" kern="150" dirty="0">
                          <a:effectLst/>
                          <a:latin typeface="Cascadia Mono" panose="020B0609020000020004" pitchFamily="49" charset="0"/>
                          <a:cs typeface="Cascadia Mono" panose="020B0609020000020004" pitchFamily="49" charset="0"/>
                        </a:rPr>
                        <a:t>- You do the dividing yourself.</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56113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F2F6B-4852-3567-B55C-B019D209FB26}"/>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C5407BC-13C6-20A1-036C-816F9E30B9DD}"/>
              </a:ext>
            </a:extLst>
          </p:cNvPr>
          <p:cNvGraphicFramePr>
            <a:graphicFrameLocks noGrp="1"/>
          </p:cNvGraphicFramePr>
          <p:nvPr>
            <p:extLst>
              <p:ext uri="{D42A27DB-BD31-4B8C-83A1-F6EECF244321}">
                <p14:modId xmlns:p14="http://schemas.microsoft.com/office/powerpoint/2010/main" val="3291880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tsefsuḍ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tfetreḍ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Wi k-</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D </a:t>
                      </a:r>
                      <a:r>
                        <a:rPr lang="fr-FR" sz="1100" kern="1200" dirty="0" err="1">
                          <a:solidFill>
                            <a:schemeClr val="tx1"/>
                          </a:solidFill>
                          <a:effectLst/>
                          <a:latin typeface="+mn-lt"/>
                          <a:ea typeface="+mn-ea"/>
                          <a:cs typeface="+mn-cs"/>
                        </a:rPr>
                        <a:t>accaren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yentan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wolf said to him: O king of the animals, as for the lamb, you shall open your mouth with it; as for the ram, you shall lunch on it; and as for the ewe, you shall eat her for your dinner.</a:t>
                      </a:r>
                    </a:p>
                    <a:p>
                      <a:pPr indent="216000" algn="l"/>
                      <a:r>
                        <a:rPr lang="en-US" sz="1100" kern="150" dirty="0">
                          <a:effectLst/>
                          <a:latin typeface="Cascadia Mono" panose="020B0609020000020004" pitchFamily="49" charset="0"/>
                          <a:cs typeface="Cascadia Mono" panose="020B0609020000020004" pitchFamily="49" charset="0"/>
                        </a:rPr>
                        <a:t>- The lion said to him: Who gave you such wisdom as this, O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He answered him: Your claws sinking into the liver of the hyena!</a:t>
                      </a:r>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8259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9915614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userdun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Lion, the Wolf, and the Mule</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Ɛuhden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ččin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idewweṛ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yellemlem</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tedhen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Mi </a:t>
                      </a:r>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imeddukal-is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yimi-nsen</a:t>
                      </a:r>
                      <a:r>
                        <a:rPr lang="fr-FR" sz="1100" kern="1200" dirty="0">
                          <a:solidFill>
                            <a:schemeClr val="tx1"/>
                          </a:solidFill>
                          <a:effectLst/>
                          <a:latin typeface="+mn-lt"/>
                          <a:ea typeface="+mn-ea"/>
                          <a:cs typeface="+mn-cs"/>
                        </a:rPr>
                        <a:t> aman. </a:t>
                      </a:r>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mcawaṛen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nemmut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isebbel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selken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Tura,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tagmart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xali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aɛudiw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Ini-</a:t>
                      </a:r>
                      <a:r>
                        <a:rPr lang="fr-FR" sz="1100" kern="1200" dirty="0" err="1">
                          <a:solidFill>
                            <a:schemeClr val="tx1"/>
                          </a:solidFill>
                          <a:effectLst/>
                          <a:latin typeface="+mn-lt"/>
                          <a:ea typeface="+mn-ea"/>
                          <a:cs typeface="+mn-cs"/>
                        </a:rPr>
                        <a:t>yaneɣ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Serrḥet-iyi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err="1">
                          <a:solidFill>
                            <a:schemeClr val="tx1"/>
                          </a:solidFill>
                          <a:effectLst/>
                          <a:latin typeface="+mn-lt"/>
                          <a:ea typeface="+mn-ea"/>
                          <a:cs typeface="+mn-cs"/>
                        </a:rPr>
                        <a:t>Cubkeɣ-kwen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awiɣ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Serrḥen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lion and the wolf walked on for some time, and they crossed paths with the mule. </a:t>
                      </a:r>
                    </a:p>
                    <a:p>
                      <a:pPr indent="216000" algn="l"/>
                      <a:r>
                        <a:rPr lang="en-US" sz="1100" kern="150" dirty="0">
                          <a:effectLst/>
                          <a:latin typeface="Cascadia Mono" panose="020B0609020000020004" pitchFamily="49" charset="0"/>
                          <a:cs typeface="Cascadia Mono" panose="020B0609020000020004" pitchFamily="49" charset="0"/>
                        </a:rPr>
                        <a:t>They covenanted with him by God that they would not eat him, and from then on they traveled together.</a:t>
                      </a:r>
                    </a:p>
                    <a:p>
                      <a:pPr indent="216000" algn="l"/>
                      <a:r>
                        <a:rPr lang="en-US" sz="1100" kern="150" dirty="0">
                          <a:effectLst/>
                          <a:latin typeface="Cascadia Mono" panose="020B0609020000020004" pitchFamily="49" charset="0"/>
                          <a:cs typeface="Cascadia Mono" panose="020B0609020000020004" pitchFamily="49" charset="0"/>
                        </a:rPr>
                        <a:t>¶ The mule ate his fill of grass: he grew round and plump, and a drop of oil would slide right off his lustrous coat. ¶ Whenever his companions looked at him, their mouths would water. ¶ Eventually, they plotted against him to eat him, breaking the covenants of God. The wolf said to him:</a:t>
                      </a:r>
                    </a:p>
                    <a:p>
                      <a:pPr indent="216000" algn="l"/>
                      <a:r>
                        <a:rPr lang="en-US" sz="1100" kern="150" dirty="0">
                          <a:effectLst/>
                          <a:latin typeface="Cascadia Mono" panose="020B0609020000020004" pitchFamily="49" charset="0"/>
                          <a:cs typeface="Cascadia Mono" panose="020B0609020000020004" pitchFamily="49" charset="0"/>
                        </a:rPr>
                        <a:t>- We are dying of hunger: one of us must sacrifice himself so that the others can survive! Therefore, whoever among us has a wicked origin, we shall eat him.</a:t>
                      </a:r>
                    </a:p>
                    <a:p>
                      <a:pPr indent="216000" algn="l"/>
                      <a:r>
                        <a:rPr lang="en-US" sz="1100" kern="150" dirty="0">
                          <a:effectLst/>
                          <a:latin typeface="Cascadia Mono" panose="020B0609020000020004" pitchFamily="49" charset="0"/>
                          <a:cs typeface="Cascadia Mono" panose="020B0609020000020004" pitchFamily="49" charset="0"/>
                        </a:rPr>
                        <a:t>The lion said:</a:t>
                      </a:r>
                    </a:p>
                    <a:p>
                      <a:pPr indent="216000" algn="l"/>
                      <a:r>
                        <a:rPr lang="en-US" sz="1100" kern="150" dirty="0">
                          <a:effectLst/>
                          <a:latin typeface="Cascadia Mono" panose="020B0609020000020004" pitchFamily="49" charset="0"/>
                          <a:cs typeface="Cascadia Mono" panose="020B0609020000020004" pitchFamily="49" charset="0"/>
                        </a:rPr>
                        <a:t>- As for me, my father is a lion, and my mother is a lioness!</a:t>
                      </a:r>
                    </a:p>
                    <a:p>
                      <a:pPr indent="216000" algn="l"/>
                      <a:r>
                        <a:rPr lang="en-US" sz="1100" kern="150" dirty="0">
                          <a:effectLst/>
                          <a:latin typeface="Cascadia Mono" panose="020B0609020000020004" pitchFamily="49" charset="0"/>
                          <a:cs typeface="Cascadia Mono" panose="020B0609020000020004" pitchFamily="49" charset="0"/>
                        </a:rPr>
                        <a:t>The wolf spoke up and said:</a:t>
                      </a:r>
                    </a:p>
                    <a:p>
                      <a:pPr indent="216000" algn="l"/>
                      <a:r>
                        <a:rPr lang="en-US" sz="1100" kern="150" dirty="0">
                          <a:effectLst/>
                          <a:latin typeface="Cascadia Mono" panose="020B0609020000020004" pitchFamily="49" charset="0"/>
                          <a:cs typeface="Cascadia Mono" panose="020B0609020000020004" pitchFamily="49" charset="0"/>
                        </a:rPr>
                        <a:t>- There is no lineage finer than the house of the king of the animals!</a:t>
                      </a:r>
                    </a:p>
                    <a:p>
                      <a:pPr indent="216000" algn="l"/>
                      <a:r>
                        <a:rPr lang="en-US" sz="1100" kern="150" dirty="0">
                          <a:effectLst/>
                          <a:latin typeface="Cascadia Mono" panose="020B0609020000020004" pitchFamily="49" charset="0"/>
                          <a:cs typeface="Cascadia Mono" panose="020B0609020000020004" pitchFamily="49" charset="0"/>
                        </a:rPr>
                        <a:t>Then the wolf said:</a:t>
                      </a:r>
                    </a:p>
                    <a:p>
                      <a:pPr indent="216000" algn="l"/>
                      <a:r>
                        <a:rPr lang="en-US" sz="1100" kern="150" dirty="0">
                          <a:effectLst/>
                          <a:latin typeface="Cascadia Mono" panose="020B0609020000020004" pitchFamily="49" charset="0"/>
                          <a:cs typeface="Cascadia Mono" panose="020B0609020000020004" pitchFamily="49" charset="0"/>
                        </a:rPr>
                        <a:t>- As for me, my father is a wolf, and my mother is a she-wolf.</a:t>
                      </a:r>
                    </a:p>
                    <a:p>
                      <a:pPr indent="216000" algn="l"/>
                      <a:r>
                        <a:rPr lang="en-US" sz="1100" kern="150" dirty="0">
                          <a:effectLst/>
                          <a:latin typeface="Cascadia Mono" panose="020B0609020000020004" pitchFamily="49" charset="0"/>
                          <a:cs typeface="Cascadia Mono" panose="020B0609020000020004" pitchFamily="49" charset="0"/>
                        </a:rPr>
                        <a:t>The lion spoke up and said:</a:t>
                      </a:r>
                    </a:p>
                    <a:p>
                      <a:pPr indent="216000" algn="l"/>
                      <a:r>
                        <a:rPr lang="en-US" sz="1100" kern="150" dirty="0">
                          <a:effectLst/>
                          <a:latin typeface="Cascadia Mono" panose="020B0609020000020004" pitchFamily="49" charset="0"/>
                          <a:cs typeface="Cascadia Mono" panose="020B0609020000020004" pitchFamily="49" charset="0"/>
                        </a:rPr>
                        <a:t>- What a lineage!</a:t>
                      </a:r>
                    </a:p>
                    <a:p>
                      <a:pPr indent="216000" algn="l"/>
                      <a:r>
                        <a:rPr lang="en-US" sz="1100" kern="150" dirty="0">
                          <a:effectLst/>
                          <a:latin typeface="Cascadia Mono" panose="020B0609020000020004" pitchFamily="49" charset="0"/>
                          <a:cs typeface="Cascadia Mono" panose="020B0609020000020004" pitchFamily="49" charset="0"/>
                        </a:rPr>
                        <a:t>That left only the mule, who said to them:</a:t>
                      </a:r>
                    </a:p>
                    <a:p>
                      <a:pPr indent="216000" algn="l"/>
                      <a:r>
                        <a:rPr lang="en-US" sz="1100" kern="150" dirty="0">
                          <a:effectLst/>
                          <a:latin typeface="Cascadia Mono" panose="020B0609020000020004" pitchFamily="49" charset="0"/>
                          <a:cs typeface="Cascadia Mono" panose="020B0609020000020004" pitchFamily="49" charset="0"/>
                        </a:rPr>
                        <a:t>- As for me, my mother is a mare, and my maternal uncle is a stallion; but as for my father, I never knew him. (He was afraid to say it was a donkey.)</a:t>
                      </a:r>
                    </a:p>
                    <a:p>
                      <a:pPr indent="216000" algn="l"/>
                      <a:r>
                        <a:rPr lang="en-US" sz="1100" kern="150" dirty="0">
                          <a:effectLst/>
                          <a:latin typeface="Cascadia Mono" panose="020B0609020000020004" pitchFamily="49" charset="0"/>
                          <a:cs typeface="Cascadia Mono" panose="020B0609020000020004" pitchFamily="49" charset="0"/>
                        </a:rPr>
                        <a:t>They said to him:</a:t>
                      </a:r>
                    </a:p>
                    <a:p>
                      <a:pPr indent="216000" algn="l"/>
                      <a:r>
                        <a:rPr lang="en-US" sz="1100" kern="150" dirty="0">
                          <a:effectLst/>
                          <a:latin typeface="Cascadia Mono" panose="020B0609020000020004" pitchFamily="49" charset="0"/>
                          <a:cs typeface="Cascadia Mono" panose="020B0609020000020004" pitchFamily="49" charset="0"/>
                        </a:rPr>
                        <a:t>- Not so! Tell us who your father is, or else we will eat you!</a:t>
                      </a:r>
                    </a:p>
                    <a:p>
                      <a:pPr indent="216000" algn="l"/>
                      <a:r>
                        <a:rPr lang="en-US" sz="1100" kern="150" dirty="0">
                          <a:effectLst/>
                          <a:latin typeface="Cascadia Mono" panose="020B0609020000020004" pitchFamily="49" charset="0"/>
                          <a:cs typeface="Cascadia Mono" panose="020B0609020000020004" pitchFamily="49" charset="0"/>
                        </a:rPr>
                        <a:t>- He replied to them: Allow me to go and ask about him. I bind you by God that I will return and bring you the true word.</a:t>
                      </a:r>
                    </a:p>
                    <a:p>
                      <a:pPr indent="216000" algn="l"/>
                      <a:r>
                        <a:rPr lang="en-US" sz="1100" kern="150" dirty="0">
                          <a:effectLst/>
                          <a:latin typeface="Cascadia Mono" panose="020B0609020000020004" pitchFamily="49" charset="0"/>
                          <a:cs typeface="Cascadia Mono" panose="020B0609020000020004" pitchFamily="49" charset="0"/>
                        </a:rPr>
                        <a:t>They let him go, and he departed.</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60934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7352036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kern="150" dirty="0">
                          <a:effectLst/>
                          <a:latin typeface="Cascadia Mono" panose="020B0609020000020004" pitchFamily="49" charset="0"/>
                          <a:cs typeface="Cascadia Mono" panose="020B0609020000020004" pitchFamily="49" charset="0"/>
                        </a:rPr>
                        <a:t>The Death of the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sewwqen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aḥeddad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igerrez</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tasmiṛt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inqec</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yesɣezf</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imddukal-is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t>
                      </a:r>
                      <a:r>
                        <a:rPr lang="fr-FR" sz="1100" kern="1200" dirty="0" err="1">
                          <a:solidFill>
                            <a:schemeClr val="tx1"/>
                          </a:solidFill>
                          <a:effectLst/>
                          <a:latin typeface="+mn-lt"/>
                          <a:ea typeface="+mn-ea"/>
                          <a:cs typeface="+mn-cs"/>
                        </a:rPr>
                        <a:t>anwa</a:t>
                      </a:r>
                      <a:r>
                        <a:rPr lang="fr-FR" sz="1100" kern="1200" dirty="0">
                          <a:solidFill>
                            <a:schemeClr val="tx1"/>
                          </a:solidFill>
                          <a:effectLst/>
                          <a:latin typeface="+mn-lt"/>
                          <a:ea typeface="+mn-ea"/>
                          <a:cs typeface="+mn-cs"/>
                        </a:rPr>
                        <a:t> i d baba-k?</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lexbaṛ-is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-yi-d </a:t>
                      </a:r>
                      <a:r>
                        <a:rPr lang="fr-FR" sz="1100" kern="1200" dirty="0" err="1">
                          <a:solidFill>
                            <a:schemeClr val="tx1"/>
                          </a:solidFill>
                          <a:effectLst/>
                          <a:latin typeface="+mn-lt"/>
                          <a:ea typeface="+mn-ea"/>
                          <a:cs typeface="+mn-cs"/>
                        </a:rPr>
                        <a:t>ttajiṛa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ḍarren-iw</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tebɣam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imawlan-iw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iyi-fkin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tessenḍ</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axencuc-is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yesteɛmel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leɛmaṛa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s </a:t>
                      </a:r>
                      <a:r>
                        <a:rPr lang="fr-FR" sz="1100" kern="1200" dirty="0" err="1">
                          <a:solidFill>
                            <a:schemeClr val="tx1"/>
                          </a:solidFill>
                          <a:effectLst/>
                          <a:latin typeface="+mn-lt"/>
                          <a:ea typeface="+mn-ea"/>
                          <a:cs typeface="+mn-cs"/>
                        </a:rPr>
                        <a:t>ineggura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Werɛad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acekkab</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bu tissas,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txab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In the meantime, the wolf took the mule aside, and they plotted against the head of the lion, so that he would go down like a bundle of straw eaten by a boar.</a:t>
                      </a:r>
                    </a:p>
                    <a:p>
                      <a:pPr indent="216000" algn="l"/>
                      <a:r>
                        <a:rPr lang="en-US" sz="1100" kern="150" dirty="0">
                          <a:effectLst/>
                          <a:latin typeface="Cascadia Mono" panose="020B0609020000020004" pitchFamily="49" charset="0"/>
                          <a:cs typeface="Cascadia Mono" panose="020B0609020000020004" pitchFamily="49" charset="0"/>
                        </a:rPr>
                        <a:t>¶ The mule went to a blacksmith, who fitted him with fine shoes, engraved them, and left the nails protruding long. Then, he turned back to his companions. The lion said to him:</a:t>
                      </a:r>
                    </a:p>
                    <a:p>
                      <a:pPr indent="216000" algn="l"/>
                      <a:r>
                        <a:rPr lang="en-US" sz="1100" kern="150" dirty="0">
                          <a:effectLst/>
                          <a:latin typeface="Cascadia Mono" panose="020B0609020000020004" pitchFamily="49" charset="0"/>
                          <a:cs typeface="Cascadia Mono" panose="020B0609020000020004" pitchFamily="49" charset="0"/>
                        </a:rPr>
                        <a:t>- Well then, who is your father?</a:t>
                      </a:r>
                    </a:p>
                    <a:p>
                      <a:pPr indent="216000" algn="l"/>
                      <a:r>
                        <a:rPr lang="en-US" sz="1100" kern="150" dirty="0">
                          <a:effectLst/>
                          <a:latin typeface="Cascadia Mono" panose="020B0609020000020004" pitchFamily="49" charset="0"/>
                          <a:cs typeface="Cascadia Mono" panose="020B0609020000020004" pitchFamily="49" charset="0"/>
                        </a:rPr>
                        <a:t>- The mule replied to him: "I could not find any word of him, but he left me an inscription under my hooves; if you wish, you may read it.</a:t>
                      </a:r>
                    </a:p>
                    <a:p>
                      <a:pPr indent="216000" algn="l"/>
                      <a:r>
                        <a:rPr lang="en-US" sz="1100" kern="150" dirty="0">
                          <a:effectLst/>
                          <a:latin typeface="Cascadia Mono" panose="020B0609020000020004" pitchFamily="49" charset="0"/>
                          <a:cs typeface="Cascadia Mono" panose="020B0609020000020004" pitchFamily="49" charset="0"/>
                        </a:rPr>
                        <a:t>The lion said to the wolf:</a:t>
                      </a:r>
                    </a:p>
                    <a:p>
                      <a:pPr indent="216000" algn="l"/>
                      <a:r>
                        <a:rPr lang="en-US" sz="1100" kern="150" dirty="0">
                          <a:effectLst/>
                          <a:latin typeface="Cascadia Mono" panose="020B0609020000020004" pitchFamily="49" charset="0"/>
                          <a:cs typeface="Cascadia Mono" panose="020B0609020000020004" pitchFamily="49" charset="0"/>
                        </a:rPr>
                        <a:t>- Come closer and read it, O </a:t>
                      </a:r>
                      <a:r>
                        <a:rPr lang="en-US" sz="1100" kern="150" dirty="0" err="1">
                          <a:effectLst/>
                          <a:latin typeface="Cascadia Mono" panose="020B0609020000020004" pitchFamily="49" charset="0"/>
                          <a:cs typeface="Cascadia Mono" panose="020B0609020000020004" pitchFamily="49" charset="0"/>
                        </a:rPr>
                        <a:t>Mḥemmed</a:t>
                      </a:r>
                      <a:r>
                        <a:rPr lang="en-US" sz="1100" kern="150" dirty="0">
                          <a:effectLst/>
                          <a:latin typeface="Cascadia Mono" panose="020B0609020000020004" pitchFamily="49" charset="0"/>
                          <a:cs typeface="Cascadia Mono" panose="020B0609020000020004" pitchFamily="49" charset="0"/>
                        </a:rPr>
                        <a:t>.</a:t>
                      </a:r>
                    </a:p>
                    <a:p>
                      <a:pPr indent="216000" algn="l"/>
                      <a:r>
                        <a:rPr lang="en-US" sz="1100" kern="150" dirty="0">
                          <a:effectLst/>
                          <a:latin typeface="Cascadia Mono" panose="020B0609020000020004" pitchFamily="49" charset="0"/>
                          <a:cs typeface="Cascadia Mono" panose="020B0609020000020004" pitchFamily="49" charset="0"/>
                        </a:rPr>
                        <a:t>- The wolf replied to him: O king of the animals, as for me, my parents were poor folk: they never sent me to school. It is you who are the child of a great house; you know how to read it.</a:t>
                      </a:r>
                    </a:p>
                    <a:p>
                      <a:pPr indent="216000" algn="l"/>
                      <a:r>
                        <a:rPr lang="en-US" sz="1100" kern="150" dirty="0">
                          <a:effectLst/>
                          <a:latin typeface="Cascadia Mono" panose="020B0609020000020004" pitchFamily="49" charset="0"/>
                          <a:cs typeface="Cascadia Mono" panose="020B0609020000020004" pitchFamily="49" charset="0"/>
                        </a:rPr>
                        <a:t>¶ The lion brought his snout close, feigning an ability to read: the charge was primed. The mule planted himself on his front legs and struck out with his hind ones; the nails entered straight into the brain of the lion, and he fell.</a:t>
                      </a:r>
                    </a:p>
                    <a:p>
                      <a:pPr indent="216000" algn="l"/>
                      <a:r>
                        <a:rPr lang="en-US" sz="1100" kern="150" dirty="0">
                          <a:effectLst/>
                          <a:latin typeface="Cascadia Mono" panose="020B0609020000020004" pitchFamily="49" charset="0"/>
                          <a:cs typeface="Cascadia Mono" panose="020B0609020000020004" pitchFamily="49" charset="0"/>
                        </a:rPr>
                        <a:t>¶ Before he had even given up his soul, the wolf was already at his hock, biting him.</a:t>
                      </a:r>
                    </a:p>
                    <a:p>
                      <a:pPr indent="216000" algn="l"/>
                      <a:r>
                        <a:rPr lang="en-US" sz="1100" kern="150" dirty="0">
                          <a:effectLst/>
                          <a:latin typeface="Cascadia Mono" panose="020B0609020000020004" pitchFamily="49" charset="0"/>
                          <a:cs typeface="Cascadia Mono" panose="020B0609020000020004" pitchFamily="49" charset="0"/>
                        </a:rPr>
                        <a:t>The lion said to him:</a:t>
                      </a:r>
                    </a:p>
                    <a:p>
                      <a:pPr indent="216000" algn="l"/>
                      <a:r>
                        <a:rPr lang="en-US" sz="1100" kern="150" dirty="0">
                          <a:effectLst/>
                          <a:latin typeface="Cascadia Mono" panose="020B0609020000020004" pitchFamily="49" charset="0"/>
                          <a:cs typeface="Cascadia Mono" panose="020B0609020000020004" pitchFamily="49" charset="0"/>
                        </a:rPr>
                        <a:t>- Ah! The world belongs to whoever stands strong, even if his father is a donkey!</a:t>
                      </a:r>
                    </a:p>
                    <a:p>
                      <a:pPr indent="216000" algn="l"/>
                      <a:r>
                        <a:rPr lang="en-US" sz="1100" kern="150" dirty="0">
                          <a:effectLst/>
                          <a:latin typeface="Cascadia Mono" panose="020B0609020000020004" pitchFamily="49" charset="0"/>
                          <a:cs typeface="Cascadia Mono" panose="020B0609020000020004" pitchFamily="49" charset="0"/>
                        </a:rPr>
                        <a:t>¶ Thus died the lion, the master of courage, the king of the animals: he was killed by the mule, the son of a donkey, and the wolves ate him.</a:t>
                      </a:r>
                    </a:p>
                    <a:p>
                      <a:pPr indent="216000" algn="l"/>
                      <a:r>
                        <a:rPr lang="en-US" sz="1100" kern="150" dirty="0">
                          <a:effectLst/>
                          <a:latin typeface="Cascadia Mono" panose="020B0609020000020004" pitchFamily="49" charset="0"/>
                          <a:cs typeface="Cascadia Mono" panose="020B0609020000020004" pitchFamily="49" charset="0"/>
                        </a:rPr>
                        <a:t>It is from that very day that the land fell into ruin.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280701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3803520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96753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2485738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 warrac</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To the </a:t>
                      </a:r>
                      <a:r>
                        <a:rPr lang="fr-FR" sz="1200" b="1" kern="150" dirty="0" err="1">
                          <a:effectLst/>
                          <a:latin typeface="Cascadia Mono" panose="020B0609020000020004" pitchFamily="49" charset="0"/>
                          <a:cs typeface="Cascadia Mono" panose="020B0609020000020004" pitchFamily="49" charset="0"/>
                        </a:rPr>
                        <a:t>Children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Tamacahut-iw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Sawleɣ</a:t>
                      </a:r>
                      <a:r>
                        <a:rPr lang="fr-FR" sz="1100" kern="1200" dirty="0">
                          <a:solidFill>
                            <a:schemeClr val="tx1"/>
                          </a:solidFill>
                          <a:effectLst/>
                          <a:latin typeface="+mn-lt"/>
                          <a:ea typeface="+mn-ea"/>
                          <a:cs typeface="+mn-cs"/>
                        </a:rPr>
                        <a:t>-tt-id i </a:t>
                      </a:r>
                      <a:r>
                        <a:rPr lang="fr-FR" sz="1100" kern="1200" dirty="0" err="1">
                          <a:solidFill>
                            <a:schemeClr val="tx1"/>
                          </a:solidFill>
                          <a:effectLst/>
                          <a:latin typeface="+mn-lt"/>
                          <a:ea typeface="+mn-ea"/>
                          <a:cs typeface="+mn-cs"/>
                        </a:rPr>
                        <a:t>tarrawt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leǧwad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tesfenǧett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nečča</a:t>
                      </a:r>
                      <a:r>
                        <a:rPr lang="fr-FR" sz="1100" kern="1200" dirty="0">
                          <a:solidFill>
                            <a:schemeClr val="tx1"/>
                          </a:solidFill>
                          <a:effectLst/>
                          <a:latin typeface="+mn-lt"/>
                          <a:ea typeface="+mn-ea"/>
                          <a:cs typeface="+mn-cs"/>
                        </a:rPr>
                        <a:t>-tt;</a:t>
                      </a:r>
                    </a:p>
                    <a:p>
                      <a:pPr indent="457200"/>
                      <a:r>
                        <a:rPr lang="fr-FR" sz="1100" kern="1200" dirty="0">
                          <a:solidFill>
                            <a:schemeClr val="tx1"/>
                          </a:solidFill>
                          <a:effectLst/>
                          <a:latin typeface="+mn-lt"/>
                          <a:ea typeface="+mn-ea"/>
                          <a:cs typeface="+mn-cs"/>
                        </a:rPr>
                        <a:t>Newt-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nerẓa</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aɣ-yeṛḥem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ten-yeḥreq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Tasekkurt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tezreɛ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tineqqict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ijeǧǧigen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Teglalez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Telsa-d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Tkeḥḥel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ṭiṭṭuct-is</a:t>
                      </a:r>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Tezger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tiɣẓert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Teqqen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lḥenni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Tṣubb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takessart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Terkeb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tserdunt-is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yezreɛ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tineqqict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isennanen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Yeglalez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Tedda-d </a:t>
                      </a:r>
                      <a:r>
                        <a:rPr lang="fr-FR" sz="1100" kern="1200" dirty="0" err="1">
                          <a:solidFill>
                            <a:schemeClr val="tx1"/>
                          </a:solidFill>
                          <a:effectLst/>
                          <a:latin typeface="+mn-lt"/>
                          <a:ea typeface="+mn-ea"/>
                          <a:cs typeface="+mn-cs"/>
                        </a:rPr>
                        <a:t>tebḍant-is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Tedderɣel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tṭiṭṭuct-is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tiɣẓert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Tedda-d </a:t>
                      </a:r>
                      <a:r>
                        <a:rPr lang="fr-FR" sz="1100" kern="1200" dirty="0" err="1">
                          <a:solidFill>
                            <a:schemeClr val="tx1"/>
                          </a:solidFill>
                          <a:effectLst/>
                          <a:latin typeface="+mn-lt"/>
                          <a:ea typeface="+mn-ea"/>
                          <a:cs typeface="+mn-cs"/>
                        </a:rPr>
                        <a:t>tmessaṭ-is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Yuli-d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tẓemmumt-is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My story goes along the river, along the river:</a:t>
                      </a:r>
                    </a:p>
                    <a:p>
                      <a:pPr indent="216000" algn="l"/>
                      <a:r>
                        <a:rPr lang="en-US" sz="1100" kern="150" dirty="0">
                          <a:effectLst/>
                          <a:latin typeface="Cascadia Mono" panose="020B0609020000020004" pitchFamily="49" charset="0"/>
                          <a:cs typeface="Cascadia Mono" panose="020B0609020000020004" pitchFamily="49" charset="0"/>
                        </a:rPr>
                        <a:t>I have recited it for the children of noble souls.</a:t>
                      </a:r>
                    </a:p>
                    <a:p>
                      <a:pPr indent="216000" algn="l"/>
                      <a:r>
                        <a:rPr lang="en-US" sz="1100" kern="150" dirty="0">
                          <a:effectLst/>
                          <a:latin typeface="Cascadia Mono" panose="020B0609020000020004" pitchFamily="49" charset="0"/>
                          <a:cs typeface="Cascadia Mono" panose="020B0609020000020004" pitchFamily="49" charset="0"/>
                        </a:rPr>
                        <a:t>We went along the path, along the path,</a:t>
                      </a:r>
                    </a:p>
                    <a:p>
                      <a:pPr indent="216000" algn="l"/>
                      <a:r>
                        <a:rPr lang="en-US" sz="1100" kern="150" dirty="0">
                          <a:effectLst/>
                          <a:latin typeface="Cascadia Mono" panose="020B0609020000020004" pitchFamily="49" charset="0"/>
                          <a:cs typeface="Cascadia Mono" panose="020B0609020000020004" pitchFamily="49" charset="0"/>
                        </a:rPr>
                        <a:t>While the wolf took to the wild, to the wild:</a:t>
                      </a:r>
                    </a:p>
                    <a:p>
                      <a:pPr indent="216000" algn="l"/>
                      <a:r>
                        <a:rPr lang="en-US" sz="1100" kern="150" dirty="0">
                          <a:effectLst/>
                          <a:latin typeface="Cascadia Mono" panose="020B0609020000020004" pitchFamily="49" charset="0"/>
                          <a:cs typeface="Cascadia Mono" panose="020B0609020000020004" pitchFamily="49" charset="0"/>
                        </a:rPr>
                        <a:t>He threw a fritter to us, and we ate it;</a:t>
                      </a:r>
                    </a:p>
                    <a:p>
                      <a:pPr indent="216000" algn="l"/>
                      <a:r>
                        <a:rPr lang="en-US" sz="1100" kern="150" dirty="0">
                          <a:effectLst/>
                          <a:latin typeface="Cascadia Mono" panose="020B0609020000020004" pitchFamily="49" charset="0"/>
                          <a:cs typeface="Cascadia Mono" panose="020B0609020000020004" pitchFamily="49" charset="0"/>
                        </a:rPr>
                        <a:t>We threw a stone at him, and we broke him!</a:t>
                      </a:r>
                    </a:p>
                    <a:p>
                      <a:pPr indent="216000" algn="l"/>
                      <a:r>
                        <a:rPr lang="en-US" sz="1100" kern="150" dirty="0">
                          <a:effectLst/>
                          <a:latin typeface="Cascadia Mono" panose="020B0609020000020004" pitchFamily="49" charset="0"/>
                          <a:cs typeface="Cascadia Mono" panose="020B0609020000020004" pitchFamily="49" charset="0"/>
                        </a:rPr>
                        <a:t>As for us, may God have mercy on us;</a:t>
                      </a:r>
                    </a:p>
                    <a:p>
                      <a:pPr indent="216000" algn="l"/>
                      <a:r>
                        <a:rPr lang="en-US" sz="1100" kern="150" dirty="0">
                          <a:effectLst/>
                          <a:latin typeface="Cascadia Mono" panose="020B0609020000020004" pitchFamily="49" charset="0"/>
                          <a:cs typeface="Cascadia Mono" panose="020B0609020000020004" pitchFamily="49" charset="0"/>
                        </a:rPr>
                        <a:t>As for the wolves, may God burn them!</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The partridge sowed a small plot,</a:t>
                      </a:r>
                    </a:p>
                    <a:p>
                      <a:pPr indent="216000" algn="l"/>
                      <a:r>
                        <a:rPr lang="en-US" sz="1100" kern="150" dirty="0">
                          <a:effectLst/>
                          <a:latin typeface="Cascadia Mono" panose="020B0609020000020004" pitchFamily="49" charset="0"/>
                          <a:cs typeface="Cascadia Mono" panose="020B0609020000020004" pitchFamily="49" charset="0"/>
                        </a:rPr>
                        <a:t>And it brought forth flowers:</a:t>
                      </a:r>
                    </a:p>
                    <a:p>
                      <a:pPr indent="216000" algn="l"/>
                      <a:r>
                        <a:rPr lang="en-US" sz="1100" kern="150" dirty="0">
                          <a:effectLst/>
                          <a:latin typeface="Cascadia Mono" panose="020B0609020000020004" pitchFamily="49" charset="0"/>
                          <a:cs typeface="Cascadia Mono" panose="020B0609020000020004" pitchFamily="49" charset="0"/>
                        </a:rPr>
                        <a:t>She rolled and tumbled in it,</a:t>
                      </a:r>
                    </a:p>
                    <a:p>
                      <a:pPr indent="216000" algn="l"/>
                      <a:r>
                        <a:rPr lang="en-US" sz="1100" kern="150" dirty="0">
                          <a:effectLst/>
                          <a:latin typeface="Cascadia Mono" panose="020B0609020000020004" pitchFamily="49" charset="0"/>
                          <a:cs typeface="Cascadia Mono" panose="020B0609020000020004" pitchFamily="49" charset="0"/>
                        </a:rPr>
                        <a:t>And she was dressed like a bride.</a:t>
                      </a:r>
                    </a:p>
                    <a:p>
                      <a:pPr indent="216000" algn="l"/>
                      <a:r>
                        <a:rPr lang="en-US" sz="1100" kern="150" dirty="0">
                          <a:effectLst/>
                          <a:latin typeface="Cascadia Mono" panose="020B0609020000020004" pitchFamily="49" charset="0"/>
                          <a:cs typeface="Cascadia Mono" panose="020B0609020000020004" pitchFamily="49" charset="0"/>
                        </a:rPr>
                        <a:t>She looked up toward the sky,</a:t>
                      </a:r>
                    </a:p>
                    <a:p>
                      <a:pPr indent="216000" algn="l"/>
                      <a:r>
                        <a:rPr lang="en-US" sz="1100" kern="150" dirty="0">
                          <a:effectLst/>
                          <a:latin typeface="Cascadia Mono" panose="020B0609020000020004" pitchFamily="49" charset="0"/>
                          <a:cs typeface="Cascadia Mono" panose="020B0609020000020004" pitchFamily="49" charset="0"/>
                        </a:rPr>
                        <a:t>And it painted her sweet eye with kohl.</a:t>
                      </a:r>
                    </a:p>
                    <a:p>
                      <a:pPr indent="216000" algn="l"/>
                      <a:r>
                        <a:rPr lang="en-US" sz="1100" kern="150" dirty="0">
                          <a:effectLst/>
                          <a:latin typeface="Cascadia Mono" panose="020B0609020000020004" pitchFamily="49" charset="0"/>
                          <a:cs typeface="Cascadia Mono" panose="020B0609020000020004" pitchFamily="49" charset="0"/>
                        </a:rPr>
                        <a:t>She crossed the mountain stream,</a:t>
                      </a:r>
                    </a:p>
                    <a:p>
                      <a:pPr indent="216000" algn="l"/>
                      <a:r>
                        <a:rPr lang="en-US" sz="1100" kern="150" dirty="0">
                          <a:effectLst/>
                          <a:latin typeface="Cascadia Mono" panose="020B0609020000020004" pitchFamily="49" charset="0"/>
                          <a:cs typeface="Cascadia Mono" panose="020B0609020000020004" pitchFamily="49" charset="0"/>
                        </a:rPr>
                        <a:t>And it bound her feet with henna.</a:t>
                      </a:r>
                    </a:p>
                    <a:p>
                      <a:pPr indent="216000" algn="l"/>
                      <a:r>
                        <a:rPr lang="en-US" sz="1100" kern="150" dirty="0">
                          <a:effectLst/>
                          <a:latin typeface="Cascadia Mono" panose="020B0609020000020004" pitchFamily="49" charset="0"/>
                          <a:cs typeface="Cascadia Mono" panose="020B0609020000020004" pitchFamily="49" charset="0"/>
                        </a:rPr>
                        <a:t>She went down the slope,</a:t>
                      </a:r>
                    </a:p>
                    <a:p>
                      <a:pPr indent="216000" algn="l"/>
                      <a:r>
                        <a:rPr lang="en-US" sz="1100" kern="150" dirty="0">
                          <a:effectLst/>
                          <a:latin typeface="Cascadia Mono" panose="020B0609020000020004" pitchFamily="49" charset="0"/>
                          <a:cs typeface="Cascadia Mono" panose="020B0609020000020004" pitchFamily="49" charset="0"/>
                        </a:rPr>
                        <a:t>Riding upon her mule.</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The wolf sowed a small plot,</a:t>
                      </a:r>
                    </a:p>
                    <a:p>
                      <a:pPr indent="216000" algn="l"/>
                      <a:r>
                        <a:rPr lang="en-US" sz="1100" kern="150" dirty="0">
                          <a:effectLst/>
                          <a:latin typeface="Cascadia Mono" panose="020B0609020000020004" pitchFamily="49" charset="0"/>
                          <a:cs typeface="Cascadia Mono" panose="020B0609020000020004" pitchFamily="49" charset="0"/>
                        </a:rPr>
                        <a:t>And it brought forth thorns:</a:t>
                      </a:r>
                    </a:p>
                    <a:p>
                      <a:pPr indent="216000" algn="l"/>
                      <a:r>
                        <a:rPr lang="en-US" sz="1100" kern="150" dirty="0">
                          <a:effectLst/>
                          <a:latin typeface="Cascadia Mono" panose="020B0609020000020004" pitchFamily="49" charset="0"/>
                          <a:cs typeface="Cascadia Mono" panose="020B0609020000020004" pitchFamily="49" charset="0"/>
                        </a:rPr>
                        <a:t>He rolled and tumbled in it,</a:t>
                      </a:r>
                    </a:p>
                    <a:p>
                      <a:pPr indent="216000" algn="l"/>
                      <a:r>
                        <a:rPr lang="en-US" sz="1100" kern="150" dirty="0">
                          <a:effectLst/>
                          <a:latin typeface="Cascadia Mono" panose="020B0609020000020004" pitchFamily="49" charset="0"/>
                          <a:cs typeface="Cascadia Mono" panose="020B0609020000020004" pitchFamily="49" charset="0"/>
                        </a:rPr>
                        <a:t>And his skin was torn away.</a:t>
                      </a:r>
                    </a:p>
                    <a:p>
                      <a:pPr indent="216000" algn="l"/>
                      <a:r>
                        <a:rPr lang="en-US" sz="1100" kern="150" dirty="0">
                          <a:effectLst/>
                          <a:latin typeface="Cascadia Mono" panose="020B0609020000020004" pitchFamily="49" charset="0"/>
                          <a:cs typeface="Cascadia Mono" panose="020B0609020000020004" pitchFamily="49" charset="0"/>
                        </a:rPr>
                        <a:t>He looked up toward the sky,</a:t>
                      </a:r>
                    </a:p>
                    <a:p>
                      <a:pPr indent="216000" algn="l"/>
                      <a:r>
                        <a:rPr lang="en-US" sz="1100" kern="150" dirty="0">
                          <a:effectLst/>
                          <a:latin typeface="Cascadia Mono" panose="020B0609020000020004" pitchFamily="49" charset="0"/>
                          <a:cs typeface="Cascadia Mono" panose="020B0609020000020004" pitchFamily="49" charset="0"/>
                        </a:rPr>
                        <a:t>And his sweet eye was blinded.</a:t>
                      </a:r>
                    </a:p>
                    <a:p>
                      <a:pPr indent="216000" algn="l"/>
                      <a:r>
                        <a:rPr lang="en-US" sz="1100" kern="150" dirty="0">
                          <a:effectLst/>
                          <a:latin typeface="Cascadia Mono" panose="020B0609020000020004" pitchFamily="49" charset="0"/>
                          <a:cs typeface="Cascadia Mono" panose="020B0609020000020004" pitchFamily="49" charset="0"/>
                        </a:rPr>
                        <a:t>He crossed the mountain stream,</a:t>
                      </a:r>
                    </a:p>
                    <a:p>
                      <a:pPr indent="216000" algn="l"/>
                      <a:r>
                        <a:rPr lang="en-US" sz="1100" kern="150" dirty="0">
                          <a:effectLst/>
                          <a:latin typeface="Cascadia Mono" panose="020B0609020000020004" pitchFamily="49" charset="0"/>
                          <a:cs typeface="Cascadia Mono" panose="020B0609020000020004" pitchFamily="49" charset="0"/>
                        </a:rPr>
                        <a:t>And his thigh was carried away.</a:t>
                      </a:r>
                    </a:p>
                    <a:p>
                      <a:pPr indent="216000" algn="l"/>
                      <a:r>
                        <a:rPr lang="en-US" sz="1100" kern="150" dirty="0">
                          <a:effectLst/>
                          <a:latin typeface="Cascadia Mono" panose="020B0609020000020004" pitchFamily="49" charset="0"/>
                          <a:cs typeface="Cascadia Mono" panose="020B0609020000020004" pitchFamily="49" charset="0"/>
                        </a:rPr>
                        <a:t>He went up the steep slope,</a:t>
                      </a:r>
                    </a:p>
                    <a:p>
                      <a:pPr indent="216000" algn="l"/>
                      <a:r>
                        <a:rPr lang="en-US" sz="1100" kern="150" dirty="0">
                          <a:effectLst/>
                          <a:latin typeface="Cascadia Mono" panose="020B0609020000020004" pitchFamily="49" charset="0"/>
                          <a:cs typeface="Cascadia Mono" panose="020B0609020000020004" pitchFamily="49" charset="0"/>
                        </a:rPr>
                        <a:t>And his snout burst open.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00686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0107299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Lxattima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The Conclusion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nelli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imunan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tmeyyzem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taḥkayt</a:t>
                      </a:r>
                      <a:r>
                        <a:rPr lang="fr-FR" sz="1100" kern="1200" dirty="0">
                          <a:solidFill>
                            <a:schemeClr val="tx1"/>
                          </a:solidFill>
                          <a:effectLst/>
                          <a:latin typeface="+mn-lt"/>
                          <a:ea typeface="+mn-ea"/>
                          <a:cs typeface="+mn-cs"/>
                        </a:rPr>
                        <a:t> agi.</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yakk</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lhaɣ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ken-menɛeɣ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tyitwin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lḥekma</a:t>
                      </a:r>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lewqama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Bac ad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leqdeṛ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Iḥader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Fell-as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Izem,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Izemren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ccwal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Ssemrarɣen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ɛad</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Ha kan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yenjaḥ</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w’illan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menwala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Iḍuɛen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ddewla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yettili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alemmam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Ma la </a:t>
                      </a:r>
                      <a:r>
                        <a:rPr lang="fr-FR" sz="1100" kern="1200" dirty="0" err="1">
                          <a:solidFill>
                            <a:schemeClr val="tx1"/>
                          </a:solidFill>
                          <a:effectLst/>
                          <a:latin typeface="+mn-lt"/>
                          <a:ea typeface="+mn-ea"/>
                          <a:cs typeface="+mn-cs"/>
                        </a:rPr>
                        <a:t>yettɛanad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Yesnaɣa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Kulwa </a:t>
                      </a:r>
                      <a:r>
                        <a:rPr lang="fr-FR" sz="1100" kern="1200" dirty="0" err="1">
                          <a:solidFill>
                            <a:schemeClr val="tx1"/>
                          </a:solidFill>
                          <a:effectLst/>
                          <a:latin typeface="+mn-lt"/>
                          <a:ea typeface="+mn-ea"/>
                          <a:cs typeface="+mn-cs"/>
                        </a:rPr>
                        <a:t>yesɣab</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To all those who have listened to me,</a:t>
                      </a:r>
                    </a:p>
                    <a:p>
                      <a:pPr indent="216000" algn="l"/>
                      <a:r>
                        <a:rPr lang="en-US" sz="1100" kern="150" dirty="0">
                          <a:effectLst/>
                          <a:latin typeface="Cascadia Mono" panose="020B0609020000020004" pitchFamily="49" charset="0"/>
                          <a:cs typeface="Cascadia Mono" panose="020B0609020000020004" pitchFamily="49" charset="0"/>
                        </a:rPr>
                        <a:t>You who are not unmindful or simple-minded,</a:t>
                      </a:r>
                    </a:p>
                    <a:p>
                      <a:pPr indent="216000" algn="l"/>
                      <a:r>
                        <a:rPr lang="en-US" sz="1100" kern="150" dirty="0">
                          <a:effectLst/>
                          <a:latin typeface="Cascadia Mono" panose="020B0609020000020004" pitchFamily="49" charset="0"/>
                          <a:cs typeface="Cascadia Mono" panose="020B0609020000020004" pitchFamily="49" charset="0"/>
                        </a:rPr>
                        <a:t>Reflect deeply upon this tale.</a:t>
                      </a:r>
                    </a:p>
                    <a:p>
                      <a:pPr indent="216000" algn="l"/>
                      <a:r>
                        <a:rPr lang="en-US" sz="1100" kern="150" dirty="0">
                          <a:effectLst/>
                          <a:latin typeface="Cascadia Mono" panose="020B0609020000020004" pitchFamily="49" charset="0"/>
                          <a:cs typeface="Cascadia Mono" panose="020B0609020000020004" pitchFamily="49" charset="0"/>
                        </a:rPr>
                        <a:t>It is for all of you that I have labored,</a:t>
                      </a:r>
                    </a:p>
                    <a:p>
                      <a:pPr indent="216000" algn="l"/>
                      <a:r>
                        <a:rPr lang="en-US" sz="1100" kern="150" dirty="0">
                          <a:effectLst/>
                          <a:latin typeface="Cascadia Mono" panose="020B0609020000020004" pitchFamily="49" charset="0"/>
                          <a:cs typeface="Cascadia Mono" panose="020B0609020000020004" pitchFamily="49" charset="0"/>
                        </a:rPr>
                        <a:t>In order to safeguard you</a:t>
                      </a:r>
                    </a:p>
                    <a:p>
                      <a:pPr indent="216000" algn="l"/>
                      <a:r>
                        <a:rPr lang="en-US" sz="1100" kern="150" dirty="0">
                          <a:effectLst/>
                          <a:latin typeface="Cascadia Mono" panose="020B0609020000020004" pitchFamily="49" charset="0"/>
                          <a:cs typeface="Cascadia Mono" panose="020B0609020000020004" pitchFamily="49" charset="0"/>
                        </a:rPr>
                        <a:t>From the striking blows of God.</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Whosoever stands in a position of authority</a:t>
                      </a:r>
                    </a:p>
                    <a:p>
                      <a:pPr indent="216000" algn="l"/>
                      <a:r>
                        <a:rPr lang="en-US" sz="1100" kern="150" dirty="0">
                          <a:effectLst/>
                          <a:latin typeface="Cascadia Mono" panose="020B0609020000020004" pitchFamily="49" charset="0"/>
                          <a:cs typeface="Cascadia Mono" panose="020B0609020000020004" pitchFamily="49" charset="0"/>
                        </a:rPr>
                        <a:t>Let him act with complete uprightness,</a:t>
                      </a:r>
                    </a:p>
                    <a:p>
                      <a:pPr indent="216000" algn="l"/>
                      <a:r>
                        <a:rPr lang="en-US" sz="1100" kern="150" dirty="0">
                          <a:effectLst/>
                          <a:latin typeface="Cascadia Mono" panose="020B0609020000020004" pitchFamily="49" charset="0"/>
                          <a:cs typeface="Cascadia Mono" panose="020B0609020000020004" pitchFamily="49" charset="0"/>
                        </a:rPr>
                        <a:t>So that he may remain mounted, and never be brought low.</a:t>
                      </a:r>
                    </a:p>
                    <a:p>
                      <a:pPr indent="216000" algn="l"/>
                      <a:r>
                        <a:rPr lang="en-US" sz="1100" kern="150" dirty="0">
                          <a:effectLst/>
                          <a:latin typeface="Cascadia Mono" panose="020B0609020000020004" pitchFamily="49" charset="0"/>
                          <a:cs typeface="Cascadia Mono" panose="020B0609020000020004" pitchFamily="49" charset="0"/>
                        </a:rPr>
                        <a:t>Let him give due honor to the great,</a:t>
                      </a:r>
                    </a:p>
                    <a:p>
                      <a:pPr indent="216000" algn="l"/>
                      <a:r>
                        <a:rPr lang="en-US" sz="1100" kern="150" dirty="0">
                          <a:effectLst/>
                          <a:latin typeface="Cascadia Mono" panose="020B0609020000020004" pitchFamily="49" charset="0"/>
                          <a:cs typeface="Cascadia Mono" panose="020B0609020000020004" pitchFamily="49" charset="0"/>
                        </a:rPr>
                        <a:t>And shelter the small,</a:t>
                      </a:r>
                    </a:p>
                    <a:p>
                      <a:pPr indent="216000" algn="l"/>
                      <a:r>
                        <a:rPr lang="en-US" sz="1100" kern="150" dirty="0">
                          <a:effectLst/>
                          <a:latin typeface="Cascadia Mono" panose="020B0609020000020004" pitchFamily="49" charset="0"/>
                          <a:cs typeface="Cascadia Mono" panose="020B0609020000020004" pitchFamily="49" charset="0"/>
                        </a:rPr>
                        <a:t>So that no hand shall ever be lifted against him.</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Even the lion, as is well known,</a:t>
                      </a:r>
                    </a:p>
                    <a:p>
                      <a:pPr indent="216000" algn="l"/>
                      <a:r>
                        <a:rPr lang="en-US" sz="1100" kern="150" dirty="0">
                          <a:effectLst/>
                          <a:latin typeface="Cascadia Mono" panose="020B0609020000020004" pitchFamily="49" charset="0"/>
                          <a:cs typeface="Cascadia Mono" panose="020B0609020000020004" pitchFamily="49" charset="0"/>
                        </a:rPr>
                        <a:t>Who was strong enough for any strife,</a:t>
                      </a:r>
                    </a:p>
                    <a:p>
                      <a:pPr indent="216000" algn="l"/>
                      <a:r>
                        <a:rPr lang="en-US" sz="1100" kern="150" dirty="0">
                          <a:effectLst/>
                          <a:latin typeface="Cascadia Mono" panose="020B0609020000020004" pitchFamily="49" charset="0"/>
                          <a:cs typeface="Cascadia Mono" panose="020B0609020000020004" pitchFamily="49" charset="0"/>
                        </a:rPr>
                        <a:t>Was stretched out dead upon the ground.</a:t>
                      </a:r>
                    </a:p>
                    <a:p>
                      <a:pPr indent="216000" algn="l"/>
                      <a:r>
                        <a:rPr lang="en-US" sz="1100" kern="150" dirty="0">
                          <a:effectLst/>
                          <a:latin typeface="Cascadia Mono" panose="020B0609020000020004" pitchFamily="49" charset="0"/>
                          <a:cs typeface="Cascadia Mono" panose="020B0609020000020004" pitchFamily="49" charset="0"/>
                        </a:rPr>
                        <a:t>How much more so for the child of Adam,</a:t>
                      </a:r>
                    </a:p>
                    <a:p>
                      <a:pPr indent="216000" algn="l"/>
                      <a:r>
                        <a:rPr lang="en-US" sz="1100" kern="150" dirty="0">
                          <a:effectLst/>
                          <a:latin typeface="Cascadia Mono" panose="020B0609020000020004" pitchFamily="49" charset="0"/>
                          <a:cs typeface="Cascadia Mono" panose="020B0609020000020004" pitchFamily="49" charset="0"/>
                        </a:rPr>
                        <a:t>Who is made of mere frailty,</a:t>
                      </a:r>
                    </a:p>
                    <a:p>
                      <a:pPr indent="216000" algn="l"/>
                      <a:r>
                        <a:rPr lang="en-US" sz="1100" kern="150" dirty="0">
                          <a:effectLst/>
                          <a:latin typeface="Cascadia Mono" panose="020B0609020000020004" pitchFamily="49" charset="0"/>
                          <a:cs typeface="Cascadia Mono" panose="020B0609020000020004" pitchFamily="49" charset="0"/>
                        </a:rPr>
                        <a:t>To think that he could easily triumph.</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As for the one who is an ordinary man,</a:t>
                      </a:r>
                    </a:p>
                    <a:p>
                      <a:pPr indent="216000" algn="l"/>
                      <a:r>
                        <a:rPr lang="en-US" sz="1100" kern="150" dirty="0">
                          <a:effectLst/>
                          <a:latin typeface="Cascadia Mono" panose="020B0609020000020004" pitchFamily="49" charset="0"/>
                          <a:cs typeface="Cascadia Mono" panose="020B0609020000020004" pitchFamily="49" charset="0"/>
                        </a:rPr>
                        <a:t>Who obeys the authority of the land,</a:t>
                      </a:r>
                    </a:p>
                    <a:p>
                      <a:pPr indent="216000" algn="l"/>
                      <a:r>
                        <a:rPr lang="en-US" sz="1100" kern="150" dirty="0">
                          <a:effectLst/>
                          <a:latin typeface="Cascadia Mono" panose="020B0609020000020004" pitchFamily="49" charset="0"/>
                          <a:cs typeface="Cascadia Mono" panose="020B0609020000020004" pitchFamily="49" charset="0"/>
                        </a:rPr>
                        <a:t>Let him never become a deceitful plotters.</a:t>
                      </a:r>
                    </a:p>
                    <a:p>
                      <a:pPr indent="216000" algn="l"/>
                      <a:r>
                        <a:rPr lang="en-US" sz="1100" kern="150" dirty="0">
                          <a:effectLst/>
                          <a:latin typeface="Cascadia Mono" panose="020B0609020000020004" pitchFamily="49" charset="0"/>
                          <a:cs typeface="Cascadia Mono" panose="020B0609020000020004" pitchFamily="49" charset="0"/>
                        </a:rPr>
                        <a:t>If he goes about imitating the wolf,</a:t>
                      </a:r>
                    </a:p>
                    <a:p>
                      <a:pPr indent="216000" algn="l"/>
                      <a:r>
                        <a:rPr lang="en-US" sz="1100" kern="150" dirty="0">
                          <a:effectLst/>
                          <a:latin typeface="Cascadia Mono" panose="020B0609020000020004" pitchFamily="49" charset="0"/>
                          <a:cs typeface="Cascadia Mono" panose="020B0609020000020004" pitchFamily="49" charset="0"/>
                        </a:rPr>
                        <a:t>Setting people against one another,</a:t>
                      </a:r>
                    </a:p>
                    <a:p>
                      <a:pPr indent="216000" algn="l"/>
                      <a:r>
                        <a:rPr lang="en-US" sz="1100" kern="150" dirty="0">
                          <a:effectLst/>
                          <a:latin typeface="Cascadia Mono" panose="020B0609020000020004" pitchFamily="49" charset="0"/>
                          <a:cs typeface="Cascadia Mono" panose="020B0609020000020004" pitchFamily="49" charset="0"/>
                        </a:rPr>
                        <a:t>He will steal the sleep from everyone's eyes.</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838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66304299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Lemqassa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tegguni</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Lḥirfa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tesdull-it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Ttgammin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walin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Ad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uɛessas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ɣunfun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ilawin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Times ad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Yeblis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yessexsin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nncaf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lxeṭṭ</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nendem</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Imi d </a:t>
                      </a:r>
                      <a:r>
                        <a:rPr lang="fr-FR" sz="1100" kern="1200" dirty="0" err="1">
                          <a:solidFill>
                            <a:schemeClr val="tx1"/>
                          </a:solidFill>
                          <a:effectLst/>
                          <a:latin typeface="+mn-lt"/>
                          <a:ea typeface="+mn-ea"/>
                          <a:cs typeface="+mn-cs"/>
                        </a:rPr>
                        <a:t>lfahem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teṣfa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Yessakay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iɣeflen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Ttafen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yeḥbiben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lfayda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Akka ay d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Iḍefren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iberdan</a:t>
                      </a:r>
                      <a:endParaRPr lang="fr-FR" sz="1100" kern="1200" dirty="0">
                        <a:solidFill>
                          <a:schemeClr val="tx1"/>
                        </a:solidFill>
                        <a:effectLst/>
                        <a:latin typeface="+mn-lt"/>
                        <a:ea typeface="+mn-ea"/>
                        <a:cs typeface="+mn-cs"/>
                      </a:endParaRPr>
                    </a:p>
                    <a:p>
                      <a:pPr indent="457200"/>
                      <a:r>
                        <a:rPr lang="en-GB" sz="1100" kern="1200" dirty="0">
                          <a:solidFill>
                            <a:schemeClr val="tx1"/>
                          </a:solidFill>
                          <a:effectLst/>
                          <a:latin typeface="+mn-lt"/>
                          <a:ea typeface="+mn-ea"/>
                          <a:cs typeface="+mn-cs"/>
                        </a:rPr>
                        <a:t>Ɣ</a:t>
                      </a:r>
                      <a:r>
                        <a:rPr lang="fr-FR" sz="1100" kern="1200" dirty="0" err="1">
                          <a:solidFill>
                            <a:schemeClr val="tx1"/>
                          </a:solidFill>
                          <a:effectLst/>
                          <a:latin typeface="+mn-lt"/>
                          <a:ea typeface="+mn-ea"/>
                          <a:cs typeface="+mn-cs"/>
                        </a:rPr>
                        <a:t>ef</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ccaṛiɛa</a:t>
                      </a:r>
                      <a:r>
                        <a:rPr lang="fr-FR" sz="1100" kern="1200" dirty="0">
                          <a:solidFill>
                            <a:schemeClr val="tx1"/>
                          </a:solidFill>
                          <a:effectLst/>
                          <a:latin typeface="+mn-lt"/>
                          <a:ea typeface="+mn-ea"/>
                          <a:cs typeface="+mn-cs"/>
                        </a:rPr>
                        <a:t>.</a:t>
                      </a:r>
                    </a:p>
                    <a:p>
                      <a:pPr indent="457200"/>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targit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Lxattima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ṛṛeḥma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kern="150" dirty="0">
                          <a:effectLst/>
                          <a:latin typeface="Cascadia Mono" panose="020B0609020000020004" pitchFamily="49" charset="0"/>
                          <a:cs typeface="Cascadia Mono" panose="020B0609020000020004" pitchFamily="49" charset="0"/>
                        </a:rPr>
                        <a:t>¶ The ultimate retribution is waiting for him,</a:t>
                      </a:r>
                    </a:p>
                    <a:p>
                      <a:pPr indent="216000" algn="l"/>
                      <a:r>
                        <a:rPr lang="en-US" sz="1100" kern="150" dirty="0">
                          <a:effectLst/>
                          <a:latin typeface="Cascadia Mono" panose="020B0609020000020004" pitchFamily="49" charset="0"/>
                          <a:cs typeface="Cascadia Mono" panose="020B0609020000020004" pitchFamily="49" charset="0"/>
                        </a:rPr>
                        <a:t>His treacherous trade will bring him low,</a:t>
                      </a:r>
                    </a:p>
                    <a:p>
                      <a:pPr indent="216000" algn="l"/>
                      <a:r>
                        <a:rPr lang="en-US" sz="1100" kern="150" dirty="0">
                          <a:effectLst/>
                          <a:latin typeface="Cascadia Mono" panose="020B0609020000020004" pitchFamily="49" charset="0"/>
                          <a:cs typeface="Cascadia Mono" panose="020B0609020000020004" pitchFamily="49" charset="0"/>
                        </a:rPr>
                        <a:t>And people will refuse to even look upon him.</a:t>
                      </a:r>
                    </a:p>
                    <a:p>
                      <a:pPr indent="216000" algn="l"/>
                      <a:r>
                        <a:rPr lang="en-US" sz="1100" kern="150" dirty="0">
                          <a:effectLst/>
                          <a:latin typeface="Cascadia Mono" panose="020B0609020000020004" pitchFamily="49" charset="0"/>
                          <a:cs typeface="Cascadia Mono" panose="020B0609020000020004" pitchFamily="49" charset="0"/>
                        </a:rPr>
                        <a:t>One day, an evil day will fall upon him,</a:t>
                      </a:r>
                    </a:p>
                    <a:p>
                      <a:pPr indent="216000" algn="l"/>
                      <a:r>
                        <a:rPr lang="en-US" sz="1100" kern="150" dirty="0">
                          <a:effectLst/>
                          <a:latin typeface="Cascadia Mono" panose="020B0609020000020004" pitchFamily="49" charset="0"/>
                          <a:cs typeface="Cascadia Mono" panose="020B0609020000020004" pitchFamily="49" charset="0"/>
                        </a:rPr>
                        <a:t>The Guardian will strike him down,</a:t>
                      </a:r>
                    </a:p>
                    <a:p>
                      <a:pPr indent="216000" algn="l"/>
                      <a:r>
                        <a:rPr lang="en-US" sz="1100" kern="150" dirty="0">
                          <a:effectLst/>
                          <a:latin typeface="Cascadia Mono" panose="020B0609020000020004" pitchFamily="49" charset="0"/>
                          <a:cs typeface="Cascadia Mono" panose="020B0609020000020004" pitchFamily="49" charset="0"/>
                        </a:rPr>
                        <a:t>And both men and women will turn from him in disgust.</a:t>
                      </a:r>
                      <a:endParaRPr lang="en-GB" sz="1100" dirty="0">
                        <a:latin typeface="Cascadia Mono" panose="020B0609020000020004" pitchFamily="49" charset="0"/>
                        <a:cs typeface="Cascadia Mono" panose="020B0609020000020004" pitchFamily="49" charset="0"/>
                      </a:endParaRP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A burning fire will kindle within his heart,</a:t>
                      </a:r>
                    </a:p>
                    <a:p>
                      <a:pPr indent="216000" algn="l"/>
                      <a:r>
                        <a:rPr lang="en-US" sz="1100" kern="150" dirty="0">
                          <a:effectLst/>
                          <a:latin typeface="Cascadia Mono" panose="020B0609020000020004" pitchFamily="49" charset="0"/>
                          <a:cs typeface="Cascadia Mono" panose="020B0609020000020004" pitchFamily="49" charset="0"/>
                        </a:rPr>
                        <a:t>As if he were the Devil himself,</a:t>
                      </a:r>
                    </a:p>
                    <a:p>
                      <a:pPr indent="216000" algn="l"/>
                      <a:r>
                        <a:rPr lang="en-US" sz="1100" kern="150" dirty="0">
                          <a:effectLst/>
                          <a:latin typeface="Cascadia Mono" panose="020B0609020000020004" pitchFamily="49" charset="0"/>
                          <a:cs typeface="Cascadia Mono" panose="020B0609020000020004" pitchFamily="49" charset="0"/>
                        </a:rPr>
                        <a:t>And there will be no one to extinguish it.</a:t>
                      </a:r>
                    </a:p>
                    <a:p>
                      <a:pPr indent="216000" algn="l"/>
                      <a:r>
                        <a:rPr lang="en-US" sz="1100" kern="150" dirty="0">
                          <a:effectLst/>
                          <a:latin typeface="Cascadia Mono" panose="020B0609020000020004" pitchFamily="49" charset="0"/>
                          <a:cs typeface="Cascadia Mono" panose="020B0609020000020004" pitchFamily="49" charset="0"/>
                        </a:rPr>
                        <a:t>He will find himself trapped in a deep chasm,</a:t>
                      </a:r>
                    </a:p>
                    <a:p>
                      <a:pPr indent="216000" algn="l"/>
                      <a:r>
                        <a:rPr lang="en-US" sz="1100" kern="150" dirty="0">
                          <a:effectLst/>
                          <a:latin typeface="Cascadia Mono" panose="020B0609020000020004" pitchFamily="49" charset="0"/>
                          <a:cs typeface="Cascadia Mono" panose="020B0609020000020004" pitchFamily="49" charset="0"/>
                        </a:rPr>
                        <a:t>Dying a parched, agonizing death:</a:t>
                      </a:r>
                    </a:p>
                    <a:p>
                      <a:pPr indent="216000" algn="l"/>
                      <a:r>
                        <a:rPr lang="en-US" sz="1100" kern="150" dirty="0">
                          <a:effectLst/>
                          <a:latin typeface="Cascadia Mono" panose="020B0609020000020004" pitchFamily="49" charset="0"/>
                          <a:cs typeface="Cascadia Mono" panose="020B0609020000020004" pitchFamily="49" charset="0"/>
                        </a:rPr>
                        <a:t>By the strict decree of God the Merciful.</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It is for Sir </a:t>
                      </a:r>
                      <a:r>
                        <a:rPr lang="fr-FR" sz="1100" kern="1200" dirty="0" err="1">
                          <a:solidFill>
                            <a:schemeClr val="tx1"/>
                          </a:solidFill>
                          <a:effectLst/>
                          <a:latin typeface="+mn-lt"/>
                          <a:ea typeface="+mn-ea"/>
                          <a:cs typeface="+mn-cs"/>
                        </a:rPr>
                        <a:t>Rabeḥ</a:t>
                      </a:r>
                      <a:r>
                        <a:rPr lang="en-US" sz="1100" kern="150" dirty="0">
                          <a:effectLst/>
                          <a:latin typeface="Cascadia Mono" panose="020B0609020000020004" pitchFamily="49" charset="0"/>
                          <a:cs typeface="Cascadia Mono" panose="020B0609020000020004" pitchFamily="49" charset="0"/>
                        </a:rPr>
                        <a:t> that we shall grieve,</a:t>
                      </a:r>
                    </a:p>
                    <a:p>
                      <a:pPr indent="216000" algn="l"/>
                      <a:r>
                        <a:rPr lang="en-US" sz="1100" kern="150" dirty="0">
                          <a:effectLst/>
                          <a:latin typeface="Cascadia Mono" panose="020B0609020000020004" pitchFamily="49" charset="0"/>
                          <a:cs typeface="Cascadia Mono" panose="020B0609020000020004" pitchFamily="49" charset="0"/>
                        </a:rPr>
                        <a:t>For he was a man of deep understanding:</a:t>
                      </a:r>
                    </a:p>
                    <a:p>
                      <a:pPr indent="216000" algn="l"/>
                      <a:r>
                        <a:rPr lang="en-US" sz="1100" kern="150" dirty="0">
                          <a:effectLst/>
                          <a:latin typeface="Cascadia Mono" panose="020B0609020000020004" pitchFamily="49" charset="0"/>
                          <a:cs typeface="Cascadia Mono" panose="020B0609020000020004" pitchFamily="49" charset="0"/>
                        </a:rPr>
                        <a:t>His path was ever pure and unblemished.</a:t>
                      </a:r>
                    </a:p>
                    <a:p>
                      <a:pPr indent="216000" algn="l"/>
                      <a:r>
                        <a:rPr lang="en-US" sz="1100" kern="150" dirty="0">
                          <a:effectLst/>
                          <a:latin typeface="Cascadia Mono" panose="020B0609020000020004" pitchFamily="49" charset="0"/>
                          <a:cs typeface="Cascadia Mono" panose="020B0609020000020004" pitchFamily="49" charset="0"/>
                        </a:rPr>
                        <a:t>He awakened those who were heedless,</a:t>
                      </a:r>
                    </a:p>
                    <a:p>
                      <a:pPr indent="216000" algn="l"/>
                      <a:r>
                        <a:rPr lang="en-US" sz="1100" kern="150" dirty="0">
                          <a:effectLst/>
                          <a:latin typeface="Cascadia Mono" panose="020B0609020000020004" pitchFamily="49" charset="0"/>
                          <a:cs typeface="Cascadia Mono" panose="020B0609020000020004" pitchFamily="49" charset="0"/>
                        </a:rPr>
                        <a:t>His friends always found him true,</a:t>
                      </a:r>
                    </a:p>
                    <a:p>
                      <a:pPr indent="216000" algn="l"/>
                      <a:r>
                        <a:rPr lang="en-US" sz="1100" kern="150" dirty="0">
                          <a:effectLst/>
                          <a:latin typeface="Cascadia Mono" panose="020B0609020000020004" pitchFamily="49" charset="0"/>
                          <a:cs typeface="Cascadia Mono" panose="020B0609020000020004" pitchFamily="49" charset="0"/>
                        </a:rPr>
                        <a:t>And dealing with him brought nothing but blessing.</a:t>
                      </a:r>
                    </a:p>
                    <a:p>
                      <a:pPr indent="216000" algn="l"/>
                      <a:endParaRPr lang="en-US" sz="1100" kern="150" dirty="0">
                        <a:effectLst/>
                        <a:latin typeface="Cascadia Mono" panose="020B0609020000020004" pitchFamily="49" charset="0"/>
                        <a:cs typeface="Cascadia Mono" panose="020B0609020000020004" pitchFamily="49" charset="0"/>
                      </a:endParaRPr>
                    </a:p>
                    <a:p>
                      <a:pPr indent="216000" algn="l"/>
                      <a:r>
                        <a:rPr lang="en-US" sz="1100" kern="150" dirty="0">
                          <a:effectLst/>
                          <a:latin typeface="Cascadia Mono" panose="020B0609020000020004" pitchFamily="49" charset="0"/>
                          <a:cs typeface="Cascadia Mono" panose="020B0609020000020004" pitchFamily="49" charset="0"/>
                        </a:rPr>
                        <a:t>¶ Such is the upright child of Adam,</a:t>
                      </a:r>
                    </a:p>
                    <a:p>
                      <a:pPr indent="216000" algn="l"/>
                      <a:r>
                        <a:rPr lang="en-US" sz="1100" kern="150" dirty="0">
                          <a:effectLst/>
                          <a:latin typeface="Cascadia Mono" panose="020B0609020000020004" pitchFamily="49" charset="0"/>
                          <a:cs typeface="Cascadia Mono" panose="020B0609020000020004" pitchFamily="49" charset="0"/>
                        </a:rPr>
                        <a:t>Who follows the true paths</a:t>
                      </a:r>
                    </a:p>
                    <a:p>
                      <a:pPr indent="216000" algn="l"/>
                      <a:r>
                        <a:rPr lang="en-US" sz="1100" kern="150" dirty="0">
                          <a:effectLst/>
                          <a:latin typeface="Cascadia Mono" panose="020B0609020000020004" pitchFamily="49" charset="0"/>
                          <a:cs typeface="Cascadia Mono" panose="020B0609020000020004" pitchFamily="49" charset="0"/>
                        </a:rPr>
                        <a:t>Decreed by the sacred law.</a:t>
                      </a:r>
                    </a:p>
                    <a:p>
                      <a:pPr indent="216000" algn="l"/>
                      <a:r>
                        <a:rPr lang="en-US" sz="1100" kern="150" dirty="0">
                          <a:effectLst/>
                          <a:latin typeface="Cascadia Mono" panose="020B0609020000020004" pitchFamily="49" charset="0"/>
                          <a:cs typeface="Cascadia Mono" panose="020B0609020000020004" pitchFamily="49" charset="0"/>
                        </a:rPr>
                        <a:t>Though the world may be harsh and unyielding to him,</a:t>
                      </a:r>
                    </a:p>
                    <a:p>
                      <a:pPr indent="216000" algn="l"/>
                      <a:r>
                        <a:rPr lang="en-US" sz="1100" kern="150" dirty="0">
                          <a:effectLst/>
                          <a:latin typeface="Cascadia Mono" panose="020B0609020000020004" pitchFamily="49" charset="0"/>
                          <a:cs typeface="Cascadia Mono" panose="020B0609020000020004" pitchFamily="49" charset="0"/>
                        </a:rPr>
                        <a:t>It passes away just like a dream,</a:t>
                      </a:r>
                    </a:p>
                    <a:p>
                      <a:pPr indent="216000" algn="l"/>
                      <a:r>
                        <a:rPr lang="en-US" sz="1100" kern="150" dirty="0">
                          <a:effectLst/>
                          <a:latin typeface="Cascadia Mono" panose="020B0609020000020004" pitchFamily="49" charset="0"/>
                          <a:cs typeface="Cascadia Mono" panose="020B0609020000020004" pitchFamily="49" charset="0"/>
                        </a:rPr>
                        <a:t>And his ultimate end is mercy.</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8584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ascadia Mono"/>
        <a:ea typeface=""/>
        <a:cs typeface=""/>
      </a:majorFont>
      <a:minorFont>
        <a:latin typeface="Cascadia Mon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10714</TotalTime>
  <Words>29910</Words>
  <Application>Microsoft Office PowerPoint</Application>
  <PresentationFormat>Widescreen</PresentationFormat>
  <Paragraphs>1667</Paragraphs>
  <Slides>85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sferhah</dc:creator>
  <cp:lastModifiedBy>sferhah</cp:lastModifiedBy>
  <cp:revision>1740</cp:revision>
  <dcterms:created xsi:type="dcterms:W3CDTF">2023-02-08T10:37:07Z</dcterms:created>
  <dcterms:modified xsi:type="dcterms:W3CDTF">2026-10-26T04:36:40Z</dcterms:modified>
</cp:coreProperties>
</file>