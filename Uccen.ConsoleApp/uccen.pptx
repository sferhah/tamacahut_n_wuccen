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16413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8895190"/>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cs typeface="Cascadia Mono" panose="020B0609020000020004" pitchFamily="49" charset="0"/>
                      </a:endParaRPr>
                    </a:p>
                    <a:p>
                      <a:pPr indent="215900" algn="l"/>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a:t>
                      </a:r>
                      <a:endParaRPr lang="en-GB"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007055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80698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3572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a:t>
                      </a:r>
                      <a:r>
                        <a:rPr lang="fr-FR" sz="1100" kern="150" dirty="0">
                          <a:effectLst/>
                          <a:latin typeface="Cascadia Mono" panose="020B0609020000020004" pitchFamily="49" charset="0"/>
                          <a:cs typeface="Cascadia Mono" panose="020B0609020000020004" pitchFamily="49" charset="0"/>
                        </a:rPr>
                        <a:t>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87621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weɣyul,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Atma-k, ha-ten la </a:t>
                      </a:r>
                      <a:r>
                        <a:rPr lang="fr-FR" sz="1100" kern="1200" err="1">
                          <a:solidFill>
                            <a:schemeClr val="tx1"/>
                          </a:solidFill>
                          <a:effectLst/>
                          <a:latin typeface="+mn-lt"/>
                          <a:ea typeface="+mn-ea"/>
                          <a:cs typeface="+mn-cs"/>
                        </a:rPr>
                        <a:t>ẓẓaden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abelluḍ</a:t>
                      </a:r>
                      <a:r>
                        <a:rPr lang="fr-FR" sz="1100" kern="1200">
                          <a:solidFill>
                            <a:schemeClr val="tx1"/>
                          </a:solidFill>
                          <a:effectLst/>
                          <a:latin typeface="+mn-lt"/>
                          <a:ea typeface="+mn-ea"/>
                          <a:cs typeface="+mn-cs"/>
                        </a:rPr>
                        <a:t>, ttfeggilen </a:t>
                      </a:r>
                      <a:r>
                        <a:rPr lang="fr-FR" sz="1100" kern="1200" err="1">
                          <a:solidFill>
                            <a:schemeClr val="tx1"/>
                          </a:solidFill>
                          <a:effectLst/>
                          <a:latin typeface="+mn-lt"/>
                          <a:ea typeface="+mn-ea"/>
                          <a:cs typeface="+mn-cs"/>
                        </a:rPr>
                        <a:t>akal</a:t>
                      </a:r>
                      <a:r>
                        <a:rPr lang="fr-FR" sz="1100" kern="1200">
                          <a:solidFill>
                            <a:schemeClr val="tx1"/>
                          </a:solidFill>
                          <a:effectLst/>
                          <a:latin typeface="+mn-lt"/>
                          <a:ea typeface="+mn-ea"/>
                          <a:cs typeface="+mn-cs"/>
                        </a:rPr>
                        <a:t> s temɣilin-nsen </a:t>
                      </a:r>
                      <a:r>
                        <a:rPr lang="fr-FR" sz="1100" kern="1200" err="1">
                          <a:solidFill>
                            <a:schemeClr val="tx1"/>
                          </a:solidFill>
                          <a:effectLst/>
                          <a:latin typeface="+mn-lt"/>
                          <a:ea typeface="+mn-ea"/>
                          <a:cs typeface="+mn-cs"/>
                        </a:rPr>
                        <a:t>ssekfalen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abeɛɛuq</a:t>
                      </a:r>
                      <a:r>
                        <a:rPr lang="fr-FR" sz="1100" kern="1200">
                          <a:solidFill>
                            <a:schemeClr val="tx1"/>
                          </a:solidFill>
                          <a:effectLst/>
                          <a:latin typeface="+mn-lt"/>
                          <a:ea typeface="+mn-ea"/>
                          <a:cs typeface="+mn-cs"/>
                        </a:rPr>
                        <a:t> d iɛemmuṛen. Mi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segnan-nsen, cexxṛen,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asen-yettalas.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d tagertilt i yizem!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tḥesbeḍ</a:t>
                      </a:r>
                      <a:r>
                        <a:rPr lang="fr-FR" sz="1100" kern="1200">
                          <a:solidFill>
                            <a:schemeClr val="tx1"/>
                          </a:solidFill>
                          <a:effectLst/>
                          <a:latin typeface="+mn-lt"/>
                          <a:ea typeface="+mn-ea"/>
                          <a:cs typeface="+mn-cs"/>
                        </a:rPr>
                        <a:t> iman-ik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yiɣil!</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Yecxeṛ fell-as;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qareɛ</a:t>
                      </a:r>
                      <a:r>
                        <a:rPr lang="fr-FR" sz="1100" kern="1200">
                          <a:solidFill>
                            <a:schemeClr val="tx1"/>
                          </a:solidFill>
                          <a:effectLst/>
                          <a:latin typeface="+mn-lt"/>
                          <a:ea typeface="+mn-ea"/>
                          <a:cs typeface="+mn-cs"/>
                        </a:rPr>
                        <a:t> iman-ik: ufiɣ-n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yesseqḍaɛ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timɣilin-is</a:t>
                      </a:r>
                      <a:r>
                        <a:rPr lang="fr-FR" sz="1100" kern="1200">
                          <a:solidFill>
                            <a:schemeClr val="tx1"/>
                          </a:solidFill>
                          <a:effectLst/>
                          <a:latin typeface="+mn-lt"/>
                          <a:ea typeface="+mn-ea"/>
                          <a:cs typeface="+mn-cs"/>
                        </a:rPr>
                        <a:t>, yettgalla deg-k!</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yizem:</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 n yilef </a:t>
                      </a:r>
                      <a:r>
                        <a:rPr lang="fr-FR" sz="1100" kern="1200" err="1">
                          <a:solidFill>
                            <a:schemeClr val="tx1"/>
                          </a:solidFill>
                          <a:effectLst/>
                          <a:latin typeface="+mn-lt"/>
                          <a:ea typeface="+mn-ea"/>
                          <a:cs typeface="+mn-cs"/>
                        </a:rPr>
                        <a:t>dayem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ikerres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a:t>
                      </a:r>
                      <a:r>
                        <a:rPr lang="fr-FR" sz="1100" kern="1200">
                          <a:solidFill>
                            <a:schemeClr val="tx1"/>
                          </a:solidFill>
                          <a:effectLst/>
                          <a:latin typeface="+mn-lt"/>
                          <a:ea typeface="+mn-ea"/>
                          <a:cs typeface="+mn-cs"/>
                        </a:rPr>
                        <a:t> iman-ik: la yettgalla deg-k yizem!</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yilef:</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a:t>
                      </a:r>
                      <a:r>
                        <a:rPr lang="fr-FR" sz="1100" kern="1200">
                          <a:solidFill>
                            <a:schemeClr val="tx1"/>
                          </a:solidFill>
                          <a:effectLst/>
                          <a:latin typeface="+mn-lt"/>
                          <a:ea typeface="+mn-ea"/>
                          <a:cs typeface="+mn-cs"/>
                        </a:rPr>
                        <a:t> n yizem dayem reqqsen!)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Puis le chacal s’occupe du sanglier :</a:t>
                      </a:r>
                    </a:p>
                    <a:p>
                      <a:pPr indent="216000" algn="l"/>
                      <a:r>
                        <a:rPr lang="fr-FR" sz="1100" kern="15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a:effectLst/>
                          <a:latin typeface="Cascadia Mono" panose="020B0609020000020004" pitchFamily="49" charset="0"/>
                          <a:cs typeface="Cascadia Mono" panose="020B0609020000020004" pitchFamily="49" charset="0"/>
                        </a:rPr>
                        <a:t>Et chacun sait que les moustaches du lion sont toujours agitées.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2222660"/>
              </p:ext>
            </p:extLst>
          </p:nvPr>
        </p:nvGraphicFramePr>
        <p:xfrm>
          <a:off x="296561" y="148280"/>
          <a:ext cx="11631828" cy="666370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796190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59809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8767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309175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a:t>¶ </a:t>
                      </a:r>
                      <a:r>
                        <a:rPr lang="fr-FR" sz="1100" kern="150">
                          <a:effectLst/>
                          <a:latin typeface="Cascadia Mono" panose="020B0609020000020004" pitchFamily="49" charset="0"/>
                          <a:cs typeface="Cascadia Mono" panose="020B0609020000020004" pitchFamily="49" charset="0"/>
                        </a:rPr>
                        <a:t>Il </a:t>
                      </a:r>
                      <a:r>
                        <a:rPr lang="fr-FR" sz="1100" kern="150" dirty="0">
                          <a:effectLst/>
                          <a:latin typeface="Cascadia Mono" panose="020B0609020000020004" pitchFamily="49" charset="0"/>
                          <a:cs typeface="Cascadia Mono" panose="020B0609020000020004" pitchFamily="49" charset="0"/>
                        </a:rPr>
                        <a:t>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dirty="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8799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Iṛɛed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ineɛl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ay axeddeɛ! A </a:t>
                      </a:r>
                      <a:r>
                        <a:rPr lang="fr-FR" sz="1100" kern="1200" err="1">
                          <a:solidFill>
                            <a:schemeClr val="tx1"/>
                          </a:solidFill>
                          <a:effectLst/>
                          <a:latin typeface="+mn-lt"/>
                          <a:ea typeface="+mn-ea"/>
                          <a:cs typeface="+mn-cs"/>
                        </a:rPr>
                        <a:t>cciṭan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Ṛebbi! Ad </a:t>
                      </a:r>
                      <a:r>
                        <a:rPr lang="fr-FR" sz="1100" kern="1200" err="1">
                          <a:solidFill>
                            <a:schemeClr val="tx1"/>
                          </a:solidFill>
                          <a:effectLst/>
                          <a:latin typeface="+mn-lt"/>
                          <a:ea typeface="+mn-ea"/>
                          <a:cs typeface="+mn-cs"/>
                        </a:rPr>
                        <a:t>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ddnub</a:t>
                      </a:r>
                      <a:r>
                        <a:rPr lang="fr-FR" sz="1100" kern="1200">
                          <a:solidFill>
                            <a:schemeClr val="tx1"/>
                          </a:solidFill>
                          <a:effectLst/>
                          <a:latin typeface="+mn-lt"/>
                          <a:ea typeface="+mn-ea"/>
                          <a:cs typeface="+mn-cs"/>
                        </a:rPr>
                        <a:t> n widen irkel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tsewwqeḍ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ten-nɣiɣ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ak-ɛellqen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weḥd-k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lḥisab</a:t>
                      </a:r>
                      <a:r>
                        <a:rPr lang="fr-FR" sz="1100" kern="1200">
                          <a:solidFill>
                            <a:schemeClr val="tx1"/>
                          </a:solidFill>
                          <a:effectLst/>
                          <a:latin typeface="+mn-lt"/>
                          <a:ea typeface="+mn-ea"/>
                          <a:cs typeface="+mn-cs"/>
                        </a:rPr>
                        <a:t> d lɛiqab! Seg wass-a d tasawent,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terṣa; seg wass-a d tasawent,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ddunit!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abrid-is!</a:t>
                      </a:r>
                    </a:p>
                    <a:p>
                      <a:pPr indent="457200"/>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ass-a,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yezmawen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k-</a:t>
                      </a:r>
                      <a:r>
                        <a:rPr lang="fr-FR" sz="1100" kern="1200" err="1">
                          <a:solidFill>
                            <a:schemeClr val="tx1"/>
                          </a:solidFill>
                          <a:effectLst/>
                          <a:latin typeface="+mn-lt"/>
                          <a:ea typeface="+mn-ea"/>
                          <a:cs typeface="+mn-cs"/>
                        </a:rPr>
                        <a:t>tuɣ</a:t>
                      </a:r>
                      <a:r>
                        <a:rPr lang="fr-FR" sz="1100" kern="1200">
                          <a:solidFill>
                            <a:schemeClr val="tx1"/>
                          </a:solidFill>
                          <a:effectLst/>
                          <a:latin typeface="+mn-lt"/>
                          <a:ea typeface="+mn-ea"/>
                          <a:cs typeface="+mn-cs"/>
                        </a:rPr>
                        <a:t> deg yiḍ di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timeḥbibert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bu tissas </a:t>
                      </a:r>
                      <a:r>
                        <a:rPr lang="fr-FR" sz="1100" kern="1200" err="1">
                          <a:solidFill>
                            <a:schemeClr val="tx1"/>
                          </a:solidFill>
                          <a:effectLst/>
                          <a:latin typeface="+mn-lt"/>
                          <a:ea typeface="+mn-ea"/>
                          <a:cs typeface="+mn-cs"/>
                        </a:rPr>
                        <a:t>ulaḥed-it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nni; ma </a:t>
                      </a:r>
                      <a:r>
                        <a:rPr lang="fr-FR" sz="1100" kern="1200" err="1">
                          <a:solidFill>
                            <a:schemeClr val="tx1"/>
                          </a:solidFill>
                          <a:effectLst/>
                          <a:latin typeface="+mn-lt"/>
                          <a:ea typeface="+mn-ea"/>
                          <a:cs typeface="+mn-cs"/>
                        </a:rPr>
                        <a:t>temsusam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seg-sen agemmaḍ,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dit </a:t>
                      </a:r>
                      <a:r>
                        <a:rPr lang="fr-FR" sz="1100" kern="1200" err="1">
                          <a:solidFill>
                            <a:schemeClr val="tx1"/>
                          </a:solidFill>
                          <a:effectLst/>
                          <a:latin typeface="+mn-lt"/>
                          <a:ea typeface="+mn-ea"/>
                          <a:cs typeface="+mn-cs"/>
                        </a:rPr>
                        <a:t>twanaṭ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gronda un bon coup :</a:t>
                      </a:r>
                    </a:p>
                    <a:p>
                      <a:pPr indent="216000" algn="l"/>
                      <a:r>
                        <a:rPr lang="fr-FR" sz="1100" kern="15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27771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teggara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aɣummu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iɛemmeṛ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uṛciḥen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ad </a:t>
                      </a:r>
                      <a:r>
                        <a:rPr lang="fr-FR" sz="1100" kern="1200" err="1">
                          <a:solidFill>
                            <a:schemeClr val="tx1"/>
                          </a:solidFill>
                          <a:effectLst/>
                          <a:latin typeface="+mn-lt"/>
                          <a:ea typeface="+mn-ea"/>
                          <a:cs typeface="+mn-cs"/>
                        </a:rPr>
                        <a:t>tekkaw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Jellben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a:t>
                      </a:r>
                      <a:r>
                        <a:rPr lang="fr-FR" sz="1100" kern="1200">
                          <a:solidFill>
                            <a:schemeClr val="tx1"/>
                          </a:solidFill>
                          <a:effectLst/>
                          <a:latin typeface="+mn-lt"/>
                          <a:ea typeface="+mn-ea"/>
                          <a:cs typeface="+mn-cs"/>
                        </a:rPr>
                        <a:t> ara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Eg-iyi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taɛrurt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muqleɣ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ɣ-d-</a:t>
                      </a:r>
                      <a:r>
                        <a:rPr lang="fr-FR" sz="1100" kern="1200" err="1">
                          <a:solidFill>
                            <a:schemeClr val="tx1"/>
                          </a:solidFill>
                          <a:effectLst/>
                          <a:latin typeface="+mn-lt"/>
                          <a:ea typeface="+mn-ea"/>
                          <a:cs typeface="+mn-cs"/>
                        </a:rPr>
                        <a:t>yettafen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zagur-is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temgerṭ-is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yas-tent-iwwet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yettneggiz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yemsex</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d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ččuṛen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tasraft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iɛefn-itt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zzehṛ-iw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yessusef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uceṭṭiḍ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wudem-is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a:effectLst/>
                          <a:latin typeface="Cascadia Mono" panose="020B0609020000020004" pitchFamily="49" charset="0"/>
                          <a:cs typeface="Cascadia Mono" panose="020B0609020000020004" pitchFamily="49" charset="0"/>
                        </a:rPr>
                        <a:t>- Voilà bien ma chance !</a:t>
                      </a:r>
                    </a:p>
                    <a:p>
                      <a:pPr indent="216000" algn="l"/>
                      <a:r>
                        <a:rPr lang="fr-FR" sz="1100" kern="15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a:effectLst/>
                          <a:latin typeface="Cascadia Mono" panose="020B0609020000020004" pitchFamily="49" charset="0"/>
                          <a:cs typeface="Cascadia Mono" panose="020B0609020000020004" pitchFamily="49" charset="0"/>
                        </a:rPr>
                        <a:t>Le paysan en était noir de rage.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81808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hérisson et le chacal allèrent voler du miel dans un rucher. Le hérisson voulait prendre, sa revanche de l’affaire de la jarre de viande.</a:t>
                      </a:r>
                    </a:p>
                    <a:p>
                      <a:pPr indent="216000" algn="l"/>
                      <a:r>
                        <a:rPr lang="fr-FR" sz="1100" kern="15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a:effectLst/>
                          <a:latin typeface="Cascadia Mono" panose="020B0609020000020004" pitchFamily="49" charset="0"/>
                          <a:cs typeface="Cascadia Mono" panose="020B0609020000020004" pitchFamily="49" charset="0"/>
                        </a:rPr>
                        <a:t>Le hérisson répondit :</a:t>
                      </a:r>
                    </a:p>
                    <a:p>
                      <a:pPr indent="216000" algn="l"/>
                      <a:r>
                        <a:rPr lang="fr-FR" sz="1100" kern="15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732763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acrik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-w: ad </a:t>
                      </a:r>
                      <a:r>
                        <a:rPr lang="fr-FR" sz="1100" kern="1200" err="1">
                          <a:solidFill>
                            <a:schemeClr val="tx1"/>
                          </a:solidFill>
                          <a:effectLst/>
                          <a:latin typeface="+mn-lt"/>
                          <a:ea typeface="+mn-ea"/>
                          <a:cs typeface="+mn-cs"/>
                        </a:rPr>
                        <a:t>nɛiwed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zzazedgen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tazzert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telweḥt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tayeḍ</a:t>
                      </a:r>
                      <a:r>
                        <a:rPr lang="fr-FR" sz="1100" kern="1200">
                          <a:solidFill>
                            <a:schemeClr val="tx1"/>
                          </a:solidFill>
                          <a:effectLst/>
                          <a:latin typeface="+mn-lt"/>
                          <a:ea typeface="+mn-ea"/>
                          <a:cs typeface="+mn-cs"/>
                        </a:rPr>
                        <a:t> ukerfa.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nemzazzal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leflani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yewwḍen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amezwaru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ad yawi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Iniswen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ttemcabin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sin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umecwaṛ</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usaku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uqerwi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Yemzazzal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umeddakel-is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zdat</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yesnukkuf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yettiqi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sbeɛṭac! </a:t>
                      </a:r>
                      <a:r>
                        <a:rPr lang="fr-FR" sz="1100" kern="1200" err="1">
                          <a:solidFill>
                            <a:schemeClr val="tx1"/>
                          </a:solidFill>
                          <a:effectLst/>
                          <a:latin typeface="+mn-lt"/>
                          <a:ea typeface="+mn-ea"/>
                          <a:cs typeface="+mn-cs"/>
                        </a:rPr>
                        <a:t>Naqel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asaku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tednect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a:effectLst/>
                          <a:latin typeface="Cascadia Mono" panose="020B0609020000020004" pitchFamily="49" charset="0"/>
                          <a:cs typeface="Cascadia Mono" panose="020B0609020000020004" pitchFamily="49" charset="0"/>
                        </a:rPr>
                        <a:t>Le chacal aux cent ruses s’en alla sans emporter ni grain ni criblure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9291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bdun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tacekkukt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wudi</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mmektin</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-as: Ad nekfu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ad neḥlu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wussay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tmegra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werwa</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deqqal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s-d-</a:t>
                      </a:r>
                      <a:r>
                        <a:rPr lang="fr-FR" sz="1100" kern="1200" err="1">
                          <a:solidFill>
                            <a:schemeClr val="tx1"/>
                          </a:solidFill>
                          <a:effectLst/>
                          <a:latin typeface="+mn-lt"/>
                          <a:ea typeface="+mn-ea"/>
                          <a:cs typeface="+mn-cs"/>
                        </a:rPr>
                        <a:t>yessawlen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Anɛ</a:t>
                      </a:r>
                      <a:r>
                        <a:rPr lang="fr-FR" sz="1100" kern="1200">
                          <a:solidFill>
                            <a:schemeClr val="tx1"/>
                          </a:solidFill>
                          <a:effectLst/>
                          <a:latin typeface="+mn-lt"/>
                          <a:ea typeface="+mn-ea"/>
                          <a:cs typeface="+mn-cs"/>
                        </a:rPr>
                        <a:t> ɛ </a:t>
                      </a:r>
                      <a:r>
                        <a:rPr lang="fr-FR" sz="1100" kern="1200" err="1">
                          <a:solidFill>
                            <a:schemeClr val="tx1"/>
                          </a:solidFill>
                          <a:effectLst/>
                          <a:latin typeface="+mn-lt"/>
                          <a:ea typeface="+mn-ea"/>
                          <a:cs typeface="+mn-cs"/>
                        </a:rPr>
                        <a:t>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ixeddem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si tzirett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n wudi, ad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umeddakel-is: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 Muḥend? yerr-as: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ɣur-i teqcict: </a:t>
                      </a:r>
                      <a:r>
                        <a:rPr lang="fr-FR" sz="1100" kern="1200" err="1">
                          <a:solidFill>
                            <a:schemeClr val="tx1"/>
                          </a:solidFill>
                          <a:effectLst/>
                          <a:latin typeface="+mn-lt"/>
                          <a:ea typeface="+mn-ea"/>
                          <a:cs typeface="+mn-cs"/>
                        </a:rPr>
                        <a:t>nga-yas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Mnaṣfa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Mmelqaɛ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tcekkukt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taseɛdit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dlan</a:t>
                      </a:r>
                      <a:r>
                        <a:rPr lang="fr-FR" sz="1100" kern="1200">
                          <a:solidFill>
                            <a:schemeClr val="tx1"/>
                          </a:solidFill>
                          <a:effectLst/>
                          <a:latin typeface="+mn-lt"/>
                          <a:ea typeface="+mn-ea"/>
                          <a:cs typeface="+mn-cs"/>
                        </a:rPr>
                        <a:t> fell-as, ufan-tt </a:t>
                      </a:r>
                      <a:r>
                        <a:rPr lang="fr-FR" sz="1100" kern="1200" err="1">
                          <a:solidFill>
                            <a:schemeClr val="tx1"/>
                          </a:solidFill>
                          <a:effectLst/>
                          <a:latin typeface="+mn-lt"/>
                          <a:ea typeface="+mn-ea"/>
                          <a:cs typeface="+mn-cs"/>
                        </a:rPr>
                        <a:t>temmečč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s-yeqqar:</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i tt-yeččan!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nekni i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tt-neffer!</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la s-yeqqar: D keč!</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nnan:</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yess: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neṭṭes, ad nsers d tama-tneɣ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 a-</a:t>
                      </a:r>
                      <a:r>
                        <a:rPr lang="fr-FR" sz="1100" kern="1200" err="1">
                          <a:solidFill>
                            <a:schemeClr val="tx1"/>
                          </a:solidFill>
                          <a:effectLst/>
                          <a:latin typeface="+mn-lt"/>
                          <a:ea typeface="+mn-ea"/>
                          <a:cs typeface="+mn-cs"/>
                        </a:rPr>
                        <a:t>nteffeɣ</a:t>
                      </a:r>
                      <a:r>
                        <a:rPr lang="fr-FR" sz="1100" kern="1200">
                          <a:solidFill>
                            <a:schemeClr val="tx1"/>
                          </a:solidFill>
                          <a:effectLst/>
                          <a:latin typeface="+mn-lt"/>
                          <a:ea typeface="+mn-ea"/>
                          <a:cs typeface="+mn-cs"/>
                        </a:rPr>
                        <a:t> deg-sen: ad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ṣṣeḥḥ!</a:t>
                      </a:r>
                    </a:p>
                    <a:p>
                      <a:pPr indent="457200"/>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yuki: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ameddakel-is yeṭṭes: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ibeddel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wa: D keč! Ur </a:t>
                      </a:r>
                      <a:r>
                        <a:rPr lang="fr-FR" sz="1100" kern="1200" err="1">
                          <a:solidFill>
                            <a:schemeClr val="tx1"/>
                          </a:solidFill>
                          <a:effectLst/>
                          <a:latin typeface="+mn-lt"/>
                          <a:ea typeface="+mn-ea"/>
                          <a:cs typeface="+mn-cs"/>
                        </a:rPr>
                        <a:t>tefri</a:t>
                      </a:r>
                      <a:r>
                        <a:rPr lang="fr-FR" sz="1100" kern="1200">
                          <a:solidFill>
                            <a:schemeClr val="tx1"/>
                          </a:solidFill>
                          <a:effectLst/>
                          <a:latin typeface="+mn-lt"/>
                          <a:ea typeface="+mn-ea"/>
                          <a:cs typeface="+mn-cs"/>
                        </a:rPr>
                        <a:t> gar-asen.</a:t>
                      </a:r>
                    </a:p>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llqeḍ di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inisi: yeṭṭaxer-as;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a:effectLst/>
                          <a:latin typeface="Cascadia Mono" panose="020B0609020000020004" pitchFamily="49" charset="0"/>
                          <a:cs typeface="Cascadia Mono" panose="020B0609020000020004" pitchFamily="49" charset="0"/>
                        </a:rPr>
                        <a:t>- Oui i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a:effectLst/>
                          <a:latin typeface="Cascadia Mono" panose="020B0609020000020004" pitchFamily="49" charset="0"/>
                          <a:cs typeface="Cascadia Mono" panose="020B0609020000020004" pitchFamily="49" charset="0"/>
                        </a:rPr>
                        <a:t>- Non, c’est toi ! Disait le hérisson.</a:t>
                      </a:r>
                    </a:p>
                    <a:p>
                      <a:pPr indent="216000" algn="l"/>
                      <a:r>
                        <a:rPr lang="fr-FR" sz="1100" kern="150">
                          <a:effectLst/>
                          <a:latin typeface="Cascadia Mono" panose="020B0609020000020004" pitchFamily="49" charset="0"/>
                          <a:cs typeface="Cascadia Mono" panose="020B0609020000020004" pitchFamily="49" charset="0"/>
                        </a:rPr>
                        <a:t>Ils furent d’accord pour dire :</a:t>
                      </a:r>
                    </a:p>
                    <a:p>
                      <a:pPr indent="216000" algn="l"/>
                      <a:r>
                        <a:rPr lang="fr-FR" sz="1100" kern="15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fr-FR" sz="1100" kern="15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fr-FR" sz="1100" kern="15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48927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tṣebḥit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igezzem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aqelmun-is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yecreq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yetḥaya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lxelq</a:t>
                      </a:r>
                      <a:r>
                        <a:rPr lang="fr-FR" sz="1100" kern="1200">
                          <a:solidFill>
                            <a:schemeClr val="tx1"/>
                          </a:solidFill>
                          <a:effectLst/>
                          <a:latin typeface="+mn-lt"/>
                          <a:ea typeface="+mn-ea"/>
                          <a:cs typeface="+mn-cs"/>
                        </a:rPr>
                        <a:t> agi,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iyi-tqaleḍ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-k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xedmeɣ</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lxiṛ i yi-txedmeḍ? </a:t>
                      </a:r>
                      <a:r>
                        <a:rPr lang="fr-FR" sz="1100" kern="1200" err="1">
                          <a:solidFill>
                            <a:schemeClr val="tx1"/>
                          </a:solidFill>
                          <a:effectLst/>
                          <a:latin typeface="+mn-lt"/>
                          <a:ea typeface="+mn-ea"/>
                          <a:cs typeface="+mn-cs"/>
                        </a:rPr>
                        <a:t>Ffɣeɣ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wemruj-iw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ddheb</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lfeṭṭa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iyi-iwet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iɛiwed-iyi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sneṣleɣ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taslest-iw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tseɛreqḍ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cehhed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temmteḍ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ḥkan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ddeɛwa-nsen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fr-FR" sz="1100" kern="15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fr-FR" sz="1100" kern="150">
                          <a:effectLst/>
                          <a:latin typeface="Cascadia Mono" panose="020B0609020000020004" pitchFamily="49" charset="0"/>
                          <a:cs typeface="Cascadia Mono" panose="020B0609020000020004" pitchFamily="49" charset="0"/>
                        </a:rPr>
                        <a:t>L’homme supplia :</a:t>
                      </a:r>
                    </a:p>
                    <a:p>
                      <a:pPr indent="216000" algn="l"/>
                      <a:r>
                        <a:rPr lang="fr-FR" sz="1100" kern="15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a:effectLst/>
                          <a:latin typeface="Cascadia Mono" panose="020B0609020000020004" pitchFamily="49" charset="0"/>
                          <a:cs typeface="Cascadia Mono" panose="020B0609020000020004" pitchFamily="49" charset="0"/>
                        </a:rPr>
                        <a:t>- Je ne connais rien à ces histoires-là, Allez voir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186744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ers-d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 ad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deg-wen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icaṛeɛ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fruɣ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lgn="ctr"/>
                      <a:r>
                        <a:rPr lang="fr-FR" sz="1100" i="1" kern="1200" err="1">
                          <a:solidFill>
                            <a:schemeClr val="tx1"/>
                          </a:solidFill>
                          <a:effectLst/>
                          <a:latin typeface="+mn-lt"/>
                          <a:ea typeface="+mn-ea"/>
                          <a:cs typeface="+mn-cs"/>
                        </a:rPr>
                        <a:t>W’iṭṭfen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aḥdif</a:t>
                      </a:r>
                      <a:r>
                        <a:rPr lang="fr-FR" sz="1100" i="1" kern="1200">
                          <a:solidFill>
                            <a:schemeClr val="tx1"/>
                          </a:solidFill>
                          <a:effectLst/>
                          <a:latin typeface="+mn-lt"/>
                          <a:ea typeface="+mn-ea"/>
                          <a:cs typeface="+mn-cs"/>
                        </a:rPr>
                        <a:t> yawi </a:t>
                      </a:r>
                      <a:r>
                        <a:rPr lang="fr-FR" sz="1100" i="1" kern="1200" err="1">
                          <a:solidFill>
                            <a:schemeClr val="tx1"/>
                          </a:solidFill>
                          <a:effectLst/>
                          <a:latin typeface="+mn-lt"/>
                          <a:ea typeface="+mn-ea"/>
                          <a:cs typeface="+mn-cs"/>
                        </a:rPr>
                        <a:t>lḥif</a:t>
                      </a:r>
                      <a:r>
                        <a:rPr lang="fr-FR" sz="1100" i="1" kern="1200">
                          <a:solidFill>
                            <a:schemeClr val="tx1"/>
                          </a:solidFill>
                          <a:effectLst/>
                          <a:latin typeface="+mn-lt"/>
                          <a:ea typeface="+mn-ea"/>
                          <a:cs typeface="+mn-cs"/>
                        </a:rPr>
                        <a:t>:</a:t>
                      </a:r>
                    </a:p>
                    <a:p>
                      <a:pPr indent="457200" algn="ctr"/>
                      <a:r>
                        <a:rPr lang="fr-FR" sz="1100" i="1" kern="1200">
                          <a:solidFill>
                            <a:schemeClr val="tx1"/>
                          </a:solidFill>
                          <a:effectLst/>
                          <a:latin typeface="+mn-lt"/>
                          <a:ea typeface="+mn-ea"/>
                          <a:cs typeface="+mn-cs"/>
                        </a:rPr>
                        <a:t>A </a:t>
                      </a:r>
                      <a:r>
                        <a:rPr lang="fr-FR" sz="1100" i="1" kern="1200" err="1">
                          <a:solidFill>
                            <a:schemeClr val="tx1"/>
                          </a:solidFill>
                          <a:effectLst/>
                          <a:latin typeface="+mn-lt"/>
                          <a:ea typeface="+mn-ea"/>
                          <a:cs typeface="+mn-cs"/>
                        </a:rPr>
                        <a:t>wer</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yebḍu</a:t>
                      </a:r>
                      <a:r>
                        <a:rPr lang="fr-FR" sz="1100" i="1" kern="1200">
                          <a:solidFill>
                            <a:schemeClr val="tx1"/>
                          </a:solidFill>
                          <a:effectLst/>
                          <a:latin typeface="+mn-lt"/>
                          <a:ea typeface="+mn-ea"/>
                          <a:cs typeface="+mn-cs"/>
                        </a:rPr>
                        <a:t> d </a:t>
                      </a:r>
                      <a:r>
                        <a:rPr lang="fr-FR" sz="1100" i="1" kern="1200" err="1">
                          <a:solidFill>
                            <a:schemeClr val="tx1"/>
                          </a:solidFill>
                          <a:effectLst/>
                          <a:latin typeface="+mn-lt"/>
                          <a:ea typeface="+mn-ea"/>
                          <a:cs typeface="+mn-cs"/>
                        </a:rPr>
                        <a:t>uɣilif</a:t>
                      </a:r>
                      <a:r>
                        <a:rPr lang="fr-FR" sz="1100" i="1" kern="1200">
                          <a:solidFill>
                            <a:schemeClr val="tx1"/>
                          </a:solidFill>
                          <a:effectLst/>
                          <a:latin typeface="+mn-lt"/>
                          <a:ea typeface="+mn-ea"/>
                          <a:cs typeface="+mn-cs"/>
                        </a:rPr>
                        <a:t>!</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mnaṣef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inɣed</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iɛeggalen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W’ittamnen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tɣellteḍ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mi t-</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yeqleɛ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a:effectLst/>
                          <a:latin typeface="Cascadia Mono" panose="020B0609020000020004" pitchFamily="49" charset="0"/>
                          <a:cs typeface="Cascadia Mono" panose="020B0609020000020004" pitchFamily="49" charset="0"/>
                        </a:rPr>
                        <a:t>- Qu’attends-tu ?</a:t>
                      </a:r>
                    </a:p>
                    <a:p>
                      <a:pPr indent="216000" algn="l"/>
                      <a:r>
                        <a:rPr lang="fr-FR" sz="1100" kern="15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a:effectLst/>
                          <a:latin typeface="Cascadia Mono" panose="020B0609020000020004" pitchFamily="49" charset="0"/>
                          <a:cs typeface="Cascadia Mono" panose="020B0609020000020004" pitchFamily="49" charset="0"/>
                        </a:rPr>
                        <a:t>De dépit, il frappa dans ses mains :</a:t>
                      </a:r>
                    </a:p>
                    <a:p>
                      <a:pPr indent="216000" algn="l"/>
                      <a:r>
                        <a:rPr lang="fr-FR" sz="1100" kern="15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a:effectLst/>
                          <a:latin typeface="Cascadia Mono" panose="020B0609020000020004" pitchFamily="49" charset="0"/>
                          <a:cs typeface="Cascadia Mono" panose="020B0609020000020004" pitchFamily="49" charset="0"/>
                        </a:rPr>
                        <a:t>Méfiez-vous de l’homme, créature aux noirs desseins !</a:t>
                      </a:r>
                    </a:p>
                    <a:p>
                      <a:pPr indent="216000" algn="l"/>
                      <a:r>
                        <a:rPr lang="fr-FR" sz="1100" kern="15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82592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yunag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Ḍallen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idurar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zegren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isaffen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qegglen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tɣezza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tluta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tasaft</a:t>
                      </a:r>
                      <a:r>
                        <a:rPr lang="fr-FR" sz="1100" kern="1200">
                          <a:solidFill>
                            <a:schemeClr val="tx1"/>
                          </a:solidFill>
                          <a:effectLst/>
                          <a:latin typeface="+mn-lt"/>
                          <a:ea typeface="+mn-ea"/>
                          <a:cs typeface="+mn-cs"/>
                        </a:rPr>
                        <a:t> d taɛlayant: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yeddari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izewweq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lefjer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ihuzz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afriwen-is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yesɣuggu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Ttbarik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taɣect</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i s-d-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yiḥnin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yejjem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taẓallit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ṣṣut-is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ndekwaleɣ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uzzleɣ</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Tura, a </a:t>
                      </a:r>
                      <a:r>
                        <a:rPr lang="fr-FR" sz="1100" kern="1200" err="1">
                          <a:solidFill>
                            <a:schemeClr val="tx1"/>
                          </a:solidFill>
                          <a:effectLst/>
                          <a:latin typeface="+mn-lt"/>
                          <a:ea typeface="+mn-ea"/>
                          <a:cs typeface="+mn-cs"/>
                        </a:rPr>
                        <a:t>lḥaǧ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tuddna</a:t>
                      </a:r>
                      <a:r>
                        <a:rPr lang="fr-FR" sz="1100" kern="1200">
                          <a:solidFill>
                            <a:schemeClr val="tx1"/>
                          </a:solidFill>
                          <a:effectLst/>
                          <a:latin typeface="+mn-lt"/>
                          <a:ea typeface="+mn-ea"/>
                          <a:cs typeface="+mn-cs"/>
                        </a:rPr>
                        <a:t>, ers-d an </a:t>
                      </a:r>
                      <a:r>
                        <a:rPr lang="fr-FR" sz="1100" kern="1200" err="1">
                          <a:solidFill>
                            <a:schemeClr val="tx1"/>
                          </a:solidFill>
                          <a:effectLst/>
                          <a:latin typeface="+mn-lt"/>
                          <a:ea typeface="+mn-ea"/>
                          <a:cs typeface="+mn-cs"/>
                        </a:rPr>
                        <a:t>neẓẓal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Ixẓer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ṭṭaɛa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-s kan i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A-t-an </a:t>
                      </a:r>
                      <a:r>
                        <a:rPr lang="fr-FR" sz="1100" kern="1200" err="1">
                          <a:solidFill>
                            <a:schemeClr val="tx1"/>
                          </a:solidFill>
                          <a:effectLst/>
                          <a:latin typeface="+mn-lt"/>
                          <a:ea typeface="+mn-ea"/>
                          <a:cs typeface="+mn-cs"/>
                        </a:rPr>
                        <a:t>wemṛabeḍ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wuruz</a:t>
                      </a:r>
                      <a:r>
                        <a:rPr lang="fr-FR" sz="1100" kern="1200">
                          <a:solidFill>
                            <a:schemeClr val="tx1"/>
                          </a:solidFill>
                          <a:effectLst/>
                          <a:latin typeface="+mn-lt"/>
                          <a:ea typeface="+mn-ea"/>
                          <a:cs typeface="+mn-cs"/>
                        </a:rPr>
                        <a:t>: ssaki-t-id si </a:t>
                      </a:r>
                      <a:r>
                        <a:rPr lang="fr-FR" sz="1100" kern="1200" err="1">
                          <a:solidFill>
                            <a:schemeClr val="tx1"/>
                          </a:solidFill>
                          <a:effectLst/>
                          <a:latin typeface="+mn-lt"/>
                          <a:ea typeface="+mn-ea"/>
                          <a:cs typeface="+mn-cs"/>
                        </a:rPr>
                        <a:t>meɛḍil</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rseɣ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Iga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iɛawez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aǧel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iḥwes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sebɣeɣ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luḍu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Yennser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usaɣur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a:effectLst/>
                          <a:latin typeface="Cascadia Mono" panose="020B0609020000020004" pitchFamily="49" charset="0"/>
                          <a:cs typeface="Cascadia Mono" panose="020B0609020000020004" pitchFamily="49" charset="0"/>
                        </a:rPr>
                        <a:t>Il s’enfuit comme le serpent glissant dans les herbes sèches…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38560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Tdiwa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wamek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ḍebbreɣ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taqcict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ten-nsemyejwaǧ</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aɛebbuḍ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aɣ-ttnasaben</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teḥṛes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ɛreḍ</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Tcebbeḥ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tnawel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texḍeb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Tberra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yi-d-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as-</a:t>
                      </a:r>
                      <a:r>
                        <a:rPr lang="fr-FR" sz="1100" kern="1200" err="1">
                          <a:solidFill>
                            <a:schemeClr val="tx1"/>
                          </a:solidFill>
                          <a:effectLst/>
                          <a:latin typeface="+mn-lt"/>
                          <a:ea typeface="+mn-ea"/>
                          <a:cs typeface="+mn-cs"/>
                        </a:rPr>
                        <a:t>ssemḥessen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bezbazen</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abbu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sxenzeren</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lkanun</a:t>
                      </a:r>
                      <a:r>
                        <a:rPr lang="fr-FR" sz="1100" kern="1200">
                          <a:solidFill>
                            <a:schemeClr val="tx1"/>
                          </a:solidFill>
                          <a:effectLst/>
                          <a:latin typeface="+mn-lt"/>
                          <a:ea typeface="+mn-ea"/>
                          <a:cs typeface="+mn-cs"/>
                        </a:rPr>
                        <a:t> la tteqqed </a:t>
                      </a:r>
                      <a:r>
                        <a:rPr lang="fr-FR" sz="1100" kern="1200" err="1">
                          <a:solidFill>
                            <a:schemeClr val="tx1"/>
                          </a:solidFill>
                          <a:effectLst/>
                          <a:latin typeface="+mn-lt"/>
                          <a:ea typeface="+mn-ea"/>
                          <a:cs typeface="+mn-cs"/>
                        </a:rPr>
                        <a:t>tiyitwin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Yemmuqel-itt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tenni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ṛṛay-is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a:effectLst/>
                          <a:latin typeface="Cascadia Mono" panose="020B0609020000020004" pitchFamily="49" charset="0"/>
                          <a:cs typeface="Cascadia Mono" panose="020B0609020000020004" pitchFamily="49" charset="0"/>
                        </a:rPr>
                        <a:t>- Va essayer toi-même.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a:effectLst/>
                          <a:latin typeface="Cascadia Mono" panose="020B0609020000020004" pitchFamily="49" charset="0"/>
                          <a:cs typeface="Cascadia Mono" panose="020B0609020000020004" pitchFamily="49" charset="0"/>
                        </a:rPr>
                        <a:t>- Je viens demander alliance, au nom de Dieu !</a:t>
                      </a:r>
                    </a:p>
                    <a:p>
                      <a:pPr indent="216000" algn="l"/>
                      <a:r>
                        <a:rPr lang="fr-FR" sz="1100" kern="15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fr-FR" sz="1100" kern="15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03199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Yiwet n tmelqubeɛt tga lɛecc-is deg yefri. Turew deg-s tezdel, tsefṛuṛx-d ifṛax. Ssyen, segmi ara d-yenqer yiṭij alamma yeɣli di lebḥeṛ, deg uzal am tmes, nettat a-tt-an tṛuḥ, a-tt-an tuɣal-d, tesselqaḍ arraw-is.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Ass nni, iɛedda-d wuccen, iwala-tt, yesla i yefṛax-is la ččewčiwen.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Tebda tmelqubeɛt tiyita n lizar, temmeɣ-d fell-as, ad t-tenqeb. Yuɣal wuccen ar idess:</a:t>
                      </a:r>
                    </a:p>
                    <a:p>
                      <a:pPr indent="457200"/>
                      <a:r>
                        <a:rPr lang="fr-FR" sz="1100" kern="1200">
                          <a:solidFill>
                            <a:schemeClr val="tx1"/>
                          </a:solidFill>
                          <a:effectLst/>
                          <a:latin typeface="+mn-lt"/>
                          <a:ea typeface="+mn-ea"/>
                          <a:cs typeface="+mn-cs"/>
                        </a:rPr>
                        <a:t>- Mačči d Si Mḥemmed umi ttkellixen! Ḍegger-d yiwen, neɣ ard n-aliɣ!</a:t>
                      </a:r>
                    </a:p>
                    <a:p>
                      <a:pPr indent="457200"/>
                      <a:r>
                        <a:rPr lang="fr-FR" sz="1100" kern="1200">
                          <a:solidFill>
                            <a:schemeClr val="tx1"/>
                          </a:solidFill>
                          <a:effectLst/>
                          <a:latin typeface="+mn-lt"/>
                          <a:ea typeface="+mn-ea"/>
                          <a:cs typeface="+mn-cs"/>
                        </a:rPr>
                        <a:t>Teṭṭef yiwen si tqejjiṛt, tḍegger-as-t-id: yečča-t, iṛuḥ.</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yuɣal-d,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Tḥawet, tru, ulac! Teṭṭef yiwen si tferrett, tḍegger-as-t-id: yečča-t, iruḥ.</a:t>
                      </a:r>
                    </a:p>
                    <a:p>
                      <a:pPr indent="457200"/>
                      <a:r>
                        <a:rPr lang="fr-FR" sz="1100" kern="1200">
                          <a:solidFill>
                            <a:schemeClr val="tx1"/>
                          </a:solidFill>
                          <a:effectLst/>
                          <a:latin typeface="+mn-lt"/>
                          <a:ea typeface="+mn-ea"/>
                          <a:cs typeface="+mn-cs"/>
                        </a:rPr>
                        <a:t>Teqqim tmelqubeɛt la tettru idammen, tezza tasa-s.</a:t>
                      </a:r>
                    </a:p>
                    <a:p>
                      <a:pPr indent="457200"/>
                      <a:r>
                        <a:rPr lang="fr-FR" sz="1100" kern="1200">
                          <a:solidFill>
                            <a:schemeClr val="tx1"/>
                          </a:solidFill>
                          <a:effectLst/>
                          <a:latin typeface="+mn-lt"/>
                          <a:ea typeface="+mn-ea"/>
                          <a:cs typeface="+mn-cs"/>
                        </a:rPr>
                        <a:t>Iɛedda-d ibellireǧ, yufa-tt-id di yir ḥala. Yenna-yas:</a:t>
                      </a:r>
                    </a:p>
                    <a:p>
                      <a:pPr indent="457200"/>
                      <a:r>
                        <a:rPr lang="fr-FR" sz="1100" kern="1200">
                          <a:solidFill>
                            <a:schemeClr val="tx1"/>
                          </a:solidFill>
                          <a:effectLst/>
                          <a:latin typeface="+mn-lt"/>
                          <a:ea typeface="+mn-ea"/>
                          <a:cs typeface="+mn-cs"/>
                        </a:rPr>
                        <a:t>- D acu kem-yuɣen, a weltma?</a:t>
                      </a:r>
                    </a:p>
                    <a:p>
                      <a:pPr indent="457200"/>
                      <a:r>
                        <a:rPr lang="fr-FR" sz="1100" kern="1200">
                          <a:solidFill>
                            <a:schemeClr val="tx1"/>
                          </a:solidFill>
                          <a:effectLst/>
                          <a:latin typeface="+mn-lt"/>
                          <a:ea typeface="+mn-ea"/>
                          <a:cs typeface="+mn-cs"/>
                        </a:rPr>
                        <a:t>Teḥka-yas f lbaṭel yekkan fell-as d lḥif deg tella.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 Lui cria-t-il.</a:t>
                      </a:r>
                    </a:p>
                    <a:p>
                      <a:pPr indent="216000" algn="l"/>
                      <a:r>
                        <a:rPr lang="fr-FR" sz="1100" kern="15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a:effectLst/>
                          <a:latin typeface="Cascadia Mono" panose="020B0609020000020004" pitchFamily="49" charset="0"/>
                          <a:cs typeface="Cascadia Mono" panose="020B0609020000020004" pitchFamily="49" charset="0"/>
                        </a:rPr>
                        <a:t>Le chacal le croqua et s’en alla.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il revint :</a:t>
                      </a:r>
                    </a:p>
                    <a:p>
                      <a:pPr indent="216000" algn="l"/>
                      <a:r>
                        <a:rPr lang="fr-FR" sz="1100" kern="150">
                          <a:effectLst/>
                          <a:latin typeface="Cascadia Mono" panose="020B0609020000020004" pitchFamily="49" charset="0"/>
                          <a:cs typeface="Cascadia Mono" panose="020B0609020000020004" pitchFamily="49" charset="0"/>
                        </a:rPr>
                        <a:t>- Jettes-en un, ou je monte !</a:t>
                      </a:r>
                    </a:p>
                    <a:p>
                      <a:pPr indent="216000" algn="l"/>
                      <a:r>
                        <a:rPr lang="fr-FR" sz="1100" kern="15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a:effectLst/>
                          <a:latin typeface="Cascadia Mono" panose="020B0609020000020004" pitchFamily="49" charset="0"/>
                          <a:cs typeface="Cascadia Mono" panose="020B0609020000020004" pitchFamily="49" charset="0"/>
                        </a:rPr>
                        <a:t>L’alouette la mit au courant.</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20881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Ikellex-ikem</a:t>
                      </a:r>
                      <a:r>
                        <a:rPr lang="fr-FR" sz="1100" kern="1200">
                          <a:solidFill>
                            <a:schemeClr val="tx1"/>
                          </a:solidFill>
                          <a:effectLst/>
                          <a:latin typeface="+mn-lt"/>
                          <a:ea typeface="+mn-ea"/>
                          <a:cs typeface="+mn-cs"/>
                        </a:rPr>
                        <a:t> bu tḥila: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ad n-yali,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i m-</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s-</a:t>
                      </a:r>
                      <a:r>
                        <a:rPr lang="fr-FR" sz="1100" kern="1200" err="1">
                          <a:solidFill>
                            <a:schemeClr val="tx1"/>
                          </a:solidFill>
                          <a:effectLst/>
                          <a:latin typeface="+mn-lt"/>
                          <a:ea typeface="+mn-ea"/>
                          <a:cs typeface="+mn-cs"/>
                        </a:rPr>
                        <a:t>temmaleḍ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cceɣl-is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Ḍegger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aliɣ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yettagges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uberwaq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yettcebbib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ukellex</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tezmireḍ</a:t>
                      </a:r>
                      <a:r>
                        <a:rPr lang="fr-FR" sz="1100" kern="1200">
                          <a:solidFill>
                            <a:schemeClr val="tx1"/>
                          </a:solidFill>
                          <a:effectLst/>
                          <a:latin typeface="+mn-lt"/>
                          <a:ea typeface="+mn-ea"/>
                          <a:cs typeface="+mn-cs"/>
                        </a:rPr>
                        <a:t> ara ad d-</a:t>
                      </a:r>
                      <a:r>
                        <a:rPr lang="fr-FR" sz="1100" kern="1200" err="1">
                          <a:solidFill>
                            <a:schemeClr val="tx1"/>
                          </a:solidFill>
                          <a:effectLst/>
                          <a:latin typeface="+mn-lt"/>
                          <a:ea typeface="+mn-ea"/>
                          <a:cs typeface="+mn-cs"/>
                        </a:rPr>
                        <a:t>taliḍ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txedɛeḍ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d bu </a:t>
                      </a:r>
                      <a:r>
                        <a:rPr lang="fr-FR" sz="1100" kern="1200" err="1">
                          <a:solidFill>
                            <a:schemeClr val="tx1"/>
                          </a:solidFill>
                          <a:effectLst/>
                          <a:latin typeface="+mn-lt"/>
                          <a:ea typeface="+mn-ea"/>
                          <a:cs typeface="+mn-cs"/>
                        </a:rPr>
                        <a:t>iɛejquren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kem-yesḥeṛcen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iɛefnaḍ</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mleɣ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Netta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tɛeggen</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a:effectLst/>
                          <a:latin typeface="Cascadia Mono" panose="020B0609020000020004" pitchFamily="49" charset="0"/>
                          <a:cs typeface="Cascadia Mono" panose="020B0609020000020004" pitchFamily="49" charset="0"/>
                        </a:rPr>
                        <a:t>Et la cigogne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le chacal revint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a:t>
                      </a:r>
                    </a:p>
                    <a:p>
                      <a:pPr indent="216000" algn="l"/>
                      <a:r>
                        <a:rPr lang="fr-FR" sz="1100" kern="15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a:effectLst/>
                          <a:latin typeface="Cascadia Mono" panose="020B0609020000020004" pitchFamily="49" charset="0"/>
                          <a:cs typeface="Cascadia Mono" panose="020B0609020000020004" pitchFamily="49" charset="0"/>
                        </a:rPr>
                        <a:t>L’alouette, l’innocente, lui dit :</a:t>
                      </a:r>
                    </a:p>
                    <a:p>
                      <a:pPr indent="216000" algn="l"/>
                      <a:r>
                        <a:rPr lang="fr-FR" sz="1100" kern="15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a:effectLst/>
                          <a:latin typeface="Cascadia Mono" panose="020B0609020000020004" pitchFamily="49" charset="0"/>
                          <a:cs typeface="Cascadia Mono" panose="020B0609020000020004" pitchFamily="49" charset="0"/>
                        </a:rPr>
                        <a:t>Dès qu’il fut parti, l’alouette prévint la cigogne d’être sur ses gardes…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97800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aɣerbal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amendayer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tiyita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 </a:t>
                      </a:r>
                      <a:r>
                        <a:rPr lang="fr-FR" sz="1100" kern="1200" err="1">
                          <a:solidFill>
                            <a:schemeClr val="tx1"/>
                          </a:solidFill>
                          <a:effectLst/>
                          <a:latin typeface="+mn-lt"/>
                          <a:ea typeface="+mn-ea"/>
                          <a:cs typeface="+mn-cs"/>
                        </a:rPr>
                        <a:t>tefla</a:t>
                      </a:r>
                      <a:r>
                        <a:rPr lang="fr-FR" sz="1100" kern="1200">
                          <a:solidFill>
                            <a:schemeClr val="tx1"/>
                          </a:solidFill>
                          <a:effectLst/>
                          <a:latin typeface="+mn-lt"/>
                          <a:ea typeface="+mn-ea"/>
                          <a:cs typeface="+mn-cs"/>
                        </a:rPr>
                        <a:t>, ta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ajdid</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nufi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Twala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Teɣriḍ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usenfuf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teẓriḍ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ɣriɣ</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A-tt-an </a:t>
                      </a:r>
                      <a:r>
                        <a:rPr lang="fr-FR" sz="1100" kern="1200" err="1">
                          <a:solidFill>
                            <a:schemeClr val="tx1"/>
                          </a:solidFill>
                          <a:effectLst/>
                          <a:latin typeface="+mn-lt"/>
                          <a:ea typeface="+mn-ea"/>
                          <a:cs typeface="+mn-cs"/>
                        </a:rPr>
                        <a:t>tqubbett-is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Tumen-</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Fran ad as-</a:t>
                      </a:r>
                      <a:r>
                        <a:rPr lang="fr-FR" sz="1100" kern="1200" err="1">
                          <a:solidFill>
                            <a:schemeClr val="tx1"/>
                          </a:solidFill>
                          <a:effectLst/>
                          <a:latin typeface="+mn-lt"/>
                          <a:ea typeface="+mn-ea"/>
                          <a:cs typeface="+mn-cs"/>
                        </a:rPr>
                        <a:t>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iṛebbi-ten: ad as-</a:t>
                      </a:r>
                      <a:r>
                        <a:rPr lang="fr-FR" sz="1100" kern="1200" err="1">
                          <a:solidFill>
                            <a:schemeClr val="tx1"/>
                          </a:solidFill>
                          <a:effectLst/>
                          <a:latin typeface="+mn-lt"/>
                          <a:ea typeface="+mn-ea"/>
                          <a:cs typeface="+mn-cs"/>
                        </a:rPr>
                        <a:t>tefk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leɛtab-is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lɣar-is: di </a:t>
                      </a:r>
                      <a:r>
                        <a:rPr lang="fr-FR" sz="1100" kern="1200" err="1">
                          <a:solidFill>
                            <a:schemeClr val="tx1"/>
                          </a:solidFill>
                          <a:effectLst/>
                          <a:latin typeface="+mn-lt"/>
                          <a:ea typeface="+mn-ea"/>
                          <a:cs typeface="+mn-cs"/>
                        </a:rPr>
                        <a:t>tnac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ibelkuken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yemmatsen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yeǧǧuǧǧeg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Yesself-asen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fr-FR" sz="1100" kern="15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 trou est percé :</a:t>
                      </a:r>
                    </a:p>
                    <a:p>
                      <a:pPr indent="216000" algn="l"/>
                      <a:r>
                        <a:rPr lang="fr-FR" sz="1100" kern="150">
                          <a:effectLst/>
                          <a:latin typeface="Cascadia Mono" panose="020B0609020000020004" pitchFamily="49" charset="0"/>
                          <a:cs typeface="Cascadia Mono" panose="020B0609020000020004" pitchFamily="49" charset="0"/>
                        </a:rPr>
                        <a:t>Celui-là ne l’est point !</a:t>
                      </a:r>
                    </a:p>
                    <a:p>
                      <a:pPr indent="216000" algn="l"/>
                      <a:r>
                        <a:rPr lang="fr-FR" sz="1100" kern="150">
                          <a:effectLst/>
                          <a:latin typeface="Cascadia Mono" panose="020B0609020000020004" pitchFamily="49" charset="0"/>
                          <a:cs typeface="Cascadia Mono" panose="020B0609020000020004" pitchFamily="49" charset="0"/>
                        </a:rPr>
                        <a:t>Nous n’avons pas trouvé plus neuf !</a:t>
                      </a:r>
                    </a:p>
                    <a:p>
                      <a:pPr indent="216000" algn="l"/>
                      <a:r>
                        <a:rPr lang="fr-FR" sz="1100" kern="15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fr-FR" sz="1100" kern="15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Si Mohammed caressa les marcassins l’un après l’autre, puis il avertit la mère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13794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lalla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ttṛuḥu</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ten-tettcewwileḍ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kull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mi sen-d-</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efk</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mi n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ttbeɛṛuṛucent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imeṭṭawen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iɣsan-nsen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tebḍanin-nsen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iɛelleq-itent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ttẓenẓunen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wareẓẓen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yizan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izegzawen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Sel! Sel!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sel!</a:t>
                      </a:r>
                    </a:p>
                    <a:p>
                      <a:pPr indent="457200"/>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tejjem-iten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thenna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tedhem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ten-tẓer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ṭṭlam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tebra-ya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a:effectLst/>
                          <a:latin typeface="Cascadia Mono" panose="020B0609020000020004" pitchFamily="49" charset="0"/>
                          <a:cs typeface="Cascadia Mono" panose="020B0609020000020004" pitchFamily="49" charset="0"/>
                        </a:rPr>
                        <a:t>- C’est bien, dit-elle.</a:t>
                      </a:r>
                    </a:p>
                    <a:p>
                      <a:pPr indent="216000" algn="l"/>
                      <a:r>
                        <a:rPr lang="fr-FR" sz="1100" kern="150">
                          <a:effectLst/>
                          <a:latin typeface="Cascadia Mono" panose="020B0609020000020004" pitchFamily="49" charset="0"/>
                          <a:cs typeface="Cascadia Mono" panose="020B0609020000020004" pitchFamily="49" charset="0"/>
                        </a:rPr>
                        <a:t>Et elle repartit seule, les yeux pleins de larmes.</a:t>
                      </a:r>
                    </a:p>
                    <a:p>
                      <a:pPr indent="216000" algn="l"/>
                      <a:r>
                        <a:rPr lang="fr-FR" sz="1100" kern="150">
                          <a:effectLst/>
                          <a:latin typeface="Cascadia Mono" panose="020B0609020000020004" pitchFamily="49" charset="0"/>
                          <a:cs typeface="Cascadia Mono" panose="020B0609020000020004" pitchFamily="49" charset="0"/>
                        </a:rPr>
                        <a:t>Puis le chacal revint vers les marcassins et les dévora.</a:t>
                      </a:r>
                    </a:p>
                    <a:p>
                      <a:pPr indent="216000" algn="l"/>
                      <a:r>
                        <a:rPr lang="fr-FR" sz="1100" kern="15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fr-FR" sz="1100" kern="15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fr-FR" sz="1100" kern="15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a:effectLst/>
                          <a:latin typeface="Cascadia Mono" panose="020B0609020000020004" pitchFamily="49" charset="0"/>
                          <a:cs typeface="Cascadia Mono" panose="020B0609020000020004" pitchFamily="49" charset="0"/>
                        </a:rPr>
                        <a:t>- Elle tient une racine et croit que c’est ma patte !</a:t>
                      </a:r>
                    </a:p>
                    <a:p>
                      <a:pPr indent="216000" algn="l"/>
                      <a:r>
                        <a:rPr lang="fr-FR" sz="1100" kern="150">
                          <a:effectLst/>
                          <a:latin typeface="Cascadia Mono" panose="020B0609020000020004" pitchFamily="49" charset="0"/>
                          <a:cs typeface="Cascadia Mono" panose="020B0609020000020004" pitchFamily="49" charset="0"/>
                        </a:rPr>
                        <a:t>Elle crut s’être effectivement trompée. Elle lâcha prise et il s’enfuit.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373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txeddem?</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tcetki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ɛzizen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tessɛac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ten-yečča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aɣeddaṛ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aneɣ</a:t>
                      </a:r>
                      <a:r>
                        <a:rPr lang="fr-FR" sz="1100" kern="1200">
                          <a:solidFill>
                            <a:schemeClr val="tx1"/>
                          </a:solidFill>
                          <a:effectLst/>
                          <a:latin typeface="+mn-lt"/>
                          <a:ea typeface="+mn-ea"/>
                          <a:cs typeface="+mn-cs"/>
                        </a:rPr>
                        <a:t>-tt. Ad t-</a:t>
                      </a:r>
                      <a:r>
                        <a:rPr lang="fr-FR" sz="1100" kern="1200" err="1">
                          <a:solidFill>
                            <a:schemeClr val="tx1"/>
                          </a:solidFill>
                          <a:effectLst/>
                          <a:latin typeface="+mn-lt"/>
                          <a:ea typeface="+mn-ea"/>
                          <a:cs typeface="+mn-cs"/>
                        </a:rPr>
                        <a:t>texdeɛ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tgella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lemleḥ</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tesseččeḍ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afus-is</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ttagad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tɛemleḍ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lemzegga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iyi-tefkeḍ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ɣeẓẓeɣ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taṣwiɛt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tḥemmel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tessemḥes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yeɣdeṛ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-i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iyi-tanfeḍ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cubkeɣ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uyaleɣ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a:effectLst/>
                          <a:latin typeface="Cascadia Mono" panose="020B0609020000020004" pitchFamily="49" charset="0"/>
                          <a:cs typeface="Cascadia Mono" panose="020B0609020000020004" pitchFamily="49" charset="0"/>
                        </a:rPr>
                        <a:t>Puis, il ajouta :</a:t>
                      </a:r>
                    </a:p>
                    <a:p>
                      <a:pPr indent="216000" algn="l"/>
                      <a:r>
                        <a:rPr lang="fr-FR" sz="1100" kern="15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a:effectLst/>
                          <a:latin typeface="Cascadia Mono" panose="020B0609020000020004" pitchFamily="49" charset="0"/>
                          <a:cs typeface="Cascadia Mono" panose="020B0609020000020004" pitchFamily="49" charset="0"/>
                        </a:rPr>
                        <a:t>Il la laissa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Lemqassa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tegguni</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Lḥirfa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tesdull-it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Ttgammin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walin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nelhi</a:t>
                      </a:r>
                      <a:r>
                        <a:rPr lang="fr-FR" sz="1100" kern="1200">
                          <a:solidFill>
                            <a:schemeClr val="tx1"/>
                          </a:solidFill>
                          <a:effectLst/>
                          <a:latin typeface="+mn-lt"/>
                          <a:ea typeface="+mn-ea"/>
                          <a:cs typeface="+mn-cs"/>
                        </a:rPr>
                        <a:t> fell-as,</a:t>
                      </a:r>
                    </a:p>
                    <a:p>
                      <a:pPr indent="457200"/>
                      <a:r>
                        <a:rPr lang="fr-FR" sz="1100" kern="1200">
                          <a:solidFill>
                            <a:schemeClr val="tx1"/>
                          </a:solidFill>
                          <a:effectLst/>
                          <a:latin typeface="+mn-lt"/>
                          <a:ea typeface="+mn-ea"/>
                          <a:cs typeface="+mn-cs"/>
                        </a:rPr>
                        <a:t>Ad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uɛessas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ɣunfun</a:t>
                      </a:r>
                      <a:r>
                        <a:rPr lang="fr-FR" sz="1100" kern="1200">
                          <a:solidFill>
                            <a:schemeClr val="tx1"/>
                          </a:solidFill>
                          <a:effectLst/>
                          <a:latin typeface="+mn-lt"/>
                          <a:ea typeface="+mn-ea"/>
                          <a:cs typeface="+mn-cs"/>
                        </a:rPr>
                        <a:t> w’ad t-</a:t>
                      </a:r>
                      <a:r>
                        <a:rPr lang="fr-FR" sz="1100" kern="1200" err="1">
                          <a:solidFill>
                            <a:schemeClr val="tx1"/>
                          </a:solidFill>
                          <a:effectLst/>
                          <a:latin typeface="+mn-lt"/>
                          <a:ea typeface="+mn-ea"/>
                          <a:cs typeface="+mn-cs"/>
                        </a:rPr>
                        <a:t>ilawin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Times ad tekker deg wul-is,</a:t>
                      </a:r>
                    </a:p>
                    <a:p>
                      <a:pPr indent="457200"/>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day d </a:t>
                      </a:r>
                      <a:r>
                        <a:rPr lang="fr-FR" sz="1100" kern="1200" err="1">
                          <a:solidFill>
                            <a:schemeClr val="tx1"/>
                          </a:solidFill>
                          <a:effectLst/>
                          <a:latin typeface="+mn-lt"/>
                          <a:ea typeface="+mn-ea"/>
                          <a:cs typeface="+mn-cs"/>
                        </a:rPr>
                        <a:t>Yeblis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w’ad tt-yessexsin.</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lkaf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s nncaf:</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lxeṭṭ</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ad fell-as </a:t>
                      </a:r>
                      <a:r>
                        <a:rPr lang="fr-FR" sz="1100" kern="1200" err="1">
                          <a:solidFill>
                            <a:schemeClr val="tx1"/>
                          </a:solidFill>
                          <a:effectLst/>
                          <a:latin typeface="+mn-lt"/>
                          <a:ea typeface="+mn-ea"/>
                          <a:cs typeface="+mn-cs"/>
                        </a:rPr>
                        <a:t>nendem</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d lfahem:</a:t>
                      </a:r>
                    </a:p>
                    <a:p>
                      <a:pPr indent="457200"/>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teṣfa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Yessakay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iɣeflen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Ttafen-t </a:t>
                      </a:r>
                      <a:r>
                        <a:rPr lang="fr-FR" sz="1100" kern="1200" err="1">
                          <a:solidFill>
                            <a:schemeClr val="tx1"/>
                          </a:solidFill>
                          <a:effectLst/>
                          <a:latin typeface="+mn-lt"/>
                          <a:ea typeface="+mn-ea"/>
                          <a:cs typeface="+mn-cs"/>
                        </a:rPr>
                        <a:t>yeḥbiben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lfayda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Akka ay d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Iḍefren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iberdan</a:t>
                      </a:r>
                      <a:endParaRPr lang="fr-FR" sz="1100" kern="1200">
                        <a:solidFill>
                          <a:schemeClr val="tx1"/>
                        </a:solidFill>
                        <a:effectLst/>
                        <a:latin typeface="+mn-lt"/>
                        <a:ea typeface="+mn-ea"/>
                        <a:cs typeface="+mn-cs"/>
                      </a:endParaRPr>
                    </a:p>
                    <a:p>
                      <a:pPr indent="457200"/>
                      <a:r>
                        <a:rPr lang="en-GB" sz="1100" kern="1200">
                          <a:solidFill>
                            <a:schemeClr val="tx1"/>
                          </a:solidFill>
                          <a:effectLst/>
                          <a:latin typeface="+mn-lt"/>
                          <a:ea typeface="+mn-ea"/>
                          <a:cs typeface="+mn-cs"/>
                        </a:rPr>
                        <a:t>Ɣ</a:t>
                      </a:r>
                      <a:r>
                        <a:rPr lang="fr-FR" sz="1100" kern="1200" err="1">
                          <a:solidFill>
                            <a:schemeClr val="tx1"/>
                          </a:solidFill>
                          <a:effectLst/>
                          <a:latin typeface="+mn-lt"/>
                          <a:ea typeface="+mn-ea"/>
                          <a:cs typeface="+mn-cs"/>
                        </a:rPr>
                        <a:t>ef</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ccaṛiɛa</a:t>
                      </a:r>
                      <a:r>
                        <a:rPr lang="fr-FR" sz="1100" kern="1200">
                          <a:solidFill>
                            <a:schemeClr val="tx1"/>
                          </a:solidFill>
                          <a:effectLst/>
                          <a:latin typeface="+mn-lt"/>
                          <a:ea typeface="+mn-ea"/>
                          <a:cs typeface="+mn-cs"/>
                        </a:rPr>
                        <a:t>.</a:t>
                      </a:r>
                    </a:p>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tewɛeṛ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targit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Lxattima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ṛṛeḥma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Sa punition serait certaine,</a:t>
                      </a:r>
                    </a:p>
                    <a:p>
                      <a:pPr indent="216000" algn="l"/>
                      <a:r>
                        <a:rPr lang="fr-FR" sz="1100" kern="150">
                          <a:effectLst/>
                          <a:latin typeface="Cascadia Mono" panose="020B0609020000020004" pitchFamily="49" charset="0"/>
                          <a:cs typeface="Cascadia Mono" panose="020B0609020000020004" pitchFamily="49" charset="0"/>
                        </a:rPr>
                        <a:t>Sa conduite le déshonorerait</a:t>
                      </a:r>
                    </a:p>
                    <a:p>
                      <a:pPr indent="216000" algn="l"/>
                      <a:r>
                        <a:rPr lang="fr-FR" sz="1100" kern="150">
                          <a:effectLst/>
                          <a:latin typeface="Cascadia Mono" panose="020B0609020000020004" pitchFamily="49" charset="0"/>
                          <a:cs typeface="Cascadia Mono" panose="020B0609020000020004" pitchFamily="49" charset="0"/>
                        </a:rPr>
                        <a:t>Et les gens le mépriseraient.</a:t>
                      </a:r>
                    </a:p>
                    <a:p>
                      <a:pPr indent="216000" algn="l"/>
                      <a:r>
                        <a:rPr lang="fr-FR" sz="1100" kern="150">
                          <a:effectLst/>
                          <a:latin typeface="Cascadia Mono" panose="020B0609020000020004" pitchFamily="49" charset="0"/>
                          <a:cs typeface="Cascadia Mono" panose="020B0609020000020004" pitchFamily="49" charset="0"/>
                        </a:rPr>
                        <a:t>Un jour, funeste pour lui,</a:t>
                      </a:r>
                    </a:p>
                    <a:p>
                      <a:pPr indent="216000" algn="l"/>
                      <a:r>
                        <a:rPr lang="fr-FR" sz="1100" kern="150">
                          <a:effectLst/>
                          <a:latin typeface="Cascadia Mono" panose="020B0609020000020004" pitchFamily="49" charset="0"/>
                          <a:cs typeface="Cascadia Mono" panose="020B0609020000020004" pitchFamily="49" charset="0"/>
                        </a:rPr>
                        <a:t>La providence le frapperait :</a:t>
                      </a:r>
                    </a:p>
                    <a:p>
                      <a:pPr indent="216000" algn="l"/>
                      <a:r>
                        <a:rPr lang="fr-FR" sz="1100" kern="150">
                          <a:effectLst/>
                          <a:latin typeface="Cascadia Mono" panose="020B0609020000020004" pitchFamily="49" charset="0"/>
                          <a:cs typeface="Cascadia Mono" panose="020B0609020000020004" pitchFamily="49" charset="0"/>
                        </a:rPr>
                        <a:t>On répugnerait à le soigner.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feu s’allumerait dans son cœur,</a:t>
                      </a:r>
                    </a:p>
                    <a:p>
                      <a:pPr indent="216000" algn="l"/>
                      <a:r>
                        <a:rPr lang="fr-FR" sz="1100" kern="150">
                          <a:effectLst/>
                          <a:latin typeface="Cascadia Mono" panose="020B0609020000020004" pitchFamily="49" charset="0"/>
                          <a:cs typeface="Cascadia Mono" panose="020B0609020000020004" pitchFamily="49" charset="0"/>
                        </a:rPr>
                        <a:t>Comme dans celui du diable,</a:t>
                      </a:r>
                    </a:p>
                    <a:p>
                      <a:pPr indent="216000" algn="l"/>
                      <a:r>
                        <a:rPr lang="fr-FR" sz="1100" kern="150">
                          <a:effectLst/>
                          <a:latin typeface="Cascadia Mono" panose="020B0609020000020004" pitchFamily="49" charset="0"/>
                          <a:cs typeface="Cascadia Mono" panose="020B0609020000020004" pitchFamily="49" charset="0"/>
                        </a:rPr>
                        <a:t>Et personne ne pourrait l’éteindre.</a:t>
                      </a:r>
                    </a:p>
                    <a:p>
                      <a:pPr indent="216000" algn="l"/>
                      <a:r>
                        <a:rPr lang="fr-FR" sz="1100" kern="150">
                          <a:effectLst/>
                          <a:latin typeface="Cascadia Mono" panose="020B0609020000020004" pitchFamily="49" charset="0"/>
                          <a:cs typeface="Cascadia Mono" panose="020B0609020000020004" pitchFamily="49" charset="0"/>
                        </a:rPr>
                        <a:t>Il se trouverait dans le précipice</a:t>
                      </a:r>
                    </a:p>
                    <a:p>
                      <a:pPr indent="216000" algn="l"/>
                      <a:r>
                        <a:rPr lang="fr-FR" sz="1100" kern="15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a:effectLst/>
                          <a:latin typeface="Cascadia Mono" panose="020B0609020000020004" pitchFamily="49" charset="0"/>
                          <a:cs typeface="Cascadia Mono" panose="020B0609020000020004" pitchFamily="49" charset="0"/>
                        </a:rPr>
                        <a:t>Preuves de la justice de Dieu.</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a:effectLst/>
                          <a:latin typeface="Cascadia Mono" panose="020B0609020000020004" pitchFamily="49" charset="0"/>
                          <a:cs typeface="Cascadia Mono" panose="020B0609020000020004" pitchFamily="49" charset="0"/>
                        </a:rPr>
                        <a:t>C’était un sage</a:t>
                      </a:r>
                    </a:p>
                    <a:p>
                      <a:pPr indent="216000" algn="l"/>
                      <a:r>
                        <a:rPr lang="fr-FR" sz="1100" kern="15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a:effectLst/>
                          <a:latin typeface="Cascadia Mono" panose="020B0609020000020004" pitchFamily="49" charset="0"/>
                          <a:cs typeface="Cascadia Mono" panose="020B0609020000020004" pitchFamily="49" charset="0"/>
                        </a:rPr>
                        <a:t>Et rendu service à ses amis.</a:t>
                      </a:r>
                    </a:p>
                    <a:p>
                      <a:pPr indent="216000" algn="l"/>
                      <a:r>
                        <a:rPr lang="fr-FR" sz="1100" kern="15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personnifie l’homme de bien</a:t>
                      </a:r>
                    </a:p>
                    <a:p>
                      <a:pPr indent="216000" algn="l"/>
                      <a:r>
                        <a:rPr lang="fr-FR" sz="1100" kern="150">
                          <a:effectLst/>
                          <a:latin typeface="Cascadia Mono" panose="020B0609020000020004" pitchFamily="49" charset="0"/>
                          <a:cs typeface="Cascadia Mono" panose="020B0609020000020004" pitchFamily="49" charset="0"/>
                        </a:rPr>
                        <a:t>Qui suit toujours les voies</a:t>
                      </a:r>
                    </a:p>
                    <a:p>
                      <a:pPr indent="216000" algn="l"/>
                      <a:r>
                        <a:rPr lang="fr-FR" sz="1100" kern="150">
                          <a:effectLst/>
                          <a:latin typeface="Cascadia Mono" panose="020B0609020000020004" pitchFamily="49" charset="0"/>
                          <a:cs typeface="Cascadia Mono" panose="020B0609020000020004" pitchFamily="49" charset="0"/>
                        </a:rPr>
                        <a:t>Recommandées par la loi.</a:t>
                      </a:r>
                    </a:p>
                    <a:p>
                      <a:pPr indent="216000" algn="l"/>
                      <a:r>
                        <a:rPr lang="fr-FR" sz="1100" kern="15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a:effectLst/>
                          <a:latin typeface="Cascadia Mono" panose="020B0609020000020004" pitchFamily="49" charset="0"/>
                          <a:cs typeface="Cascadia Mono" panose="020B0609020000020004" pitchFamily="49" charset="0"/>
                        </a:rPr>
                        <a:t>Elle passe néanmoins comme un rêve</a:t>
                      </a:r>
                    </a:p>
                    <a:p>
                      <a:pPr indent="216000" algn="l"/>
                      <a:r>
                        <a:rPr lang="fr-FR" sz="1100" kern="150">
                          <a:effectLst/>
                          <a:latin typeface="Cascadia Mono" panose="020B0609020000020004" pitchFamily="49" charset="0"/>
                          <a:cs typeface="Cascadia Mono" panose="020B0609020000020004" pitchFamily="49" charset="0"/>
                        </a:rPr>
                        <a:t>Et il atteint son but : le Paradis.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3660</TotalTime>
  <Words>27341</Words>
  <Application>Microsoft Office PowerPoint</Application>
  <PresentationFormat>Widescreen</PresentationFormat>
  <Paragraphs>1680</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1123</cp:revision>
  <dcterms:created xsi:type="dcterms:W3CDTF">2023-02-08T10:37:07Z</dcterms:created>
  <dcterms:modified xsi:type="dcterms:W3CDTF">2026-10-12T23:20:16Z</dcterms:modified>
</cp:coreProperties>
</file>