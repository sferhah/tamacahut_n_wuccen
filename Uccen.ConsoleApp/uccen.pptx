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1"/>
  </p:notesMasterIdLst>
  <p:handoutMasterIdLst>
    <p:handoutMasterId r:id="rId72"/>
  </p:handoutMasterIdLst>
  <p:sldIdLst>
    <p:sldId id="323" r:id="rId2"/>
    <p:sldId id="324" r:id="rId3"/>
    <p:sldId id="257" r:id="rId4"/>
    <p:sldId id="258" r:id="rId5"/>
    <p:sldId id="259" r:id="rId6"/>
    <p:sldId id="260" r:id="rId7"/>
    <p:sldId id="261" r:id="rId8"/>
    <p:sldId id="262" r:id="rId9"/>
    <p:sldId id="274" r:id="rId10"/>
    <p:sldId id="263" r:id="rId11"/>
    <p:sldId id="264" r:id="rId12"/>
    <p:sldId id="275" r:id="rId13"/>
    <p:sldId id="265" r:id="rId14"/>
    <p:sldId id="266" r:id="rId15"/>
    <p:sldId id="267" r:id="rId16"/>
    <p:sldId id="276" r:id="rId17"/>
    <p:sldId id="268" r:id="rId18"/>
    <p:sldId id="269" r:id="rId19"/>
    <p:sldId id="325" r:id="rId20"/>
    <p:sldId id="277" r:id="rId21"/>
    <p:sldId id="270" r:id="rId22"/>
    <p:sldId id="271" r:id="rId23"/>
    <p:sldId id="272" r:id="rId24"/>
    <p:sldId id="278" r:id="rId25"/>
    <p:sldId id="279" r:id="rId26"/>
    <p:sldId id="280" r:id="rId27"/>
    <p:sldId id="281" r:id="rId28"/>
    <p:sldId id="282" r:id="rId29"/>
    <p:sldId id="283" r:id="rId30"/>
    <p:sldId id="284" r:id="rId31"/>
    <p:sldId id="285" r:id="rId32"/>
    <p:sldId id="286" r:id="rId33"/>
    <p:sldId id="293" r:id="rId34"/>
    <p:sldId id="292" r:id="rId35"/>
    <p:sldId id="287" r:id="rId36"/>
    <p:sldId id="288" r:id="rId37"/>
    <p:sldId id="306" r:id="rId38"/>
    <p:sldId id="289" r:id="rId39"/>
    <p:sldId id="290" r:id="rId40"/>
    <p:sldId id="326" r:id="rId41"/>
    <p:sldId id="291" r:id="rId42"/>
    <p:sldId id="294" r:id="rId43"/>
    <p:sldId id="295" r:id="rId44"/>
    <p:sldId id="307" r:id="rId45"/>
    <p:sldId id="296" r:id="rId46"/>
    <p:sldId id="308" r:id="rId47"/>
    <p:sldId id="297" r:id="rId48"/>
    <p:sldId id="298" r:id="rId49"/>
    <p:sldId id="299" r:id="rId50"/>
    <p:sldId id="309" r:id="rId51"/>
    <p:sldId id="300" r:id="rId52"/>
    <p:sldId id="301" r:id="rId53"/>
    <p:sldId id="305" r:id="rId54"/>
    <p:sldId id="302" r:id="rId55"/>
    <p:sldId id="318" r:id="rId56"/>
    <p:sldId id="303" r:id="rId57"/>
    <p:sldId id="304" r:id="rId58"/>
    <p:sldId id="310" r:id="rId59"/>
    <p:sldId id="319" r:id="rId60"/>
    <p:sldId id="320" r:id="rId61"/>
    <p:sldId id="321" r:id="rId62"/>
    <p:sldId id="322" r:id="rId63"/>
    <p:sldId id="311" r:id="rId64"/>
    <p:sldId id="312" r:id="rId65"/>
    <p:sldId id="313" r:id="rId66"/>
    <p:sldId id="314" r:id="rId67"/>
    <p:sldId id="315" r:id="rId68"/>
    <p:sldId id="316" r:id="rId69"/>
    <p:sldId id="317" r:id="rId7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handoutMaster" Target="handoutMasters/handout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12/10/2026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12/10/2026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016413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kern="150" dirty="0">
                          <a:effectLst/>
                          <a:latin typeface="Cascadia Mono" panose="020B0609020000020004" pitchFamily="49" charset="0"/>
                          <a:cs typeface="Cascadia Mono" panose="020B0609020000020004" pitchFamily="49" charset="0"/>
                        </a:rPr>
                        <a:t>Monte dans la Montagne</a:t>
                      </a:r>
                    </a:p>
                    <a:p>
                      <a:pPr indent="216000" algn="l"/>
                      <a:r>
                        <a:rPr lang="fr-FR" sz="1100"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kern="150" dirty="0">
                          <a:effectLst/>
                          <a:latin typeface="Cascadia Mono" panose="020B0609020000020004" pitchFamily="49" charset="0"/>
                          <a:cs typeface="Cascadia Mono" panose="020B0609020000020004" pitchFamily="49" charset="0"/>
                        </a:rPr>
                        <a:t>Descende dans la plaine :</a:t>
                      </a:r>
                    </a:p>
                    <a:p>
                      <a:pPr indent="216000" algn="l"/>
                      <a:r>
                        <a:rPr lang="fr-FR" sz="1100" kern="150" dirty="0">
                          <a:effectLst/>
                          <a:latin typeface="Cascadia Mono" panose="020B0609020000020004" pitchFamily="49" charset="0"/>
                          <a:cs typeface="Cascadia Mono" panose="020B0609020000020004" pitchFamily="49" charset="0"/>
                        </a:rPr>
                        <a:t>Il y sera plus maltraité qu’un chien</a:t>
                      </a:r>
                      <a:r>
                        <a:rPr lang="en-US" sz="1100" dirty="0"/>
                        <a:t>…</a:t>
                      </a:r>
                      <a:endParaRPr lang="fr-FR" sz="1100"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88895190"/>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cs typeface="Cascadia Mono" panose="020B0609020000020004" pitchFamily="49" charset="0"/>
                      </a:endParaRPr>
                    </a:p>
                    <a:p>
                      <a:pPr indent="215900" algn="l"/>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a:t>
                      </a:r>
                      <a:endParaRPr lang="en-GB"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007055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p>
                    <a:p>
                      <a:pPr indent="457200"/>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806988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3572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 :</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a:t>
                      </a:r>
                      <a:r>
                        <a:rPr lang="fr-FR" sz="1100" kern="150" dirty="0">
                          <a:effectLst/>
                          <a:latin typeface="Cascadia Mono" panose="020B0609020000020004" pitchFamily="49" charset="0"/>
                          <a:cs typeface="Cascadia Mono" panose="020B0609020000020004" pitchFamily="49" charset="0"/>
                        </a:rPr>
                        <a:t>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15418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087621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Seg weɣyul,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ilef</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Atma-k, ha-ten la </a:t>
                      </a:r>
                      <a:r>
                        <a:rPr lang="fr-FR" sz="1100" kern="1200" err="1">
                          <a:solidFill>
                            <a:schemeClr val="tx1"/>
                          </a:solidFill>
                          <a:effectLst/>
                          <a:latin typeface="+mn-lt"/>
                          <a:ea typeface="+mn-ea"/>
                          <a:cs typeface="+mn-cs"/>
                        </a:rPr>
                        <a:t>ẓẓaden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abelluḍ</a:t>
                      </a:r>
                      <a:r>
                        <a:rPr lang="fr-FR" sz="1100" kern="1200">
                          <a:solidFill>
                            <a:schemeClr val="tx1"/>
                          </a:solidFill>
                          <a:effectLst/>
                          <a:latin typeface="+mn-lt"/>
                          <a:ea typeface="+mn-ea"/>
                          <a:cs typeface="+mn-cs"/>
                        </a:rPr>
                        <a:t>, ttfeggilen </a:t>
                      </a:r>
                      <a:r>
                        <a:rPr lang="fr-FR" sz="1100" kern="1200" err="1">
                          <a:solidFill>
                            <a:schemeClr val="tx1"/>
                          </a:solidFill>
                          <a:effectLst/>
                          <a:latin typeface="+mn-lt"/>
                          <a:ea typeface="+mn-ea"/>
                          <a:cs typeface="+mn-cs"/>
                        </a:rPr>
                        <a:t>akal</a:t>
                      </a:r>
                      <a:r>
                        <a:rPr lang="fr-FR" sz="1100" kern="1200">
                          <a:solidFill>
                            <a:schemeClr val="tx1"/>
                          </a:solidFill>
                          <a:effectLst/>
                          <a:latin typeface="+mn-lt"/>
                          <a:ea typeface="+mn-ea"/>
                          <a:cs typeface="+mn-cs"/>
                        </a:rPr>
                        <a:t> s temɣilin-nsen </a:t>
                      </a:r>
                      <a:r>
                        <a:rPr lang="fr-FR" sz="1100" kern="1200" err="1">
                          <a:solidFill>
                            <a:schemeClr val="tx1"/>
                          </a:solidFill>
                          <a:effectLst/>
                          <a:latin typeface="+mn-lt"/>
                          <a:ea typeface="+mn-ea"/>
                          <a:cs typeface="+mn-cs"/>
                        </a:rPr>
                        <a:t>ssekfalen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abeɛɛuq</a:t>
                      </a:r>
                      <a:r>
                        <a:rPr lang="fr-FR" sz="1100" kern="1200">
                          <a:solidFill>
                            <a:schemeClr val="tx1"/>
                          </a:solidFill>
                          <a:effectLst/>
                          <a:latin typeface="+mn-lt"/>
                          <a:ea typeface="+mn-ea"/>
                          <a:cs typeface="+mn-cs"/>
                        </a:rPr>
                        <a:t> d iɛemmuṛen. Mi </a:t>
                      </a:r>
                      <a:r>
                        <a:rPr lang="fr-FR" sz="1100" kern="1200" err="1">
                          <a:solidFill>
                            <a:schemeClr val="tx1"/>
                          </a:solidFill>
                          <a:effectLst/>
                          <a:latin typeface="+mn-lt"/>
                          <a:ea typeface="+mn-ea"/>
                          <a:cs typeface="+mn-cs"/>
                        </a:rPr>
                        <a:t>ṛwan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segnan-nsen, cexxṛen,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asen-yettalas.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tuɣaleḍ</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dagi</a:t>
                      </a:r>
                      <a:r>
                        <a:rPr lang="fr-FR" sz="1100" kern="1200">
                          <a:solidFill>
                            <a:schemeClr val="tx1"/>
                          </a:solidFill>
                          <a:effectLst/>
                          <a:latin typeface="+mn-lt"/>
                          <a:ea typeface="+mn-ea"/>
                          <a:cs typeface="+mn-cs"/>
                        </a:rPr>
                        <a:t> d tagertilt i yizem!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tḥesbeḍ</a:t>
                      </a:r>
                      <a:r>
                        <a:rPr lang="fr-FR" sz="1100" kern="1200">
                          <a:solidFill>
                            <a:schemeClr val="tx1"/>
                          </a:solidFill>
                          <a:effectLst/>
                          <a:latin typeface="+mn-lt"/>
                          <a:ea typeface="+mn-ea"/>
                          <a:cs typeface="+mn-cs"/>
                        </a:rPr>
                        <a:t> iman-ik d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yiɣil!</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Ixaq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yilef</a:t>
                      </a:r>
                      <a:r>
                        <a:rPr lang="fr-FR" sz="1100" kern="1200">
                          <a:solidFill>
                            <a:schemeClr val="tx1"/>
                          </a:solidFill>
                          <a:effectLst/>
                          <a:latin typeface="+mn-lt"/>
                          <a:ea typeface="+mn-ea"/>
                          <a:cs typeface="+mn-cs"/>
                        </a:rPr>
                        <a:t>, Yecxeṛ fell-as;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qareɛ</a:t>
                      </a:r>
                      <a:r>
                        <a:rPr lang="fr-FR" sz="1100" kern="1200">
                          <a:solidFill>
                            <a:schemeClr val="tx1"/>
                          </a:solidFill>
                          <a:effectLst/>
                          <a:latin typeface="+mn-lt"/>
                          <a:ea typeface="+mn-ea"/>
                          <a:cs typeface="+mn-cs"/>
                        </a:rPr>
                        <a:t> iman-ik: ufiɣ-n </a:t>
                      </a:r>
                      <a:r>
                        <a:rPr lang="fr-FR" sz="1100" kern="1200" err="1">
                          <a:solidFill>
                            <a:schemeClr val="tx1"/>
                          </a:solidFill>
                          <a:effectLst/>
                          <a:latin typeface="+mn-lt"/>
                          <a:ea typeface="+mn-ea"/>
                          <a:cs typeface="+mn-cs"/>
                        </a:rPr>
                        <a:t>ilef</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yesseqḍaɛ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timɣilin-is</a:t>
                      </a:r>
                      <a:r>
                        <a:rPr lang="fr-FR" sz="1100" kern="1200">
                          <a:solidFill>
                            <a:schemeClr val="tx1"/>
                          </a:solidFill>
                          <a:effectLst/>
                          <a:latin typeface="+mn-lt"/>
                          <a:ea typeface="+mn-ea"/>
                          <a:cs typeface="+mn-cs"/>
                        </a:rPr>
                        <a:t>, yettgalla deg-k!</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yizem:</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t-</a:t>
                      </a:r>
                      <a:r>
                        <a:rPr lang="fr-FR" sz="1100" kern="1200" err="1">
                          <a:solidFill>
                            <a:schemeClr val="tx1"/>
                          </a:solidFill>
                          <a:effectLst/>
                          <a:latin typeface="+mn-lt"/>
                          <a:ea typeface="+mn-ea"/>
                          <a:cs typeface="+mn-cs"/>
                        </a:rPr>
                        <a:t>ɛeqleɣ</a:t>
                      </a:r>
                      <a:r>
                        <a:rPr lang="fr-FR" sz="1100" kern="1200">
                          <a:solidFill>
                            <a:schemeClr val="tx1"/>
                          </a:solidFill>
                          <a:effectLst/>
                          <a:latin typeface="+mn-lt"/>
                          <a:ea typeface="+mn-ea"/>
                          <a:cs typeface="+mn-cs"/>
                        </a:rPr>
                        <a:t> ad iyi-d-yebdu?</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twalaḍ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anyir-is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yekres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bnu</a:t>
                      </a:r>
                      <a:r>
                        <a:rPr lang="fr-FR" sz="1100" kern="1200">
                          <a:solidFill>
                            <a:schemeClr val="tx1"/>
                          </a:solidFill>
                          <a:effectLst/>
                          <a:latin typeface="+mn-lt"/>
                          <a:ea typeface="+mn-ea"/>
                          <a:cs typeface="+mn-cs"/>
                        </a:rPr>
                        <a:t> f yiman-ik!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anyir</a:t>
                      </a:r>
                      <a:r>
                        <a:rPr lang="fr-FR" sz="1100" kern="1200">
                          <a:solidFill>
                            <a:schemeClr val="tx1"/>
                          </a:solidFill>
                          <a:effectLst/>
                          <a:latin typeface="+mn-lt"/>
                          <a:ea typeface="+mn-ea"/>
                          <a:cs typeface="+mn-cs"/>
                        </a:rPr>
                        <a:t> n yilef </a:t>
                      </a:r>
                      <a:r>
                        <a:rPr lang="fr-FR" sz="1100" kern="1200" err="1">
                          <a:solidFill>
                            <a:schemeClr val="tx1"/>
                          </a:solidFill>
                          <a:effectLst/>
                          <a:latin typeface="+mn-lt"/>
                          <a:ea typeface="+mn-ea"/>
                          <a:cs typeface="+mn-cs"/>
                        </a:rPr>
                        <a:t>dayem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ikerres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ilef</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Ɛass</a:t>
                      </a:r>
                      <a:r>
                        <a:rPr lang="fr-FR" sz="1100" kern="1200">
                          <a:solidFill>
                            <a:schemeClr val="tx1"/>
                          </a:solidFill>
                          <a:effectLst/>
                          <a:latin typeface="+mn-lt"/>
                          <a:ea typeface="+mn-ea"/>
                          <a:cs typeface="+mn-cs"/>
                        </a:rPr>
                        <a:t> iman-ik: la yettgalla deg-k yizem!</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yilef:</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t-</a:t>
                      </a:r>
                      <a:r>
                        <a:rPr lang="fr-FR" sz="1100" kern="1200" err="1">
                          <a:solidFill>
                            <a:schemeClr val="tx1"/>
                          </a:solidFill>
                          <a:effectLst/>
                          <a:latin typeface="+mn-lt"/>
                          <a:ea typeface="+mn-ea"/>
                          <a:cs typeface="+mn-cs"/>
                        </a:rPr>
                        <a:t>ɛeqleɣ</a:t>
                      </a:r>
                      <a:r>
                        <a:rPr lang="fr-FR" sz="1100" kern="1200">
                          <a:solidFill>
                            <a:schemeClr val="tx1"/>
                          </a:solidFill>
                          <a:effectLst/>
                          <a:latin typeface="+mn-lt"/>
                          <a:ea typeface="+mn-ea"/>
                          <a:cs typeface="+mn-cs"/>
                        </a:rPr>
                        <a:t> ad iyi-d-yebdu?</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twalaḍ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cclaɣem-is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reqqsen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bnu</a:t>
                      </a:r>
                      <a:r>
                        <a:rPr lang="fr-FR" sz="1100" kern="1200">
                          <a:solidFill>
                            <a:schemeClr val="tx1"/>
                          </a:solidFill>
                          <a:effectLst/>
                          <a:latin typeface="+mn-lt"/>
                          <a:ea typeface="+mn-ea"/>
                          <a:cs typeface="+mn-cs"/>
                        </a:rPr>
                        <a:t> f yiman-ik!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cclaɣem</a:t>
                      </a:r>
                      <a:r>
                        <a:rPr lang="fr-FR" sz="1100" kern="1200">
                          <a:solidFill>
                            <a:schemeClr val="tx1"/>
                          </a:solidFill>
                          <a:effectLst/>
                          <a:latin typeface="+mn-lt"/>
                          <a:ea typeface="+mn-ea"/>
                          <a:cs typeface="+mn-cs"/>
                        </a:rPr>
                        <a:t> n yizem dayem reqqsen!)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Puis le chacal s’occupe du sanglier :</a:t>
                      </a:r>
                    </a:p>
                    <a:p>
                      <a:pPr indent="216000" algn="l"/>
                      <a:r>
                        <a:rPr lang="fr-FR" sz="1100" kern="15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a:effectLst/>
                          <a:latin typeface="Cascadia Mono" panose="020B0609020000020004" pitchFamily="49" charset="0"/>
                          <a:cs typeface="Cascadia Mono" panose="020B0609020000020004" pitchFamily="49" charset="0"/>
                        </a:rPr>
                        <a:t>Et chacun sait que les moustaches du lion sont toujours agitées.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73408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2222660"/>
              </p:ext>
            </p:extLst>
          </p:nvPr>
        </p:nvGraphicFramePr>
        <p:xfrm>
          <a:off x="296561" y="148280"/>
          <a:ext cx="11631828" cy="666370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28-30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29-31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a:t>¶ </a:t>
                      </a:r>
                      <a:r>
                        <a:rPr lang="fr-FR" sz="1100" kern="1200">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380227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yuẓa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uɣamac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Imelleḥ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aglim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tfunast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idhen-it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ifser-it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lɛql-is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yewǧed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igzem-it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isriḥen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tyigiwin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yextaṛ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-sent </a:t>
                      </a:r>
                      <a:r>
                        <a:rPr lang="fr-FR" sz="1100" kern="1200" err="1">
                          <a:solidFill>
                            <a:schemeClr val="tx1"/>
                          </a:solidFill>
                          <a:effectLst/>
                          <a:latin typeface="+mn-lt"/>
                          <a:ea typeface="+mn-ea"/>
                          <a:cs typeface="+mn-cs"/>
                        </a:rPr>
                        <a:t>snat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iqass</a:t>
                      </a:r>
                      <a:r>
                        <a:rPr lang="fr-FR" sz="1100" kern="1200">
                          <a:solidFill>
                            <a:schemeClr val="tx1"/>
                          </a:solidFill>
                          <a:effectLst/>
                          <a:latin typeface="+mn-lt"/>
                          <a:ea typeface="+mn-ea"/>
                          <a:cs typeface="+mn-cs"/>
                        </a:rPr>
                        <a:t>-as-</a:t>
                      </a:r>
                      <a:r>
                        <a:rPr lang="fr-FR" sz="1100" kern="1200" err="1">
                          <a:solidFill>
                            <a:schemeClr val="tx1"/>
                          </a:solidFill>
                          <a:effectLst/>
                          <a:latin typeface="+mn-lt"/>
                          <a:ea typeface="+mn-ea"/>
                          <a:cs typeface="+mn-cs"/>
                        </a:rPr>
                        <a:t>tent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ṣebḥent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lexṛaza</a:t>
                      </a:r>
                      <a:r>
                        <a:rPr lang="fr-FR" sz="1100" kern="1200">
                          <a:solidFill>
                            <a:schemeClr val="tx1"/>
                          </a:solidFill>
                          <a:effectLst/>
                          <a:latin typeface="+mn-lt"/>
                          <a:ea typeface="+mn-ea"/>
                          <a:cs typeface="+mn-cs"/>
                        </a:rPr>
                        <a:t>: mi d-yewwi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weglim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tfunast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weglim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tindict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nnefda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isuɣ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yini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qerrḥent</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neffɛent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Ixerreẓ</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tcifaḍ</a:t>
                      </a:r>
                      <a:r>
                        <a:rPr lang="fr-FR" sz="1100" kern="1200">
                          <a:solidFill>
                            <a:schemeClr val="tx1"/>
                          </a:solidFill>
                          <a:effectLst/>
                          <a:latin typeface="+mn-lt"/>
                          <a:ea typeface="+mn-ea"/>
                          <a:cs typeface="+mn-cs"/>
                        </a:rPr>
                        <a:t> agi si </a:t>
                      </a:r>
                      <a:r>
                        <a:rPr lang="fr-FR" sz="1100" kern="1200" err="1">
                          <a:solidFill>
                            <a:schemeClr val="tx1"/>
                          </a:solidFill>
                          <a:effectLst/>
                          <a:latin typeface="+mn-lt"/>
                          <a:ea typeface="+mn-ea"/>
                          <a:cs typeface="+mn-cs"/>
                        </a:rPr>
                        <a:t>ṣṣbeḥ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yettsuɣu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qerrḥent</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neffɛent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tiɣilt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yefri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ameqran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tinnegnit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a:t>
                      </a:r>
                      <a:r>
                        <a:rPr lang="fr-FR" sz="1100" kern="1200">
                          <a:solidFill>
                            <a:schemeClr val="tx1"/>
                          </a:solidFill>
                          <a:effectLst/>
                          <a:latin typeface="+mn-lt"/>
                          <a:ea typeface="+mn-ea"/>
                          <a:cs typeface="+mn-cs"/>
                        </a:rPr>
                        <a:t>-ik i </a:t>
                      </a:r>
                      <a:r>
                        <a:rPr lang="fr-FR" sz="1100" kern="1200" err="1">
                          <a:solidFill>
                            <a:schemeClr val="tx1"/>
                          </a:solidFill>
                          <a:effectLst/>
                          <a:latin typeface="+mn-lt"/>
                          <a:ea typeface="+mn-ea"/>
                          <a:cs typeface="+mn-cs"/>
                        </a:rPr>
                        <a:t>ṛebɛa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qqurent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tcifaḍ</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lhunt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Yeqqim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ssmayem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tizwa</a:t>
                      </a:r>
                      <a:r>
                        <a:rPr lang="fr-FR" sz="1100" kern="1200">
                          <a:solidFill>
                            <a:schemeClr val="tx1"/>
                          </a:solidFill>
                          <a:effectLst/>
                          <a:latin typeface="+mn-lt"/>
                          <a:ea typeface="+mn-ea"/>
                          <a:cs typeface="+mn-cs"/>
                        </a:rPr>
                        <a:t>: ssewwen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weglim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tkeffaṛt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iqubel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lbeɛd</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ubeḥri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a:effectLst/>
                          <a:latin typeface="Cascadia Mono" panose="020B0609020000020004" pitchFamily="49" charset="0"/>
                          <a:cs typeface="Cascadia Mono" panose="020B0609020000020004" pitchFamily="49" charset="0"/>
                        </a:rPr>
                        <a:t>- Plus elles font mal, meilleures elles sont !</a:t>
                      </a:r>
                    </a:p>
                    <a:p>
                      <a:pPr indent="216000" algn="l"/>
                      <a:r>
                        <a:rPr lang="fr-FR" sz="1100" kern="15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a:effectLst/>
                        <a:latin typeface="Cascadia Mono" panose="020B0609020000020004" pitchFamily="49" charset="0"/>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48433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Neggez tura: ad teẓreḍ ma ur tettafgeḍ ara am wefṛux deg genni!</a:t>
                      </a:r>
                    </a:p>
                    <a:p>
                      <a:pPr indent="457200"/>
                      <a:r>
                        <a:rPr lang="fr-FR" sz="1100" kern="1200">
                          <a:solidFill>
                            <a:schemeClr val="tx1"/>
                          </a:solidFill>
                          <a:effectLst/>
                          <a:latin typeface="+mn-lt"/>
                          <a:ea typeface="+mn-ea"/>
                          <a:cs typeface="+mn-cs"/>
                        </a:rPr>
                        <a:t>Ineggez yizem di lkaf, yegrareb f qerru f iḍarren armi d lqaɛa n yeɣẓer: yeqtel irkel: ula d addud ur yezmir ara ad ibedd. Uccen yendi-yas-tt ad t-ineɣ, ad t-yečč ula d netta, armi i t-iwala yemneɛ, yerwel.</a:t>
                      </a:r>
                    </a:p>
                    <a:p>
                      <a:pPr indent="457200"/>
                      <a:r>
                        <a:rPr lang="fr-FR" sz="1100" kern="1200">
                          <a:solidFill>
                            <a:schemeClr val="tx1"/>
                          </a:solidFill>
                          <a:effectLst/>
                          <a:latin typeface="+mn-lt"/>
                          <a:ea typeface="+mn-ea"/>
                          <a:cs typeface="+mn-cs"/>
                        </a:rPr>
                        <a:t>S udem n tmeddit, a-t-a lferg usekkur yuɣ-d iɣẓer d tasawent, yufa-d izem di yir lḥala.</a:t>
                      </a:r>
                    </a:p>
                    <a:p>
                      <a:pPr indent="457200"/>
                      <a:r>
                        <a:rPr lang="fr-FR" sz="1100" kern="1200">
                          <a:solidFill>
                            <a:schemeClr val="tx1"/>
                          </a:solidFill>
                          <a:effectLst/>
                          <a:latin typeface="+mn-lt"/>
                          <a:ea typeface="+mn-ea"/>
                          <a:cs typeface="+mn-cs"/>
                        </a:rPr>
                        <a:t>Nnant-as tsekkrin:</a:t>
                      </a:r>
                    </a:p>
                    <a:p>
                      <a:pPr indent="457200"/>
                      <a:r>
                        <a:rPr lang="fr-FR" sz="1100" kern="1200">
                          <a:solidFill>
                            <a:schemeClr val="tx1"/>
                          </a:solidFill>
                          <a:effectLst/>
                          <a:latin typeface="+mn-lt"/>
                          <a:ea typeface="+mn-ea"/>
                          <a:cs typeface="+mn-cs"/>
                        </a:rPr>
                        <a:t>- Ɛahed-aɣ s Ṛebbi ur aɣ-teččiḍ, ad k-nsellek!</a:t>
                      </a:r>
                    </a:p>
                    <a:p>
                      <a:pPr indent="457200"/>
                      <a:r>
                        <a:rPr lang="fr-FR" sz="1100" kern="1200">
                          <a:solidFill>
                            <a:schemeClr val="tx1"/>
                          </a:solidFill>
                          <a:effectLst/>
                          <a:latin typeface="+mn-lt"/>
                          <a:ea typeface="+mn-ea"/>
                          <a:cs typeface="+mn-cs"/>
                        </a:rPr>
                        <a:t>Iɛahed-itent. Uɣalent ar d-ttawint aman deg qubab-nsent, slexsent ticifaḍ armi yerḍeb weglim; xesfent-d lexyuḍ, ɣlint tcifaḍ, Yemmeɣ yizem s leḥṛaṛa f tsekkurt, yessebleɛ-itt: yerẓa leɛhud n Ṛebbi. Yuɣal ifa: tufeg-d tedder seg uɛebbuḍ-is!</a:t>
                      </a:r>
                    </a:p>
                    <a:p>
                      <a:pPr indent="457200"/>
                      <a:r>
                        <a:rPr lang="fr-FR" sz="1100" kern="1200">
                          <a:solidFill>
                            <a:schemeClr val="tx1"/>
                          </a:solidFill>
                          <a:effectLst/>
                          <a:latin typeface="+mn-lt"/>
                          <a:ea typeface="+mn-ea"/>
                          <a:cs typeface="+mn-cs"/>
                        </a:rPr>
                        <a:t>Yekker yizem la ileḥḥu inedder armi d lɣar-is, yeṭṭes: ur as-yexdim ara waṭṭan annect i s-yexdem wurrif.</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fr-FR" sz="1100" kern="15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fr-FR" sz="1100" kern="15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fr-FR" sz="1100" kern="15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fr-FR" sz="1100" kern="15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62450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vengeance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Yeḥbes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n wussan di lɣar-is;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ibezgen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ṭṭreḍqen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arṣeḍ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tawla</a:t>
                      </a:r>
                      <a:r>
                        <a:rPr lang="fr-FR" sz="1100" kern="1200">
                          <a:solidFill>
                            <a:schemeClr val="tx1"/>
                          </a:solidFill>
                          <a:effectLst/>
                          <a:latin typeface="+mn-lt"/>
                          <a:ea typeface="+mn-ea"/>
                          <a:cs typeface="+mn-cs"/>
                        </a:rPr>
                        <a:t> i t-yettaɣen seg-sen.</a:t>
                      </a:r>
                    </a:p>
                    <a:p>
                      <a:pPr indent="457200"/>
                      <a:r>
                        <a:rPr lang="fr-FR" sz="1100" kern="1200">
                          <a:solidFill>
                            <a:schemeClr val="tx1"/>
                          </a:solidFill>
                          <a:effectLst/>
                          <a:latin typeface="+mn-lt"/>
                          <a:ea typeface="+mn-ea"/>
                          <a:cs typeface="+mn-cs"/>
                        </a:rPr>
                        <a:t>Mi d-</a:t>
                      </a:r>
                      <a:r>
                        <a:rPr lang="fr-FR" sz="1100" kern="1200" err="1">
                          <a:solidFill>
                            <a:schemeClr val="tx1"/>
                          </a:solidFill>
                          <a:effectLst/>
                          <a:latin typeface="+mn-lt"/>
                          <a:ea typeface="+mn-ea"/>
                          <a:cs typeface="+mn-cs"/>
                        </a:rPr>
                        <a:t>yesmekti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yeḍsa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lexdiɛa</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yexdeɛ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iqelleb</a:t>
                      </a:r>
                      <a:r>
                        <a:rPr lang="fr-FR" sz="1100" kern="1200">
                          <a:solidFill>
                            <a:schemeClr val="tx1"/>
                          </a:solidFill>
                          <a:effectLst/>
                          <a:latin typeface="+mn-lt"/>
                          <a:ea typeface="+mn-ea"/>
                          <a:cs typeface="+mn-cs"/>
                        </a:rPr>
                        <a:t> f wuccen, ad d-</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ttaṛ-is. Yetti-d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tt-yuman,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yufi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yessemlal-iten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deg wemḍiq: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d lḥiḍ n weẓru </a:t>
                      </a:r>
                      <a:r>
                        <a:rPr lang="fr-FR" sz="1100" kern="1200" err="1">
                          <a:solidFill>
                            <a:schemeClr val="tx1"/>
                          </a:solidFill>
                          <a:effectLst/>
                          <a:latin typeface="+mn-lt"/>
                          <a:ea typeface="+mn-ea"/>
                          <a:cs typeface="+mn-cs"/>
                        </a:rPr>
                        <a:t>iṣeggem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trigla</a:t>
                      </a:r>
                      <a:r>
                        <a:rPr lang="fr-FR" sz="1100" kern="1200">
                          <a:solidFill>
                            <a:schemeClr val="tx1"/>
                          </a:solidFill>
                          <a:effectLst/>
                          <a:latin typeface="+mn-lt"/>
                          <a:ea typeface="+mn-ea"/>
                          <a:cs typeface="+mn-cs"/>
                        </a:rPr>
                        <a:t>. Uccen,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ddunit: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teḥdeṛ-d: </a:t>
                      </a:r>
                      <a:r>
                        <a:rPr lang="fr-FR" sz="1100" kern="1200" err="1">
                          <a:solidFill>
                            <a:schemeClr val="tx1"/>
                          </a:solidFill>
                          <a:effectLst/>
                          <a:latin typeface="+mn-lt"/>
                          <a:ea typeface="+mn-ea"/>
                          <a:cs typeface="+mn-cs"/>
                        </a:rPr>
                        <a:t>tusa</a:t>
                      </a:r>
                      <a:r>
                        <a:rPr lang="fr-FR" sz="1100" kern="1200">
                          <a:solidFill>
                            <a:schemeClr val="tx1"/>
                          </a:solidFill>
                          <a:effectLst/>
                          <a:latin typeface="+mn-lt"/>
                          <a:ea typeface="+mn-ea"/>
                          <a:cs typeface="+mn-cs"/>
                        </a:rPr>
                        <a:t>-d mm lḥeq!</a:t>
                      </a:r>
                    </a:p>
                    <a:p>
                      <a:pPr indent="457200"/>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falku</a:t>
                      </a:r>
                      <a:r>
                        <a:rPr lang="fr-FR" sz="1100" kern="1200">
                          <a:solidFill>
                            <a:schemeClr val="tx1"/>
                          </a:solidFill>
                          <a:effectLst/>
                          <a:latin typeface="+mn-lt"/>
                          <a:ea typeface="+mn-ea"/>
                          <a:cs typeface="+mn-cs"/>
                        </a:rPr>
                        <a:t>, izgel-it: </a:t>
                      </a:r>
                      <a:r>
                        <a:rPr lang="fr-FR" sz="1100" kern="1200" err="1">
                          <a:solidFill>
                            <a:schemeClr val="tx1"/>
                          </a:solidFill>
                          <a:effectLst/>
                          <a:latin typeface="+mn-lt"/>
                          <a:ea typeface="+mn-ea"/>
                          <a:cs typeface="+mn-cs"/>
                        </a:rPr>
                        <a:t>igzem</a:t>
                      </a:r>
                      <a:r>
                        <a:rPr lang="fr-FR" sz="1100" kern="1200">
                          <a:solidFill>
                            <a:schemeClr val="tx1"/>
                          </a:solidFill>
                          <a:effectLst/>
                          <a:latin typeface="+mn-lt"/>
                          <a:ea typeface="+mn-ea"/>
                          <a:cs typeface="+mn-cs"/>
                        </a:rPr>
                        <a:t>-as kan ajeḥniḍ!</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cṭir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tugdi</a:t>
                      </a:r>
                      <a:r>
                        <a:rPr lang="fr-FR" sz="1100" kern="1200">
                          <a:solidFill>
                            <a:schemeClr val="tx1"/>
                          </a:solidFill>
                          <a:effectLst/>
                          <a:latin typeface="+mn-lt"/>
                          <a:ea typeface="+mn-ea"/>
                          <a:cs typeface="+mn-cs"/>
                        </a:rPr>
                        <a:t> lxaffa: </a:t>
                      </a:r>
                      <a:r>
                        <a:rPr lang="fr-FR" sz="1100" kern="1200" err="1">
                          <a:solidFill>
                            <a:schemeClr val="tx1"/>
                          </a:solidFill>
                          <a:effectLst/>
                          <a:latin typeface="+mn-lt"/>
                          <a:ea typeface="+mn-ea"/>
                          <a:cs typeface="+mn-cs"/>
                        </a:rPr>
                        <a:t>yuli</a:t>
                      </a:r>
                      <a:r>
                        <a:rPr lang="fr-FR" sz="1100" kern="1200">
                          <a:solidFill>
                            <a:schemeClr val="tx1"/>
                          </a:solidFill>
                          <a:effectLst/>
                          <a:latin typeface="+mn-lt"/>
                          <a:ea typeface="+mn-ea"/>
                          <a:cs typeface="+mn-cs"/>
                        </a:rPr>
                        <a:t> deg weẓru am wemcic di </a:t>
                      </a:r>
                      <a:r>
                        <a:rPr lang="fr-FR" sz="1100" kern="1200" err="1">
                          <a:solidFill>
                            <a:schemeClr val="tx1"/>
                          </a:solidFill>
                          <a:effectLst/>
                          <a:latin typeface="+mn-lt"/>
                          <a:ea typeface="+mn-ea"/>
                          <a:cs typeface="+mn-cs"/>
                        </a:rPr>
                        <a:t>lḥiḍ</a:t>
                      </a:r>
                      <a:r>
                        <a:rPr lang="fr-FR" sz="1100" kern="1200">
                          <a:solidFill>
                            <a:schemeClr val="tx1"/>
                          </a:solidFill>
                          <a:effectLst/>
                          <a:latin typeface="+mn-lt"/>
                          <a:ea typeface="+mn-ea"/>
                          <a:cs typeface="+mn-cs"/>
                        </a:rPr>
                        <a:t>. Yewweḍ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nnug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wemḍiq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din: </a:t>
                      </a:r>
                      <a:r>
                        <a:rPr lang="fr-FR" sz="1100" kern="1200" err="1">
                          <a:solidFill>
                            <a:schemeClr val="tx1"/>
                          </a:solidFill>
                          <a:effectLst/>
                          <a:latin typeface="+mn-lt"/>
                          <a:ea typeface="+mn-ea"/>
                          <a:cs typeface="+mn-cs"/>
                        </a:rPr>
                        <a:t>qquren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ifadden-is</a:t>
                      </a:r>
                      <a:r>
                        <a:rPr lang="fr-FR" sz="1100" kern="1200">
                          <a:solidFill>
                            <a:schemeClr val="tx1"/>
                          </a:solidFill>
                          <a:effectLst/>
                          <a:latin typeface="+mn-lt"/>
                          <a:ea typeface="+mn-ea"/>
                          <a:cs typeface="+mn-cs"/>
                        </a:rPr>
                        <a:t>, la yettergigi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Yesxenzer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ajeḥniḍ</a:t>
                      </a:r>
                      <a:r>
                        <a:rPr lang="fr-FR" sz="1100" kern="1200">
                          <a:solidFill>
                            <a:schemeClr val="tx1"/>
                          </a:solidFill>
                          <a:effectLst/>
                          <a:latin typeface="+mn-lt"/>
                          <a:ea typeface="+mn-ea"/>
                          <a:cs typeface="+mn-cs"/>
                        </a:rPr>
                        <a:t> n wuccen s </a:t>
                      </a:r>
                      <a:r>
                        <a:rPr lang="fr-FR" sz="1100" kern="1200" err="1">
                          <a:solidFill>
                            <a:schemeClr val="tx1"/>
                          </a:solidFill>
                          <a:effectLst/>
                          <a:latin typeface="+mn-lt"/>
                          <a:ea typeface="+mn-ea"/>
                          <a:cs typeface="+mn-cs"/>
                        </a:rPr>
                        <a:t>wuglan-is</a:t>
                      </a:r>
                      <a:r>
                        <a:rPr lang="fr-FR" sz="1100" kern="1200">
                          <a:solidFill>
                            <a:schemeClr val="tx1"/>
                          </a:solidFill>
                          <a:effectLst/>
                          <a:latin typeface="+mn-lt"/>
                          <a:ea typeface="+mn-ea"/>
                          <a:cs typeface="+mn-cs"/>
                        </a:rPr>
                        <a:t> d waccaren-is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ineẓd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gmas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axeddeɛ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cfu</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imeslayen-iw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tgeḍ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leqrar</a:t>
                      </a:r>
                      <a:r>
                        <a:rPr lang="fr-FR" sz="1100" kern="1200">
                          <a:solidFill>
                            <a:schemeClr val="tx1"/>
                          </a:solidFill>
                          <a:effectLst/>
                          <a:latin typeface="+mn-lt"/>
                          <a:ea typeface="+mn-ea"/>
                          <a:cs typeface="+mn-cs"/>
                        </a:rPr>
                        <a:t> i yiman-ik! </a:t>
                      </a:r>
                      <a:r>
                        <a:rPr lang="fr-FR" sz="1100" kern="1200" err="1">
                          <a:solidFill>
                            <a:schemeClr val="tx1"/>
                          </a:solidFill>
                          <a:effectLst/>
                          <a:latin typeface="+mn-lt"/>
                          <a:ea typeface="+mn-ea"/>
                          <a:cs typeface="+mn-cs"/>
                        </a:rPr>
                        <a:t>Tikelt</a:t>
                      </a:r>
                      <a:r>
                        <a:rPr lang="fr-FR" sz="1100" kern="1200">
                          <a:solidFill>
                            <a:schemeClr val="tx1"/>
                          </a:solidFill>
                          <a:effectLst/>
                          <a:latin typeface="+mn-lt"/>
                          <a:ea typeface="+mn-ea"/>
                          <a:cs typeface="+mn-cs"/>
                        </a:rPr>
                        <a:t> agi zegleɣ-k, </a:t>
                      </a:r>
                      <a:r>
                        <a:rPr lang="fr-FR" sz="1100" kern="1200" err="1">
                          <a:solidFill>
                            <a:schemeClr val="tx1"/>
                          </a:solidFill>
                          <a:effectLst/>
                          <a:latin typeface="+mn-lt"/>
                          <a:ea typeface="+mn-ea"/>
                          <a:cs typeface="+mn-cs"/>
                        </a:rPr>
                        <a:t>temneɛḍ-iyi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ɛllmeɣ-k: anda </a:t>
                      </a:r>
                      <a:r>
                        <a:rPr lang="fr-FR" sz="1100" kern="1200" err="1">
                          <a:solidFill>
                            <a:schemeClr val="tx1"/>
                          </a:solidFill>
                          <a:effectLst/>
                          <a:latin typeface="+mn-lt"/>
                          <a:ea typeface="+mn-ea"/>
                          <a:cs typeface="+mn-cs"/>
                        </a:rPr>
                        <a:t>telliḍ</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ɛeqleɣ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watma-k: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ad teqqim ddunit yiwwass, ad k-</a:t>
                      </a:r>
                      <a:r>
                        <a:rPr lang="fr-FR" sz="1100" kern="1200" err="1">
                          <a:solidFill>
                            <a:schemeClr val="tx1"/>
                          </a:solidFill>
                          <a:effectLst/>
                          <a:latin typeface="+mn-lt"/>
                          <a:ea typeface="+mn-ea"/>
                          <a:cs typeface="+mn-cs"/>
                        </a:rPr>
                        <a:t>ṭṭfeɣ</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rẓeɣ</a:t>
                      </a:r>
                      <a:r>
                        <a:rPr lang="fr-FR" sz="1100" kern="1200">
                          <a:solidFill>
                            <a:schemeClr val="tx1"/>
                          </a:solidFill>
                          <a:effectLst/>
                          <a:latin typeface="+mn-lt"/>
                          <a:ea typeface="+mn-ea"/>
                          <a:cs typeface="+mn-cs"/>
                        </a:rPr>
                        <a:t> deg uzagur,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tettnejbaṛeḍ ara: ad </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lmux</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sweɣ</a:t>
                      </a:r>
                      <a:r>
                        <a:rPr lang="fr-FR" sz="1100" kern="1200">
                          <a:solidFill>
                            <a:schemeClr val="tx1"/>
                          </a:solidFill>
                          <a:effectLst/>
                          <a:latin typeface="+mn-lt"/>
                          <a:ea typeface="+mn-ea"/>
                          <a:cs typeface="+mn-cs"/>
                        </a:rPr>
                        <a:t> idammen-ik!</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fr-FR" sz="1100" kern="15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fr-FR" sz="1100" kern="15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fr-FR" sz="1100" kern="15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fr-FR" sz="1100" kern="15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fr-FR" sz="1100" kern="150">
                          <a:effectLst/>
                          <a:latin typeface="Cascadia Mono" panose="020B0609020000020004" pitchFamily="49" charset="0"/>
                          <a:cs typeface="Cascadia Mono" panose="020B0609020000020004" pitchFamily="49" charset="0"/>
                        </a:rPr>
                        <a:t>Et chacun suivit son chemin.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45590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38-40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39-41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Seg wasmi i s-yettwagzem </a:t>
                      </a:r>
                      <a:r>
                        <a:rPr lang="fr-FR" sz="1100" kern="1200" err="1">
                          <a:solidFill>
                            <a:schemeClr val="tx1"/>
                          </a:solidFill>
                          <a:effectLst/>
                          <a:latin typeface="+mn-lt"/>
                          <a:ea typeface="+mn-ea"/>
                          <a:cs typeface="+mn-cs"/>
                        </a:rPr>
                        <a:t>ujeḥniḍ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ihenna</a:t>
                      </a:r>
                      <a:r>
                        <a:rPr lang="fr-FR" sz="1100" kern="1200">
                          <a:solidFill>
                            <a:schemeClr val="tx1"/>
                          </a:solidFill>
                          <a:effectLst/>
                          <a:latin typeface="+mn-lt"/>
                          <a:ea typeface="+mn-ea"/>
                          <a:cs typeface="+mn-cs"/>
                        </a:rPr>
                        <a:t> wuccen: </a:t>
                      </a:r>
                      <a:r>
                        <a:rPr lang="fr-FR" sz="1100" kern="1200" err="1">
                          <a:solidFill>
                            <a:schemeClr val="tx1"/>
                          </a:solidFill>
                          <a:effectLst/>
                          <a:latin typeface="+mn-lt"/>
                          <a:ea typeface="+mn-ea"/>
                          <a:cs typeface="+mn-cs"/>
                        </a:rPr>
                        <a:t>ikcem-it</a:t>
                      </a:r>
                      <a:r>
                        <a:rPr lang="fr-FR" sz="1100" kern="1200">
                          <a:solidFill>
                            <a:schemeClr val="tx1"/>
                          </a:solidFill>
                          <a:effectLst/>
                          <a:latin typeface="+mn-lt"/>
                          <a:ea typeface="+mn-ea"/>
                          <a:cs typeface="+mn-cs"/>
                        </a:rPr>
                        <a:t> ttexmim d </a:t>
                      </a:r>
                      <a:r>
                        <a:rPr lang="fr-FR" sz="1100" kern="1200" err="1">
                          <a:solidFill>
                            <a:schemeClr val="tx1"/>
                          </a:solidFill>
                          <a:effectLst/>
                          <a:latin typeface="+mn-lt"/>
                          <a:ea typeface="+mn-ea"/>
                          <a:cs typeface="+mn-cs"/>
                        </a:rPr>
                        <a:t>uḥebbeṛ</a:t>
                      </a:r>
                      <a:r>
                        <a:rPr lang="fr-FR" sz="1100" kern="1200">
                          <a:solidFill>
                            <a:schemeClr val="tx1"/>
                          </a:solidFill>
                          <a:effectLst/>
                          <a:latin typeface="+mn-lt"/>
                          <a:ea typeface="+mn-ea"/>
                          <a:cs typeface="+mn-cs"/>
                        </a:rPr>
                        <a:t>. Seg wakken </a:t>
                      </a:r>
                      <a:r>
                        <a:rPr lang="fr-FR" sz="1100" kern="1200" err="1">
                          <a:solidFill>
                            <a:schemeClr val="tx1"/>
                          </a:solidFill>
                          <a:effectLst/>
                          <a:latin typeface="+mn-lt"/>
                          <a:ea typeface="+mn-ea"/>
                          <a:cs typeface="+mn-cs"/>
                        </a:rPr>
                        <a:t>iɛewweq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amɣer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azemni</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iciweṛ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asɣar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tmeɣrust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iḍebber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Yewwi-t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yeẓẓa</a:t>
                      </a:r>
                      <a:r>
                        <a:rPr lang="fr-FR" sz="1100" kern="1200">
                          <a:solidFill>
                            <a:schemeClr val="tx1"/>
                          </a:solidFill>
                          <a:effectLst/>
                          <a:latin typeface="+mn-lt"/>
                          <a:ea typeface="+mn-ea"/>
                          <a:cs typeface="+mn-cs"/>
                        </a:rPr>
                        <a:t>-t di </a:t>
                      </a:r>
                      <a:r>
                        <a:rPr lang="fr-FR" sz="1100" kern="1200" err="1">
                          <a:solidFill>
                            <a:schemeClr val="tx1"/>
                          </a:solidFill>
                          <a:effectLst/>
                          <a:latin typeface="+mn-lt"/>
                          <a:ea typeface="+mn-ea"/>
                          <a:cs typeface="+mn-cs"/>
                        </a:rPr>
                        <a:t>tniri</a:t>
                      </a:r>
                      <a:r>
                        <a:rPr lang="fr-FR" sz="1100" kern="1200">
                          <a:solidFill>
                            <a:schemeClr val="tx1"/>
                          </a:solidFill>
                          <a:effectLst/>
                          <a:latin typeface="+mn-lt"/>
                          <a:ea typeface="+mn-ea"/>
                          <a:cs typeface="+mn-cs"/>
                        </a:rPr>
                        <a:t>. Deg yiwet n </a:t>
                      </a:r>
                      <a:r>
                        <a:rPr lang="fr-FR" sz="1100" kern="1200" err="1">
                          <a:solidFill>
                            <a:schemeClr val="tx1"/>
                          </a:solidFill>
                          <a:effectLst/>
                          <a:latin typeface="+mn-lt"/>
                          <a:ea typeface="+mn-ea"/>
                          <a:cs typeface="+mn-cs"/>
                        </a:rPr>
                        <a:t>teswiɛt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fetḥen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lɛiwen-is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fkan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iferrawen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ṣeggmen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ifurkawen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d taneqlett.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tefruri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tazart</a:t>
                      </a:r>
                      <a:r>
                        <a:rPr lang="fr-FR" sz="1100" kern="1200">
                          <a:solidFill>
                            <a:schemeClr val="tx1"/>
                          </a:solidFill>
                          <a:effectLst/>
                          <a:latin typeface="+mn-lt"/>
                          <a:ea typeface="+mn-ea"/>
                          <a:cs typeface="+mn-cs"/>
                        </a:rPr>
                        <a:t>, wwant </a:t>
                      </a:r>
                      <a:r>
                        <a:rPr lang="fr-FR" sz="1100" kern="1200" err="1">
                          <a:solidFill>
                            <a:schemeClr val="tx1"/>
                          </a:solidFill>
                          <a:effectLst/>
                          <a:latin typeface="+mn-lt"/>
                          <a:ea typeface="+mn-ea"/>
                          <a:cs typeface="+mn-cs"/>
                        </a:rPr>
                        <a:t>tbexsisin</a:t>
                      </a:r>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ɣellin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iniɣman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ileqqaqen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d lweqt-nsen.</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Imiren </a:t>
                      </a:r>
                      <a:r>
                        <a:rPr lang="fr-FR" sz="1100" kern="1200" err="1">
                          <a:solidFill>
                            <a:schemeClr val="tx1"/>
                          </a:solidFill>
                          <a:effectLst/>
                          <a:latin typeface="+mn-lt"/>
                          <a:ea typeface="+mn-ea"/>
                          <a:cs typeface="+mn-cs"/>
                        </a:rPr>
                        <a:t>yendeh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f watmaten-is, </a:t>
                      </a:r>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irkel, tɛeǧǧben: </a:t>
                      </a:r>
                      <a:r>
                        <a:rPr lang="fr-FR" sz="1100" kern="1200" err="1">
                          <a:solidFill>
                            <a:schemeClr val="tx1"/>
                          </a:solidFill>
                          <a:effectLst/>
                          <a:latin typeface="+mn-lt"/>
                          <a:ea typeface="+mn-ea"/>
                          <a:cs typeface="+mn-cs"/>
                        </a:rPr>
                        <a:t>tameɣrust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Belɛejjuḍ</a:t>
                      </a:r>
                      <a:r>
                        <a:rPr lang="fr-FR" sz="1100" kern="1200">
                          <a:solidFill>
                            <a:schemeClr val="tx1"/>
                          </a:solidFill>
                          <a:effectLst/>
                          <a:latin typeface="+mn-lt"/>
                          <a:ea typeface="+mn-ea"/>
                          <a:cs typeface="+mn-cs"/>
                        </a:rPr>
                        <a:t> tewwa!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la tetten </a:t>
                      </a:r>
                      <a:r>
                        <a:rPr lang="fr-FR" sz="1100" kern="1200" err="1">
                          <a:solidFill>
                            <a:schemeClr val="tx1"/>
                          </a:solidFill>
                          <a:effectLst/>
                          <a:latin typeface="+mn-lt"/>
                          <a:ea typeface="+mn-ea"/>
                          <a:cs typeface="+mn-cs"/>
                        </a:rPr>
                        <a:t>tazart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taleqqaqt</a:t>
                      </a:r>
                      <a:r>
                        <a:rPr lang="fr-FR" sz="1100" kern="1200">
                          <a:solidFill>
                            <a:schemeClr val="tx1"/>
                          </a:solidFill>
                          <a:effectLst/>
                          <a:latin typeface="+mn-lt"/>
                          <a:ea typeface="+mn-ea"/>
                          <a:cs typeface="+mn-cs"/>
                        </a:rPr>
                        <a:t>, ttnaɣen. Yenna-yasen Mḥemmed:</a:t>
                      </a:r>
                    </a:p>
                    <a:p>
                      <a:pPr indent="457200"/>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agi d </a:t>
                      </a:r>
                      <a:r>
                        <a:rPr lang="fr-FR" sz="1100" kern="1200" err="1">
                          <a:solidFill>
                            <a:schemeClr val="tx1"/>
                          </a:solidFill>
                          <a:effectLst/>
                          <a:latin typeface="+mn-lt"/>
                          <a:ea typeface="+mn-ea"/>
                          <a:cs typeface="+mn-cs"/>
                        </a:rPr>
                        <a:t>leqbiḥ</a:t>
                      </a:r>
                      <a:r>
                        <a:rPr lang="fr-FR" sz="1100" kern="1200">
                          <a:solidFill>
                            <a:schemeClr val="tx1"/>
                          </a:solidFill>
                          <a:effectLst/>
                          <a:latin typeface="+mn-lt"/>
                          <a:ea typeface="+mn-ea"/>
                          <a:cs typeface="+mn-cs"/>
                        </a:rPr>
                        <a:t>, yecmet!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leqniɛa</a:t>
                      </a:r>
                      <a:r>
                        <a:rPr lang="fr-FR" sz="1100" kern="1200">
                          <a:solidFill>
                            <a:schemeClr val="tx1"/>
                          </a:solidFill>
                          <a:effectLst/>
                          <a:latin typeface="+mn-lt"/>
                          <a:ea typeface="+mn-ea"/>
                          <a:cs typeface="+mn-cs"/>
                        </a:rPr>
                        <a:t> deg wulawen-nsen,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yiwen ad </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icadd-asen</a:t>
                      </a:r>
                      <a:r>
                        <a:rPr lang="fr-FR" sz="1100" kern="1200">
                          <a:solidFill>
                            <a:schemeClr val="tx1"/>
                          </a:solidFill>
                          <a:effectLst/>
                          <a:latin typeface="+mn-lt"/>
                          <a:ea typeface="+mn-ea"/>
                          <a:cs typeface="+mn-cs"/>
                        </a:rPr>
                        <a:t> irkel </a:t>
                      </a:r>
                      <a:r>
                        <a:rPr lang="fr-FR" sz="1100" kern="1200" err="1">
                          <a:solidFill>
                            <a:schemeClr val="tx1"/>
                          </a:solidFill>
                          <a:effectLst/>
                          <a:latin typeface="+mn-lt"/>
                          <a:ea typeface="+mn-ea"/>
                          <a:cs typeface="+mn-cs"/>
                        </a:rPr>
                        <a:t>tiɣaṭṭwin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wemrar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lǧedra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tmeɣrust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ihuzz-itt,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tazart</a:t>
                      </a:r>
                      <a:r>
                        <a:rPr lang="fr-FR" sz="1100" kern="1200">
                          <a:solidFill>
                            <a:schemeClr val="tx1"/>
                          </a:solidFill>
                          <a:effectLst/>
                          <a:latin typeface="+mn-lt"/>
                          <a:ea typeface="+mn-ea"/>
                          <a:cs typeface="+mn-cs"/>
                        </a:rPr>
                        <a:t> am wakal di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Uccanen la tetten,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tirni</a:t>
                      </a:r>
                      <a:r>
                        <a:rPr lang="fr-FR" sz="1100" kern="1200">
                          <a:solidFill>
                            <a:schemeClr val="tx1"/>
                          </a:solidFill>
                          <a:effectLst/>
                          <a:latin typeface="+mn-lt"/>
                          <a:ea typeface="+mn-ea"/>
                          <a:cs typeface="+mn-cs"/>
                        </a:rPr>
                        <a:t>-s, netta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aɛessas</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tiɣilt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tqureb</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iten</a:t>
                      </a:r>
                      <a:r>
                        <a:rPr lang="fr-FR" sz="1100" kern="1200">
                          <a:solidFill>
                            <a:schemeClr val="tx1"/>
                          </a:solidFill>
                          <a:effectLst/>
                          <a:latin typeface="+mn-lt"/>
                          <a:ea typeface="+mn-ea"/>
                          <a:cs typeface="+mn-cs"/>
                        </a:rPr>
                        <a:t>-id.</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lhan d cceɣl-nsen, </a:t>
                      </a:r>
                      <a:r>
                        <a:rPr lang="fr-FR" sz="1100" kern="1200" err="1">
                          <a:solidFill>
                            <a:schemeClr val="tx1"/>
                          </a:solidFill>
                          <a:effectLst/>
                          <a:latin typeface="+mn-lt"/>
                          <a:ea typeface="+mn-ea"/>
                          <a:cs typeface="+mn-cs"/>
                        </a:rPr>
                        <a:t>stamnen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yettsuɣu:</a:t>
                      </a:r>
                    </a:p>
                    <a:p>
                      <a:pPr indent="457200"/>
                      <a:r>
                        <a:rPr lang="fr-FR" sz="1100" kern="1200">
                          <a:solidFill>
                            <a:schemeClr val="tx1"/>
                          </a:solidFill>
                          <a:effectLst/>
                          <a:latin typeface="+mn-lt"/>
                          <a:ea typeface="+mn-ea"/>
                          <a:cs typeface="+mn-cs"/>
                        </a:rPr>
                        <a:t>- Uccayen! Imnayen! A Ben Yeɛqub, a-ten-ayen!</a:t>
                      </a:r>
                    </a:p>
                    <a:p>
                      <a:pPr indent="457200"/>
                      <a:r>
                        <a:rPr lang="fr-FR" sz="1100" kern="1200" err="1">
                          <a:solidFill>
                            <a:schemeClr val="tx1"/>
                          </a:solidFill>
                          <a:effectLst/>
                          <a:latin typeface="+mn-lt"/>
                          <a:ea typeface="+mn-ea"/>
                          <a:cs typeface="+mn-cs"/>
                        </a:rPr>
                        <a:t>Mxeṛwaɛen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jebden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rewlen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yefkan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ǧǧan</a:t>
                      </a:r>
                      <a:r>
                        <a:rPr lang="fr-FR" sz="1100" kern="1200">
                          <a:solidFill>
                            <a:schemeClr val="tx1"/>
                          </a:solidFill>
                          <a:effectLst/>
                          <a:latin typeface="+mn-lt"/>
                          <a:ea typeface="+mn-ea"/>
                          <a:cs typeface="+mn-cs"/>
                        </a:rPr>
                        <a:t> irkel tiɣaṭṭwin-nsen deg wemrar.</a:t>
                      </a:r>
                    </a:p>
                    <a:p>
                      <a:pPr indent="457200"/>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Mḥemmed: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yewweḍ ɣur-s: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 irkel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sɛin</a:t>
                      </a:r>
                      <a:r>
                        <a:rPr lang="fr-FR" sz="1100" kern="1200">
                          <a:solidFill>
                            <a:schemeClr val="tx1"/>
                          </a:solidFill>
                          <a:effectLst/>
                          <a:latin typeface="+mn-lt"/>
                          <a:ea typeface="+mn-ea"/>
                          <a:cs typeface="+mn-cs"/>
                        </a:rPr>
                        <a:t> ara ijeḥnaḍ: </a:t>
                      </a:r>
                      <a:r>
                        <a:rPr lang="fr-FR" sz="1100" kern="1200" err="1">
                          <a:solidFill>
                            <a:schemeClr val="tx1"/>
                          </a:solidFill>
                          <a:effectLst/>
                          <a:latin typeface="+mn-lt"/>
                          <a:ea typeface="+mn-ea"/>
                          <a:cs typeface="+mn-cs"/>
                        </a:rPr>
                        <a:t>ulamek</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yeɛqel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gar-asen!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fr-FR" sz="1100" kern="15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a:effectLst/>
                          <a:latin typeface="Cascadia Mono" panose="020B0609020000020004" pitchFamily="49" charset="0"/>
                          <a:cs typeface="Cascadia Mono" panose="020B0609020000020004" pitchFamily="49" charset="0"/>
                        </a:rPr>
                        <a:t>- Mes frères, ce que vous faites là n’est pas convenable.</a:t>
                      </a:r>
                    </a:p>
                    <a:p>
                      <a:pPr indent="216000" algn="l"/>
                      <a:r>
                        <a:rPr lang="fr-FR" sz="1100" kern="15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fr-FR" sz="1100" kern="15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a:effectLst/>
                          <a:latin typeface="Cascadia Mono" panose="020B0609020000020004" pitchFamily="49" charset="0"/>
                          <a:cs typeface="Cascadia Mono" panose="020B0609020000020004" pitchFamily="49" charset="0"/>
                        </a:rPr>
                        <a:t>- Les lévriers ! Les cavaliers ! Ben-</a:t>
                      </a:r>
                      <a:r>
                        <a:rPr lang="fr-FR" sz="1100" kern="150" err="1">
                          <a:effectLst/>
                          <a:latin typeface="Cascadia Mono" panose="020B0609020000020004" pitchFamily="49" charset="0"/>
                          <a:cs typeface="Cascadia Mono" panose="020B0609020000020004" pitchFamily="49" charset="0"/>
                        </a:rPr>
                        <a:t>Yakoub</a:t>
                      </a:r>
                      <a:r>
                        <a:rPr lang="fr-FR" sz="1100" kern="150">
                          <a:effectLst/>
                          <a:latin typeface="Cascadia Mono" panose="020B0609020000020004" pitchFamily="49" charset="0"/>
                          <a:cs typeface="Cascadia Mono" panose="020B0609020000020004" pitchFamily="49" charset="0"/>
                        </a:rPr>
                        <a:t>, ils arrivent !</a:t>
                      </a:r>
                    </a:p>
                    <a:p>
                      <a:pPr indent="216000" algn="l"/>
                      <a:r>
                        <a:rPr lang="fr-FR" sz="1100" kern="15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fr-FR" sz="1100" kern="15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67415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iṣegged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yemmuger</a:t>
                      </a:r>
                      <a:r>
                        <a:rPr lang="fr-FR" sz="1100" kern="1200">
                          <a:solidFill>
                            <a:schemeClr val="tx1"/>
                          </a:solidFill>
                          <a:effectLst/>
                          <a:latin typeface="+mn-lt"/>
                          <a:ea typeface="+mn-ea"/>
                          <a:cs typeface="+mn-cs"/>
                        </a:rPr>
                        <a:t> yiwen n wuccen yettwagzem-as </a:t>
                      </a:r>
                      <a:r>
                        <a:rPr lang="fr-FR" sz="1100" kern="1200" err="1">
                          <a:solidFill>
                            <a:schemeClr val="tx1"/>
                          </a:solidFill>
                          <a:effectLst/>
                          <a:latin typeface="+mn-lt"/>
                          <a:ea typeface="+mn-ea"/>
                          <a:cs typeface="+mn-cs"/>
                        </a:rPr>
                        <a:t>ujeḥniḍ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yečča </a:t>
                      </a:r>
                      <a:r>
                        <a:rPr lang="fr-FR" sz="1100" kern="1200" err="1">
                          <a:solidFill>
                            <a:schemeClr val="tx1"/>
                          </a:solidFill>
                          <a:effectLst/>
                          <a:latin typeface="+mn-lt"/>
                          <a:ea typeface="+mn-ea"/>
                          <a:cs typeface="+mn-cs"/>
                        </a:rPr>
                        <a:t>lmux-is</a:t>
                      </a:r>
                      <a:r>
                        <a:rPr lang="fr-FR" sz="1100" kern="1200">
                          <a:solidFill>
                            <a:schemeClr val="tx1"/>
                          </a:solidFill>
                          <a:effectLst/>
                          <a:latin typeface="+mn-lt"/>
                          <a:ea typeface="+mn-ea"/>
                          <a:cs typeface="+mn-cs"/>
                        </a:rPr>
                        <a:t>, yessegra </a:t>
                      </a:r>
                      <a:r>
                        <a:rPr lang="fr-FR" sz="1100" kern="1200" err="1">
                          <a:solidFill>
                            <a:schemeClr val="tx1"/>
                          </a:solidFill>
                          <a:effectLst/>
                          <a:latin typeface="+mn-lt"/>
                          <a:ea typeface="+mn-ea"/>
                          <a:cs typeface="+mn-cs"/>
                        </a:rPr>
                        <a:t>idammen-is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aɛdaw-is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Azekka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nniḍen yettwagzem-as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ujeḥniḍ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Yewhem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wayrad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yesteqsa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yeḥka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tmeɣrust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ḥdeṛ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bbawa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isserreḥ</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Seg wakken </a:t>
                      </a:r>
                      <a:r>
                        <a:rPr lang="fr-FR" sz="1100" kern="1200" err="1">
                          <a:solidFill>
                            <a:schemeClr val="tx1"/>
                          </a:solidFill>
                          <a:effectLst/>
                          <a:latin typeface="+mn-lt"/>
                          <a:ea typeface="+mn-ea"/>
                          <a:cs typeface="+mn-cs"/>
                        </a:rPr>
                        <a:t>iɛewweq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amɣar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azemni</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iciwer</a:t>
                      </a:r>
                      <a:r>
                        <a:rPr lang="fr-FR" sz="1100" kern="1200">
                          <a:solidFill>
                            <a:schemeClr val="tx1"/>
                          </a:solidFill>
                          <a:effectLst/>
                          <a:latin typeface="+mn-lt"/>
                          <a:ea typeface="+mn-ea"/>
                          <a:cs typeface="+mn-cs"/>
                        </a:rPr>
                        <a:t>, ad iḍebber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Yenna-yas: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tibḥirt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tawiḍ</a:t>
                      </a:r>
                      <a:r>
                        <a:rPr lang="fr-FR" sz="1100" kern="1200">
                          <a:solidFill>
                            <a:schemeClr val="tx1"/>
                          </a:solidFill>
                          <a:effectLst/>
                          <a:latin typeface="+mn-lt"/>
                          <a:ea typeface="+mn-ea"/>
                          <a:cs typeface="+mn-cs"/>
                        </a:rPr>
                        <a:t> ɣur-s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 irkel ad t-ɣeẓẓen: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d-yennan: ḥ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ay d </a:t>
                      </a:r>
                      <a:r>
                        <a:rPr lang="fr-FR" sz="1100" kern="1200" err="1">
                          <a:solidFill>
                            <a:schemeClr val="tx1"/>
                          </a:solidFill>
                          <a:effectLst/>
                          <a:latin typeface="+mn-lt"/>
                          <a:ea typeface="+mn-ea"/>
                          <a:cs typeface="+mn-cs"/>
                        </a:rPr>
                        <a:t>axṣim</a:t>
                      </a:r>
                      <a:r>
                        <a:rPr lang="fr-FR" sz="1100" kern="1200">
                          <a:solidFill>
                            <a:schemeClr val="tx1"/>
                          </a:solidFill>
                          <a:effectLst/>
                          <a:latin typeface="+mn-lt"/>
                          <a:ea typeface="+mn-ea"/>
                          <a:cs typeface="+mn-cs"/>
                        </a:rPr>
                        <a:t>-ik!</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Iṛuḥ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yekrez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taɣzut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kamel</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waccaren-is</a:t>
                      </a:r>
                      <a:r>
                        <a:rPr lang="fr-FR" sz="1100" kern="1200">
                          <a:solidFill>
                            <a:schemeClr val="tx1"/>
                          </a:solidFill>
                          <a:effectLst/>
                          <a:latin typeface="+mn-lt"/>
                          <a:ea typeface="+mn-ea"/>
                          <a:cs typeface="+mn-cs"/>
                        </a:rPr>
                        <a:t>, yeẓẓa-tt d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iketteṛ</a:t>
                      </a:r>
                      <a:r>
                        <a:rPr lang="fr-FR" sz="1100" kern="1200">
                          <a:solidFill>
                            <a:schemeClr val="tx1"/>
                          </a:solidFill>
                          <a:effectLst/>
                          <a:latin typeface="+mn-lt"/>
                          <a:ea typeface="+mn-ea"/>
                          <a:cs typeface="+mn-cs"/>
                        </a:rPr>
                        <a:t> deg-s </a:t>
                      </a:r>
                      <a:r>
                        <a:rPr lang="fr-FR" sz="1100" kern="1200" err="1">
                          <a:solidFill>
                            <a:schemeClr val="tx1"/>
                          </a:solidFill>
                          <a:effectLst/>
                          <a:latin typeface="+mn-lt"/>
                          <a:ea typeface="+mn-ea"/>
                          <a:cs typeface="+mn-cs"/>
                        </a:rPr>
                        <a:t>urḍan</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tezzegzew am </a:t>
                      </a:r>
                      <a:r>
                        <a:rPr lang="fr-FR" sz="1100" kern="1200" err="1">
                          <a:solidFill>
                            <a:schemeClr val="tx1"/>
                          </a:solidFill>
                          <a:effectLst/>
                          <a:latin typeface="+mn-lt"/>
                          <a:ea typeface="+mn-ea"/>
                          <a:cs typeface="+mn-cs"/>
                        </a:rPr>
                        <a:t>lebḥeṛ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yendeh</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irkel.</a:t>
                      </a:r>
                    </a:p>
                    <a:p>
                      <a:pPr indent="457200"/>
                      <a:r>
                        <a:rPr lang="fr-FR" sz="1100" kern="1200" err="1">
                          <a:solidFill>
                            <a:schemeClr val="tx1"/>
                          </a:solidFill>
                          <a:effectLst/>
                          <a:latin typeface="+mn-lt"/>
                          <a:ea typeface="+mn-ea"/>
                          <a:cs typeface="+mn-cs"/>
                        </a:rPr>
                        <a:t>Yeggul</a:t>
                      </a:r>
                      <a:r>
                        <a:rPr lang="fr-FR" sz="1100" kern="1200">
                          <a:solidFill>
                            <a:schemeClr val="tx1"/>
                          </a:solidFill>
                          <a:effectLst/>
                          <a:latin typeface="+mn-lt"/>
                          <a:ea typeface="+mn-ea"/>
                          <a:cs typeface="+mn-cs"/>
                        </a:rPr>
                        <a:t> deg-sen ad t-</a:t>
                      </a:r>
                      <a:r>
                        <a:rPr lang="fr-FR" sz="1100" kern="1200" err="1">
                          <a:solidFill>
                            <a:schemeClr val="tx1"/>
                          </a:solidFill>
                          <a:effectLst/>
                          <a:latin typeface="+mn-lt"/>
                          <a:ea typeface="+mn-ea"/>
                          <a:cs typeface="+mn-cs"/>
                        </a:rPr>
                        <a:t>ɣeẓẓen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d-yettɣimi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tabellust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fr-FR" sz="1100" kern="15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fr-FR" sz="1100" kern="15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a:effectLst/>
                        <a:latin typeface="Cascadia Mono" panose="020B0609020000020004" pitchFamily="49" charset="0"/>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235333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Win ara d-</a:t>
                      </a:r>
                      <a:r>
                        <a:rPr lang="fr-FR" sz="1100" kern="1200" err="1">
                          <a:solidFill>
                            <a:schemeClr val="tx1"/>
                          </a:solidFill>
                          <a:effectLst/>
                          <a:latin typeface="+mn-lt"/>
                          <a:ea typeface="+mn-ea"/>
                          <a:cs typeface="+mn-cs"/>
                        </a:rPr>
                        <a:t>yinin</a:t>
                      </a:r>
                      <a:r>
                        <a:rPr lang="fr-FR" sz="1100" kern="1200">
                          <a:solidFill>
                            <a:schemeClr val="tx1"/>
                          </a:solidFill>
                          <a:effectLst/>
                          <a:latin typeface="+mn-lt"/>
                          <a:ea typeface="+mn-ea"/>
                          <a:cs typeface="+mn-cs"/>
                        </a:rPr>
                        <a:t>: ḥ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ṣṣeḥḥa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ṣṣlaḥ</a:t>
                      </a:r>
                      <a:r>
                        <a:rPr lang="fr-FR" sz="1100" kern="1200">
                          <a:solidFill>
                            <a:schemeClr val="tx1"/>
                          </a:solidFill>
                          <a:effectLst/>
                          <a:latin typeface="+mn-lt"/>
                          <a:ea typeface="+mn-ea"/>
                          <a:cs typeface="+mn-cs"/>
                        </a:rPr>
                        <a:t>, lqewwa u </a:t>
                      </a:r>
                      <a:r>
                        <a:rPr lang="fr-FR" sz="1100" kern="1200" err="1">
                          <a:solidFill>
                            <a:schemeClr val="tx1"/>
                          </a:solidFill>
                          <a:effectLst/>
                          <a:latin typeface="+mn-lt"/>
                          <a:ea typeface="+mn-ea"/>
                          <a:cs typeface="+mn-cs"/>
                        </a:rPr>
                        <a:t>ccbeḥ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ɛeddren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yenni</a:t>
                      </a:r>
                      <a:r>
                        <a:rPr lang="fr-FR" sz="1100" kern="1200">
                          <a:solidFill>
                            <a:schemeClr val="tx1"/>
                          </a:solidFill>
                          <a:effectLst/>
                          <a:latin typeface="+mn-lt"/>
                          <a:ea typeface="+mn-ea"/>
                          <a:cs typeface="+mn-cs"/>
                        </a:rPr>
                        <a:t>: ḥ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p>
                    <a:p>
                      <a:pPr indent="457200"/>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axṣim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yetḥeṛma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yekkes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zzeɛf</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iɣeẓẓa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a:t>
                      </a:r>
                      <a:r>
                        <a:rPr lang="fr-FR" sz="1100" kern="1200">
                          <a:solidFill>
                            <a:schemeClr val="tx1"/>
                          </a:solidFill>
                          <a:effectLst/>
                          <a:latin typeface="+mn-lt"/>
                          <a:ea typeface="+mn-ea"/>
                          <a:cs typeface="+mn-cs"/>
                        </a:rPr>
                        <a:t> sidi, </a:t>
                      </a:r>
                      <a:r>
                        <a:rPr lang="fr-FR" sz="1100" kern="1200" err="1">
                          <a:solidFill>
                            <a:schemeClr val="tx1"/>
                          </a:solidFill>
                          <a:effectLst/>
                          <a:latin typeface="+mn-lt"/>
                          <a:ea typeface="+mn-ea"/>
                          <a:cs typeface="+mn-cs"/>
                        </a:rPr>
                        <a:t>tenniḍ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ara d-</a:t>
                      </a:r>
                      <a:r>
                        <a:rPr lang="fr-FR" sz="1100" kern="1200" err="1">
                          <a:solidFill>
                            <a:schemeClr val="tx1"/>
                          </a:solidFill>
                          <a:effectLst/>
                          <a:latin typeface="+mn-lt"/>
                          <a:ea typeface="+mn-ea"/>
                          <a:cs typeface="+mn-cs"/>
                        </a:rPr>
                        <a:t>yinin</a:t>
                      </a:r>
                      <a:r>
                        <a:rPr lang="fr-FR" sz="1100" kern="1200">
                          <a:solidFill>
                            <a:schemeClr val="tx1"/>
                          </a:solidFill>
                          <a:effectLst/>
                          <a:latin typeface="+mn-lt"/>
                          <a:ea typeface="+mn-ea"/>
                          <a:cs typeface="+mn-cs"/>
                        </a:rPr>
                        <a:t>: ḥ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ṣṣeḥḥḥa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ṣṣlaḥḥḥ</a:t>
                      </a:r>
                      <a:r>
                        <a:rPr lang="fr-FR" sz="1100" kern="1200">
                          <a:solidFill>
                            <a:schemeClr val="tx1"/>
                          </a:solidFill>
                          <a:effectLst/>
                          <a:latin typeface="+mn-lt"/>
                          <a:ea typeface="+mn-ea"/>
                          <a:cs typeface="+mn-cs"/>
                        </a:rPr>
                        <a:t>, lqewwa u </a:t>
                      </a:r>
                      <a:r>
                        <a:rPr lang="fr-FR" sz="1100" kern="1200" err="1">
                          <a:solidFill>
                            <a:schemeClr val="tx1"/>
                          </a:solidFill>
                          <a:effectLst/>
                          <a:latin typeface="+mn-lt"/>
                          <a:ea typeface="+mn-ea"/>
                          <a:cs typeface="+mn-cs"/>
                        </a:rPr>
                        <a:t>ccbeḥḥḥ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Swa-swa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yenṭeq</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Teslam</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Iɛeggen-awen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ɣur-wat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tettum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ara d-</a:t>
                      </a:r>
                      <a:r>
                        <a:rPr lang="fr-FR" sz="1100" kern="1200" err="1">
                          <a:solidFill>
                            <a:schemeClr val="tx1"/>
                          </a:solidFill>
                          <a:effectLst/>
                          <a:latin typeface="+mn-lt"/>
                          <a:ea typeface="+mn-ea"/>
                          <a:cs typeface="+mn-cs"/>
                        </a:rPr>
                        <a:t>yinin</a:t>
                      </a:r>
                      <a:r>
                        <a:rPr lang="fr-FR" sz="1100" kern="1200">
                          <a:solidFill>
                            <a:schemeClr val="tx1"/>
                          </a:solidFill>
                          <a:effectLst/>
                          <a:latin typeface="+mn-lt"/>
                          <a:ea typeface="+mn-ea"/>
                          <a:cs typeface="+mn-cs"/>
                        </a:rPr>
                        <a:t>: ḥ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ṣṣeḥḥḥa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ṣṣlaḥḥḥ</a:t>
                      </a:r>
                      <a:r>
                        <a:rPr lang="fr-FR" sz="1100" kern="1200">
                          <a:solidFill>
                            <a:schemeClr val="tx1"/>
                          </a:solidFill>
                          <a:effectLst/>
                          <a:latin typeface="+mn-lt"/>
                          <a:ea typeface="+mn-ea"/>
                          <a:cs typeface="+mn-cs"/>
                        </a:rPr>
                        <a:t>, lqewwa u </a:t>
                      </a:r>
                      <a:r>
                        <a:rPr lang="fr-FR" sz="1100" kern="1200" err="1">
                          <a:solidFill>
                            <a:schemeClr val="tx1"/>
                          </a:solidFill>
                          <a:effectLst/>
                          <a:latin typeface="+mn-lt"/>
                          <a:ea typeface="+mn-ea"/>
                          <a:cs typeface="+mn-cs"/>
                        </a:rPr>
                        <a:t>ccbeḥḥḥ</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as-</a:t>
                      </a:r>
                      <a:r>
                        <a:rPr lang="fr-FR" sz="1100" kern="1200" err="1">
                          <a:solidFill>
                            <a:schemeClr val="tx1"/>
                          </a:solidFill>
                          <a:effectLst/>
                          <a:latin typeface="+mn-lt"/>
                          <a:ea typeface="+mn-ea"/>
                          <a:cs typeface="+mn-cs"/>
                        </a:rPr>
                        <a:t>inin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Swa-swa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tbellust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yefhim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axṣim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iban</a:t>
                      </a:r>
                      <a:r>
                        <a:rPr lang="fr-FR" sz="1100" kern="1200">
                          <a:solidFill>
                            <a:schemeClr val="tx1"/>
                          </a:solidFill>
                          <a:effectLst/>
                          <a:latin typeface="+mn-lt"/>
                          <a:ea typeface="+mn-ea"/>
                          <a:cs typeface="+mn-cs"/>
                        </a:rPr>
                        <a:t> ara.</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fr-FR" sz="1100" kern="15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a:effectLst/>
                          <a:latin typeface="Cascadia Mono" panose="020B0609020000020004" pitchFamily="49" charset="0"/>
                          <a:cs typeface="Cascadia Mono" panose="020B0609020000020004" pitchFamily="49" charset="0"/>
                        </a:rPr>
                        <a:t>- Exactement, répondait le lion.</a:t>
                      </a:r>
                    </a:p>
                    <a:p>
                      <a:pPr indent="216000" algn="l"/>
                      <a:r>
                        <a:rPr lang="fr-FR" sz="1100" kern="15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a:effectLst/>
                          <a:latin typeface="Cascadia Mono" panose="020B0609020000020004" pitchFamily="49" charset="0"/>
                          <a:cs typeface="Cascadia Mono" panose="020B0609020000020004" pitchFamily="49" charset="0"/>
                        </a:rPr>
                        <a:t>-Très juste !</a:t>
                      </a:r>
                    </a:p>
                    <a:p>
                      <a:pPr indent="216000" algn="l"/>
                      <a:r>
                        <a:rPr lang="fr-FR" sz="1100" kern="15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438536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yetterra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yendi-yasen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mmten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yettekki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wexṣim-is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Iṣubb-iten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yeččuṛ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uɛebbuḍ-nsen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tyersi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iẓerman-nsen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Yeggul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-sen ad </a:t>
                      </a:r>
                      <a:r>
                        <a:rPr lang="fr-FR" sz="1100" kern="1200" err="1">
                          <a:solidFill>
                            <a:schemeClr val="tx1"/>
                          </a:solidFill>
                          <a:effectLst/>
                          <a:latin typeface="+mn-lt"/>
                          <a:ea typeface="+mn-ea"/>
                          <a:cs typeface="+mn-cs"/>
                        </a:rPr>
                        <a:t>swen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kamel</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ḥebsen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tɛeddi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tiqit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ɛellelen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ṭṭemblen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iɛebbaḍ-nsen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snukkufen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Ḥebsen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zmiren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rnun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rewlen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ifhem-itt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-s f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yenṭerr</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inheṛ-iten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wayrad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ifri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yegrareb</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Yeggul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-sen ad </a:t>
                      </a:r>
                      <a:r>
                        <a:rPr lang="fr-FR" sz="1100" kern="1200" err="1">
                          <a:solidFill>
                            <a:schemeClr val="tx1"/>
                          </a:solidFill>
                          <a:effectLst/>
                          <a:latin typeface="+mn-lt"/>
                          <a:ea typeface="+mn-ea"/>
                          <a:cs typeface="+mn-cs"/>
                        </a:rPr>
                        <a:t>neggzen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ugaden</a:t>
                      </a:r>
                      <a:r>
                        <a:rPr lang="fr-FR" sz="1100" kern="1200">
                          <a:solidFill>
                            <a:schemeClr val="tx1"/>
                          </a:solidFill>
                          <a:effectLst/>
                          <a:latin typeface="+mn-lt"/>
                          <a:ea typeface="+mn-ea"/>
                          <a:cs typeface="+mn-cs"/>
                        </a:rPr>
                        <a:t> i-</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iḥreṣ-iten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ttneggizen</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yegrireb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teṭṭerḍeq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tɛebbuṭ-is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yegrireb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umezwaru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yeɛqel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tewwi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iṛeɛɛed</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zzeɛf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nndama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baṭel</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comprit que Mohammed allait lui échapper sans qu’il puisse en tirer vengeance. Il décida de faire périr tous les chacals, de la sorte son ennemi serait dans le nombre. 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fr-FR" sz="1100" kern="15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a:t>
                      </a:r>
                    </a:p>
                    <a:p>
                      <a:pPr indent="216000" algn="l"/>
                      <a:r>
                        <a:rPr lang="fr-FR" sz="1100" kern="150">
                          <a:effectLst/>
                          <a:latin typeface="Cascadia Mono" panose="020B0609020000020004" pitchFamily="49" charset="0"/>
                          <a:cs typeface="Cascadia Mono" panose="020B0609020000020004" pitchFamily="49" charset="0"/>
                        </a:rPr>
                        <a:t>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141607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Yesteɛmel</a:t>
                      </a:r>
                      <a:r>
                        <a:rPr lang="fr-FR" sz="1100" kern="1200">
                          <a:solidFill>
                            <a:schemeClr val="tx1"/>
                          </a:solidFill>
                          <a:effectLst/>
                          <a:latin typeface="+mn-lt"/>
                          <a:ea typeface="+mn-ea"/>
                          <a:cs typeface="+mn-cs"/>
                        </a:rPr>
                        <a:t> yizem men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as-teḥṣil ara lmeɛna deg wuccen. Ur </a:t>
                      </a:r>
                      <a:r>
                        <a:rPr lang="fr-FR" sz="1100" kern="1200" err="1">
                          <a:solidFill>
                            <a:schemeClr val="tx1"/>
                          </a:solidFill>
                          <a:effectLst/>
                          <a:latin typeface="+mn-lt"/>
                          <a:ea typeface="+mn-ea"/>
                          <a:cs typeface="+mn-cs"/>
                        </a:rPr>
                        <a:t>iqelleb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yesteqsa</a:t>
                      </a:r>
                      <a:r>
                        <a:rPr lang="fr-FR" sz="1100" kern="1200">
                          <a:solidFill>
                            <a:schemeClr val="tx1"/>
                          </a:solidFill>
                          <a:effectLst/>
                          <a:latin typeface="+mn-lt"/>
                          <a:ea typeface="+mn-ea"/>
                          <a:cs typeface="+mn-cs"/>
                        </a:rPr>
                        <a:t> deg-s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iwet</a:t>
                      </a:r>
                      <a:r>
                        <a:rPr lang="fr-FR" sz="1100" kern="1200">
                          <a:solidFill>
                            <a:schemeClr val="tx1"/>
                          </a:solidFill>
                          <a:effectLst/>
                          <a:latin typeface="+mn-lt"/>
                          <a:ea typeface="+mn-ea"/>
                          <a:cs typeface="+mn-cs"/>
                        </a:rPr>
                        <a:t> di laman.</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iǧeɛl</a:t>
                      </a:r>
                      <a:r>
                        <a:rPr lang="fr-FR" sz="1100" kern="1200">
                          <a:solidFill>
                            <a:schemeClr val="tx1"/>
                          </a:solidFill>
                          <a:effectLst/>
                          <a:latin typeface="+mn-lt"/>
                          <a:ea typeface="+mn-ea"/>
                          <a:cs typeface="+mn-cs"/>
                        </a:rPr>
                        <a:t> yettu lḥal, isers-d f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aṭṭan</a:t>
                      </a:r>
                      <a:r>
                        <a:rPr lang="fr-FR" sz="1100" kern="1200">
                          <a:solidFill>
                            <a:schemeClr val="tx1"/>
                          </a:solidFill>
                          <a:effectLst/>
                          <a:latin typeface="+mn-lt"/>
                          <a:ea typeface="+mn-ea"/>
                          <a:cs typeface="+mn-cs"/>
                        </a:rPr>
                        <a:t> ameqran, la yettergigi, </a:t>
                      </a:r>
                      <a:r>
                        <a:rPr lang="fr-FR" sz="1100" kern="1200" err="1">
                          <a:solidFill>
                            <a:schemeClr val="tx1"/>
                          </a:solidFill>
                          <a:effectLst/>
                          <a:latin typeface="+mn-lt"/>
                          <a:ea typeface="+mn-ea"/>
                          <a:cs typeface="+mn-cs"/>
                        </a:rPr>
                        <a:t>inedder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Iceggeɛ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mmeẓren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msamaḥen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Umnen</a:t>
                      </a:r>
                      <a:r>
                        <a:rPr lang="fr-FR" sz="1100" kern="1200">
                          <a:solidFill>
                            <a:schemeClr val="tx1"/>
                          </a:solidFill>
                          <a:effectLst/>
                          <a:latin typeface="+mn-lt"/>
                          <a:ea typeface="+mn-ea"/>
                          <a:cs typeface="+mn-cs"/>
                        </a:rPr>
                        <a:t> lewḥuc: </a:t>
                      </a:r>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ikecmen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lɣar-is</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iẓer</a:t>
                      </a:r>
                      <a:r>
                        <a:rPr lang="fr-FR" sz="1100" kern="1200">
                          <a:solidFill>
                            <a:schemeClr val="tx1"/>
                          </a:solidFill>
                          <a:effectLst/>
                          <a:latin typeface="+mn-lt"/>
                          <a:ea typeface="+mn-ea"/>
                          <a:cs typeface="+mn-cs"/>
                        </a:rPr>
                        <a:t>, yečč-it;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ikecmen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lɣar-is</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iẓer</a:t>
                      </a:r>
                      <a:r>
                        <a:rPr lang="fr-FR" sz="1100" kern="1200">
                          <a:solidFill>
                            <a:schemeClr val="tx1"/>
                          </a:solidFill>
                          <a:effectLst/>
                          <a:latin typeface="+mn-lt"/>
                          <a:ea typeface="+mn-ea"/>
                          <a:cs typeface="+mn-cs"/>
                        </a:rPr>
                        <a:t>, yečč-it!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yeffiɣ</a:t>
                      </a:r>
                      <a:r>
                        <a:rPr lang="fr-FR" sz="1100" kern="1200">
                          <a:solidFill>
                            <a:schemeClr val="tx1"/>
                          </a:solidFill>
                          <a:effectLst/>
                          <a:latin typeface="+mn-lt"/>
                          <a:ea typeface="+mn-ea"/>
                          <a:cs typeface="+mn-cs"/>
                        </a:rPr>
                        <a:t> d ssalem!</a:t>
                      </a:r>
                    </a:p>
                    <a:p>
                      <a:pPr indent="457200"/>
                      <a:r>
                        <a:rPr lang="fr-FR" sz="1100" kern="1200" err="1">
                          <a:solidFill>
                            <a:schemeClr val="tx1"/>
                          </a:solidFill>
                          <a:effectLst/>
                          <a:latin typeface="+mn-lt"/>
                          <a:ea typeface="+mn-ea"/>
                          <a:cs typeface="+mn-cs"/>
                        </a:rPr>
                        <a:t>Yusa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Yessawel</a:t>
                      </a:r>
                      <a:r>
                        <a:rPr lang="fr-FR" sz="1100" kern="1200">
                          <a:solidFill>
                            <a:schemeClr val="tx1"/>
                          </a:solidFill>
                          <a:effectLst/>
                          <a:latin typeface="+mn-lt"/>
                          <a:ea typeface="+mn-ea"/>
                          <a:cs typeface="+mn-cs"/>
                        </a:rPr>
                        <a:t>-as si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telliḍ?</a:t>
                      </a:r>
                    </a:p>
                    <a:p>
                      <a:pPr indent="457200"/>
                      <a:r>
                        <a:rPr lang="fr-FR" sz="1100" kern="1200" err="1">
                          <a:solidFill>
                            <a:schemeClr val="tx1"/>
                          </a:solidFill>
                          <a:effectLst/>
                          <a:latin typeface="+mn-lt"/>
                          <a:ea typeface="+mn-ea"/>
                          <a:cs typeface="+mn-cs"/>
                        </a:rPr>
                        <a:t>Iɛeql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yeldi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allen-is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yebɛed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d-yettru </a:t>
                      </a:r>
                      <a:r>
                        <a:rPr lang="fr-FR" sz="1100" kern="1200" err="1">
                          <a:solidFill>
                            <a:schemeClr val="tx1"/>
                          </a:solidFill>
                          <a:effectLst/>
                          <a:latin typeface="+mn-lt"/>
                          <a:ea typeface="+mn-ea"/>
                          <a:cs typeface="+mn-cs"/>
                        </a:rPr>
                        <a:t>amzun</a:t>
                      </a:r>
                      <a:r>
                        <a:rPr lang="fr-FR" sz="1100" kern="1200">
                          <a:solidFill>
                            <a:schemeClr val="tx1"/>
                          </a:solidFill>
                          <a:effectLst/>
                          <a:latin typeface="+mn-lt"/>
                          <a:ea typeface="+mn-ea"/>
                          <a:cs typeface="+mn-cs"/>
                        </a:rPr>
                        <a:t> tewweḍ-it-id mm lḥeq:</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Kecm</a:t>
                      </a:r>
                      <a:r>
                        <a:rPr lang="fr-FR" sz="1100" kern="1200">
                          <a:solidFill>
                            <a:schemeClr val="tx1"/>
                          </a:solidFill>
                          <a:effectLst/>
                          <a:latin typeface="+mn-lt"/>
                          <a:ea typeface="+mn-ea"/>
                          <a:cs typeface="+mn-cs"/>
                        </a:rPr>
                        <a:t>-d,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ad nemsamaḥ!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a-tt-a </a:t>
                      </a:r>
                      <a:r>
                        <a:rPr lang="fr-FR" sz="1100" kern="1200" err="1">
                          <a:solidFill>
                            <a:schemeClr val="tx1"/>
                          </a:solidFill>
                          <a:effectLst/>
                          <a:latin typeface="+mn-lt"/>
                          <a:ea typeface="+mn-ea"/>
                          <a:cs typeface="+mn-cs"/>
                        </a:rPr>
                        <a:t>teṛwiḥt</a:t>
                      </a:r>
                      <a:r>
                        <a:rPr lang="fr-FR" sz="1100" kern="1200">
                          <a:solidFill>
                            <a:schemeClr val="tx1"/>
                          </a:solidFill>
                          <a:effectLst/>
                          <a:latin typeface="+mn-lt"/>
                          <a:ea typeface="+mn-ea"/>
                          <a:cs typeface="+mn-cs"/>
                        </a:rPr>
                        <a:t> di lfawatt!</a:t>
                      </a:r>
                    </a:p>
                    <a:p>
                      <a:pPr indent="457200"/>
                      <a:r>
                        <a:rPr lang="fr-FR" sz="1100" kern="1200" err="1">
                          <a:solidFill>
                            <a:schemeClr val="tx1"/>
                          </a:solidFill>
                          <a:effectLst/>
                          <a:latin typeface="+mn-lt"/>
                          <a:ea typeface="+mn-ea"/>
                          <a:cs typeface="+mn-cs"/>
                        </a:rPr>
                        <a:t>Yugi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yerra-yas:</a:t>
                      </a:r>
                    </a:p>
                    <a:p>
                      <a:pPr indent="457200"/>
                      <a:r>
                        <a:rPr lang="fr-FR" sz="1100" kern="1200">
                          <a:solidFill>
                            <a:schemeClr val="tx1"/>
                          </a:solidFill>
                          <a:effectLst/>
                          <a:latin typeface="+mn-lt"/>
                          <a:ea typeface="+mn-ea"/>
                          <a:cs typeface="+mn-cs"/>
                        </a:rPr>
                        <a:t>- Ad nemsamaḥ kan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Ḥareɣ: ɣur-i ccɣel!</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t-id-</a:t>
                      </a:r>
                      <a:r>
                        <a:rPr lang="fr-FR" sz="1100" kern="1200" err="1">
                          <a:solidFill>
                            <a:schemeClr val="tx1"/>
                          </a:solidFill>
                          <a:effectLst/>
                          <a:latin typeface="+mn-lt"/>
                          <a:ea typeface="+mn-ea"/>
                          <a:cs typeface="+mn-cs"/>
                        </a:rPr>
                        <a:t>yeḥṛes</a:t>
                      </a:r>
                      <a:r>
                        <a:rPr lang="fr-FR" sz="1100" kern="1200">
                          <a:solidFill>
                            <a:schemeClr val="tx1"/>
                          </a:solidFill>
                          <a:effectLst/>
                          <a:latin typeface="+mn-lt"/>
                          <a:ea typeface="+mn-ea"/>
                          <a:cs typeface="+mn-cs"/>
                        </a:rPr>
                        <a:t> yizem, yenna-yas:</a:t>
                      </a:r>
                    </a:p>
                    <a:p>
                      <a:pPr indent="457200"/>
                      <a:r>
                        <a:rPr lang="fr-FR" sz="1100" kern="1200">
                          <a:solidFill>
                            <a:schemeClr val="tx1"/>
                          </a:solidFill>
                          <a:effectLst/>
                          <a:latin typeface="+mn-lt"/>
                          <a:ea typeface="+mn-ea"/>
                          <a:cs typeface="+mn-cs"/>
                        </a:rPr>
                        <a:t>-Ala </a:t>
                      </a:r>
                      <a:r>
                        <a:rPr lang="fr-FR" sz="1100" kern="1200" err="1">
                          <a:solidFill>
                            <a:schemeClr val="tx1"/>
                          </a:solidFill>
                          <a:effectLst/>
                          <a:latin typeface="+mn-lt"/>
                          <a:ea typeface="+mn-ea"/>
                          <a:cs typeface="+mn-cs"/>
                        </a:rPr>
                        <a:t>lǧeṛṛa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uṣubbu</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ufiɣ</a:t>
                      </a:r>
                      <a:r>
                        <a:rPr lang="fr-FR" sz="1100" kern="1200">
                          <a:solidFill>
                            <a:schemeClr val="tx1"/>
                          </a:solidFill>
                          <a:effectLst/>
                          <a:latin typeface="+mn-lt"/>
                          <a:ea typeface="+mn-ea"/>
                          <a:cs typeface="+mn-cs"/>
                        </a:rPr>
                        <a:t>, tin n </a:t>
                      </a:r>
                      <a:r>
                        <a:rPr lang="fr-FR" sz="1100" kern="1200" err="1">
                          <a:solidFill>
                            <a:schemeClr val="tx1"/>
                          </a:solidFill>
                          <a:effectLst/>
                          <a:latin typeface="+mn-lt"/>
                          <a:ea typeface="+mn-ea"/>
                          <a:cs typeface="+mn-cs"/>
                        </a:rPr>
                        <a:t>tuɣalin</a:t>
                      </a:r>
                      <a:r>
                        <a:rPr lang="fr-FR" sz="1100" kern="1200">
                          <a:solidFill>
                            <a:schemeClr val="tx1"/>
                          </a:solidFill>
                          <a:effectLst/>
                          <a:latin typeface="+mn-lt"/>
                          <a:ea typeface="+mn-ea"/>
                          <a:cs typeface="+mn-cs"/>
                        </a:rPr>
                        <a:t>, ulac!</a:t>
                      </a:r>
                      <a:endParaRPr lang="en-GB" sz="11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fr-FR" sz="1100" kern="15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fr-FR" sz="1100" kern="15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fr-FR" sz="1100" kern="15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a:effectLst/>
                          <a:latin typeface="Cascadia Mono" panose="020B0609020000020004" pitchFamily="49" charset="0"/>
                          <a:cs typeface="Cascadia Mono" panose="020B0609020000020004" pitchFamily="49" charset="0"/>
                        </a:rPr>
                        <a:t>- Comment vas-tu, roi des animaux ?</a:t>
                      </a:r>
                    </a:p>
                    <a:p>
                      <a:pPr indent="216000" algn="l"/>
                      <a:r>
                        <a:rPr lang="fr-FR" sz="1100" kern="15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fr-FR" sz="1100" kern="150">
                          <a:effectLst/>
                          <a:latin typeface="Cascadia Mono" panose="020B0609020000020004" pitchFamily="49" charset="0"/>
                          <a:cs typeface="Cascadia Mono" panose="020B0609020000020004" pitchFamily="49" charset="0"/>
                        </a:rPr>
                        <a:t>Pas d’accord, chacal répondit :</a:t>
                      </a:r>
                    </a:p>
                    <a:p>
                      <a:pPr indent="216000" algn="l"/>
                      <a:r>
                        <a:rPr lang="fr-FR" sz="1100" kern="15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fr-FR" sz="1100" kern="15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378799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Iṛɛed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ineɛl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ay axeddeɛ! A </a:t>
                      </a:r>
                      <a:r>
                        <a:rPr lang="fr-FR" sz="1100" kern="1200" err="1">
                          <a:solidFill>
                            <a:schemeClr val="tx1"/>
                          </a:solidFill>
                          <a:effectLst/>
                          <a:latin typeface="+mn-lt"/>
                          <a:ea typeface="+mn-ea"/>
                          <a:cs typeface="+mn-cs"/>
                        </a:rPr>
                        <a:t>cciṭan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Ṛebbi! Ad </a:t>
                      </a:r>
                      <a:r>
                        <a:rPr lang="fr-FR" sz="1100" kern="1200" err="1">
                          <a:solidFill>
                            <a:schemeClr val="tx1"/>
                          </a:solidFill>
                          <a:effectLst/>
                          <a:latin typeface="+mn-lt"/>
                          <a:ea typeface="+mn-ea"/>
                          <a:cs typeface="+mn-cs"/>
                        </a:rPr>
                        <a:t>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ddnub</a:t>
                      </a:r>
                      <a:r>
                        <a:rPr lang="fr-FR" sz="1100" kern="1200">
                          <a:solidFill>
                            <a:schemeClr val="tx1"/>
                          </a:solidFill>
                          <a:effectLst/>
                          <a:latin typeface="+mn-lt"/>
                          <a:ea typeface="+mn-ea"/>
                          <a:cs typeface="+mn-cs"/>
                        </a:rPr>
                        <a:t> n widen irkel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tsewwqeḍ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ten-nɣiɣ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ak-ɛellqen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yiri</a:t>
                      </a:r>
                      <a:r>
                        <a:rPr lang="fr-FR" sz="1100" kern="1200">
                          <a:solidFill>
                            <a:schemeClr val="tx1"/>
                          </a:solidFill>
                          <a:effectLst/>
                          <a:latin typeface="+mn-lt"/>
                          <a:ea typeface="+mn-ea"/>
                          <a:cs typeface="+mn-cs"/>
                        </a:rPr>
                        <a:t> weḥd-k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lḥisab</a:t>
                      </a:r>
                      <a:r>
                        <a:rPr lang="fr-FR" sz="1100" kern="1200">
                          <a:solidFill>
                            <a:schemeClr val="tx1"/>
                          </a:solidFill>
                          <a:effectLst/>
                          <a:latin typeface="+mn-lt"/>
                          <a:ea typeface="+mn-ea"/>
                          <a:cs typeface="+mn-cs"/>
                        </a:rPr>
                        <a:t> d lɛiqab! Seg wass-a d tasawent,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yid-k, </a:t>
                      </a:r>
                      <a:r>
                        <a:rPr lang="fr-FR" sz="1100" kern="1200" err="1">
                          <a:solidFill>
                            <a:schemeClr val="tx1"/>
                          </a:solidFill>
                          <a:effectLst/>
                          <a:latin typeface="+mn-lt"/>
                          <a:ea typeface="+mn-ea"/>
                          <a:cs typeface="+mn-cs"/>
                        </a:rPr>
                        <a:t>taɛdawt</a:t>
                      </a:r>
                      <a:r>
                        <a:rPr lang="fr-FR" sz="1100" kern="1200">
                          <a:solidFill>
                            <a:schemeClr val="tx1"/>
                          </a:solidFill>
                          <a:effectLst/>
                          <a:latin typeface="+mn-lt"/>
                          <a:ea typeface="+mn-ea"/>
                          <a:cs typeface="+mn-cs"/>
                        </a:rPr>
                        <a:t> terṣa; seg wass-a d tasawent,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dderya</a:t>
                      </a:r>
                      <a:r>
                        <a:rPr lang="fr-FR" sz="1100" kern="1200">
                          <a:solidFill>
                            <a:schemeClr val="tx1"/>
                          </a:solidFill>
                          <a:effectLst/>
                          <a:latin typeface="+mn-lt"/>
                          <a:ea typeface="+mn-ea"/>
                          <a:cs typeface="+mn-cs"/>
                        </a:rPr>
                        <a:t>-w d </a:t>
                      </a:r>
                      <a:r>
                        <a:rPr lang="fr-FR" sz="1100" kern="1200" err="1">
                          <a:solidFill>
                            <a:schemeClr val="tx1"/>
                          </a:solidFill>
                          <a:effectLst/>
                          <a:latin typeface="+mn-lt"/>
                          <a:ea typeface="+mn-ea"/>
                          <a:cs typeface="+mn-cs"/>
                        </a:rPr>
                        <a:t>dderya</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taɛdawt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tenger</a:t>
                      </a:r>
                      <a:r>
                        <a:rPr lang="fr-FR" sz="1100" kern="1200">
                          <a:solidFill>
                            <a:schemeClr val="tx1"/>
                          </a:solidFill>
                          <a:effectLst/>
                          <a:latin typeface="+mn-lt"/>
                          <a:ea typeface="+mn-ea"/>
                          <a:cs typeface="+mn-cs"/>
                        </a:rPr>
                        <a:t> ddunit!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abrid-is!</a:t>
                      </a:r>
                    </a:p>
                    <a:p>
                      <a:pPr indent="457200"/>
                      <a:r>
                        <a:rPr lang="fr-FR" sz="1100" kern="1200" err="1">
                          <a:solidFill>
                            <a:schemeClr val="tx1"/>
                          </a:solidFill>
                          <a:effectLst/>
                          <a:latin typeface="+mn-lt"/>
                          <a:ea typeface="+mn-ea"/>
                          <a:cs typeface="+mn-cs"/>
                        </a:rPr>
                        <a:t>Mazal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ass-a, </a:t>
                      </a:r>
                      <a:r>
                        <a:rPr lang="fr-FR" sz="1100" kern="1200" err="1">
                          <a:solidFill>
                            <a:schemeClr val="tx1"/>
                          </a:solidFill>
                          <a:effectLst/>
                          <a:latin typeface="+mn-lt"/>
                          <a:ea typeface="+mn-ea"/>
                          <a:cs typeface="+mn-cs"/>
                        </a:rPr>
                        <a:t>taɛdawt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yezmawen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Mi k-</a:t>
                      </a:r>
                      <a:r>
                        <a:rPr lang="fr-FR" sz="1100" kern="1200" err="1">
                          <a:solidFill>
                            <a:schemeClr val="tx1"/>
                          </a:solidFill>
                          <a:effectLst/>
                          <a:latin typeface="+mn-lt"/>
                          <a:ea typeface="+mn-ea"/>
                          <a:cs typeface="+mn-cs"/>
                        </a:rPr>
                        <a:t>tuɣ</a:t>
                      </a:r>
                      <a:r>
                        <a:rPr lang="fr-FR" sz="1100" kern="1200">
                          <a:solidFill>
                            <a:schemeClr val="tx1"/>
                          </a:solidFill>
                          <a:effectLst/>
                          <a:latin typeface="+mn-lt"/>
                          <a:ea typeface="+mn-ea"/>
                          <a:cs typeface="+mn-cs"/>
                        </a:rPr>
                        <a:t> deg yiḍ di </a:t>
                      </a:r>
                      <a:r>
                        <a:rPr lang="fr-FR" sz="1100" kern="1200" err="1">
                          <a:solidFill>
                            <a:schemeClr val="tx1"/>
                          </a:solidFill>
                          <a:effectLst/>
                          <a:latin typeface="+mn-lt"/>
                          <a:ea typeface="+mn-ea"/>
                          <a:cs typeface="+mn-cs"/>
                        </a:rPr>
                        <a:t>lexla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neṭṭqen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sekkren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timeḥbibert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fhem</a:t>
                      </a:r>
                      <a:r>
                        <a:rPr lang="fr-FR" sz="1100" kern="1200">
                          <a:solidFill>
                            <a:schemeClr val="tx1"/>
                          </a:solidFill>
                          <a:effectLst/>
                          <a:latin typeface="+mn-lt"/>
                          <a:ea typeface="+mn-ea"/>
                          <a:cs typeface="+mn-cs"/>
                        </a:rPr>
                        <a:t> belli bu tissas </a:t>
                      </a:r>
                      <a:r>
                        <a:rPr lang="fr-FR" sz="1100" kern="1200" err="1">
                          <a:solidFill>
                            <a:schemeClr val="tx1"/>
                          </a:solidFill>
                          <a:effectLst/>
                          <a:latin typeface="+mn-lt"/>
                          <a:ea typeface="+mn-ea"/>
                          <a:cs typeface="+mn-cs"/>
                        </a:rPr>
                        <a:t>ulaḥed-it</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nni; ma </a:t>
                      </a:r>
                      <a:r>
                        <a:rPr lang="fr-FR" sz="1100" kern="1200" err="1">
                          <a:solidFill>
                            <a:schemeClr val="tx1"/>
                          </a:solidFill>
                          <a:effectLst/>
                          <a:latin typeface="+mn-lt"/>
                          <a:ea typeface="+mn-ea"/>
                          <a:cs typeface="+mn-cs"/>
                        </a:rPr>
                        <a:t>temsusam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neṭṭqen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seg-sen agemmaḍ, </a:t>
                      </a:r>
                      <a:r>
                        <a:rPr lang="fr-FR" sz="1100" kern="1200" err="1">
                          <a:solidFill>
                            <a:schemeClr val="tx1"/>
                          </a:solidFill>
                          <a:effectLst/>
                          <a:latin typeface="+mn-lt"/>
                          <a:ea typeface="+mn-ea"/>
                          <a:cs typeface="+mn-cs"/>
                        </a:rPr>
                        <a:t>fhem</a:t>
                      </a:r>
                      <a:r>
                        <a:rPr lang="fr-FR" sz="1100" kern="1200">
                          <a:solidFill>
                            <a:schemeClr val="tx1"/>
                          </a:solidFill>
                          <a:effectLst/>
                          <a:latin typeface="+mn-lt"/>
                          <a:ea typeface="+mn-ea"/>
                          <a:cs typeface="+mn-cs"/>
                        </a:rPr>
                        <a:t> belli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dit </a:t>
                      </a:r>
                      <a:r>
                        <a:rPr lang="fr-FR" sz="1100" kern="1200" err="1">
                          <a:solidFill>
                            <a:schemeClr val="tx1"/>
                          </a:solidFill>
                          <a:effectLst/>
                          <a:latin typeface="+mn-lt"/>
                          <a:ea typeface="+mn-ea"/>
                          <a:cs typeface="+mn-cs"/>
                        </a:rPr>
                        <a:t>twanaṭ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gronda un bon coup :</a:t>
                      </a:r>
                    </a:p>
                    <a:p>
                      <a:pPr indent="216000" algn="l"/>
                      <a:r>
                        <a:rPr lang="fr-FR" sz="1100" kern="15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a:t>
                      </a:r>
                    </a:p>
                    <a:p>
                      <a:pPr indent="216000" algn="l"/>
                      <a:r>
                        <a:rPr lang="fr-FR" sz="1100" kern="150">
                          <a:effectLst/>
                          <a:latin typeface="Cascadia Mono" panose="020B0609020000020004" pitchFamily="49" charset="0"/>
                          <a:cs typeface="Cascadia Mono" panose="020B0609020000020004" pitchFamily="49" charset="0"/>
                        </a:rPr>
                        <a:t>Désormais, nous sommes ennemis ; à partir d’aujourd’hui, entre ta postérité et la mienne, la guerre est déclarée, jusqu’à la fin du monde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Ils se séparèrent et chacun alla de son côté.</a:t>
                      </a:r>
                    </a:p>
                    <a:p>
                      <a:pPr indent="216000" algn="l"/>
                      <a:r>
                        <a:rPr lang="fr-FR" sz="1100" kern="150">
                          <a:effectLst/>
                          <a:latin typeface="Cascadia Mono" panose="020B0609020000020004" pitchFamily="49" charset="0"/>
                          <a:cs typeface="Cascadia Mono" panose="020B0609020000020004" pitchFamily="49" charset="0"/>
                        </a:rPr>
                        <a:t>Encore aujourd’hui, l’inimitié demeure entre les lions et les chacals, 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inisi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hérisson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951230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taxxamt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tḥilett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yettsellik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nnefṣ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ireṭṭel-it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yemdukal-is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Assenni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akren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ssarmen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yettkatab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Bab-is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yules-itt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izebbel-itt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iḥemmeṛ-itt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yessew-itt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ẓẓerb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yeṭṭilli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tgusa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kecemen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tawant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taxsayt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afeqqus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ṭumaṭic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sxelḍen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ifelfel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ticcert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leḥbeq</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akeyyas</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iqiss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yeṭṭembel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Slan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lhaffa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yessefqed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rewlen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-d di </a:t>
                      </a:r>
                      <a:r>
                        <a:rPr lang="fr-FR" sz="1100" kern="1200" err="1">
                          <a:solidFill>
                            <a:schemeClr val="tx1"/>
                          </a:solidFill>
                          <a:effectLst/>
                          <a:latin typeface="+mn-lt"/>
                          <a:ea typeface="+mn-ea"/>
                          <a:cs typeface="+mn-cs"/>
                        </a:rPr>
                        <a:t>tewwurt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yeffeɣ-it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Err</a:t>
                      </a:r>
                      <a:r>
                        <a:rPr lang="fr-FR" sz="1100" kern="1200">
                          <a:solidFill>
                            <a:schemeClr val="tx1"/>
                          </a:solidFill>
                          <a:effectLst/>
                          <a:latin typeface="+mn-lt"/>
                          <a:ea typeface="+mn-ea"/>
                          <a:cs typeface="+mn-cs"/>
                        </a:rPr>
                        <a:t> iman-ik </a:t>
                      </a:r>
                      <a:r>
                        <a:rPr lang="fr-FR" sz="1100" kern="1200" err="1">
                          <a:solidFill>
                            <a:schemeClr val="tx1"/>
                          </a:solidFill>
                          <a:effectLst/>
                          <a:latin typeface="+mn-lt"/>
                          <a:ea typeface="+mn-ea"/>
                          <a:cs typeface="+mn-cs"/>
                        </a:rPr>
                        <a:t>temmuteḍ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Yekcem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yebzeg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uyeddid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iḥseb-it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Yessusel</a:t>
                      </a:r>
                      <a:r>
                        <a:rPr lang="fr-FR" sz="1100" kern="1200">
                          <a:solidFill>
                            <a:schemeClr val="tx1"/>
                          </a:solidFill>
                          <a:effectLst/>
                          <a:latin typeface="+mn-lt"/>
                          <a:ea typeface="+mn-ea"/>
                          <a:cs typeface="+mn-cs"/>
                        </a:rPr>
                        <a:t>, iɛewwed, </a:t>
                      </a:r>
                      <a:r>
                        <a:rPr lang="fr-FR" sz="1100" kern="1200" err="1">
                          <a:solidFill>
                            <a:schemeClr val="tx1"/>
                          </a:solidFill>
                          <a:effectLst/>
                          <a:latin typeface="+mn-lt"/>
                          <a:ea typeface="+mn-ea"/>
                          <a:cs typeface="+mn-cs"/>
                        </a:rPr>
                        <a:t>yeṭṭef-it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iḍegger-it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yeskifif</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fr-FR" sz="1100" kern="15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Mais les deux compères découvrirent une ouverture entre deux piquets et entrèrent. Ils mangèrent, à satiété, des courges, des melons, des haricots, des tomates et assaisonnèrent le tout de poivron, d’oignon, de basilic.</a:t>
                      </a:r>
                    </a:p>
                    <a:p>
                      <a:pPr indent="216000" algn="l"/>
                      <a:r>
                        <a:rPr lang="fr-FR" sz="1100" kern="15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a:effectLst/>
                          <a:latin typeface="Cascadia Mono" panose="020B0609020000020004" pitchFamily="49" charset="0"/>
                          <a:cs typeface="Cascadia Mono" panose="020B0609020000020004" pitchFamily="49" charset="0"/>
                        </a:rPr>
                        <a:t>- Fais le mort, lui conseilla le hérisson.</a:t>
                      </a:r>
                    </a:p>
                    <a:p>
                      <a:pPr indent="216000" algn="l"/>
                      <a:r>
                        <a:rPr lang="fr-FR" sz="1100" kern="15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fr-FR" sz="1100" kern="150">
                          <a:effectLst/>
                          <a:latin typeface="Cascadia Mono" panose="020B0609020000020004" pitchFamily="49" charset="0"/>
                          <a:cs typeface="Cascadia Mono" panose="020B0609020000020004" pitchFamily="49" charset="0"/>
                        </a:rPr>
                        <a:t>L’homme prit son temps pour l’injurier.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277718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tesraft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silo à grains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teggara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lxṛif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akren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tesraft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Yekkes</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ufellaḥ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aɣummu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iɛemmeṛ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uṛciḥen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-tt ad </a:t>
                      </a:r>
                      <a:r>
                        <a:rPr lang="fr-FR" sz="1100" kern="1200" err="1">
                          <a:solidFill>
                            <a:schemeClr val="tx1"/>
                          </a:solidFill>
                          <a:effectLst/>
                          <a:latin typeface="+mn-lt"/>
                          <a:ea typeface="+mn-ea"/>
                          <a:cs typeface="+mn-cs"/>
                        </a:rPr>
                        <a:t>tekkaw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Jellben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daxel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qqimen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a:t>
                      </a:r>
                      <a:r>
                        <a:rPr lang="fr-FR" sz="1100" kern="1200">
                          <a:solidFill>
                            <a:schemeClr val="tx1"/>
                          </a:solidFill>
                          <a:effectLst/>
                          <a:latin typeface="+mn-lt"/>
                          <a:ea typeface="+mn-ea"/>
                          <a:cs typeface="+mn-cs"/>
                        </a:rPr>
                        <a:t> ara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yekteb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Eg-iyi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taɛrurt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muqleɣ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ɣ-d-</a:t>
                      </a:r>
                      <a:r>
                        <a:rPr lang="fr-FR" sz="1100" kern="1200" err="1">
                          <a:solidFill>
                            <a:schemeClr val="tx1"/>
                          </a:solidFill>
                          <a:effectLst/>
                          <a:latin typeface="+mn-lt"/>
                          <a:ea typeface="+mn-ea"/>
                          <a:cs typeface="+mn-cs"/>
                        </a:rPr>
                        <a:t>yettafen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Ibedd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zagur-is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temgerṭ-is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yas-tent-iwwet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waḍu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iɛecca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yettneggiz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ufellaḥ</a:t>
                      </a:r>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ileḥḥu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yemsex</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lxuf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ufellaḥ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yebzeg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uyeddid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-s d </a:t>
                      </a:r>
                      <a:r>
                        <a:rPr lang="fr-FR" sz="1100" kern="1200" err="1">
                          <a:solidFill>
                            <a:schemeClr val="tx1"/>
                          </a:solidFill>
                          <a:effectLst/>
                          <a:latin typeface="+mn-lt"/>
                          <a:ea typeface="+mn-ea"/>
                          <a:cs typeface="+mn-cs"/>
                        </a:rPr>
                        <a:t>imeẓẓuɣen-is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ččuṛen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tasraft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iɛefn-itt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iǧeɛl-it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fassen-is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zzehṛ-iw</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daxel</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tesraft</a:t>
                      </a:r>
                      <a:r>
                        <a:rPr lang="fr-FR" sz="1100" kern="1200">
                          <a:solidFill>
                            <a:schemeClr val="tx1"/>
                          </a:solidFill>
                          <a:effectLst/>
                          <a:latin typeface="+mn-lt"/>
                          <a:ea typeface="+mn-ea"/>
                          <a:cs typeface="+mn-cs"/>
                        </a:rPr>
                        <a:t>, iɛewwed, </a:t>
                      </a:r>
                      <a:r>
                        <a:rPr lang="fr-FR" sz="1100" kern="1200" err="1">
                          <a:solidFill>
                            <a:schemeClr val="tx1"/>
                          </a:solidFill>
                          <a:effectLst/>
                          <a:latin typeface="+mn-lt"/>
                          <a:ea typeface="+mn-ea"/>
                          <a:cs typeface="+mn-cs"/>
                        </a:rPr>
                        <a:t>yessusef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uceṭṭiḍ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iḍegger</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wudem-is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tamseḍ</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fr-FR" sz="1100" kern="15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fr-FR" sz="1100" kern="15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En entendant venir le paysan, de frayeur il fit dans son froc. Puis il s’étendit sur le sol et fit le mort, comme dans le potager, Le cultivateur, qui vit le chacal gonflé comme une outre, avec la gueule et les oreilles pleines de blé, le silo souillé, pensa qu’il était mort. Il frappa dans ses mains (en dépit) et dit :</a:t>
                      </a:r>
                    </a:p>
                    <a:p>
                      <a:pPr indent="216000" algn="l"/>
                      <a:r>
                        <a:rPr lang="fr-FR" sz="1100" kern="150">
                          <a:effectLst/>
                          <a:latin typeface="Cascadia Mono" panose="020B0609020000020004" pitchFamily="49" charset="0"/>
                          <a:cs typeface="Cascadia Mono" panose="020B0609020000020004" pitchFamily="49" charset="0"/>
                        </a:rPr>
                        <a:t>- Voilà bien ma chance !</a:t>
                      </a:r>
                    </a:p>
                    <a:p>
                      <a:pPr indent="216000" algn="l"/>
                      <a:r>
                        <a:rPr lang="fr-FR" sz="1100" kern="15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a:effectLst/>
                          <a:latin typeface="Cascadia Mono" panose="020B0609020000020004" pitchFamily="49" charset="0"/>
                          <a:cs typeface="Cascadia Mono" panose="020B0609020000020004" pitchFamily="49" charset="0"/>
                        </a:rPr>
                        <a:t>Le paysan en était noir de rage.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148390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58-60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59-61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ccetwa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ageffur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abruri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adfel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yeddukel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Lluẓen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ttqelliben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lexṛif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lxiṛ-im</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tameɣrust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Tura, mi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ɛmu</a:t>
                      </a:r>
                      <a:r>
                        <a:rPr lang="fr-FR" sz="1100" kern="1200">
                          <a:solidFill>
                            <a:schemeClr val="tx1"/>
                          </a:solidFill>
                          <a:effectLst/>
                          <a:latin typeface="+mn-lt"/>
                          <a:ea typeface="+mn-ea"/>
                          <a:cs typeface="+mn-cs"/>
                        </a:rPr>
                        <a:t>-yi-d! Mi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tarbibt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waḍil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tecwawt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ttejṛa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semmum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semmum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iniɣen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imeksawen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leɛmeṛ</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Melmi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tluleḍ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lebḥeṛ</a:t>
                      </a:r>
                      <a:r>
                        <a:rPr lang="fr-FR" sz="1100" kern="1200">
                          <a:solidFill>
                            <a:schemeClr val="tx1"/>
                          </a:solidFill>
                          <a:effectLst/>
                          <a:latin typeface="+mn-lt"/>
                          <a:ea typeface="+mn-ea"/>
                          <a:cs typeface="+mn-cs"/>
                        </a:rPr>
                        <a:t> (Wi d-</a:t>
                      </a:r>
                      <a:r>
                        <a:rPr lang="fr-FR" sz="1100" kern="1200" err="1">
                          <a:solidFill>
                            <a:schemeClr val="tx1"/>
                          </a:solidFill>
                          <a:effectLst/>
                          <a:latin typeface="+mn-lt"/>
                          <a:ea typeface="+mn-ea"/>
                          <a:cs typeface="+mn-cs"/>
                        </a:rPr>
                        <a:t>yecfan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-tt-id-</a:t>
                      </a:r>
                      <a:r>
                        <a:rPr lang="fr-FR" sz="1100" kern="1200" err="1">
                          <a:solidFill>
                            <a:schemeClr val="tx1"/>
                          </a:solidFill>
                          <a:effectLst/>
                          <a:latin typeface="+mn-lt"/>
                          <a:ea typeface="+mn-ea"/>
                          <a:cs typeface="+mn-cs"/>
                        </a:rPr>
                        <a:t>yellfen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a:t>
                      </a:r>
                    </a:p>
                    <a:p>
                      <a:pPr indent="457200"/>
                      <a:r>
                        <a:rPr lang="fr-FR" sz="1100" kern="1200" err="1">
                          <a:solidFill>
                            <a:schemeClr val="tx1"/>
                          </a:solidFill>
                          <a:effectLst/>
                          <a:latin typeface="+mn-lt"/>
                          <a:ea typeface="+mn-ea"/>
                          <a:cs typeface="+mn-cs"/>
                        </a:rPr>
                        <a:t>Kemmlen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aftat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yemsewwqen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ablaḍ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kan: ad tt-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meẓẓiyen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leɛmeṛ</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Melmi</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tluleḍ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iḍelli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Ṭṭef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-n ad n-</a:t>
                      </a:r>
                      <a:r>
                        <a:rPr lang="fr-FR" sz="1100" kern="1200" err="1">
                          <a:solidFill>
                            <a:schemeClr val="tx1"/>
                          </a:solidFill>
                          <a:effectLst/>
                          <a:latin typeface="+mn-lt"/>
                          <a:ea typeface="+mn-ea"/>
                          <a:cs typeface="+mn-cs"/>
                        </a:rPr>
                        <a:t>laleɣ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iteffeɣ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tebḍant-is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-as-tt d </a:t>
                      </a:r>
                      <a:r>
                        <a:rPr lang="fr-FR" sz="1100" kern="1200" err="1">
                          <a:solidFill>
                            <a:schemeClr val="tx1"/>
                          </a:solidFill>
                          <a:effectLst/>
                          <a:latin typeface="+mn-lt"/>
                          <a:ea typeface="+mn-ea"/>
                          <a:cs typeface="+mn-cs"/>
                        </a:rPr>
                        <a:t>tuḥsift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fr-FR" sz="1100" kern="15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a:effectLst/>
                          <a:latin typeface="Cascadia Mono" panose="020B0609020000020004" pitchFamily="49" charset="0"/>
                          <a:cs typeface="Cascadia Mono" panose="020B0609020000020004" pitchFamily="49" charset="0"/>
                        </a:rPr>
                        <a:t>- Partageons-la, proposa le hérisson.</a:t>
                      </a:r>
                    </a:p>
                    <a:p>
                      <a:pPr indent="216000" algn="l"/>
                      <a:r>
                        <a:rPr lang="fr-FR" sz="1100" kern="15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a:effectLst/>
                          <a:latin typeface="Cascadia Mono" panose="020B0609020000020004" pitchFamily="49" charset="0"/>
                          <a:cs typeface="Cascadia Mono" panose="020B0609020000020004" pitchFamily="49" charset="0"/>
                        </a:rPr>
                        <a:t>Le hérisson dit :</a:t>
                      </a:r>
                    </a:p>
                    <a:p>
                      <a:pPr indent="216000" algn="l"/>
                      <a:r>
                        <a:rPr lang="fr-FR" sz="1100" kern="150">
                          <a:effectLst/>
                          <a:latin typeface="Cascadia Mono" panose="020B0609020000020004" pitchFamily="49" charset="0"/>
                          <a:cs typeface="Cascadia Mono" panose="020B0609020000020004" pitchFamily="49" charset="0"/>
                        </a:rPr>
                        <a:t>- C’est moi qui y avais mis le feu !</a:t>
                      </a:r>
                    </a:p>
                    <a:p>
                      <a:pPr indent="216000" algn="l"/>
                      <a:r>
                        <a:rPr lang="fr-FR" sz="1100" kern="150">
                          <a:effectLst/>
                          <a:latin typeface="Cascadia Mono" panose="020B0609020000020004" pitchFamily="49" charset="0"/>
                          <a:cs typeface="Cascadia Mono" panose="020B0609020000020004" pitchFamily="49" charset="0"/>
                        </a:rPr>
                        <a:t>- Et il mangea la figue.</a:t>
                      </a:r>
                    </a:p>
                    <a:p>
                      <a:pPr indent="216000" algn="l"/>
                      <a:r>
                        <a:rPr lang="fr-FR" sz="1100" kern="15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a:effectLst/>
                          <a:latin typeface="Cascadia Mono" panose="020B0609020000020004" pitchFamily="49" charset="0"/>
                          <a:cs typeface="Cascadia Mono" panose="020B0609020000020004" pitchFamily="49" charset="0"/>
                        </a:rPr>
                        <a:t>- Non, dit le hérisson : c’est du foie : partageons-le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a:effectLst/>
                          <a:latin typeface="Cascadia Mono" panose="020B0609020000020004" pitchFamily="49" charset="0"/>
                          <a:cs typeface="Cascadia Mono" panose="020B0609020000020004" pitchFamily="49" charset="0"/>
                        </a:rPr>
                        <a:t>- Hier ! dit le chacal.</a:t>
                      </a:r>
                    </a:p>
                    <a:p>
                      <a:pPr indent="216000" algn="l"/>
                      <a:r>
                        <a:rPr lang="fr-FR" sz="1100" kern="15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2628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62-64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63-65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Yezla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n wergaz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ameɛluf</a:t>
                      </a:r>
                      <a:r>
                        <a:rPr lang="fr-FR" sz="1100" kern="1200">
                          <a:solidFill>
                            <a:schemeClr val="tx1"/>
                          </a:solidFill>
                          <a:effectLst/>
                          <a:latin typeface="+mn-lt"/>
                          <a:ea typeface="+mn-ea"/>
                          <a:cs typeface="+mn-cs"/>
                        </a:rPr>
                        <a:t> i lɛid tameqrant. </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seg-s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netta d lwacul-is;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d-yeqqimen, </a:t>
                      </a:r>
                      <a:r>
                        <a:rPr lang="fr-FR" sz="1100" kern="1200" err="1">
                          <a:solidFill>
                            <a:schemeClr val="tx1"/>
                          </a:solidFill>
                          <a:effectLst/>
                          <a:latin typeface="+mn-lt"/>
                          <a:ea typeface="+mn-ea"/>
                          <a:cs typeface="+mn-cs"/>
                        </a:rPr>
                        <a:t>icelleḥ-it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imelleḥ-it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fesren</a:t>
                      </a:r>
                      <a:r>
                        <a:rPr lang="fr-FR" sz="1100" kern="1200">
                          <a:solidFill>
                            <a:schemeClr val="tx1"/>
                          </a:solidFill>
                          <a:effectLst/>
                          <a:latin typeface="+mn-lt"/>
                          <a:ea typeface="+mn-ea"/>
                          <a:cs typeface="+mn-cs"/>
                        </a:rPr>
                        <a:t>-t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yeqqur</a:t>
                      </a:r>
                      <a:r>
                        <a:rPr lang="fr-FR" sz="1100" kern="1200">
                          <a:solidFill>
                            <a:schemeClr val="tx1"/>
                          </a:solidFill>
                          <a:effectLst/>
                          <a:latin typeface="+mn-lt"/>
                          <a:ea typeface="+mn-ea"/>
                          <a:cs typeface="+mn-cs"/>
                        </a:rPr>
                        <a:t>, terra-t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di tqellalt, tesleɣ-itt.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tedla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tufa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ikcem-it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buṣuf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Teddem</a:t>
                      </a:r>
                      <a:r>
                        <a:rPr lang="fr-FR" sz="1100" kern="1200">
                          <a:solidFill>
                            <a:schemeClr val="tx1"/>
                          </a:solidFill>
                          <a:effectLst/>
                          <a:latin typeface="+mn-lt"/>
                          <a:ea typeface="+mn-ea"/>
                          <a:cs typeface="+mn-cs"/>
                        </a:rPr>
                        <a:t> taqellalt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tsers-itt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tṛuḥ </a:t>
                      </a:r>
                      <a:r>
                        <a:rPr lang="fr-FR" sz="1100" kern="1200" err="1">
                          <a:solidFill>
                            <a:schemeClr val="tx1"/>
                          </a:solidFill>
                          <a:effectLst/>
                          <a:latin typeface="+mn-lt"/>
                          <a:ea typeface="+mn-ea"/>
                          <a:cs typeface="+mn-cs"/>
                        </a:rPr>
                        <a:t>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tissirt</a:t>
                      </a:r>
                      <a:r>
                        <a:rPr lang="fr-FR" sz="1100" kern="1200">
                          <a:solidFill>
                            <a:schemeClr val="tx1"/>
                          </a:solidFill>
                          <a:effectLst/>
                          <a:latin typeface="+mn-lt"/>
                          <a:ea typeface="+mn-ea"/>
                          <a:cs typeface="+mn-cs"/>
                        </a:rPr>
                        <a:t> n wawal nettat d tǧaṛett-is. Igubeṛ-itt wuccen: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 netta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ad d-akren </a:t>
                      </a:r>
                      <a:r>
                        <a:rPr lang="fr-FR" sz="1100" kern="1200" err="1">
                          <a:solidFill>
                            <a:schemeClr val="tx1"/>
                          </a:solidFill>
                          <a:effectLst/>
                          <a:latin typeface="+mn-lt"/>
                          <a:ea typeface="+mn-ea"/>
                          <a:cs typeface="+mn-cs"/>
                        </a:rPr>
                        <a:t>lexliɛa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yettuɛi,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yeṛwa;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irfed-it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zdaxel</a:t>
                      </a:r>
                      <a:r>
                        <a:rPr lang="fr-FR" sz="1100" kern="1200">
                          <a:solidFill>
                            <a:schemeClr val="tx1"/>
                          </a:solidFill>
                          <a:effectLst/>
                          <a:latin typeface="+mn-lt"/>
                          <a:ea typeface="+mn-ea"/>
                          <a:cs typeface="+mn-cs"/>
                        </a:rPr>
                        <a:t> n tqellalt: </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ula d netta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yas-yekteb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yeɛreḍ</a:t>
                      </a:r>
                      <a:r>
                        <a:rPr lang="fr-FR" sz="1100" kern="1200">
                          <a:solidFill>
                            <a:schemeClr val="tx1"/>
                          </a:solidFill>
                          <a:effectLst/>
                          <a:latin typeface="+mn-lt"/>
                          <a:ea typeface="+mn-ea"/>
                          <a:cs typeface="+mn-cs"/>
                        </a:rPr>
                        <a:t> deg umeddakel-is ad t-id-</a:t>
                      </a:r>
                      <a:r>
                        <a:rPr lang="fr-FR" sz="1100" kern="1200" err="1">
                          <a:solidFill>
                            <a:schemeClr val="tx1"/>
                          </a:solidFill>
                          <a:effectLst/>
                          <a:latin typeface="+mn-lt"/>
                          <a:ea typeface="+mn-ea"/>
                          <a:cs typeface="+mn-cs"/>
                        </a:rPr>
                        <a:t>yessufeɣ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Mḥemmed:</a:t>
                      </a:r>
                    </a:p>
                    <a:p>
                      <a:pPr indent="457200"/>
                      <a:r>
                        <a:rPr lang="fr-FR" sz="1100" kern="1200">
                          <a:solidFill>
                            <a:schemeClr val="tx1"/>
                          </a:solidFill>
                          <a:effectLst/>
                          <a:latin typeface="+mn-lt"/>
                          <a:ea typeface="+mn-ea"/>
                          <a:cs typeface="+mn-cs"/>
                        </a:rPr>
                        <a:t>- Ta di tin n yiḍelli, a Muḥend! </a:t>
                      </a:r>
                      <a:r>
                        <a:rPr lang="fr-FR" sz="1100" kern="1200" err="1">
                          <a:solidFill>
                            <a:schemeClr val="tx1"/>
                          </a:solidFill>
                          <a:effectLst/>
                          <a:latin typeface="+mn-lt"/>
                          <a:ea typeface="+mn-ea"/>
                          <a:cs typeface="+mn-cs"/>
                        </a:rPr>
                        <a:t>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k-id-taf lalla-k: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deg-s imensi!</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mmuteɣ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ffreɣ</a:t>
                      </a:r>
                      <a:r>
                        <a:rPr lang="fr-FR" sz="1100" kern="1200">
                          <a:solidFill>
                            <a:schemeClr val="tx1"/>
                          </a:solidFill>
                          <a:effectLst/>
                          <a:latin typeface="+mn-lt"/>
                          <a:ea typeface="+mn-ea"/>
                          <a:cs typeface="+mn-cs"/>
                        </a:rPr>
                        <a:t> agerruj: qerreb-d, ad </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-t-</a:t>
                      </a:r>
                      <a:r>
                        <a:rPr lang="fr-FR" sz="1100" kern="1200" err="1">
                          <a:solidFill>
                            <a:schemeClr val="tx1"/>
                          </a:solidFill>
                          <a:effectLst/>
                          <a:latin typeface="+mn-lt"/>
                          <a:ea typeface="+mn-ea"/>
                          <a:cs typeface="+mn-cs"/>
                        </a:rPr>
                        <a:t>meleɣ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tferqeḍ</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warrawiw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 Anida? Anida?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inisi: Aha-t! Aha-t… ugerruj! Qerreb-d ameẓẓuɣ-ik!</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Iqerreb-d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wuccen: iḥuza-tt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iɣeẓẓa-tt. Ineggez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deffir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Muḥend si tqellalt,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Ɣas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seg wakken </a:t>
                      </a:r>
                      <a:r>
                        <a:rPr lang="fr-FR" sz="1100" kern="1200" err="1">
                          <a:solidFill>
                            <a:schemeClr val="tx1"/>
                          </a:solidFill>
                          <a:effectLst/>
                          <a:latin typeface="+mn-lt"/>
                          <a:ea typeface="+mn-ea"/>
                          <a:cs typeface="+mn-cs"/>
                        </a:rPr>
                        <a:t>tugad</a:t>
                      </a:r>
                      <a:r>
                        <a:rPr lang="fr-FR" sz="1100" kern="1200">
                          <a:solidFill>
                            <a:schemeClr val="tx1"/>
                          </a:solidFill>
                          <a:effectLst/>
                          <a:latin typeface="+mn-lt"/>
                          <a:ea typeface="+mn-ea"/>
                          <a:cs typeface="+mn-cs"/>
                        </a:rPr>
                        <a:t> ad tt-yennaɣ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tuɣ-itent</a:t>
                      </a:r>
                      <a:r>
                        <a:rPr lang="fr-FR" sz="1100" kern="1200">
                          <a:solidFill>
                            <a:schemeClr val="tx1"/>
                          </a:solidFill>
                          <a:effectLst/>
                          <a:latin typeface="+mn-lt"/>
                          <a:ea typeface="+mn-ea"/>
                          <a:cs typeface="+mn-cs"/>
                        </a:rPr>
                        <a:t> mkemmda.</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Pour l’</a:t>
                      </a:r>
                      <a:r>
                        <a:rPr lang="fr-FR" sz="1100" kern="150" err="1">
                          <a:effectLst/>
                          <a:latin typeface="Cascadia Mono" panose="020B0609020000020004" pitchFamily="49" charset="0"/>
                          <a:cs typeface="Cascadia Mono" panose="020B0609020000020004" pitchFamily="49" charset="0"/>
                        </a:rPr>
                        <a:t>Aid-El-kebir</a:t>
                      </a:r>
                      <a:r>
                        <a:rPr lang="fr-FR" sz="1100" kern="15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a:effectLst/>
                          <a:latin typeface="Cascadia Mono" panose="020B0609020000020004" pitchFamily="49" charset="0"/>
                          <a:cs typeface="Cascadia Mono" panose="020B0609020000020004" pitchFamily="49" charset="0"/>
                        </a:rPr>
                        <a:t>- Quoi ? Quoi ? dit le chacal.</a:t>
                      </a:r>
                    </a:p>
                    <a:p>
                      <a:pPr indent="216000" algn="l"/>
                      <a:r>
                        <a:rPr lang="fr-FR" sz="1100" kern="150">
                          <a:effectLst/>
                          <a:latin typeface="Cascadia Mono" panose="020B0609020000020004" pitchFamily="49" charset="0"/>
                          <a:cs typeface="Cascadia Mono" panose="020B0609020000020004" pitchFamily="49" charset="0"/>
                        </a:rPr>
                        <a:t>- Un trésor ! Oui, un trésor ! Je veux te le dire à l’oreille. Approche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818089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67-69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endParaRPr lang="en-GB"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hérisson et le chacal allèrent voler du miel dans un rucher. Le hérisson voulait prendre, sa revanche de l’affaire de la jarre de viande.</a:t>
                      </a:r>
                    </a:p>
                    <a:p>
                      <a:pPr indent="216000" algn="l"/>
                      <a:r>
                        <a:rPr lang="fr-FR" sz="1100" kern="15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fr-FR" sz="1100" kern="15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a:effectLst/>
                          <a:latin typeface="Cascadia Mono" panose="020B0609020000020004" pitchFamily="49" charset="0"/>
                          <a:cs typeface="Cascadia Mono" panose="020B0609020000020004" pitchFamily="49" charset="0"/>
                        </a:rPr>
                        <a:t>Le hérisson répondit :</a:t>
                      </a:r>
                    </a:p>
                    <a:p>
                      <a:pPr indent="216000" algn="l"/>
                      <a:r>
                        <a:rPr lang="fr-FR" sz="1100" kern="15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fr-FR" sz="1100" kern="15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fr-FR" sz="1100" kern="15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61210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70-72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yennuɣ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ufrarent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wallen-is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iɛawed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Icaweṛ</a:t>
                      </a:r>
                      <a:r>
                        <a:rPr lang="fr-FR" sz="1100" kern="1200">
                          <a:solidFill>
                            <a:schemeClr val="tx1"/>
                          </a:solidFill>
                          <a:effectLst/>
                          <a:latin typeface="+mn-lt"/>
                          <a:ea typeface="+mn-ea"/>
                          <a:cs typeface="+mn-cs"/>
                        </a:rPr>
                        <a:t> inisi,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yesnejmeɛ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yenna-yasen:</a:t>
                      </a:r>
                    </a:p>
                    <a:p>
                      <a:pPr indent="457200"/>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awen-mleɣ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texṣer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ad tt-nṣeggem. </a:t>
                      </a:r>
                      <a:r>
                        <a:rPr lang="fr-FR" sz="1100" kern="1200" err="1">
                          <a:solidFill>
                            <a:schemeClr val="tx1"/>
                          </a:solidFill>
                          <a:effectLst/>
                          <a:latin typeface="+mn-lt"/>
                          <a:ea typeface="+mn-ea"/>
                          <a:cs typeface="+mn-cs"/>
                        </a:rPr>
                        <a:t>Acimi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lemtel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awtul</a:t>
                      </a:r>
                      <a:r>
                        <a:rPr lang="fr-FR" sz="1100" kern="1200">
                          <a:solidFill>
                            <a:schemeClr val="tx1"/>
                          </a:solidFill>
                          <a:effectLst/>
                          <a:latin typeface="+mn-lt"/>
                          <a:ea typeface="+mn-ea"/>
                          <a:cs typeface="+mn-cs"/>
                        </a:rPr>
                        <a:t> yettaɣ kan </a:t>
                      </a:r>
                      <a:r>
                        <a:rPr lang="fr-FR" sz="1100" kern="1200" err="1">
                          <a:solidFill>
                            <a:schemeClr val="tx1"/>
                          </a:solidFill>
                          <a:effectLst/>
                          <a:latin typeface="+mn-lt"/>
                          <a:ea typeface="+mn-ea"/>
                          <a:cs typeface="+mn-cs"/>
                        </a:rPr>
                        <a:t>tawtult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 yettaɣ kan </a:t>
                      </a:r>
                      <a:r>
                        <a:rPr lang="fr-FR" sz="1100" kern="1200" err="1">
                          <a:solidFill>
                            <a:schemeClr val="tx1"/>
                          </a:solidFill>
                          <a:effectLst/>
                          <a:latin typeface="+mn-lt"/>
                          <a:ea typeface="+mn-ea"/>
                          <a:cs typeface="+mn-cs"/>
                        </a:rPr>
                        <a:t>taɣyult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yettaɣ kan talɣemt?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ṣṣwab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Yessefk-aneɣ</a:t>
                      </a:r>
                      <a:r>
                        <a:rPr lang="fr-FR" sz="1100" kern="1200">
                          <a:solidFill>
                            <a:schemeClr val="tx1"/>
                          </a:solidFill>
                          <a:effectLst/>
                          <a:latin typeface="+mn-lt"/>
                          <a:ea typeface="+mn-ea"/>
                          <a:cs typeface="+mn-cs"/>
                        </a:rPr>
                        <a:t> ad nemxalaḍ di nnesba: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ad yawi i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lǧehd</a:t>
                      </a:r>
                      <a:r>
                        <a:rPr lang="fr-FR" sz="1100" kern="1200">
                          <a:solidFill>
                            <a:schemeClr val="tx1"/>
                          </a:solidFill>
                          <a:effectLst/>
                          <a:latin typeface="+mn-lt"/>
                          <a:ea typeface="+mn-ea"/>
                          <a:cs typeface="+mn-cs"/>
                        </a:rPr>
                        <a:t>, ad tbeddel </a:t>
                      </a:r>
                      <a:r>
                        <a:rPr lang="fr-FR" sz="1100" kern="1200" err="1">
                          <a:solidFill>
                            <a:schemeClr val="tx1"/>
                          </a:solidFill>
                          <a:effectLst/>
                          <a:latin typeface="+mn-lt"/>
                          <a:ea typeface="+mn-ea"/>
                          <a:cs typeface="+mn-cs"/>
                        </a:rPr>
                        <a:t>ccetla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warraw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lhan</a:t>
                      </a:r>
                      <a:r>
                        <a:rPr lang="fr-FR" sz="1100" kern="1200">
                          <a:solidFill>
                            <a:schemeClr val="tx1"/>
                          </a:solidFill>
                          <a:effectLst/>
                          <a:latin typeface="+mn-lt"/>
                          <a:ea typeface="+mn-ea"/>
                          <a:cs typeface="+mn-cs"/>
                        </a:rPr>
                        <a:t> irkel, </a:t>
                      </a:r>
                      <a:r>
                        <a:rPr lang="fr-FR" sz="1100" kern="1200" err="1">
                          <a:solidFill>
                            <a:schemeClr val="tx1"/>
                          </a:solidFill>
                          <a:effectLst/>
                          <a:latin typeface="+mn-lt"/>
                          <a:ea typeface="+mn-ea"/>
                          <a:cs typeface="+mn-cs"/>
                        </a:rPr>
                        <a:t>ɛedlen</a:t>
                      </a:r>
                      <a:r>
                        <a:rPr lang="fr-FR" sz="1100" kern="1200">
                          <a:solidFill>
                            <a:schemeClr val="tx1"/>
                          </a:solidFill>
                          <a:effectLst/>
                          <a:latin typeface="+mn-lt"/>
                          <a:ea typeface="+mn-ea"/>
                          <a:cs typeface="+mn-cs"/>
                        </a:rPr>
                        <a:t> irkel.</a:t>
                      </a:r>
                    </a:p>
                    <a:p>
                      <a:pPr indent="457200"/>
                      <a:r>
                        <a:rPr lang="fr-FR" sz="1100" kern="1200">
                          <a:solidFill>
                            <a:schemeClr val="tx1"/>
                          </a:solidFill>
                          <a:effectLst/>
                          <a:latin typeface="+mn-lt"/>
                          <a:ea typeface="+mn-ea"/>
                          <a:cs typeface="+mn-cs"/>
                        </a:rPr>
                        <a:t>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wawal: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mseɛyan: </a:t>
                      </a:r>
                      <a:r>
                        <a:rPr lang="fr-FR" sz="1100" kern="1200" err="1">
                          <a:solidFill>
                            <a:schemeClr val="tx1"/>
                          </a:solidFill>
                          <a:effectLst/>
                          <a:latin typeface="+mn-lt"/>
                          <a:ea typeface="+mn-ea"/>
                          <a:cs typeface="+mn-cs"/>
                        </a:rPr>
                        <a:t>qeblen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lɛadda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tajdiṭ</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snejmeɛen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tilawin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iger-asent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taseqqart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yiwen </a:t>
                      </a:r>
                      <a:r>
                        <a:rPr lang="fr-FR" sz="1100" kern="1200" err="1">
                          <a:solidFill>
                            <a:schemeClr val="tx1"/>
                          </a:solidFill>
                          <a:effectLst/>
                          <a:latin typeface="+mn-lt"/>
                          <a:ea typeface="+mn-ea"/>
                          <a:cs typeface="+mn-cs"/>
                        </a:rPr>
                        <a:t>iṣaḥ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i t-id-iṣaḥen: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telɣemt: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 d taberkant d taqurent.</a:t>
                      </a:r>
                    </a:p>
                    <a:p>
                      <a:pPr indent="457200"/>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ad iberri: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Yezla</a:t>
                      </a:r>
                      <a:r>
                        <a:rPr lang="fr-FR" sz="1100" kern="1200">
                          <a:solidFill>
                            <a:schemeClr val="tx1"/>
                          </a:solidFill>
                          <a:effectLst/>
                          <a:latin typeface="+mn-lt"/>
                          <a:ea typeface="+mn-ea"/>
                          <a:cs typeface="+mn-cs"/>
                        </a:rPr>
                        <a:t>-k ccṛeɛ!</a:t>
                      </a:r>
                    </a:p>
                    <a:p>
                      <a:pPr indent="457200"/>
                      <a:r>
                        <a:rPr lang="fr-FR" sz="1100" kern="1200" err="1">
                          <a:solidFill>
                            <a:schemeClr val="tx1"/>
                          </a:solidFill>
                          <a:effectLst/>
                          <a:latin typeface="+mn-lt"/>
                          <a:ea typeface="+mn-ea"/>
                          <a:cs typeface="+mn-cs"/>
                        </a:rPr>
                        <a:t>Yessusem</a:t>
                      </a:r>
                      <a:r>
                        <a:rPr lang="fr-FR" sz="1100" kern="1200">
                          <a:solidFill>
                            <a:schemeClr val="tx1"/>
                          </a:solidFill>
                          <a:effectLst/>
                          <a:latin typeface="+mn-lt"/>
                          <a:ea typeface="+mn-ea"/>
                          <a:cs typeface="+mn-cs"/>
                        </a:rPr>
                        <a:t>, yewwi-yas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tameṭṭut; ay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yerban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ixten</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agi tajdiṭ: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teǧǧi</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lǧehd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di sshala;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iɛewweq</a:t>
                      </a:r>
                      <a:r>
                        <a:rPr lang="fr-FR" sz="1100" kern="1200">
                          <a:solidFill>
                            <a:schemeClr val="tx1"/>
                          </a:solidFill>
                          <a:effectLst/>
                          <a:latin typeface="+mn-lt"/>
                          <a:ea typeface="+mn-ea"/>
                          <a:cs typeface="+mn-cs"/>
                        </a:rPr>
                        <a:t> di ṛṛay-is: </a:t>
                      </a:r>
                      <a:r>
                        <a:rPr lang="fr-FR" sz="1100" kern="1200" err="1">
                          <a:solidFill>
                            <a:schemeClr val="tx1"/>
                          </a:solidFill>
                          <a:effectLst/>
                          <a:latin typeface="+mn-lt"/>
                          <a:ea typeface="+mn-ea"/>
                          <a:cs typeface="+mn-cs"/>
                        </a:rPr>
                        <a:t>teɣleb-it</a:t>
                      </a:r>
                      <a:r>
                        <a:rPr lang="fr-FR" sz="1100" kern="1200">
                          <a:solidFill>
                            <a:schemeClr val="tx1"/>
                          </a:solidFill>
                          <a:effectLst/>
                          <a:latin typeface="+mn-lt"/>
                          <a:ea typeface="+mn-ea"/>
                          <a:cs typeface="+mn-cs"/>
                        </a:rPr>
                        <a:t> aṭas!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fr-FR" sz="1100" kern="15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fr-FR" sz="1100" kern="15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a:effectLst/>
                          <a:latin typeface="Cascadia Mono" panose="020B0609020000020004" pitchFamily="49" charset="0"/>
                          <a:cs typeface="Cascadia Mono" panose="020B0609020000020004" pitchFamily="49" charset="0"/>
                        </a:rPr>
                        <a:t>Ce dernier voulut protester :</a:t>
                      </a:r>
                    </a:p>
                    <a:p>
                      <a:pPr indent="216000" algn="l"/>
                      <a:r>
                        <a:rPr lang="fr-FR" sz="1100" kern="15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p>
                    <a:p>
                      <a:pPr indent="216000" algn="l"/>
                      <a:r>
                        <a:rPr lang="fr-FR" sz="1100" kern="15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47533967"/>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74-76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75-77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Yewqem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taqbaylit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yeqḍi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-tt d </a:t>
                      </a:r>
                      <a:r>
                        <a:rPr lang="fr-FR" sz="1100" kern="1200" err="1">
                          <a:solidFill>
                            <a:schemeClr val="tx1"/>
                          </a:solidFill>
                          <a:effectLst/>
                          <a:latin typeface="+mn-lt"/>
                          <a:ea typeface="+mn-ea"/>
                          <a:cs typeface="+mn-cs"/>
                        </a:rPr>
                        <a:t>tameɣbunt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leɛṛas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lḥaṣul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tameɣra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tamessast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sbarken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tteklen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ten-yessečč</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kksen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jjekk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tebliɛ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telqimt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yas-yenna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Mebṛuk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-as-d: Ma </a:t>
                      </a:r>
                      <a:r>
                        <a:rPr lang="fr-FR" sz="1100" kern="1200" err="1">
                          <a:solidFill>
                            <a:schemeClr val="tx1"/>
                          </a:solidFill>
                          <a:effectLst/>
                          <a:latin typeface="+mn-lt"/>
                          <a:ea typeface="+mn-ea"/>
                          <a:cs typeface="+mn-cs"/>
                        </a:rPr>
                        <a:t>tebrek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yehwi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beggnen</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genwan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ixelṭ</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ugeffur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wanẓar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waḍu</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lebraq</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ṛṛɛud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webruri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bbehdeln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Ya </a:t>
                      </a:r>
                      <a:r>
                        <a:rPr lang="fr-FR" sz="1100" kern="1200" err="1">
                          <a:solidFill>
                            <a:schemeClr val="tx1"/>
                          </a:solidFill>
                          <a:effectLst/>
                          <a:latin typeface="+mn-lt"/>
                          <a:ea typeface="+mn-ea"/>
                          <a:cs typeface="+mn-cs"/>
                        </a:rPr>
                        <a:t>laṭif</a:t>
                      </a:r>
                      <a:r>
                        <a:rPr lang="fr-FR" sz="1100" kern="1200">
                          <a:solidFill>
                            <a:schemeClr val="tx1"/>
                          </a:solidFill>
                          <a:effectLst/>
                          <a:latin typeface="+mn-lt"/>
                          <a:ea typeface="+mn-ea"/>
                          <a:cs typeface="+mn-cs"/>
                        </a:rPr>
                        <a:t>! Ya </a:t>
                      </a:r>
                      <a:r>
                        <a:rPr lang="fr-FR" sz="1100" kern="1200" err="1">
                          <a:solidFill>
                            <a:schemeClr val="tx1"/>
                          </a:solidFill>
                          <a:effectLst/>
                          <a:latin typeface="+mn-lt"/>
                          <a:ea typeface="+mn-ea"/>
                          <a:cs typeface="+mn-cs"/>
                        </a:rPr>
                        <a:t>laṭif</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Lehwa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tafukt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aɣ</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yefki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taqessult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as-d-</a:t>
                      </a:r>
                      <a:r>
                        <a:rPr lang="fr-FR" sz="1100" kern="1200" err="1">
                          <a:solidFill>
                            <a:schemeClr val="tx1"/>
                          </a:solidFill>
                          <a:effectLst/>
                          <a:latin typeface="+mn-lt"/>
                          <a:ea typeface="+mn-ea"/>
                          <a:cs typeface="+mn-cs"/>
                        </a:rPr>
                        <a:t>yefk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taqeẓẓult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tqeslin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tilmawin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ijeqduṛen-is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tɛedda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i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yettaɣ-itt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yessin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leḥkaṛ-is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fr-FR" sz="1100" kern="15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fr-FR" sz="1100" kern="15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Pitié, seigneur, pitié !</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r>
                        <a:rPr lang="fr-FR" sz="1100" kern="150">
                          <a:effectLst/>
                          <a:latin typeface="Cascadia Mono" panose="020B0609020000020004" pitchFamily="49" charset="0"/>
                          <a:cs typeface="Cascadia Mono" panose="020B0609020000020004" pitchFamily="49" charset="0"/>
                        </a:rPr>
                        <a:t>Pluie et soleil !</a:t>
                      </a:r>
                    </a:p>
                    <a:p>
                      <a:pPr indent="216000" algn="l"/>
                      <a:r>
                        <a:rPr lang="fr-FR" sz="1100" kern="150">
                          <a:effectLst/>
                          <a:latin typeface="Cascadia Mono" panose="020B0609020000020004" pitchFamily="49" charset="0"/>
                          <a:cs typeface="Cascadia Mono" panose="020B0609020000020004" pitchFamily="49" charset="0"/>
                        </a:rPr>
                        <a:t>Le chacal a pris femme :</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r>
                        <a:rPr lang="fr-FR" sz="1100" kern="150">
                          <a:effectLst/>
                          <a:latin typeface="Cascadia Mono" panose="020B0609020000020004" pitchFamily="49" charset="0"/>
                          <a:cs typeface="Cascadia Mono" panose="020B0609020000020004" pitchFamily="49" charset="0"/>
                        </a:rPr>
                        <a:t>Il ne nous a pas donné une assiettée :</a:t>
                      </a:r>
                    </a:p>
                    <a:p>
                      <a:pPr indent="216000" algn="l"/>
                      <a:r>
                        <a:rPr lang="fr-FR" sz="1100" kern="150">
                          <a:effectLst/>
                          <a:latin typeface="Cascadia Mono" panose="020B0609020000020004" pitchFamily="49" charset="0"/>
                          <a:cs typeface="Cascadia Mono" panose="020B0609020000020004" pitchFamily="49" charset="0"/>
                        </a:rPr>
                        <a:t>Que Dieu lui donne un abcès</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fr-FR" sz="1100" kern="15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461903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78-80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79-81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taffellaḥt</a:t>
                      </a:r>
                      <a:r>
                        <a:rPr lang="fr-FR" sz="1100" kern="1200">
                          <a:solidFill>
                            <a:schemeClr val="tx1"/>
                          </a:solidFill>
                          <a:effectLst/>
                          <a:latin typeface="+mn-lt"/>
                          <a:ea typeface="+mn-ea"/>
                          <a:cs typeface="+mn-cs"/>
                        </a:rPr>
                        <a:t> d inisi: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yefka-d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taxxamt-is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tṛemmant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zzerriɛa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Heggan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lmiɛun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tagersa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tazaglutt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tafekkalt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ijebdan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imezwura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Qqnen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tayerza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yerkeb</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tsilett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agelzim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tmazirt</a:t>
                      </a:r>
                      <a:r>
                        <a:rPr lang="fr-FR" sz="1100" kern="1200">
                          <a:solidFill>
                            <a:schemeClr val="tx1"/>
                          </a:solidFill>
                          <a:effectLst/>
                          <a:latin typeface="+mn-lt"/>
                          <a:ea typeface="+mn-ea"/>
                          <a:cs typeface="+mn-cs"/>
                        </a:rPr>
                        <a:t>, bran, </a:t>
                      </a:r>
                      <a:r>
                        <a:rPr lang="fr-FR" sz="1100" kern="1200" err="1">
                          <a:solidFill>
                            <a:schemeClr val="tx1"/>
                          </a:solidFill>
                          <a:effectLst/>
                          <a:latin typeface="+mn-lt"/>
                          <a:ea typeface="+mn-ea"/>
                          <a:cs typeface="+mn-cs"/>
                        </a:rPr>
                        <a:t>steɛfan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yeggul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yensi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yemɣi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yejbed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tamezzurt</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yebberber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sserris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nefreq</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Ssextaṛeɣ</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Tɛeǧb-it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tizzegzewt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tawiḍ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 Tewwiḍ!</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Yemmter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temger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sellaw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iḍegger-it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aḍegger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lfareɣ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yeqqaz</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tdeggar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fr-FR" sz="1100" kern="15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Quand le champ fut entièrement travaillé, ils dételèrent et se reposèrent. La graine de navet avait dû se jurer, (comme elle le fait toujours), de ne pas passer une seule nuit en terre. D’un seul coup, elle germa et poussa. Au bout de très peu de temps, le champ était couvert d’un joli tapis vert. Lorsque la récole fut prête, le hérisson dit :</a:t>
                      </a:r>
                    </a:p>
                    <a:p>
                      <a:pPr indent="216000" algn="l"/>
                      <a:r>
                        <a:rPr lang="fr-FR" sz="1100" kern="15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a:effectLst/>
                          <a:latin typeface="Cascadia Mono" panose="020B0609020000020004" pitchFamily="49" charset="0"/>
                          <a:cs typeface="Cascadia Mono" panose="020B0609020000020004" pitchFamily="49" charset="0"/>
                        </a:rPr>
                        <a:t>- Ce qui est au-dessus, dit le chacal.</a:t>
                      </a:r>
                    </a:p>
                    <a:p>
                      <a:pPr indent="216000" algn="l"/>
                      <a:r>
                        <a:rPr lang="fr-FR" sz="1100" kern="150">
                          <a:effectLst/>
                          <a:latin typeface="Cascadia Mono" panose="020B0609020000020004" pitchFamily="49" charset="0"/>
                          <a:cs typeface="Cascadia Mono" panose="020B0609020000020004" pitchFamily="49" charset="0"/>
                        </a:rPr>
                        <a:t>- C’est bien, prends-le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84721132"/>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82-84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83-85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 Gan </a:t>
                      </a:r>
                      <a:r>
                        <a:rPr lang="fr-FR" sz="1100" kern="1200" err="1">
                          <a:solidFill>
                            <a:schemeClr val="tx1"/>
                          </a:solidFill>
                          <a:effectLst/>
                          <a:latin typeface="+mn-lt"/>
                          <a:ea typeface="+mn-ea"/>
                          <a:cs typeface="+mn-cs"/>
                        </a:rPr>
                        <a:t>asudu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fetlen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seksu</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dehnen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yellexs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ɛerḍen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 sen-</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iḥbiben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lǧiran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ɣran-asen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lfattiḥa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Qqnen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lxedma</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ɛellmen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taferka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-tt d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timẓin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lmiɛun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agelzim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aḍref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yettabeɛ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aḍref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yettabeɛ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taɣezzut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tefsut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ssusun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tafellaḥt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anɛam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lḥeb</a:t>
                      </a:r>
                      <a:r>
                        <a:rPr lang="fr-FR" sz="1100" kern="1200">
                          <a:solidFill>
                            <a:schemeClr val="tx1"/>
                          </a:solidFill>
                          <a:effectLst/>
                          <a:latin typeface="+mn-lt"/>
                          <a:ea typeface="+mn-ea"/>
                          <a:cs typeface="+mn-cs"/>
                        </a:rPr>
                        <a:t> alim.</a:t>
                      </a:r>
                    </a:p>
                    <a:p>
                      <a:pPr indent="457200"/>
                      <a:r>
                        <a:rPr lang="fr-FR" sz="1100" kern="1200" err="1">
                          <a:solidFill>
                            <a:schemeClr val="tx1"/>
                          </a:solidFill>
                          <a:effectLst/>
                          <a:latin typeface="+mn-lt"/>
                          <a:ea typeface="+mn-ea"/>
                          <a:cs typeface="+mn-cs"/>
                        </a:rPr>
                        <a:t>Cellfen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arkul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ɛerḍen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-t d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rreẓq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tawiḍ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temger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tafellaḥt-is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tcadd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tadliwin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irinen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annar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Yemmter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adellas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iẓuran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lfareɣ</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fr-FR" sz="1100" kern="15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fr-FR" sz="1100" kern="15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err="1">
                          <a:effectLst/>
                          <a:latin typeface="Cascadia Mono" panose="020B0609020000020004" pitchFamily="49" charset="0"/>
                          <a:cs typeface="Cascadia Mono" panose="020B0609020000020004" pitchFamily="49" charset="0"/>
                        </a:rPr>
                        <a:t>d’arkoul</a:t>
                      </a:r>
                      <a:r>
                        <a:rPr lang="fr-FR" sz="1100" kern="150">
                          <a:effectLst/>
                          <a:latin typeface="Cascadia Mono" panose="020B0609020000020004" pitchFamily="49" charset="0"/>
                          <a:cs typeface="Cascadia Mono" panose="020B0609020000020004" pitchFamily="49" charset="0"/>
                        </a:rPr>
                        <a:t>, pour goûter le nouveau grain et ils furent très satisfaits. Quand la moisson fut prête, le hérisson dit au chacal :</a:t>
                      </a:r>
                    </a:p>
                    <a:p>
                      <a:pPr indent="216000" algn="l"/>
                      <a:r>
                        <a:rPr lang="fr-FR" sz="1100" kern="15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a:effectLst/>
                          <a:latin typeface="Cascadia Mono" panose="020B0609020000020004" pitchFamily="49" charset="0"/>
                          <a:cs typeface="Cascadia Mono" panose="020B0609020000020004" pitchFamily="49" charset="0"/>
                        </a:rPr>
                        <a:t>- En dessous ! dit le chacal.</a:t>
                      </a:r>
                    </a:p>
                    <a:p>
                      <a:pPr indent="216000" algn="l"/>
                      <a:r>
                        <a:rPr lang="fr-FR" sz="1100" kern="150">
                          <a:effectLst/>
                          <a:latin typeface="Cascadia Mono" panose="020B0609020000020004" pitchFamily="49" charset="0"/>
                          <a:cs typeface="Cascadia Mono" panose="020B0609020000020004" pitchFamily="49" charset="0"/>
                        </a:rPr>
                        <a:t>- C’est bien, prends-le, dit le hérisson.</a:t>
                      </a:r>
                    </a:p>
                    <a:p>
                      <a:pPr indent="216000" algn="l"/>
                      <a:r>
                        <a:rPr lang="fr-FR" sz="1100" kern="15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fr-FR" sz="1100" kern="15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a:effectLst/>
                        <a:latin typeface="Cascadia Mono" panose="020B0609020000020004" pitchFamily="49" charset="0"/>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732763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acrik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teswiḍ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tidi</a:t>
                      </a:r>
                      <a:r>
                        <a:rPr lang="fr-FR" sz="1100" kern="1200">
                          <a:solidFill>
                            <a:schemeClr val="tx1"/>
                          </a:solidFill>
                          <a:effectLst/>
                          <a:latin typeface="+mn-lt"/>
                          <a:ea typeface="+mn-ea"/>
                          <a:cs typeface="+mn-cs"/>
                        </a:rPr>
                        <a:t>-w: ad </a:t>
                      </a:r>
                      <a:r>
                        <a:rPr lang="fr-FR" sz="1100" kern="1200" err="1">
                          <a:solidFill>
                            <a:schemeClr val="tx1"/>
                          </a:solidFill>
                          <a:effectLst/>
                          <a:latin typeface="+mn-lt"/>
                          <a:ea typeface="+mn-ea"/>
                          <a:cs typeface="+mn-cs"/>
                        </a:rPr>
                        <a:t>nɛiwed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srewten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zzazedgen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tazzert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telweḥt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tbedd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tirect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tayeḍ</a:t>
                      </a:r>
                      <a:r>
                        <a:rPr lang="fr-FR" sz="1100" kern="1200">
                          <a:solidFill>
                            <a:schemeClr val="tx1"/>
                          </a:solidFill>
                          <a:effectLst/>
                          <a:latin typeface="+mn-lt"/>
                          <a:ea typeface="+mn-ea"/>
                          <a:cs typeface="+mn-cs"/>
                        </a:rPr>
                        <a:t> ukerfa.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d-</a:t>
                      </a:r>
                      <a:r>
                        <a:rPr lang="fr-FR" sz="1100" kern="1200" err="1">
                          <a:solidFill>
                            <a:schemeClr val="tx1"/>
                          </a:solidFill>
                          <a:effectLst/>
                          <a:latin typeface="+mn-lt"/>
                          <a:ea typeface="+mn-ea"/>
                          <a:cs typeface="+mn-cs"/>
                        </a:rPr>
                        <a:t>nemzazzal</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lmuḍeɛ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leflani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yewwḍen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amezwaru</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annar</a:t>
                      </a:r>
                      <a:r>
                        <a:rPr lang="fr-FR" sz="1100" kern="1200">
                          <a:solidFill>
                            <a:schemeClr val="tx1"/>
                          </a:solidFill>
                          <a:effectLst/>
                          <a:latin typeface="+mn-lt"/>
                          <a:ea typeface="+mn-ea"/>
                          <a:cs typeface="+mn-cs"/>
                        </a:rPr>
                        <a:t> ad yawi </a:t>
                      </a:r>
                      <a:r>
                        <a:rPr lang="fr-FR" sz="1100" kern="1200" err="1">
                          <a:solidFill>
                            <a:schemeClr val="tx1"/>
                          </a:solidFill>
                          <a:effectLst/>
                          <a:latin typeface="+mn-lt"/>
                          <a:ea typeface="+mn-ea"/>
                          <a:cs typeface="+mn-cs"/>
                        </a:rPr>
                        <a:t>tafellaḥt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Iniswen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ttemcabin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Muḥend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sin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lmuḍeɛ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wiyaḍ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umecwaṛ</a:t>
                      </a:r>
                      <a:r>
                        <a:rPr lang="fr-FR" sz="1100" kern="1200">
                          <a:solidFill>
                            <a:schemeClr val="tx1"/>
                          </a:solidFill>
                          <a:effectLst/>
                          <a:latin typeface="+mn-lt"/>
                          <a:ea typeface="+mn-ea"/>
                          <a:cs typeface="+mn-cs"/>
                        </a:rPr>
                        <a:t>. Netta d </a:t>
                      </a:r>
                      <a:r>
                        <a:rPr lang="fr-FR" sz="1100" kern="1200" err="1">
                          <a:solidFill>
                            <a:schemeClr val="tx1"/>
                          </a:solidFill>
                          <a:effectLst/>
                          <a:latin typeface="+mn-lt"/>
                          <a:ea typeface="+mn-ea"/>
                          <a:cs typeface="+mn-cs"/>
                        </a:rPr>
                        <a:t>mmis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aɛnan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tirect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usaku</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uqerwi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Yemzazzal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umeddakel-is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-d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waḍu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zdat</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annar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yesnukkuf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yettiqi</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tirect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lkil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mmis</a:t>
                      </a:r>
                      <a:r>
                        <a:rPr lang="fr-FR" sz="1100" kern="1200">
                          <a:solidFill>
                            <a:schemeClr val="tx1"/>
                          </a:solidFill>
                          <a:effectLst/>
                          <a:latin typeface="+mn-lt"/>
                          <a:ea typeface="+mn-ea"/>
                          <a:cs typeface="+mn-cs"/>
                        </a:rPr>
                        <a:t>! La s-</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Seṭṭac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seṭṭac</a:t>
                      </a:r>
                      <a:r>
                        <a:rPr lang="fr-FR" sz="1100" kern="1200">
                          <a:solidFill>
                            <a:schemeClr val="tx1"/>
                          </a:solidFill>
                          <a:effectLst/>
                          <a:latin typeface="+mn-lt"/>
                          <a:ea typeface="+mn-ea"/>
                          <a:cs typeface="+mn-cs"/>
                        </a:rPr>
                        <a:t>, sbeɛṭac! </a:t>
                      </a:r>
                      <a:r>
                        <a:rPr lang="fr-FR" sz="1100" kern="1200" err="1">
                          <a:solidFill>
                            <a:schemeClr val="tx1"/>
                          </a:solidFill>
                          <a:effectLst/>
                          <a:latin typeface="+mn-lt"/>
                          <a:ea typeface="+mn-ea"/>
                          <a:cs typeface="+mn-cs"/>
                        </a:rPr>
                        <a:t>Naqel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asaku</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aqcic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tirect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tednect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a:effectLst/>
                          <a:latin typeface="Cascadia Mono" panose="020B0609020000020004" pitchFamily="49" charset="0"/>
                          <a:cs typeface="Cascadia Mono" panose="020B0609020000020004" pitchFamily="49" charset="0"/>
                        </a:rPr>
                        <a:t>- Entendu, dit le hérisson.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a:effectLst/>
                          <a:latin typeface="Cascadia Mono" panose="020B0609020000020004" pitchFamily="49" charset="0"/>
                          <a:cs typeface="Cascadia Mono" panose="020B0609020000020004" pitchFamily="49" charset="0"/>
                        </a:rPr>
                        <a:t>- Entendu, dit le hérisson.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a:effectLst/>
                          <a:latin typeface="Cascadia Mono" panose="020B0609020000020004" pitchFamily="49" charset="0"/>
                          <a:cs typeface="Cascadia Mono" panose="020B0609020000020004" pitchFamily="49" charset="0"/>
                        </a:rPr>
                        <a:t>Le chacal aux cent ruses s’en alla sans emporter ni grain ni criblure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9291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bdun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tafellaḥt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tacekkukt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wudi</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mmektin</a:t>
                      </a:r>
                      <a:r>
                        <a:rPr lang="fr-FR" sz="1100" kern="1200">
                          <a:solidFill>
                            <a:schemeClr val="tx1"/>
                          </a:solidFill>
                          <a:effectLst/>
                          <a:latin typeface="+mn-lt"/>
                          <a:ea typeface="+mn-ea"/>
                          <a:cs typeface="+mn-cs"/>
                        </a:rPr>
                        <a:t> yid-s, </a:t>
                      </a:r>
                      <a:r>
                        <a:rPr lang="fr-FR" sz="1100" kern="1200" err="1">
                          <a:solidFill>
                            <a:schemeClr val="tx1"/>
                          </a:solidFill>
                          <a:effectLst/>
                          <a:latin typeface="+mn-lt"/>
                          <a:ea typeface="+mn-ea"/>
                          <a:cs typeface="+mn-cs"/>
                        </a:rPr>
                        <a:t>inin</a:t>
                      </a:r>
                      <a:r>
                        <a:rPr lang="fr-FR" sz="1100" kern="1200">
                          <a:solidFill>
                            <a:schemeClr val="tx1"/>
                          </a:solidFill>
                          <a:effectLst/>
                          <a:latin typeface="+mn-lt"/>
                          <a:ea typeface="+mn-ea"/>
                          <a:cs typeface="+mn-cs"/>
                        </a:rPr>
                        <a:t>-as: Ad nekfu </a:t>
                      </a:r>
                      <a:r>
                        <a:rPr lang="fr-FR" sz="1100" kern="1200" err="1">
                          <a:solidFill>
                            <a:schemeClr val="tx1"/>
                          </a:solidFill>
                          <a:effectLst/>
                          <a:latin typeface="+mn-lt"/>
                          <a:ea typeface="+mn-ea"/>
                          <a:cs typeface="+mn-cs"/>
                        </a:rPr>
                        <a:t>lxedma</a:t>
                      </a:r>
                      <a:r>
                        <a:rPr lang="fr-FR" sz="1100" kern="1200">
                          <a:solidFill>
                            <a:schemeClr val="tx1"/>
                          </a:solidFill>
                          <a:effectLst/>
                          <a:latin typeface="+mn-lt"/>
                          <a:ea typeface="+mn-ea"/>
                          <a:cs typeface="+mn-cs"/>
                        </a:rPr>
                        <a:t>, ad neḥlu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wussay</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tmegra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werwa</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deqqal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amzun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s-d-</a:t>
                      </a:r>
                      <a:r>
                        <a:rPr lang="fr-FR" sz="1100" kern="1200" err="1">
                          <a:solidFill>
                            <a:schemeClr val="tx1"/>
                          </a:solidFill>
                          <a:effectLst/>
                          <a:latin typeface="+mn-lt"/>
                          <a:ea typeface="+mn-ea"/>
                          <a:cs typeface="+mn-cs"/>
                        </a:rPr>
                        <a:t>yessawlen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Anɛ</a:t>
                      </a:r>
                      <a:r>
                        <a:rPr lang="fr-FR" sz="1100" kern="1200">
                          <a:solidFill>
                            <a:schemeClr val="tx1"/>
                          </a:solidFill>
                          <a:effectLst/>
                          <a:latin typeface="+mn-lt"/>
                          <a:ea typeface="+mn-ea"/>
                          <a:cs typeface="+mn-cs"/>
                        </a:rPr>
                        <a:t> ɛ </a:t>
                      </a:r>
                      <a:r>
                        <a:rPr lang="fr-FR" sz="1100" kern="1200" err="1">
                          <a:solidFill>
                            <a:schemeClr val="tx1"/>
                          </a:solidFill>
                          <a:effectLst/>
                          <a:latin typeface="+mn-lt"/>
                          <a:ea typeface="+mn-ea"/>
                          <a:cs typeface="+mn-cs"/>
                        </a:rPr>
                        <a:t>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yeǧǧ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ixeddem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si tzirett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n wudi, ad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umeddakel-is: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 Muḥend? yerr-as: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ɣur-i teqcict: </a:t>
                      </a:r>
                      <a:r>
                        <a:rPr lang="fr-FR" sz="1100" kern="1200" err="1">
                          <a:solidFill>
                            <a:schemeClr val="tx1"/>
                          </a:solidFill>
                          <a:effectLst/>
                          <a:latin typeface="+mn-lt"/>
                          <a:ea typeface="+mn-ea"/>
                          <a:cs typeface="+mn-cs"/>
                        </a:rPr>
                        <a:t>nga-yas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Mnaṣfa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Mmelqaɛ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tcekkukt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taseɛdit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ɣnan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dlan</a:t>
                      </a:r>
                      <a:r>
                        <a:rPr lang="fr-FR" sz="1100" kern="1200">
                          <a:solidFill>
                            <a:schemeClr val="tx1"/>
                          </a:solidFill>
                          <a:effectLst/>
                          <a:latin typeface="+mn-lt"/>
                          <a:ea typeface="+mn-ea"/>
                          <a:cs typeface="+mn-cs"/>
                        </a:rPr>
                        <a:t> fell-as, ufan-tt </a:t>
                      </a:r>
                      <a:r>
                        <a:rPr lang="fr-FR" sz="1100" kern="1200" err="1">
                          <a:solidFill>
                            <a:schemeClr val="tx1"/>
                          </a:solidFill>
                          <a:effectLst/>
                          <a:latin typeface="+mn-lt"/>
                          <a:ea typeface="+mn-ea"/>
                          <a:cs typeface="+mn-cs"/>
                        </a:rPr>
                        <a:t>temmečč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s-yeqqar:</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Muḥend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i tt-yeččan! </a:t>
                      </a:r>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nekni i </a:t>
                      </a:r>
                      <a:r>
                        <a:rPr lang="fr-FR" sz="1100" kern="1200" err="1">
                          <a:solidFill>
                            <a:schemeClr val="tx1"/>
                          </a:solidFill>
                          <a:effectLst/>
                          <a:latin typeface="+mn-lt"/>
                          <a:ea typeface="+mn-ea"/>
                          <a:cs typeface="+mn-cs"/>
                        </a:rPr>
                        <a:t>yeẓran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anida</a:t>
                      </a:r>
                      <a:r>
                        <a:rPr lang="fr-FR" sz="1100" kern="1200">
                          <a:solidFill>
                            <a:schemeClr val="tx1"/>
                          </a:solidFill>
                          <a:effectLst/>
                          <a:latin typeface="+mn-lt"/>
                          <a:ea typeface="+mn-ea"/>
                          <a:cs typeface="+mn-cs"/>
                        </a:rPr>
                        <a:t> tt-neffer!</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la s-yeqqar: D keč!</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nnan:</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yess: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ad neṭṭes, ad nsers d tama-tneɣ </a:t>
                      </a:r>
                      <a:r>
                        <a:rPr lang="fr-FR" sz="1100" kern="1200" err="1">
                          <a:solidFill>
                            <a:schemeClr val="tx1"/>
                          </a:solidFill>
                          <a:effectLst/>
                          <a:latin typeface="+mn-lt"/>
                          <a:ea typeface="+mn-ea"/>
                          <a:cs typeface="+mn-cs"/>
                        </a:rPr>
                        <a:t>iceqfan</a:t>
                      </a:r>
                      <a:r>
                        <a:rPr lang="fr-FR" sz="1100" kern="1200">
                          <a:solidFill>
                            <a:schemeClr val="tx1"/>
                          </a:solidFill>
                          <a:effectLst/>
                          <a:latin typeface="+mn-lt"/>
                          <a:ea typeface="+mn-ea"/>
                          <a:cs typeface="+mn-cs"/>
                        </a:rPr>
                        <a:t> a-</a:t>
                      </a:r>
                      <a:r>
                        <a:rPr lang="fr-FR" sz="1100" kern="1200" err="1">
                          <a:solidFill>
                            <a:schemeClr val="tx1"/>
                          </a:solidFill>
                          <a:effectLst/>
                          <a:latin typeface="+mn-lt"/>
                          <a:ea typeface="+mn-ea"/>
                          <a:cs typeface="+mn-cs"/>
                        </a:rPr>
                        <a:t>nteffeɣ</a:t>
                      </a:r>
                      <a:r>
                        <a:rPr lang="fr-FR" sz="1100" kern="1200">
                          <a:solidFill>
                            <a:schemeClr val="tx1"/>
                          </a:solidFill>
                          <a:effectLst/>
                          <a:latin typeface="+mn-lt"/>
                          <a:ea typeface="+mn-ea"/>
                          <a:cs typeface="+mn-cs"/>
                        </a:rPr>
                        <a:t> deg-sen: ad d-</a:t>
                      </a:r>
                      <a:r>
                        <a:rPr lang="fr-FR" sz="1100" kern="1200" err="1">
                          <a:solidFill>
                            <a:schemeClr val="tx1"/>
                          </a:solidFill>
                          <a:effectLst/>
                          <a:latin typeface="+mn-lt"/>
                          <a:ea typeface="+mn-ea"/>
                          <a:cs typeface="+mn-cs"/>
                        </a:rPr>
                        <a:t>iban</a:t>
                      </a:r>
                      <a:r>
                        <a:rPr lang="fr-FR" sz="1100" kern="1200">
                          <a:solidFill>
                            <a:schemeClr val="tx1"/>
                          </a:solidFill>
                          <a:effectLst/>
                          <a:latin typeface="+mn-lt"/>
                          <a:ea typeface="+mn-ea"/>
                          <a:cs typeface="+mn-cs"/>
                        </a:rPr>
                        <a:t> ṣṣeḥḥ!</a:t>
                      </a:r>
                    </a:p>
                    <a:p>
                      <a:pPr indent="457200"/>
                      <a:r>
                        <a:rPr lang="fr-FR" sz="1100" kern="1200" err="1">
                          <a:solidFill>
                            <a:schemeClr val="tx1"/>
                          </a:solidFill>
                          <a:effectLst/>
                          <a:latin typeface="+mn-lt"/>
                          <a:ea typeface="+mn-ea"/>
                          <a:cs typeface="+mn-cs"/>
                        </a:rPr>
                        <a:t>Xedmen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udi</a:t>
                      </a:r>
                      <a:r>
                        <a:rPr lang="fr-FR" sz="1100" kern="1200">
                          <a:solidFill>
                            <a:schemeClr val="tx1"/>
                          </a:solidFill>
                          <a:effectLst/>
                          <a:latin typeface="+mn-lt"/>
                          <a:ea typeface="+mn-ea"/>
                          <a:cs typeface="+mn-cs"/>
                        </a:rPr>
                        <a:t> yuki: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ameddakel-is yeṭṭes: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ibeddel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lmuḍeɛ</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iceqfan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Azekka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 i wa: D keč! Ur </a:t>
                      </a:r>
                      <a:r>
                        <a:rPr lang="fr-FR" sz="1100" kern="1200" err="1">
                          <a:solidFill>
                            <a:schemeClr val="tx1"/>
                          </a:solidFill>
                          <a:effectLst/>
                          <a:latin typeface="+mn-lt"/>
                          <a:ea typeface="+mn-ea"/>
                          <a:cs typeface="+mn-cs"/>
                        </a:rPr>
                        <a:t>tefri</a:t>
                      </a:r>
                      <a:r>
                        <a:rPr lang="fr-FR" sz="1100" kern="1200">
                          <a:solidFill>
                            <a:schemeClr val="tx1"/>
                          </a:solidFill>
                          <a:effectLst/>
                          <a:latin typeface="+mn-lt"/>
                          <a:ea typeface="+mn-ea"/>
                          <a:cs typeface="+mn-cs"/>
                        </a:rPr>
                        <a:t> gar-asen.</a:t>
                      </a:r>
                    </a:p>
                    <a:p>
                      <a:pPr indent="457200"/>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llqeḍ di </a:t>
                      </a:r>
                      <a:r>
                        <a:rPr lang="fr-FR" sz="1100" kern="1200" err="1">
                          <a:solidFill>
                            <a:schemeClr val="tx1"/>
                          </a:solidFill>
                          <a:effectLst/>
                          <a:latin typeface="+mn-lt"/>
                          <a:ea typeface="+mn-ea"/>
                          <a:cs typeface="+mn-cs"/>
                        </a:rPr>
                        <a:t>lǧeṛṛa</a:t>
                      </a:r>
                      <a:r>
                        <a:rPr lang="fr-FR" sz="1100" kern="1200">
                          <a:solidFill>
                            <a:schemeClr val="tx1"/>
                          </a:solidFill>
                          <a:effectLst/>
                          <a:latin typeface="+mn-lt"/>
                          <a:ea typeface="+mn-ea"/>
                          <a:cs typeface="+mn-cs"/>
                        </a:rPr>
                        <a:t> inisi: yeṭṭaxer-as;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a:effectLst/>
                          <a:latin typeface="Cascadia Mono" panose="020B0609020000020004" pitchFamily="49" charset="0"/>
                          <a:cs typeface="Cascadia Mono" panose="020B0609020000020004" pitchFamily="49" charset="0"/>
                        </a:rPr>
                        <a:t>- Oui i </a:t>
                      </a:r>
                      <a:r>
                        <a:rPr lang="fr-FR" sz="1100" kern="150" err="1">
                          <a:effectLst/>
                          <a:latin typeface="Cascadia Mono" panose="020B0609020000020004" pitchFamily="49" charset="0"/>
                          <a:cs typeface="Cascadia Mono" panose="020B0609020000020004" pitchFamily="49" charset="0"/>
                        </a:rPr>
                        <a:t>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a:t>
                      </a:r>
                      <a:r>
                        <a:rPr lang="fr-FR" sz="1100" kern="150">
                          <a:effectLst/>
                          <a:latin typeface="Cascadia Mono" panose="020B0609020000020004" pitchFamily="49" charset="0"/>
                          <a:cs typeface="Cascadia Mono" panose="020B0609020000020004" pitchFamily="49" charset="0"/>
                        </a:rPr>
                        <a:t> !</a:t>
                      </a:r>
                    </a:p>
                    <a:p>
                      <a:pPr indent="216000" algn="l"/>
                      <a:r>
                        <a:rPr lang="fr-FR" sz="1100" kern="15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fr-FR" sz="1100" kern="15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a:effectLst/>
                          <a:latin typeface="Cascadia Mono" panose="020B0609020000020004" pitchFamily="49" charset="0"/>
                          <a:cs typeface="Cascadia Mono" panose="020B0609020000020004" pitchFamily="49" charset="0"/>
                        </a:rPr>
                        <a:t>- Non, c’est toi ! Disait le hérisson.</a:t>
                      </a:r>
                    </a:p>
                    <a:p>
                      <a:pPr indent="216000" algn="l"/>
                      <a:r>
                        <a:rPr lang="fr-FR" sz="1100" kern="150">
                          <a:effectLst/>
                          <a:latin typeface="Cascadia Mono" panose="020B0609020000020004" pitchFamily="49" charset="0"/>
                          <a:cs typeface="Cascadia Mono" panose="020B0609020000020004" pitchFamily="49" charset="0"/>
                        </a:rPr>
                        <a:t>Ils furent d’accord pour dire :</a:t>
                      </a:r>
                    </a:p>
                    <a:p>
                      <a:pPr indent="216000" algn="l"/>
                      <a:r>
                        <a:rPr lang="fr-FR" sz="1100" kern="15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fr-FR" sz="1100" kern="15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fr-FR" sz="1100" kern="15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48927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tṣebḥit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usemmiḍ</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igezzem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lemqes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azrem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wegris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Iɣaḍ-it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Irfed-it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aqelmun-is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yecreq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yetḥaya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wezrem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yiri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ixneq-it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ffɣent</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wallen-is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Dɛeɣ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lxelq</a:t>
                      </a:r>
                      <a:r>
                        <a:rPr lang="fr-FR" sz="1100" kern="1200">
                          <a:solidFill>
                            <a:schemeClr val="tx1"/>
                          </a:solidFill>
                          <a:effectLst/>
                          <a:latin typeface="+mn-lt"/>
                          <a:ea typeface="+mn-ea"/>
                          <a:cs typeface="+mn-cs"/>
                        </a:rPr>
                        <a:t> agi, ma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iyi-tqaleḍ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Ufiɣ</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k-id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wegris</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ineɣ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sellkeɣ</a:t>
                      </a:r>
                      <a:r>
                        <a:rPr lang="fr-FR" sz="1100" kern="1200">
                          <a:solidFill>
                            <a:schemeClr val="tx1"/>
                          </a:solidFill>
                          <a:effectLst/>
                          <a:latin typeface="+mn-lt"/>
                          <a:ea typeface="+mn-ea"/>
                          <a:cs typeface="+mn-cs"/>
                        </a:rPr>
                        <a:t>-k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i k-</a:t>
                      </a:r>
                      <a:r>
                        <a:rPr lang="fr-FR" sz="1100" kern="1200" err="1">
                          <a:solidFill>
                            <a:schemeClr val="tx1"/>
                          </a:solidFill>
                          <a:effectLst/>
                          <a:latin typeface="+mn-lt"/>
                          <a:ea typeface="+mn-ea"/>
                          <a:cs typeface="+mn-cs"/>
                        </a:rPr>
                        <a:t>xedmeɣ</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wezrem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Anida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lxiṛ i yi-txedmeḍ? </a:t>
                      </a:r>
                      <a:r>
                        <a:rPr lang="fr-FR" sz="1100" kern="1200" err="1">
                          <a:solidFill>
                            <a:schemeClr val="tx1"/>
                          </a:solidFill>
                          <a:effectLst/>
                          <a:latin typeface="+mn-lt"/>
                          <a:ea typeface="+mn-ea"/>
                          <a:cs typeface="+mn-cs"/>
                        </a:rPr>
                        <a:t>Ffɣeɣ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wemruj-iw</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ddheb</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lfeṭṭa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iyi-iwet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iɛiwed-iyi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sneṣleɣ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taslest-iw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afeɣ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taxxamt-iw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tseɛreqḍ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cehhed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temmteḍ</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Dɛaɣ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iyi-tefkiḍ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ccṛeɛ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ḥkan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ssineɣ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yemmuqel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yefhem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ddeɛwa-nsen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ṣellin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fr-FR" sz="1100" kern="15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Faits tes prières, tu vas mourir.</a:t>
                      </a:r>
                    </a:p>
                    <a:p>
                      <a:pPr indent="216000" algn="l"/>
                      <a:r>
                        <a:rPr lang="fr-FR" sz="1100" kern="150">
                          <a:effectLst/>
                          <a:latin typeface="Cascadia Mono" panose="020B0609020000020004" pitchFamily="49" charset="0"/>
                          <a:cs typeface="Cascadia Mono" panose="020B0609020000020004" pitchFamily="49" charset="0"/>
                        </a:rPr>
                        <a:t>L’homme supplia :</a:t>
                      </a:r>
                    </a:p>
                    <a:p>
                      <a:pPr indent="216000" algn="l"/>
                      <a:r>
                        <a:rPr lang="fr-FR" sz="1100" kern="15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a:effectLst/>
                          <a:latin typeface="Cascadia Mono" panose="020B0609020000020004" pitchFamily="49" charset="0"/>
                          <a:cs typeface="Cascadia Mono" panose="020B0609020000020004" pitchFamily="49" charset="0"/>
                        </a:rPr>
                        <a:t>- Je ne connais rien à ces histoires-là, Allez voir hérisson.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186744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ccṛeɛ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leɛmeṛ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azrem</a:t>
                      </a:r>
                      <a:r>
                        <a:rPr lang="fr-FR" sz="1100" kern="1200">
                          <a:solidFill>
                            <a:schemeClr val="tx1"/>
                          </a:solidFill>
                          <a:effectLst/>
                          <a:latin typeface="+mn-lt"/>
                          <a:ea typeface="+mn-ea"/>
                          <a:cs typeface="+mn-cs"/>
                        </a:rPr>
                        <a:t>, ers-d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qqim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axṣim</a:t>
                      </a:r>
                      <a:r>
                        <a:rPr lang="fr-FR" sz="1100" kern="1200">
                          <a:solidFill>
                            <a:schemeClr val="tx1"/>
                          </a:solidFill>
                          <a:effectLst/>
                          <a:latin typeface="+mn-lt"/>
                          <a:ea typeface="+mn-ea"/>
                          <a:cs typeface="+mn-cs"/>
                        </a:rPr>
                        <a:t>-ik ad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deg-wen</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icaṛeɛ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fruɣ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gar-awen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lgn="ctr"/>
                      <a:r>
                        <a:rPr lang="fr-FR" sz="1100" i="1" kern="1200" err="1">
                          <a:solidFill>
                            <a:schemeClr val="tx1"/>
                          </a:solidFill>
                          <a:effectLst/>
                          <a:latin typeface="+mn-lt"/>
                          <a:ea typeface="+mn-ea"/>
                          <a:cs typeface="+mn-cs"/>
                        </a:rPr>
                        <a:t>W’iṭṭfen</a:t>
                      </a:r>
                      <a:r>
                        <a:rPr lang="fr-FR" sz="1100" i="1" kern="1200">
                          <a:solidFill>
                            <a:schemeClr val="tx1"/>
                          </a:solidFill>
                          <a:effectLst/>
                          <a:latin typeface="+mn-lt"/>
                          <a:ea typeface="+mn-ea"/>
                          <a:cs typeface="+mn-cs"/>
                        </a:rPr>
                        <a:t> </a:t>
                      </a:r>
                      <a:r>
                        <a:rPr lang="fr-FR" sz="1100" i="1" kern="1200" err="1">
                          <a:solidFill>
                            <a:schemeClr val="tx1"/>
                          </a:solidFill>
                          <a:effectLst/>
                          <a:latin typeface="+mn-lt"/>
                          <a:ea typeface="+mn-ea"/>
                          <a:cs typeface="+mn-cs"/>
                        </a:rPr>
                        <a:t>aḥdif</a:t>
                      </a:r>
                      <a:r>
                        <a:rPr lang="fr-FR" sz="1100" i="1" kern="1200">
                          <a:solidFill>
                            <a:schemeClr val="tx1"/>
                          </a:solidFill>
                          <a:effectLst/>
                          <a:latin typeface="+mn-lt"/>
                          <a:ea typeface="+mn-ea"/>
                          <a:cs typeface="+mn-cs"/>
                        </a:rPr>
                        <a:t> yawi </a:t>
                      </a:r>
                      <a:r>
                        <a:rPr lang="fr-FR" sz="1100" i="1" kern="1200" err="1">
                          <a:solidFill>
                            <a:schemeClr val="tx1"/>
                          </a:solidFill>
                          <a:effectLst/>
                          <a:latin typeface="+mn-lt"/>
                          <a:ea typeface="+mn-ea"/>
                          <a:cs typeface="+mn-cs"/>
                        </a:rPr>
                        <a:t>lḥif</a:t>
                      </a:r>
                      <a:r>
                        <a:rPr lang="fr-FR" sz="1100" i="1" kern="1200">
                          <a:solidFill>
                            <a:schemeClr val="tx1"/>
                          </a:solidFill>
                          <a:effectLst/>
                          <a:latin typeface="+mn-lt"/>
                          <a:ea typeface="+mn-ea"/>
                          <a:cs typeface="+mn-cs"/>
                        </a:rPr>
                        <a:t>:</a:t>
                      </a:r>
                    </a:p>
                    <a:p>
                      <a:pPr indent="457200" algn="ctr"/>
                      <a:r>
                        <a:rPr lang="fr-FR" sz="1100" i="1" kern="1200">
                          <a:solidFill>
                            <a:schemeClr val="tx1"/>
                          </a:solidFill>
                          <a:effectLst/>
                          <a:latin typeface="+mn-lt"/>
                          <a:ea typeface="+mn-ea"/>
                          <a:cs typeface="+mn-cs"/>
                        </a:rPr>
                        <a:t>A </a:t>
                      </a:r>
                      <a:r>
                        <a:rPr lang="fr-FR" sz="1100" i="1" kern="1200" err="1">
                          <a:solidFill>
                            <a:schemeClr val="tx1"/>
                          </a:solidFill>
                          <a:effectLst/>
                          <a:latin typeface="+mn-lt"/>
                          <a:ea typeface="+mn-ea"/>
                          <a:cs typeface="+mn-cs"/>
                        </a:rPr>
                        <a:t>wer</a:t>
                      </a:r>
                      <a:r>
                        <a:rPr lang="fr-FR" sz="1100" i="1" kern="1200">
                          <a:solidFill>
                            <a:schemeClr val="tx1"/>
                          </a:solidFill>
                          <a:effectLst/>
                          <a:latin typeface="+mn-lt"/>
                          <a:ea typeface="+mn-ea"/>
                          <a:cs typeface="+mn-cs"/>
                        </a:rPr>
                        <a:t> </a:t>
                      </a:r>
                      <a:r>
                        <a:rPr lang="fr-FR" sz="1100" i="1" kern="1200" err="1">
                          <a:solidFill>
                            <a:schemeClr val="tx1"/>
                          </a:solidFill>
                          <a:effectLst/>
                          <a:latin typeface="+mn-lt"/>
                          <a:ea typeface="+mn-ea"/>
                          <a:cs typeface="+mn-cs"/>
                        </a:rPr>
                        <a:t>yebḍu</a:t>
                      </a:r>
                      <a:r>
                        <a:rPr lang="fr-FR" sz="1100" i="1" kern="1200">
                          <a:solidFill>
                            <a:schemeClr val="tx1"/>
                          </a:solidFill>
                          <a:effectLst/>
                          <a:latin typeface="+mn-lt"/>
                          <a:ea typeface="+mn-ea"/>
                          <a:cs typeface="+mn-cs"/>
                        </a:rPr>
                        <a:t> d </a:t>
                      </a:r>
                      <a:r>
                        <a:rPr lang="fr-FR" sz="1100" i="1" kern="1200" err="1">
                          <a:solidFill>
                            <a:schemeClr val="tx1"/>
                          </a:solidFill>
                          <a:effectLst/>
                          <a:latin typeface="+mn-lt"/>
                          <a:ea typeface="+mn-ea"/>
                          <a:cs typeface="+mn-cs"/>
                        </a:rPr>
                        <a:t>uɣilif</a:t>
                      </a:r>
                      <a:r>
                        <a:rPr lang="fr-FR" sz="1100" i="1" kern="1200">
                          <a:solidFill>
                            <a:schemeClr val="tx1"/>
                          </a:solidFill>
                          <a:effectLst/>
                          <a:latin typeface="+mn-lt"/>
                          <a:ea typeface="+mn-ea"/>
                          <a:cs typeface="+mn-cs"/>
                        </a:rPr>
                        <a:t>!</a:t>
                      </a:r>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yebḍa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mnaṣef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aẓru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inɣed</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deffir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fassen-is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Ah!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imensi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iɛeggalen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W’ittamnen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bnadem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aberkan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uqerru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Di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teẓẓiḍ</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tɣellteḍ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bnadem</a:t>
                      </a:r>
                      <a:r>
                        <a:rPr lang="fr-FR" sz="1100" kern="1200">
                          <a:solidFill>
                            <a:schemeClr val="tx1"/>
                          </a:solidFill>
                          <a:effectLst/>
                          <a:latin typeface="+mn-lt"/>
                          <a:ea typeface="+mn-ea"/>
                          <a:cs typeface="+mn-cs"/>
                        </a:rPr>
                        <a:t>, mi t-</a:t>
                      </a:r>
                      <a:r>
                        <a:rPr lang="fr-FR" sz="1100" kern="1200" err="1">
                          <a:solidFill>
                            <a:schemeClr val="tx1"/>
                          </a:solidFill>
                          <a:effectLst/>
                          <a:latin typeface="+mn-lt"/>
                          <a:ea typeface="+mn-ea"/>
                          <a:cs typeface="+mn-cs"/>
                        </a:rPr>
                        <a:t>teẓẓiḍ</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yeqleɛ</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fr-FR" sz="1100" kern="15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ctr"/>
                      <a:r>
                        <a:rPr lang="fr-FR" sz="1100" i="1" kern="150">
                          <a:effectLst/>
                          <a:latin typeface="Cascadia Mono" panose="020B0609020000020004" pitchFamily="49" charset="0"/>
                          <a:cs typeface="Cascadia Mono" panose="020B0609020000020004" pitchFamily="49" charset="0"/>
                        </a:rPr>
                        <a:t>Celui qui tient un bâton et subit l’opprobre</a:t>
                      </a:r>
                    </a:p>
                    <a:p>
                      <a:pPr indent="216000" algn="ctr"/>
                      <a:r>
                        <a:rPr lang="fr-FR" sz="1100" i="1" kern="150">
                          <a:effectLst/>
                          <a:latin typeface="Cascadia Mono" panose="020B0609020000020004" pitchFamily="49" charset="0"/>
                          <a:cs typeface="Cascadia Mono" panose="020B0609020000020004" pitchFamily="49" charset="0"/>
                        </a:rPr>
                        <a:t>Qu’il supporte les funestes conséquences !</a:t>
                      </a:r>
                    </a:p>
                    <a:p>
                      <a:pPr indent="216000" algn="l"/>
                      <a:r>
                        <a:rPr lang="fr-FR" sz="1100" kern="150">
                          <a:effectLst/>
                          <a:latin typeface="Cascadia Mono" panose="020B0609020000020004" pitchFamily="49" charset="0"/>
                          <a:cs typeface="Cascadia Mono" panose="020B0609020000020004" pitchFamily="49" charset="0"/>
                        </a:rPr>
                        <a:t>- Qu’attends-tu ?</a:t>
                      </a:r>
                    </a:p>
                    <a:p>
                      <a:pPr indent="216000" algn="l"/>
                      <a:r>
                        <a:rPr lang="fr-FR" sz="1100" kern="15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 Quand il se retourna, le hérisson avait disparu.</a:t>
                      </a:r>
                    </a:p>
                    <a:p>
                      <a:pPr indent="216000" algn="l"/>
                      <a:r>
                        <a:rPr lang="fr-FR" sz="1100" kern="150">
                          <a:effectLst/>
                          <a:latin typeface="Cascadia Mono" panose="020B0609020000020004" pitchFamily="49" charset="0"/>
                          <a:cs typeface="Cascadia Mono" panose="020B0609020000020004" pitchFamily="49" charset="0"/>
                        </a:rPr>
                        <a:t>De dépit, il frappa dans ses mains :</a:t>
                      </a:r>
                    </a:p>
                    <a:p>
                      <a:pPr indent="216000" algn="l"/>
                      <a:r>
                        <a:rPr lang="fr-FR" sz="1100" kern="15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a:effectLst/>
                          <a:latin typeface="Cascadia Mono" panose="020B0609020000020004" pitchFamily="49" charset="0"/>
                          <a:cs typeface="Cascadia Mono" panose="020B0609020000020004" pitchFamily="49" charset="0"/>
                        </a:rPr>
                        <a:t>Méfiez-vous de l’homme, créature aux noirs desseins !</a:t>
                      </a:r>
                    </a:p>
                    <a:p>
                      <a:pPr indent="216000" algn="l"/>
                      <a:r>
                        <a:rPr lang="fr-FR" sz="1100" kern="15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9953586"/>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96-98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97-99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vieille brouille du chacal et du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Di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taqdimt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isem-is</a:t>
                      </a:r>
                      <a:r>
                        <a:rPr lang="fr-FR" sz="1100" kern="1200">
                          <a:solidFill>
                            <a:schemeClr val="tx1"/>
                          </a:solidFill>
                          <a:effectLst/>
                          <a:latin typeface="+mn-lt"/>
                          <a:ea typeface="+mn-ea"/>
                          <a:cs typeface="+mn-cs"/>
                        </a:rPr>
                        <a:t> Mḥemmed;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Rabeḥ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weḥd-sen: ad brun </a:t>
                      </a:r>
                      <a:r>
                        <a:rPr lang="fr-FR" sz="1100" kern="1200" err="1">
                          <a:solidFill>
                            <a:schemeClr val="tx1"/>
                          </a:solidFill>
                          <a:effectLst/>
                          <a:latin typeface="+mn-lt"/>
                          <a:ea typeface="+mn-ea"/>
                          <a:cs typeface="+mn-cs"/>
                        </a:rPr>
                        <a:t>ṣṣbeḥ</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yeṛwu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irren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tuccag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deg yefri. Tsuɣ-d.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yecɣel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 nniḍen: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Ur ttagad!</a:t>
                      </a:r>
                    </a:p>
                    <a:p>
                      <a:pPr indent="457200"/>
                      <a:r>
                        <a:rPr lang="fr-FR" sz="1100" kern="1200" err="1">
                          <a:solidFill>
                            <a:schemeClr val="tx1"/>
                          </a:solidFill>
                          <a:effectLst/>
                          <a:latin typeface="+mn-lt"/>
                          <a:ea typeface="+mn-ea"/>
                          <a:cs typeface="+mn-cs"/>
                        </a:rPr>
                        <a:t>Yers</a:t>
                      </a:r>
                      <a:r>
                        <a:rPr lang="fr-FR" sz="1100" kern="1200">
                          <a:solidFill>
                            <a:schemeClr val="tx1"/>
                          </a:solidFill>
                          <a:effectLst/>
                          <a:latin typeface="+mn-lt"/>
                          <a:ea typeface="+mn-ea"/>
                          <a:cs typeface="+mn-cs"/>
                        </a:rPr>
                        <a:t> ad tt-id-isellek: yufa-tt-in </a:t>
                      </a:r>
                      <a:r>
                        <a:rPr lang="fr-FR" sz="1100" kern="1200" err="1">
                          <a:solidFill>
                            <a:schemeClr val="tx1"/>
                          </a:solidFill>
                          <a:effectLst/>
                          <a:latin typeface="+mn-lt"/>
                          <a:ea typeface="+mn-ea"/>
                          <a:cs typeface="+mn-cs"/>
                        </a:rPr>
                        <a:t>tejreḥ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Yemceḥ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ikemmel-as: yenɣa-tt, yečča-tt.</a:t>
                      </a:r>
                    </a:p>
                    <a:p>
                      <a:pPr indent="457200"/>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bernen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di </a:t>
                      </a:r>
                      <a:r>
                        <a:rPr lang="fr-FR" sz="1100" kern="1200" err="1">
                          <a:solidFill>
                            <a:schemeClr val="tx1"/>
                          </a:solidFill>
                          <a:effectLst/>
                          <a:latin typeface="+mn-lt"/>
                          <a:ea typeface="+mn-ea"/>
                          <a:cs typeface="+mn-cs"/>
                        </a:rPr>
                        <a:t>tlemmast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ɛezlen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akkin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weḥd-s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imezwura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a:t>
                      </a:r>
                      <a:r>
                        <a:rPr lang="fr-FR" sz="1100" kern="1200">
                          <a:solidFill>
                            <a:schemeClr val="tx1"/>
                          </a:solidFill>
                          <a:effectLst/>
                          <a:latin typeface="+mn-lt"/>
                          <a:ea typeface="+mn-ea"/>
                          <a:cs typeface="+mn-cs"/>
                        </a:rPr>
                        <a:t>-d fell-as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yendem</a:t>
                      </a:r>
                      <a:r>
                        <a:rPr lang="fr-FR" sz="1100" kern="1200">
                          <a:solidFill>
                            <a:schemeClr val="tx1"/>
                          </a:solidFill>
                          <a:effectLst/>
                          <a:latin typeface="+mn-lt"/>
                          <a:ea typeface="+mn-ea"/>
                          <a:cs typeface="+mn-cs"/>
                        </a:rPr>
                        <a:t> deg wayen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Yiwwass, ibedd-d f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tiɣilt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yessawel</a:t>
                      </a:r>
                      <a:r>
                        <a:rPr lang="fr-FR" sz="1100" kern="1200">
                          <a:solidFill>
                            <a:schemeClr val="tx1"/>
                          </a:solidFill>
                          <a:effectLst/>
                          <a:latin typeface="+mn-lt"/>
                          <a:ea typeface="+mn-ea"/>
                          <a:cs typeface="+mn-cs"/>
                        </a:rPr>
                        <a:t>-as-d i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yenna-yas-d:</a:t>
                      </a:r>
                    </a:p>
                    <a:p>
                      <a:pPr indent="457200"/>
                      <a:r>
                        <a:rPr lang="fr-FR" sz="1100" kern="1200" err="1">
                          <a:solidFill>
                            <a:schemeClr val="tx1"/>
                          </a:solidFill>
                          <a:effectLst/>
                          <a:latin typeface="+mn-lt"/>
                          <a:ea typeface="+mn-ea"/>
                          <a:cs typeface="+mn-cs"/>
                        </a:rPr>
                        <a:t>Amarezg</a:t>
                      </a:r>
                      <a:r>
                        <a:rPr lang="fr-FR" sz="1100" kern="1200">
                          <a:solidFill>
                            <a:schemeClr val="tx1"/>
                          </a:solidFill>
                          <a:effectLst/>
                          <a:latin typeface="+mn-lt"/>
                          <a:ea typeface="+mn-ea"/>
                          <a:cs typeface="+mn-cs"/>
                        </a:rPr>
                        <a:t>-ik, ay agdi:</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tegganeḍ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wulli!</a:t>
                      </a:r>
                    </a:p>
                    <a:p>
                      <a:pPr indent="457200"/>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ssyenni!</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leɛmal</a:t>
                      </a:r>
                      <a:r>
                        <a:rPr lang="fr-FR" sz="1100" kern="1200">
                          <a:solidFill>
                            <a:schemeClr val="tx1"/>
                          </a:solidFill>
                          <a:effectLst/>
                          <a:latin typeface="+mn-lt"/>
                          <a:ea typeface="+mn-ea"/>
                          <a:cs typeface="+mn-cs"/>
                        </a:rPr>
                        <a:t>-ik i </a:t>
                      </a:r>
                      <a:r>
                        <a:rPr lang="fr-FR" sz="1100" kern="1200" err="1">
                          <a:solidFill>
                            <a:schemeClr val="tx1"/>
                          </a:solidFill>
                          <a:effectLst/>
                          <a:latin typeface="+mn-lt"/>
                          <a:ea typeface="+mn-ea"/>
                          <a:cs typeface="+mn-cs"/>
                        </a:rPr>
                        <a:t>wer</a:t>
                      </a:r>
                      <a:r>
                        <a:rPr lang="fr-FR" sz="1100" kern="1200">
                          <a:solidFill>
                            <a:schemeClr val="tx1"/>
                          </a:solidFill>
                          <a:effectLst/>
                          <a:latin typeface="+mn-lt"/>
                          <a:ea typeface="+mn-ea"/>
                          <a:cs typeface="+mn-cs"/>
                        </a:rPr>
                        <a:t> nelhi:</a:t>
                      </a:r>
                    </a:p>
                    <a:p>
                      <a:pPr indent="457200"/>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kečč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nekkini!</a:t>
                      </a:r>
                    </a:p>
                    <a:p>
                      <a:pPr indent="457200"/>
                      <a:r>
                        <a:rPr lang="fr-FR" sz="1100" kern="1200">
                          <a:solidFill>
                            <a:schemeClr val="tx1"/>
                          </a:solidFill>
                          <a:effectLst/>
                          <a:latin typeface="+mn-lt"/>
                          <a:ea typeface="+mn-ea"/>
                          <a:cs typeface="+mn-cs"/>
                        </a:rPr>
                        <a:t>Yerna-yas: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yid-k d atmaten: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tɛebbuṭ</a:t>
                      </a:r>
                      <a:r>
                        <a:rPr lang="fr-FR" sz="1100" kern="1200">
                          <a:solidFill>
                            <a:schemeClr val="tx1"/>
                          </a:solidFill>
                          <a:effectLst/>
                          <a:latin typeface="+mn-lt"/>
                          <a:ea typeface="+mn-ea"/>
                          <a:cs typeface="+mn-cs"/>
                        </a:rPr>
                        <a:t> i yaɣ-yurwen: </a:t>
                      </a:r>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meqqar</a:t>
                      </a:r>
                      <a:r>
                        <a:rPr lang="fr-FR" sz="1100" kern="1200">
                          <a:solidFill>
                            <a:schemeClr val="tx1"/>
                          </a:solidFill>
                          <a:effectLst/>
                          <a:latin typeface="+mn-lt"/>
                          <a:ea typeface="+mn-ea"/>
                          <a:cs typeface="+mn-cs"/>
                        </a:rPr>
                        <a:t>, ad nemɛahad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nemyučč!</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wuccay: </a:t>
                      </a:r>
                      <a:r>
                        <a:rPr lang="fr-FR" sz="1100" kern="1200" err="1">
                          <a:solidFill>
                            <a:schemeClr val="tx1"/>
                          </a:solidFill>
                          <a:effectLst/>
                          <a:latin typeface="+mn-lt"/>
                          <a:ea typeface="+mn-ea"/>
                          <a:cs typeface="+mn-cs"/>
                        </a:rPr>
                        <a:t>ɛahdeɣ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k-ččiɣ!</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Yeḍsa</a:t>
                      </a:r>
                      <a:r>
                        <a:rPr lang="fr-FR" sz="1100" kern="1200">
                          <a:solidFill>
                            <a:schemeClr val="tx1"/>
                          </a:solidFill>
                          <a:effectLst/>
                          <a:latin typeface="+mn-lt"/>
                          <a:ea typeface="+mn-ea"/>
                          <a:cs typeface="+mn-cs"/>
                        </a:rPr>
                        <a:t> fell-as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yerra-yas-d: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ufiɣ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ad k-ččeɣ!</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yiwen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Seg wass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terṣa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teɛdawt</a:t>
                      </a:r>
                      <a:r>
                        <a:rPr lang="fr-FR" sz="1100" kern="1200">
                          <a:solidFill>
                            <a:schemeClr val="tx1"/>
                          </a:solidFill>
                          <a:effectLst/>
                          <a:latin typeface="+mn-lt"/>
                          <a:ea typeface="+mn-ea"/>
                          <a:cs typeface="+mn-cs"/>
                        </a:rPr>
                        <a:t> gar-asen,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dderya-nsen.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Un jour qu’ils gardaient ainsi le troupeau, une brebis glissa dans un précipice. Elle appela à l’aide. Le lévrier était occupé ailleurs ; le chacal cria :</a:t>
                      </a:r>
                    </a:p>
                    <a:p>
                      <a:pPr indent="216000" algn="l"/>
                      <a:r>
                        <a:rPr lang="fr-FR" sz="1100" kern="150">
                          <a:effectLst/>
                          <a:latin typeface="Cascadia Mono" panose="020B0609020000020004" pitchFamily="49" charset="0"/>
                          <a:cs typeface="Cascadia Mono" panose="020B0609020000020004" pitchFamily="49" charset="0"/>
                        </a:rPr>
                        <a:t>- Ne crains rien !</a:t>
                      </a:r>
                    </a:p>
                    <a:p>
                      <a:pPr indent="216000" algn="l"/>
                      <a:r>
                        <a:rPr lang="fr-FR" sz="1100" kern="15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a:effectLst/>
                          <a:latin typeface="Cascadia Mono" panose="020B0609020000020004" pitchFamily="49" charset="0"/>
                          <a:cs typeface="Cascadia Mono" panose="020B0609020000020004" pitchFamily="49" charset="0"/>
                        </a:rPr>
                        <a:t>Il lécha le sang et, alors, il l’acheva et la dévora.</a:t>
                      </a:r>
                    </a:p>
                    <a:p>
                      <a:pPr indent="216000" algn="l"/>
                      <a:r>
                        <a:rPr lang="fr-FR" sz="1100" kern="150">
                          <a:effectLst/>
                          <a:latin typeface="Cascadia Mono" panose="020B0609020000020004" pitchFamily="49" charset="0"/>
                          <a:cs typeface="Cascadia Mono" panose="020B0609020000020004" pitchFamily="49" charset="0"/>
                        </a:rPr>
                        <a:t>Le soir, quand ils regagnèrent la maison, le lévrier revint au milieu du troupeau.</a:t>
                      </a:r>
                    </a:p>
                    <a:p>
                      <a:pPr indent="216000" algn="l"/>
                      <a:r>
                        <a:rPr lang="fr-FR" sz="1100" kern="150">
                          <a:effectLst/>
                          <a:latin typeface="Cascadia Mono" panose="020B0609020000020004" pitchFamily="49" charset="0"/>
                          <a:cs typeface="Cascadia Mono" panose="020B0609020000020004" pitchFamily="49" charset="0"/>
                        </a:rPr>
                        <a:t>Quant au chacal, il fut tenu à l’écart.</a:t>
                      </a:r>
                    </a:p>
                    <a:p>
                      <a:pPr indent="216000" algn="l"/>
                      <a:r>
                        <a:rPr lang="fr-FR" sz="1100" kern="15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Un jour, pris de remords, il apparut sur une hauteur et appela le lévrier :</a:t>
                      </a:r>
                    </a:p>
                    <a:p>
                      <a:pPr indent="216000" algn="l"/>
                      <a:r>
                        <a:rPr lang="fr-FR" sz="1100" kern="150">
                          <a:effectLst/>
                          <a:latin typeface="Cascadia Mono" panose="020B0609020000020004" pitchFamily="49" charset="0"/>
                          <a:cs typeface="Cascadia Mono" panose="020B0609020000020004" pitchFamily="49" charset="0"/>
                        </a:rPr>
                        <a:t>Que tu es heureux, lui dit-il, ô chien !</a:t>
                      </a:r>
                    </a:p>
                    <a:p>
                      <a:pPr indent="216000" algn="l"/>
                      <a:r>
                        <a:rPr lang="fr-FR" sz="1100" kern="150">
                          <a:effectLst/>
                          <a:latin typeface="Cascadia Mono" panose="020B0609020000020004" pitchFamily="49" charset="0"/>
                          <a:cs typeface="Cascadia Mono" panose="020B0609020000020004" pitchFamily="49" charset="0"/>
                        </a:rPr>
                        <a:t>De dormir au milieu des brebis !</a:t>
                      </a:r>
                    </a:p>
                    <a:p>
                      <a:pPr indent="216000" algn="l"/>
                      <a:r>
                        <a:rPr lang="fr-FR" sz="1100" kern="150">
                          <a:effectLst/>
                          <a:latin typeface="Cascadia Mono" panose="020B0609020000020004" pitchFamily="49" charset="0"/>
                          <a:cs typeface="Cascadia Mono" panose="020B0609020000020004" pitchFamily="49" charset="0"/>
                        </a:rPr>
                        <a:t>Le lévrier lui répondit :</a:t>
                      </a:r>
                    </a:p>
                    <a:p>
                      <a:pPr indent="216000" algn="l"/>
                      <a:r>
                        <a:rPr lang="fr-FR" sz="1100" kern="150">
                          <a:effectLst/>
                          <a:latin typeface="Cascadia Mono" panose="020B0609020000020004" pitchFamily="49" charset="0"/>
                          <a:cs typeface="Cascadia Mono" panose="020B0609020000020004" pitchFamily="49" charset="0"/>
                        </a:rPr>
                        <a:t>Va-t’en donc d’ici !</a:t>
                      </a:r>
                    </a:p>
                    <a:p>
                      <a:pPr indent="216000" algn="l"/>
                      <a:r>
                        <a:rPr lang="fr-FR" sz="1100" kern="150">
                          <a:effectLst/>
                          <a:latin typeface="Cascadia Mono" panose="020B0609020000020004" pitchFamily="49" charset="0"/>
                          <a:cs typeface="Cascadia Mono" panose="020B0609020000020004" pitchFamily="49" charset="0"/>
                        </a:rPr>
                        <a:t>Sans tes mauvais instincts,</a:t>
                      </a:r>
                    </a:p>
                    <a:p>
                      <a:pPr indent="216000" algn="l"/>
                      <a:r>
                        <a:rPr lang="fr-FR" sz="1100" kern="150">
                          <a:effectLst/>
                          <a:latin typeface="Cascadia Mono" panose="020B0609020000020004" pitchFamily="49" charset="0"/>
                          <a:cs typeface="Cascadia Mono" panose="020B0609020000020004" pitchFamily="49" charset="0"/>
                        </a:rPr>
                        <a:t>Tu serais mon égal !</a:t>
                      </a:r>
                    </a:p>
                    <a:p>
                      <a:pPr indent="216000" algn="l"/>
                      <a:r>
                        <a:rPr lang="fr-FR" sz="1100" kern="150">
                          <a:effectLst/>
                          <a:latin typeface="Cascadia Mono" panose="020B0609020000020004" pitchFamily="49" charset="0"/>
                          <a:cs typeface="Cascadia Mono" panose="020B0609020000020004" pitchFamily="49" charset="0"/>
                        </a:rPr>
                        <a:t>Le chacal reprit :</a:t>
                      </a:r>
                    </a:p>
                    <a:p>
                      <a:pPr indent="216000" algn="l"/>
                      <a:r>
                        <a:rPr lang="fr-FR" sz="1100" kern="15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a:effectLst/>
                          <a:latin typeface="Cascadia Mono" panose="020B0609020000020004" pitchFamily="49" charset="0"/>
                          <a:cs typeface="Cascadia Mono" panose="020B0609020000020004" pitchFamily="49" charset="0"/>
                        </a:rPr>
                        <a:t>Le lévrier jura :</a:t>
                      </a:r>
                    </a:p>
                    <a:p>
                      <a:pPr indent="216000" algn="l"/>
                      <a:r>
                        <a:rPr lang="fr-FR" sz="1100" kern="150">
                          <a:effectLst/>
                          <a:latin typeface="Cascadia Mono" panose="020B0609020000020004" pitchFamily="49" charset="0"/>
                          <a:cs typeface="Cascadia Mono" panose="020B0609020000020004" pitchFamily="49" charset="0"/>
                        </a:rPr>
                        <a:t>- Par Dieu, je jure de ne pas te manger !</a:t>
                      </a:r>
                    </a:p>
                    <a:p>
                      <a:pPr indent="216000" algn="l"/>
                      <a:r>
                        <a:rPr lang="fr-FR" sz="1100" kern="150">
                          <a:effectLst/>
                          <a:latin typeface="Cascadia Mono" panose="020B0609020000020004" pitchFamily="49" charset="0"/>
                          <a:cs typeface="Cascadia Mono" panose="020B0609020000020004" pitchFamily="49" charset="0"/>
                        </a:rPr>
                        <a:t>Quant au chacal, il se moqua de lui ;</a:t>
                      </a:r>
                    </a:p>
                    <a:p>
                      <a:pPr indent="216000" algn="l"/>
                      <a:r>
                        <a:rPr lang="fr-FR" sz="1100" kern="15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fr-FR" sz="1100" kern="150">
                          <a:effectLst/>
                          <a:latin typeface="Cascadia Mono" panose="020B0609020000020004" pitchFamily="49" charset="0"/>
                          <a:cs typeface="Cascadia Mono" panose="020B0609020000020004" pitchFamily="49" charset="0"/>
                        </a:rPr>
                        <a:t>Chacun poursuivi sa voie.</a:t>
                      </a:r>
                    </a:p>
                    <a:p>
                      <a:pPr indent="216000" algn="l"/>
                      <a:r>
                        <a:rPr lang="fr-FR" sz="1100" kern="15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073092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nnḍeɣ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tqejjiṛt-iw</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kkiɣ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teqḍeɛt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ad tt-id-</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tḍehṛ</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sufella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tneqlett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tɣeẓẓ</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weltma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tečča-kem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ers-d ad </a:t>
                      </a:r>
                      <a:r>
                        <a:rPr lang="fr-FR" sz="1100" kern="1200" err="1">
                          <a:solidFill>
                            <a:schemeClr val="tx1"/>
                          </a:solidFill>
                          <a:effectLst/>
                          <a:latin typeface="+mn-lt"/>
                          <a:ea typeface="+mn-ea"/>
                          <a:cs typeface="+mn-cs"/>
                        </a:rPr>
                        <a:t>neddukel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Ugadeɣ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iyi-teččeḍ</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ɛahed-iyi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Iɛuhed-itt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teḍfeṛ-it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tikli</a:t>
                      </a:r>
                      <a:r>
                        <a:rPr lang="fr-FR" sz="1100" kern="1200">
                          <a:solidFill>
                            <a:schemeClr val="tx1"/>
                          </a:solidFill>
                          <a:effectLst/>
                          <a:latin typeface="+mn-lt"/>
                          <a:ea typeface="+mn-ea"/>
                          <a:cs typeface="+mn-cs"/>
                        </a:rPr>
                        <a:t>-w d </a:t>
                      </a:r>
                      <a:r>
                        <a:rPr lang="fr-FR" sz="1100" kern="1200" err="1">
                          <a:solidFill>
                            <a:schemeClr val="tx1"/>
                          </a:solidFill>
                          <a:effectLst/>
                          <a:latin typeface="+mn-lt"/>
                          <a:ea typeface="+mn-ea"/>
                          <a:cs typeface="+mn-cs"/>
                        </a:rPr>
                        <a:t>tqejbabin-iw</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fr-FR" sz="1100" kern="15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fr-FR" sz="1100" kern="15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a:effectLst/>
                          <a:latin typeface="Cascadia Mono" panose="020B0609020000020004" pitchFamily="49" charset="0"/>
                          <a:cs typeface="Cascadia Mono" panose="020B0609020000020004" pitchFamily="49" charset="0"/>
                        </a:rPr>
                        <a:t>Il jura. Elle descendit et ils cheminèrent ensemble.</a:t>
                      </a:r>
                    </a:p>
                    <a:p>
                      <a:pPr indent="216000" algn="l"/>
                      <a:r>
                        <a:rPr lang="fr-FR" sz="1100" kern="15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4176653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Terra-yas: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Ṛebbi,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zwireɣ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iḍfeṛ-itt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yemmuqel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lefḥul-is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ceṭṭḥen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a:t>
                      </a:r>
                      <a:r>
                        <a:rPr lang="fr-FR" sz="1100" kern="1200">
                          <a:solidFill>
                            <a:schemeClr val="tx1"/>
                          </a:solidFill>
                          <a:effectLst/>
                          <a:latin typeface="+mn-lt"/>
                          <a:ea typeface="+mn-ea"/>
                          <a:cs typeface="+mn-cs"/>
                        </a:rPr>
                        <a:t>-s aman.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Liwelli</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tettafeḍ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tisebbiwin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yeẓẓemlal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Ggall-iyi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teččeḍ-iyi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Anida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leḥḥun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yettqeggil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Teslek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tamcumt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fr-FR" sz="1100" kern="15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a:effectLst/>
                          <a:latin typeface="Cascadia Mono" panose="020B0609020000020004" pitchFamily="49" charset="0"/>
                          <a:cs typeface="Cascadia Mono" panose="020B0609020000020004" pitchFamily="49" charset="0"/>
                        </a:rPr>
                        <a:t>- Où ?</a:t>
                      </a:r>
                    </a:p>
                    <a:p>
                      <a:pPr indent="216000" algn="l"/>
                      <a:r>
                        <a:rPr lang="fr-FR" sz="1100" kern="150">
                          <a:effectLst/>
                          <a:latin typeface="Cascadia Mono" panose="020B0609020000020004" pitchFamily="49" charset="0"/>
                          <a:cs typeface="Cascadia Mono" panose="020B0609020000020004" pitchFamily="49" charset="0"/>
                        </a:rPr>
                        <a:t>- À la Pierre-Blanche…</a:t>
                      </a:r>
                    </a:p>
                    <a:p>
                      <a:pPr indent="216000" algn="l"/>
                      <a:r>
                        <a:rPr lang="fr-FR" sz="1100" kern="15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529218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teksa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d sin </a:t>
                      </a:r>
                      <a:r>
                        <a:rPr lang="fr-FR" sz="1100" kern="1200" err="1">
                          <a:solidFill>
                            <a:schemeClr val="tx1"/>
                          </a:solidFill>
                          <a:effectLst/>
                          <a:latin typeface="+mn-lt"/>
                          <a:ea typeface="+mn-ea"/>
                          <a:cs typeface="+mn-cs"/>
                        </a:rPr>
                        <a:t>iɣiden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tesɛa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amenzu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amalas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Ixutel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Tqubel-it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wacciwen-is</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iɣiden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tberrez</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iwexxeṛ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teddun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la tt-</a:t>
                      </a:r>
                      <a:r>
                        <a:rPr lang="fr-FR" sz="1100" kern="1200" err="1">
                          <a:solidFill>
                            <a:schemeClr val="tx1"/>
                          </a:solidFill>
                          <a:effectLst/>
                          <a:latin typeface="+mn-lt"/>
                          <a:ea typeface="+mn-ea"/>
                          <a:cs typeface="+mn-cs"/>
                        </a:rPr>
                        <a:t>ttdarayen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tikelt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ifureq-itt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umenzu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d </a:t>
                      </a:r>
                      <a:r>
                        <a:rPr lang="fr-FR" sz="1100" kern="1200" err="1">
                          <a:solidFill>
                            <a:schemeClr val="tx1"/>
                          </a:solidFill>
                          <a:effectLst/>
                          <a:latin typeface="+mn-lt"/>
                          <a:ea typeface="+mn-ea"/>
                          <a:cs typeface="+mn-cs"/>
                        </a:rPr>
                        <a:t>aḥuli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mɣint</a:t>
                      </a:r>
                      <a:r>
                        <a:rPr lang="fr-FR" sz="1100" kern="1200">
                          <a:solidFill>
                            <a:schemeClr val="tx1"/>
                          </a:solidFill>
                          <a:effectLst/>
                          <a:latin typeface="+mn-lt"/>
                          <a:ea typeface="+mn-ea"/>
                          <a:cs typeface="+mn-cs"/>
                        </a:rPr>
                        <a:t>-as-d tacciwin: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d </a:t>
                      </a:r>
                      <a:r>
                        <a:rPr lang="fr-FR" sz="1100" kern="1200" err="1">
                          <a:solidFill>
                            <a:schemeClr val="tx1"/>
                          </a:solidFill>
                          <a:effectLst/>
                          <a:latin typeface="+mn-lt"/>
                          <a:ea typeface="+mn-ea"/>
                          <a:cs typeface="+mn-cs"/>
                        </a:rPr>
                        <a:t>wul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iberrez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neṭṭa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ifeṛṛed-it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idhem-it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iɣẓer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Tetbeɛ-it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yuzzel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ten-lḥiqen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ixneq-it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wuglan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Kksen</a:t>
                      </a:r>
                      <a:r>
                        <a:rPr lang="fr-FR" sz="1100" kern="1200">
                          <a:solidFill>
                            <a:schemeClr val="tx1"/>
                          </a:solidFill>
                          <a:effectLst/>
                          <a:latin typeface="+mn-lt"/>
                          <a:ea typeface="+mn-ea"/>
                          <a:cs typeface="+mn-cs"/>
                        </a:rPr>
                        <a:t>-as 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iẓur</a:t>
                      </a:r>
                      <a:r>
                        <a:rPr lang="fr-FR" sz="1100" kern="1200">
                          <a:solidFill>
                            <a:schemeClr val="tx1"/>
                          </a:solidFill>
                          <a:effectLst/>
                          <a:latin typeface="+mn-lt"/>
                          <a:ea typeface="+mn-ea"/>
                          <a:cs typeface="+mn-cs"/>
                        </a:rPr>
                        <a:t>-d at </a:t>
                      </a:r>
                      <a:r>
                        <a:rPr lang="fr-FR" sz="1100" kern="1200" err="1">
                          <a:solidFill>
                            <a:schemeClr val="tx1"/>
                          </a:solidFill>
                          <a:effectLst/>
                          <a:latin typeface="+mn-lt"/>
                          <a:ea typeface="+mn-ea"/>
                          <a:cs typeface="+mn-cs"/>
                        </a:rPr>
                        <a:t>laxeṛt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I k-</a:t>
                      </a:r>
                      <a:r>
                        <a:rPr lang="fr-FR" sz="1100" kern="1200" err="1">
                          <a:solidFill>
                            <a:schemeClr val="tx1"/>
                          </a:solidFill>
                          <a:effectLst/>
                          <a:latin typeface="+mn-lt"/>
                          <a:ea typeface="+mn-ea"/>
                          <a:cs typeface="+mn-cs"/>
                        </a:rPr>
                        <a:t>yettawin</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aḥuli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tettafgeḍ</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fr-FR" sz="1100" kern="15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a:effectLst/>
                          <a:latin typeface="Cascadia Mono" panose="020B0609020000020004" pitchFamily="49" charset="0"/>
                          <a:cs typeface="Cascadia Mono" panose="020B0609020000020004" pitchFamily="49" charset="0"/>
                        </a:rPr>
                        <a:t>- Chevreau présomptueux, lui dit le lévrier, qui t’a donné des ailes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96058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106-108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107-109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tibḥirt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Iɛued-itt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temɣi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lebḥer</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tebda</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tettiwriɣ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sswen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teṣbeḥ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tala,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tuɛi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terga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sswan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ucekkuk</a:t>
                      </a:r>
                      <a:r>
                        <a:rPr lang="fr-FR" sz="1100" kern="1200">
                          <a:solidFill>
                            <a:schemeClr val="tx1"/>
                          </a:solidFill>
                          <a:effectLst/>
                          <a:latin typeface="+mn-lt"/>
                          <a:ea typeface="+mn-ea"/>
                          <a:cs typeface="+mn-cs"/>
                        </a:rPr>
                        <a:t>. </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tettagem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ifelleq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yesswa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lɣella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axlaf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lwin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sseɣren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ferqen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taḍellaɛt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yektal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setta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yektil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yehwa-yas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nca-lleh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ihebbu</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teqbil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Dɛaɣ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iyi-tefkiḍ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ccṛeɛ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mcaṛaɛen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Ay at </a:t>
                      </a:r>
                      <a:r>
                        <a:rPr lang="fr-FR" sz="1100" kern="1200" err="1">
                          <a:solidFill>
                            <a:schemeClr val="tx1"/>
                          </a:solidFill>
                          <a:effectLst/>
                          <a:latin typeface="+mn-lt"/>
                          <a:ea typeface="+mn-ea"/>
                          <a:cs typeface="+mn-cs"/>
                        </a:rPr>
                        <a:t>leɛraḍ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nnefṣ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yettagmen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ifelleq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lekdeb</a:t>
                      </a:r>
                      <a:r>
                        <a:rPr lang="fr-FR" sz="1100" kern="1200">
                          <a:solidFill>
                            <a:schemeClr val="tx1"/>
                          </a:solidFill>
                          <a:effectLst/>
                          <a:latin typeface="+mn-lt"/>
                          <a:ea typeface="+mn-ea"/>
                          <a:cs typeface="+mn-cs"/>
                        </a:rPr>
                        <a:t>! D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teslam</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fr-FR" sz="1100" kern="15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La brebis refusa ce partage et demanda, au nom de Dieu, le droit de faire juger cette affaire. Le chacal accepta et le différend fut porté devant les autres animaux :</a:t>
                      </a:r>
                    </a:p>
                    <a:p>
                      <a:pPr indent="216000" algn="l"/>
                      <a:r>
                        <a:rPr lang="fr-FR" sz="1100" kern="15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130327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Inkeṛ-itt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abaden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tsers-it</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ccfeṛ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wennar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tanalt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ḍehrent</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reqqent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zdaxel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nazir.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lbaṭel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yektal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taḍellaɛt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yektil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setta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aṭas</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teɛteb</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fr-FR" sz="1100" kern="150">
                          <a:effectLst/>
                          <a:latin typeface="Cascadia Mono" panose="020B0609020000020004" pitchFamily="49" charset="0"/>
                          <a:cs typeface="Cascadia Mono" panose="020B0609020000020004" pitchFamily="49" charset="0"/>
                        </a:rPr>
                        <a:t>Alors il accepta le juste et l’injuste et fit le partage inverse : une part pour lui et six pour la brebis, en disant :</a:t>
                      </a:r>
                    </a:p>
                    <a:p>
                      <a:pPr indent="216000" algn="l"/>
                      <a:r>
                        <a:rPr lang="fr-FR" sz="1100" kern="150">
                          <a:effectLst/>
                          <a:latin typeface="Cascadia Mono" panose="020B0609020000020004" pitchFamily="49" charset="0"/>
                          <a:cs typeface="Cascadia Mono" panose="020B0609020000020004" pitchFamily="49" charset="0"/>
                        </a:rPr>
                        <a:t>- Ma pauvre tante a tant peiné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881943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110-112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111-113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terga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Mṛeḥba</a:t>
                      </a:r>
                      <a:r>
                        <a:rPr lang="fr-FR" sz="1100" kern="1200">
                          <a:solidFill>
                            <a:schemeClr val="tx1"/>
                          </a:solidFill>
                          <a:effectLst/>
                          <a:latin typeface="+mn-lt"/>
                          <a:ea typeface="+mn-ea"/>
                          <a:cs typeface="+mn-cs"/>
                        </a:rPr>
                        <a:t> yiss-k, a </a:t>
                      </a:r>
                      <a:r>
                        <a:rPr lang="fr-FR" sz="1100" kern="1200" err="1">
                          <a:solidFill>
                            <a:schemeClr val="tx1"/>
                          </a:solidFill>
                          <a:effectLst/>
                          <a:latin typeface="+mn-lt"/>
                          <a:ea typeface="+mn-ea"/>
                          <a:cs typeface="+mn-cs"/>
                        </a:rPr>
                        <a:t>mmis</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k-id-</a:t>
                      </a:r>
                      <a:r>
                        <a:rPr lang="fr-FR" sz="1100" kern="1200" err="1">
                          <a:solidFill>
                            <a:schemeClr val="tx1"/>
                          </a:solidFill>
                          <a:effectLst/>
                          <a:latin typeface="+mn-lt"/>
                          <a:ea typeface="+mn-ea"/>
                          <a:cs typeface="+mn-cs"/>
                        </a:rPr>
                        <a:t>yewwin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dagi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fad</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fudeɣ</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usiɣ</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sweɣ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Teskaddbeḍ</a:t>
                      </a:r>
                      <a:r>
                        <a:rPr lang="fr-FR" sz="1100" kern="1200">
                          <a:solidFill>
                            <a:schemeClr val="tx1"/>
                          </a:solidFill>
                          <a:effectLst/>
                          <a:latin typeface="+mn-lt"/>
                          <a:ea typeface="+mn-ea"/>
                          <a:cs typeface="+mn-cs"/>
                        </a:rPr>
                        <a:t>! Kra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uqerru</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lḥeq-iw</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k-id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teččêḍ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-i, a Si </a:t>
                      </a:r>
                      <a:r>
                        <a:rPr lang="fr-FR" sz="1100" kern="1200" err="1">
                          <a:solidFill>
                            <a:schemeClr val="tx1"/>
                          </a:solidFill>
                          <a:effectLst/>
                          <a:latin typeface="+mn-lt"/>
                          <a:ea typeface="+mn-ea"/>
                          <a:cs typeface="+mn-cs"/>
                        </a:rPr>
                        <a:t>Mḥemmend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Muqel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taglimt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tɣeswatin</a:t>
                      </a:r>
                      <a:r>
                        <a:rPr lang="fr-FR" sz="1100" kern="1200">
                          <a:solidFill>
                            <a:schemeClr val="tx1"/>
                          </a:solidFill>
                          <a:effectLst/>
                          <a:latin typeface="+mn-lt"/>
                          <a:ea typeface="+mn-ea"/>
                          <a:cs typeface="+mn-cs"/>
                        </a:rPr>
                        <a:t> i yi-</a:t>
                      </a:r>
                      <a:r>
                        <a:rPr lang="fr-FR" sz="1100" kern="1200" err="1">
                          <a:solidFill>
                            <a:schemeClr val="tx1"/>
                          </a:solidFill>
                          <a:effectLst/>
                          <a:latin typeface="+mn-lt"/>
                          <a:ea typeface="+mn-ea"/>
                          <a:cs typeface="+mn-cs"/>
                        </a:rPr>
                        <a:t>iɛemṛen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Sebru</a:t>
                      </a:r>
                      <a:r>
                        <a:rPr lang="fr-FR" sz="1100" kern="1200">
                          <a:solidFill>
                            <a:schemeClr val="tx1"/>
                          </a:solidFill>
                          <a:effectLst/>
                          <a:latin typeface="+mn-lt"/>
                          <a:ea typeface="+mn-ea"/>
                          <a:cs typeface="+mn-cs"/>
                        </a:rPr>
                        <a:t>-yi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wagguren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nnerniɣ</a:t>
                      </a:r>
                      <a:r>
                        <a:rPr lang="fr-FR" sz="1100" kern="1200">
                          <a:solidFill>
                            <a:schemeClr val="tx1"/>
                          </a:solidFill>
                          <a:effectLst/>
                          <a:latin typeface="+mn-lt"/>
                          <a:ea typeface="+mn-ea"/>
                          <a:cs typeface="+mn-cs"/>
                        </a:rPr>
                        <a:t>, ad d-qewwiɣ: </a:t>
                      </a:r>
                      <a:r>
                        <a:rPr lang="fr-FR" sz="1100" kern="1200" err="1">
                          <a:solidFill>
                            <a:schemeClr val="tx1"/>
                          </a:solidFill>
                          <a:effectLst/>
                          <a:latin typeface="+mn-lt"/>
                          <a:ea typeface="+mn-ea"/>
                          <a:cs typeface="+mn-cs"/>
                        </a:rPr>
                        <a:t>ɛuhdeɣ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iɣẓer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Ata </a:t>
                      </a:r>
                      <a:r>
                        <a:rPr lang="fr-FR" sz="1100" kern="1200" err="1">
                          <a:solidFill>
                            <a:schemeClr val="tx1"/>
                          </a:solidFill>
                          <a:effectLst/>
                          <a:latin typeface="+mn-lt"/>
                          <a:ea typeface="+mn-ea"/>
                          <a:cs typeface="+mn-cs"/>
                        </a:rPr>
                        <a:t>yusa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yezmumeg</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taḍsa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tusiḍ</a:t>
                      </a:r>
                      <a:r>
                        <a:rPr lang="fr-FR" sz="1100" kern="1200">
                          <a:solidFill>
                            <a:schemeClr val="tx1"/>
                          </a:solidFill>
                          <a:effectLst/>
                          <a:latin typeface="+mn-lt"/>
                          <a:ea typeface="+mn-ea"/>
                          <a:cs typeface="+mn-cs"/>
                        </a:rPr>
                        <a:t>-d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Ggall-iyi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yemmaleɛtab</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teččeḍ-iyi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taqejjiṛt-is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isers-itt</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yeggall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iɣeẓẓa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yebri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texxamt-is</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iḍarren: </a:t>
                      </a:r>
                      <a:r>
                        <a:rPr lang="fr-FR" sz="1100" kern="1200" err="1">
                          <a:solidFill>
                            <a:schemeClr val="tx1"/>
                          </a:solidFill>
                          <a:effectLst/>
                          <a:latin typeface="+mn-lt"/>
                          <a:ea typeface="+mn-ea"/>
                          <a:cs typeface="+mn-cs"/>
                        </a:rPr>
                        <a:t>yeslek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abaḥan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a:t>
                      </a:r>
                      <a:r>
                        <a:rPr lang="fr-FR" sz="1100" kern="150">
                          <a:effectLst/>
                          <a:latin typeface="Cascadia Mono" panose="020B0609020000020004" pitchFamily="49" charset="0"/>
                          <a:cs typeface="Cascadia Mono" panose="020B0609020000020004" pitchFamily="49" charset="0"/>
                        </a:rPr>
                        <a:t>te mange</a:t>
                      </a:r>
                      <a:r>
                        <a:rPr lang="fr-FR" sz="1100" kern="120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fr-FR" sz="1100" kern="150" dirty="0">
                          <a:effectLst/>
                          <a:latin typeface="Cascadia Mono" panose="020B0609020000020004" pitchFamily="49" charset="0"/>
                          <a:cs typeface="Cascadia Mono" panose="020B0609020000020004" pitchFamily="49" charset="0"/>
                        </a:rPr>
                        <a:t>Si Mohammed retourna chez lui sur trois pattes.</a:t>
                      </a:r>
                    </a:p>
                    <a:p>
                      <a:pPr indent="216000" algn="l"/>
                      <a:r>
                        <a:rPr lang="fr-FR" sz="1100" kern="150" dirty="0">
                          <a:effectLst/>
                          <a:latin typeface="Cascadia Mono" panose="020B0609020000020004" pitchFamily="49" charset="0"/>
                          <a:cs typeface="Cascadia Mono" panose="020B0609020000020004" pitchFamily="49" charset="0"/>
                        </a:rPr>
                        <a:t>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482592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yunag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uyaziḍ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ameqran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Ḍallen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idurar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iɣallen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zegren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isaffen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qegglen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tɣezza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tluta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Ayaziḍ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yuli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tasaft</a:t>
                      </a:r>
                      <a:r>
                        <a:rPr lang="fr-FR" sz="1100" kern="1200">
                          <a:solidFill>
                            <a:schemeClr val="tx1"/>
                          </a:solidFill>
                          <a:effectLst/>
                          <a:latin typeface="+mn-lt"/>
                          <a:ea typeface="+mn-ea"/>
                          <a:cs typeface="+mn-cs"/>
                        </a:rPr>
                        <a:t> d taɛlayant: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yekcem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uruz</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yeddari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aɛessas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izewweq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lefjer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ihuzz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uyaziḍ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afriwen-is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yesɣuggu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lǧedra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Ttbarik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taɣect</a:t>
                      </a:r>
                      <a:r>
                        <a:rPr lang="fr-FR" sz="1100" kern="1200">
                          <a:solidFill>
                            <a:schemeClr val="tx1"/>
                          </a:solidFill>
                          <a:effectLst/>
                          <a:latin typeface="+mn-lt"/>
                          <a:ea typeface="+mn-ea"/>
                          <a:cs typeface="+mn-cs"/>
                        </a:rPr>
                        <a:t> i k-</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i s-d-</a:t>
                      </a:r>
                      <a:r>
                        <a:rPr lang="fr-FR" sz="1100" kern="1200" err="1">
                          <a:solidFill>
                            <a:schemeClr val="tx1"/>
                          </a:solidFill>
                          <a:effectLst/>
                          <a:latin typeface="+mn-lt"/>
                          <a:ea typeface="+mn-ea"/>
                          <a:cs typeface="+mn-cs"/>
                        </a:rPr>
                        <a:t>yeslan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yiḥnin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yejjem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taẓallit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yeṣbeḥ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ṣṣut-is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umeẓẓuɣ-iw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ndekwaleɣ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uzzleɣ</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Tura, a </a:t>
                      </a:r>
                      <a:r>
                        <a:rPr lang="fr-FR" sz="1100" kern="1200" err="1">
                          <a:solidFill>
                            <a:schemeClr val="tx1"/>
                          </a:solidFill>
                          <a:effectLst/>
                          <a:latin typeface="+mn-lt"/>
                          <a:ea typeface="+mn-ea"/>
                          <a:cs typeface="+mn-cs"/>
                        </a:rPr>
                        <a:t>lḥaǧ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tuddna</a:t>
                      </a:r>
                      <a:r>
                        <a:rPr lang="fr-FR" sz="1100" kern="1200">
                          <a:solidFill>
                            <a:schemeClr val="tx1"/>
                          </a:solidFill>
                          <a:effectLst/>
                          <a:latin typeface="+mn-lt"/>
                          <a:ea typeface="+mn-ea"/>
                          <a:cs typeface="+mn-cs"/>
                        </a:rPr>
                        <a:t>, ers-d an </a:t>
                      </a:r>
                      <a:r>
                        <a:rPr lang="fr-FR" sz="1100" kern="1200" err="1">
                          <a:solidFill>
                            <a:schemeClr val="tx1"/>
                          </a:solidFill>
                          <a:effectLst/>
                          <a:latin typeface="+mn-lt"/>
                          <a:ea typeface="+mn-ea"/>
                          <a:cs typeface="+mn-cs"/>
                        </a:rPr>
                        <a:t>neẓẓal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Ixẓer</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uyaziḍ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yefhem</a:t>
                      </a:r>
                      <a:r>
                        <a:rPr lang="fr-FR" sz="1100" kern="1200">
                          <a:solidFill>
                            <a:schemeClr val="tx1"/>
                          </a:solidFill>
                          <a:effectLst/>
                          <a:latin typeface="+mn-lt"/>
                          <a:ea typeface="+mn-ea"/>
                          <a:cs typeface="+mn-cs"/>
                        </a:rPr>
                        <a:t> belli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ṭṭaɛa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i t-id-</a:t>
                      </a:r>
                      <a:r>
                        <a:rPr lang="fr-FR" sz="1100" kern="1200" err="1">
                          <a:solidFill>
                            <a:schemeClr val="tx1"/>
                          </a:solidFill>
                          <a:effectLst/>
                          <a:latin typeface="+mn-lt"/>
                          <a:ea typeface="+mn-ea"/>
                          <a:cs typeface="+mn-cs"/>
                        </a:rPr>
                        <a:t>yewwin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-s kan i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iɣeẓẓ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A-t-an </a:t>
                      </a:r>
                      <a:r>
                        <a:rPr lang="fr-FR" sz="1100" kern="1200" err="1">
                          <a:solidFill>
                            <a:schemeClr val="tx1"/>
                          </a:solidFill>
                          <a:effectLst/>
                          <a:latin typeface="+mn-lt"/>
                          <a:ea typeface="+mn-ea"/>
                          <a:cs typeface="+mn-cs"/>
                        </a:rPr>
                        <a:t>wemṛabeḍ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wuruz</a:t>
                      </a:r>
                      <a:r>
                        <a:rPr lang="fr-FR" sz="1100" kern="1200">
                          <a:solidFill>
                            <a:schemeClr val="tx1"/>
                          </a:solidFill>
                          <a:effectLst/>
                          <a:latin typeface="+mn-lt"/>
                          <a:ea typeface="+mn-ea"/>
                          <a:cs typeface="+mn-cs"/>
                        </a:rPr>
                        <a:t>: ssaki-t-id si </a:t>
                      </a:r>
                      <a:r>
                        <a:rPr lang="fr-FR" sz="1100" kern="1200" err="1">
                          <a:solidFill>
                            <a:schemeClr val="tx1"/>
                          </a:solidFill>
                          <a:effectLst/>
                          <a:latin typeface="+mn-lt"/>
                          <a:ea typeface="+mn-ea"/>
                          <a:cs typeface="+mn-cs"/>
                        </a:rPr>
                        <a:t>meɛḍil</a:t>
                      </a:r>
                      <a:r>
                        <a:rPr lang="fr-FR" sz="1100" kern="1200">
                          <a:solidFill>
                            <a:schemeClr val="tx1"/>
                          </a:solidFill>
                          <a:effectLst/>
                          <a:latin typeface="+mn-lt"/>
                          <a:ea typeface="+mn-ea"/>
                          <a:cs typeface="+mn-cs"/>
                        </a:rPr>
                        <a:t> ad n-</a:t>
                      </a:r>
                      <a:r>
                        <a:rPr lang="fr-FR" sz="1100" kern="1200" err="1">
                          <a:solidFill>
                            <a:schemeClr val="tx1"/>
                          </a:solidFill>
                          <a:effectLst/>
                          <a:latin typeface="+mn-lt"/>
                          <a:ea typeface="+mn-ea"/>
                          <a:cs typeface="+mn-cs"/>
                        </a:rPr>
                        <a:t>rseɣ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Iga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uruz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lǧedra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iḍehr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iɛawez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aǧel</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aɛessas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iḥwes</a:t>
                      </a:r>
                      <a:r>
                        <a:rPr lang="fr-FR" sz="1100" kern="1200">
                          <a:solidFill>
                            <a:schemeClr val="tx1"/>
                          </a:solidFill>
                          <a:effectLst/>
                          <a:latin typeface="+mn-lt"/>
                          <a:ea typeface="+mn-ea"/>
                          <a:cs typeface="+mn-cs"/>
                        </a:rPr>
                        <a:t>-as-</a:t>
                      </a:r>
                      <a:r>
                        <a:rPr lang="fr-FR" sz="1100" kern="1200" err="1">
                          <a:solidFill>
                            <a:schemeClr val="tx1"/>
                          </a:solidFill>
                          <a:effectLst/>
                          <a:latin typeface="+mn-lt"/>
                          <a:ea typeface="+mn-ea"/>
                          <a:cs typeface="+mn-cs"/>
                        </a:rPr>
                        <a:t>tent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nadam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udem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ṣṣbeḥ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uyaziḍ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Ṛǧu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ṛǧu</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sebɣeɣ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luḍu</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Yennser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usaɣur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Quand le jour se leva, le coq chanta en battant des ailes. Il n’avait pas terminé son couplet que le chacal était déjà au pied de l’arbre.</a:t>
                      </a:r>
                    </a:p>
                    <a:p>
                      <a:pPr indent="216000" algn="l"/>
                      <a:r>
                        <a:rPr lang="fr-FR" sz="1100" kern="15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fr-FR" sz="1100" kern="15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a:effectLst/>
                          <a:latin typeface="Cascadia Mono" panose="020B0609020000020004" pitchFamily="49" charset="0"/>
                          <a:cs typeface="Cascadia Mono" panose="020B0609020000020004" pitchFamily="49" charset="0"/>
                        </a:rPr>
                        <a:t>Il s’enfuit comme le serpent glissant dans les herbes sèches…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284204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yesnegr-iyi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tḍebbreḍ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ddebb-is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Mesewwaqen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iqewwan, </a:t>
                      </a:r>
                      <a:r>
                        <a:rPr lang="fr-FR" sz="1100" kern="1200" err="1">
                          <a:solidFill>
                            <a:schemeClr val="tx1"/>
                          </a:solidFill>
                          <a:effectLst/>
                          <a:latin typeface="+mn-lt"/>
                          <a:ea typeface="+mn-ea"/>
                          <a:cs typeface="+mn-cs"/>
                        </a:rPr>
                        <a:t>mɛahaden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myexdeɛen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Yeččuṛ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tatiṭuḥt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igelfan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Yekkat-itt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tkeččem</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meẓẓuɣen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lemnaxeṛ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tessufuɣ-it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lɛeql-is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iteddu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umehbul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yesmar-itt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wemṛaḥ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 afrag.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uzeqqur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ameslut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azegzaw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s-yesseww </a:t>
                      </a:r>
                      <a:r>
                        <a:rPr lang="fr-FR" sz="1100" kern="1200" err="1">
                          <a:solidFill>
                            <a:schemeClr val="tx1"/>
                          </a:solidFill>
                          <a:effectLst/>
                          <a:latin typeface="+mn-lt"/>
                          <a:ea typeface="+mn-ea"/>
                          <a:cs typeface="+mn-cs"/>
                        </a:rPr>
                        <a:t>aɛrur-is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Yecɛef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fr-FR" sz="1100" kern="150">
                          <a:effectLst/>
                          <a:latin typeface="Cascadia Mono" panose="020B0609020000020004" pitchFamily="49" charset="0"/>
                          <a:cs typeface="Cascadia Mono" panose="020B0609020000020004" pitchFamily="49" charset="0"/>
                        </a:rPr>
                        <a:t>Le marché fut conclu, moyennant un agneau bien gras et sous la foi de solennels serments. 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fr-FR" sz="1100" kern="15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fr-FR" sz="1100" kern="15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fr-FR" sz="1100" kern="15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fr-FR" sz="1100" kern="150">
                          <a:effectLst/>
                          <a:latin typeface="Cascadia Mono" panose="020B0609020000020004" pitchFamily="49" charset="0"/>
                          <a:cs typeface="Cascadia Mono" panose="020B0609020000020004" pitchFamily="49" charset="0"/>
                        </a:rPr>
                        <a:t>Le lion était corrigé ; jamais il ne revint.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83189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GB" sz="1100" kern="1200">
                          <a:solidFill>
                            <a:schemeClr val="tx1"/>
                          </a:solidFill>
                          <a:effectLst/>
                          <a:latin typeface="+mn-lt"/>
                          <a:ea typeface="+mn-ea"/>
                          <a:cs typeface="+mn-cs"/>
                        </a:rPr>
                        <a:t>Ɣ</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ssuq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Ayen d-</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ikemmel</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lɛuḍ</a:t>
                      </a:r>
                      <a:r>
                        <a:rPr lang="fr-FR" sz="1100" kern="1200">
                          <a:solidFill>
                            <a:schemeClr val="tx1"/>
                          </a:solidFill>
                          <a:effectLst/>
                          <a:latin typeface="+mn-lt"/>
                          <a:ea typeface="+mn-ea"/>
                          <a:cs typeface="+mn-cs"/>
                        </a:rPr>
                        <a:t> ara terr,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iweṣṣa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terra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Yewwi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yesteɛfa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yefsi-yas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iciddi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mesḍir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aqdim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winna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yettarwen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fr-FR" sz="1100" kern="15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fr-FR" sz="1100" kern="15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fr-FR" sz="1100" kern="15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630805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taqabact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temrart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yesɣaren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tetterra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icidden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issiwḍen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lḥenk-is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tettxemmim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tamɣart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kem-yuɣen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ttar</a:t>
                      </a:r>
                      <a:r>
                        <a:rPr lang="fr-FR" sz="1100" kern="1200">
                          <a:solidFill>
                            <a:schemeClr val="tx1"/>
                          </a:solidFill>
                          <a:effectLst/>
                          <a:latin typeface="+mn-lt"/>
                          <a:ea typeface="+mn-ea"/>
                          <a:cs typeface="+mn-cs"/>
                        </a:rPr>
                        <a:t> i s-terra: </a:t>
                      </a:r>
                      <a:r>
                        <a:rPr lang="fr-FR" sz="1100" kern="1200" err="1">
                          <a:solidFill>
                            <a:schemeClr val="tx1"/>
                          </a:solidFill>
                          <a:effectLst/>
                          <a:latin typeface="+mn-lt"/>
                          <a:ea typeface="+mn-ea"/>
                          <a:cs typeface="+mn-cs"/>
                        </a:rPr>
                        <a:t>tɣaḍ-it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f </a:t>
                      </a:r>
                      <a:r>
                        <a:rPr lang="fr-FR" sz="1100" kern="1200" err="1">
                          <a:solidFill>
                            <a:schemeClr val="tx1"/>
                          </a:solidFill>
                          <a:effectLst/>
                          <a:latin typeface="+mn-lt"/>
                          <a:ea typeface="+mn-ea"/>
                          <a:cs typeface="+mn-cs"/>
                        </a:rPr>
                        <a:t>weɛrur-is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tessekcem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ccqayeq</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d-tsellkeḍ: </a:t>
                      </a:r>
                      <a:r>
                        <a:rPr lang="fr-FR" sz="1100" kern="1200" err="1">
                          <a:solidFill>
                            <a:schemeClr val="tx1"/>
                          </a:solidFill>
                          <a:effectLst/>
                          <a:latin typeface="+mn-lt"/>
                          <a:ea typeface="+mn-ea"/>
                          <a:cs typeface="+mn-cs"/>
                        </a:rPr>
                        <a:t>steqsan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Nnan</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tiniḍ</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Tenna-yasen: D </a:t>
                      </a:r>
                      <a:r>
                        <a:rPr lang="fr-FR" sz="1100" kern="1200" err="1">
                          <a:solidFill>
                            <a:schemeClr val="tx1"/>
                          </a:solidFill>
                          <a:effectLst/>
                          <a:latin typeface="+mn-lt"/>
                          <a:ea typeface="+mn-ea"/>
                          <a:cs typeface="+mn-cs"/>
                        </a:rPr>
                        <a:t>argaz</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meɛna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yettfuḥ</a:t>
                      </a:r>
                      <a:r>
                        <a:rPr lang="fr-FR" sz="1100" kern="1200">
                          <a:solidFill>
                            <a:schemeClr val="tx1"/>
                          </a:solidFill>
                          <a:effectLst/>
                          <a:latin typeface="+mn-lt"/>
                          <a:ea typeface="+mn-ea"/>
                          <a:cs typeface="+mn-cs"/>
                        </a:rPr>
                        <a:t> nnefs-is!</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yenneḥcam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yennezrureḍ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Wet</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anyir</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fr-FR" sz="1100" kern="15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fr-FR" sz="1100" kern="15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a:effectLst/>
                          <a:latin typeface="Cascadia Mono" panose="020B0609020000020004" pitchFamily="49" charset="0"/>
                          <a:cs typeface="Cascadia Mono" panose="020B0609020000020004" pitchFamily="49" charset="0"/>
                        </a:rPr>
                        <a:t>- Qu’as-tu donc, grand-mère ?</a:t>
                      </a:r>
                    </a:p>
                    <a:p>
                      <a:pPr indent="216000" algn="l"/>
                      <a:r>
                        <a:rPr lang="fr-FR" sz="1100" kern="15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fr-FR" sz="1100" kern="15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fr-FR" sz="1100" kern="15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fr-FR" sz="1100" kern="15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a:effectLst/>
                          <a:latin typeface="Cascadia Mono" panose="020B0609020000020004" pitchFamily="49" charset="0"/>
                          <a:cs typeface="Cascadia Mono" panose="020B0609020000020004" pitchFamily="49" charset="0"/>
                        </a:rPr>
                        <a:t>- Donne-moi un coup de hachette au front.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130941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txedmeḍ-iyi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Yenna-yas: Ad </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tewteḍ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tewt-it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yezzazzal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Yenna-yas:</a:t>
                      </a:r>
                    </a:p>
                    <a:p>
                      <a:pPr indent="457200"/>
                      <a:r>
                        <a:rPr lang="fr-FR" sz="1100" kern="1200">
                          <a:solidFill>
                            <a:schemeClr val="tx1"/>
                          </a:solidFill>
                          <a:effectLst/>
                          <a:latin typeface="+mn-lt"/>
                          <a:ea typeface="+mn-ea"/>
                          <a:cs typeface="+mn-cs"/>
                        </a:rPr>
                        <a:t>- Ani-yi-d.</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tettani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temlal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ccama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tyita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a mmi, </a:t>
                      </a:r>
                      <a:r>
                        <a:rPr lang="fr-FR" sz="1100" kern="1200" err="1">
                          <a:solidFill>
                            <a:schemeClr val="tx1"/>
                          </a:solidFill>
                          <a:effectLst/>
                          <a:latin typeface="+mn-lt"/>
                          <a:ea typeface="+mn-ea"/>
                          <a:cs typeface="+mn-cs"/>
                        </a:rPr>
                        <a:t>aql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teḥliḍ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Leǧruḥ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ḥellun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imeslayen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rennun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a:effectLst/>
                          <a:latin typeface="Cascadia Mono" panose="020B0609020000020004" pitchFamily="49" charset="0"/>
                          <a:cs typeface="Cascadia Mono" panose="020B0609020000020004" pitchFamily="49" charset="0"/>
                        </a:rPr>
                        <a:t>- Frappe-moi, ou je te dévore !</a:t>
                      </a:r>
                    </a:p>
                    <a:p>
                      <a:pPr indent="216000" algn="l"/>
                      <a:r>
                        <a:rPr lang="fr-FR" sz="1100" kern="15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fr-FR" sz="1100" kern="15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a:effectLst/>
                          <a:latin typeface="Cascadia Mono" panose="020B0609020000020004" pitchFamily="49" charset="0"/>
                          <a:cs typeface="Cascadia Mono" panose="020B0609020000020004" pitchFamily="49" charset="0"/>
                        </a:rPr>
                        <a:t>- Épouille-moi, lui dit-il.</a:t>
                      </a:r>
                    </a:p>
                    <a:p>
                      <a:pPr indent="216000" algn="l"/>
                      <a:r>
                        <a:rPr lang="fr-FR" sz="1100" kern="15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a:effectLst/>
                          <a:latin typeface="Cascadia Mono" panose="020B0609020000020004" pitchFamily="49" charset="0"/>
                          <a:cs typeface="Cascadia Mono" panose="020B0609020000020004" pitchFamily="49" charset="0"/>
                        </a:rPr>
                        <a:t>- Dieu merci, te voilà guéri, fils.</a:t>
                      </a:r>
                    </a:p>
                    <a:p>
                      <a:pPr indent="216000" algn="l"/>
                      <a:r>
                        <a:rPr lang="fr-FR" sz="1100" kern="15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a:effectLst/>
                          <a:latin typeface="Cascadia Mono" panose="020B0609020000020004" pitchFamily="49" charset="0"/>
                          <a:cs typeface="Cascadia Mono" panose="020B0609020000020004" pitchFamily="49" charset="0"/>
                        </a:rPr>
                        <a:t>Alors il se jeta sur elle et la dévora.</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138560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Tdiwa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wamek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tenna-yas: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argaz</a:t>
                      </a:r>
                      <a:r>
                        <a:rPr lang="fr-FR" sz="1100" kern="1200">
                          <a:solidFill>
                            <a:schemeClr val="tx1"/>
                          </a:solidFill>
                          <a:effectLst/>
                          <a:latin typeface="+mn-lt"/>
                          <a:ea typeface="+mn-ea"/>
                          <a:cs typeface="+mn-cs"/>
                        </a:rPr>
                        <a:t>, ad n-</a:t>
                      </a:r>
                      <a:r>
                        <a:rPr lang="fr-FR" sz="1100" kern="1200" err="1">
                          <a:solidFill>
                            <a:schemeClr val="tx1"/>
                          </a:solidFill>
                          <a:effectLst/>
                          <a:latin typeface="+mn-lt"/>
                          <a:ea typeface="+mn-ea"/>
                          <a:cs typeface="+mn-cs"/>
                        </a:rPr>
                        <a:t>ḍebbreɣ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taqcict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ten-nsemyejwaǧ</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temsu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teɛdawt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gar-aneɣ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aɛebbuḍ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iferq-iten</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aɣ-ttnasaben</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teḥṛes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ɛreḍ</a:t>
                      </a:r>
                      <a:r>
                        <a:rPr lang="fr-FR" sz="1100" kern="1200">
                          <a:solidFill>
                            <a:schemeClr val="tx1"/>
                          </a:solidFill>
                          <a:effectLst/>
                          <a:latin typeface="+mn-lt"/>
                          <a:ea typeface="+mn-ea"/>
                          <a:cs typeface="+mn-cs"/>
                        </a:rPr>
                        <a:t>-d iman-</a:t>
                      </a:r>
                      <a:r>
                        <a:rPr lang="fr-FR" sz="1100" kern="1200" err="1">
                          <a:solidFill>
                            <a:schemeClr val="tx1"/>
                          </a:solidFill>
                          <a:effectLst/>
                          <a:latin typeface="+mn-lt"/>
                          <a:ea typeface="+mn-ea"/>
                          <a:cs typeface="+mn-cs"/>
                        </a:rPr>
                        <a:t>im</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Tcebbeḥ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tnawel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texḍeb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Tberra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nnesba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i yi-d-</a:t>
                      </a:r>
                      <a:r>
                        <a:rPr lang="fr-FR" sz="1100" kern="1200" err="1">
                          <a:solidFill>
                            <a:schemeClr val="tx1"/>
                          </a:solidFill>
                          <a:effectLst/>
                          <a:latin typeface="+mn-lt"/>
                          <a:ea typeface="+mn-ea"/>
                          <a:cs typeface="+mn-cs"/>
                        </a:rPr>
                        <a:t>yewwin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as-</a:t>
                      </a:r>
                      <a:r>
                        <a:rPr lang="fr-FR" sz="1100" kern="1200" err="1">
                          <a:solidFill>
                            <a:schemeClr val="tx1"/>
                          </a:solidFill>
                          <a:effectLst/>
                          <a:latin typeface="+mn-lt"/>
                          <a:ea typeface="+mn-ea"/>
                          <a:cs typeface="+mn-cs"/>
                        </a:rPr>
                        <a:t>ssemḥessen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bezbazen</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abbu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sxenzeren</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imenɛen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lkanun</a:t>
                      </a:r>
                      <a:r>
                        <a:rPr lang="fr-FR" sz="1100" kern="1200">
                          <a:solidFill>
                            <a:schemeClr val="tx1"/>
                          </a:solidFill>
                          <a:effectLst/>
                          <a:latin typeface="+mn-lt"/>
                          <a:ea typeface="+mn-ea"/>
                          <a:cs typeface="+mn-cs"/>
                        </a:rPr>
                        <a:t> la tteqqed </a:t>
                      </a:r>
                      <a:r>
                        <a:rPr lang="fr-FR" sz="1100" kern="1200" err="1">
                          <a:solidFill>
                            <a:schemeClr val="tx1"/>
                          </a:solidFill>
                          <a:effectLst/>
                          <a:latin typeface="+mn-lt"/>
                          <a:ea typeface="+mn-ea"/>
                          <a:cs typeface="+mn-cs"/>
                        </a:rPr>
                        <a:t>tiyitwin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tmes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Yemmuqel-itt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temmuqel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as-d-</a:t>
                      </a:r>
                      <a:r>
                        <a:rPr lang="fr-FR" sz="1100" kern="1200" err="1">
                          <a:solidFill>
                            <a:schemeClr val="tx1"/>
                          </a:solidFill>
                          <a:effectLst/>
                          <a:latin typeface="+mn-lt"/>
                          <a:ea typeface="+mn-ea"/>
                          <a:cs typeface="+mn-cs"/>
                        </a:rPr>
                        <a:t>tenni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ṛṛay-is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a:effectLst/>
                          <a:latin typeface="Cascadia Mono" panose="020B0609020000020004" pitchFamily="49" charset="0"/>
                          <a:cs typeface="Cascadia Mono" panose="020B0609020000020004" pitchFamily="49" charset="0"/>
                        </a:rPr>
                        <a:t>- Va essayer toi-même.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a:effectLst/>
                          <a:latin typeface="Cascadia Mono" panose="020B0609020000020004" pitchFamily="49" charset="0"/>
                          <a:cs typeface="Cascadia Mono" panose="020B0609020000020004" pitchFamily="49" charset="0"/>
                        </a:rPr>
                        <a:t>- Je viens demander alliance, au nom de Dieu !</a:t>
                      </a:r>
                    </a:p>
                    <a:p>
                      <a:pPr indent="216000" algn="l"/>
                      <a:r>
                        <a:rPr lang="fr-FR" sz="1100" kern="15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fr-FR" sz="1100" kern="15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942736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yenna: Ya </a:t>
                      </a:r>
                      <a:r>
                        <a:rPr lang="fr-FR" sz="1100" kern="1200" err="1">
                          <a:solidFill>
                            <a:schemeClr val="tx1"/>
                          </a:solidFill>
                          <a:effectLst/>
                          <a:latin typeface="+mn-lt"/>
                          <a:ea typeface="+mn-ea"/>
                          <a:cs typeface="+mn-cs"/>
                        </a:rPr>
                        <a:t>ɛǧaba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Lewlegga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nnesba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imenɛen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yeḍrun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taneggarut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Ayen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sser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yettwakksen</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i </a:t>
                      </a:r>
                      <a:r>
                        <a:rPr lang="fr-FR" sz="1100" kern="1200" err="1">
                          <a:solidFill>
                            <a:schemeClr val="tx1"/>
                          </a:solidFill>
                          <a:effectLst/>
                          <a:latin typeface="+mn-lt"/>
                          <a:ea typeface="+mn-ea"/>
                          <a:cs typeface="+mn-cs"/>
                        </a:rPr>
                        <a:t>wegdi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yiɣil-is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ijbed</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 di lxalayeq!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imeddukal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ečč</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iru-yas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tameḍrurt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iyi-tɛiwneḍ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err="1">
                          <a:solidFill>
                            <a:schemeClr val="tx1"/>
                          </a:solidFill>
                          <a:effectLst/>
                          <a:latin typeface="+mn-lt"/>
                          <a:ea typeface="+mn-ea"/>
                          <a:cs typeface="+mn-cs"/>
                        </a:rPr>
                        <a:t>Iqbel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ufuḥan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ɛassen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asulef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qesden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yessleqḍ-it-id,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yenɣa-t: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Ssyenna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nehṛen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di </a:t>
                      </a:r>
                      <a:r>
                        <a:rPr lang="fr-FR" sz="1100" kern="1200" err="1">
                          <a:solidFill>
                            <a:schemeClr val="tx1"/>
                          </a:solidFill>
                          <a:effectLst/>
                          <a:latin typeface="+mn-lt"/>
                          <a:ea typeface="+mn-ea"/>
                          <a:cs typeface="+mn-cs"/>
                        </a:rPr>
                        <a:t>tbaqit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aɛewẓal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Akka i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yettɛassan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agugam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Isewweq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nesɛi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yendeq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a:t>
                      </a:r>
                    </a:p>
                    <a:p>
                      <a:pPr indent="216000" algn="l"/>
                      <a:r>
                        <a:rPr lang="fr-FR" sz="1100" kern="150">
                          <a:effectLst/>
                          <a:latin typeface="Cascadia Mono" panose="020B0609020000020004" pitchFamily="49" charset="0"/>
                          <a:cs typeface="Cascadia Mono" panose="020B0609020000020004" pitchFamily="49" charset="0"/>
                        </a:rPr>
                        <a:t>Entre le lévrier et moi, c’est désormais une guerre à mort.</a:t>
                      </a:r>
                    </a:p>
                    <a:p>
                      <a:pPr indent="216000" algn="l"/>
                      <a:r>
                        <a:rPr lang="fr-FR" sz="1100" kern="15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fr-FR" sz="1100" kern="15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fr-FR" sz="1100" kern="15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fr-FR" sz="1100" kern="15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fr-FR" sz="1100" kern="15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a:effectLst/>
                          <a:latin typeface="Cascadia Mono" panose="020B0609020000020004" pitchFamily="49" charset="0"/>
                          <a:cs typeface="Cascadia Mono" panose="020B0609020000020004" pitchFamily="49" charset="0"/>
                        </a:rPr>
                        <a:t>C’est depuis ce jour que l’altruisme est si rare.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031992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Yiwet n tmelqubeɛt tga lɛecc-is deg yefri. Turew deg-s tezdel, tsefṛuṛx-d ifṛax. Ssyen, segmi ara d-yenqer yiṭij alamma yeɣli di lebḥeṛ, deg uzal am tmes, nettat a-tt-an tṛuḥ, a-tt-an tuɣal-d, tesselqaḍ arraw-is.</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Ass nni, iɛedda-d wuccen, iwala-tt, yesla i yefṛax-is la ččewčiwen. Yenna-yas:</a:t>
                      </a:r>
                    </a:p>
                    <a:p>
                      <a:pPr indent="457200"/>
                      <a:r>
                        <a:rPr lang="fr-FR" sz="1100" kern="1200">
                          <a:solidFill>
                            <a:schemeClr val="tx1"/>
                          </a:solidFill>
                          <a:effectLst/>
                          <a:latin typeface="+mn-lt"/>
                          <a:ea typeface="+mn-ea"/>
                          <a:cs typeface="+mn-cs"/>
                        </a:rPr>
                        <a:t>- Ḍegger-d yiwen, neɣ ard n-aliɣ!</a:t>
                      </a:r>
                    </a:p>
                    <a:p>
                      <a:pPr indent="457200"/>
                      <a:r>
                        <a:rPr lang="fr-FR" sz="1100" kern="1200">
                          <a:solidFill>
                            <a:schemeClr val="tx1"/>
                          </a:solidFill>
                          <a:effectLst/>
                          <a:latin typeface="+mn-lt"/>
                          <a:ea typeface="+mn-ea"/>
                          <a:cs typeface="+mn-cs"/>
                        </a:rPr>
                        <a:t>Tebda tmelqubeɛt tiyita n lizar, temmeɣ-d fell-as, ad t-tenqeb. Yuɣal wuccen ar idess:</a:t>
                      </a:r>
                    </a:p>
                    <a:p>
                      <a:pPr indent="457200"/>
                      <a:r>
                        <a:rPr lang="fr-FR" sz="1100" kern="1200">
                          <a:solidFill>
                            <a:schemeClr val="tx1"/>
                          </a:solidFill>
                          <a:effectLst/>
                          <a:latin typeface="+mn-lt"/>
                          <a:ea typeface="+mn-ea"/>
                          <a:cs typeface="+mn-cs"/>
                        </a:rPr>
                        <a:t>- Mačči d Si Mḥemmed umi ttkellixen! Ḍegger-d yiwen, neɣ ard n-aliɣ!</a:t>
                      </a:r>
                    </a:p>
                    <a:p>
                      <a:pPr indent="457200"/>
                      <a:r>
                        <a:rPr lang="fr-FR" sz="1100" kern="1200">
                          <a:solidFill>
                            <a:schemeClr val="tx1"/>
                          </a:solidFill>
                          <a:effectLst/>
                          <a:latin typeface="+mn-lt"/>
                          <a:ea typeface="+mn-ea"/>
                          <a:cs typeface="+mn-cs"/>
                        </a:rPr>
                        <a:t>Teṭṭef yiwen si tqejjiṛt, tḍegger-as-t-id: yečča-t, iṛuḥ.</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Azekka nni yuɣal-d, yenna-yas:</a:t>
                      </a:r>
                    </a:p>
                    <a:p>
                      <a:pPr indent="457200"/>
                      <a:r>
                        <a:rPr lang="fr-FR" sz="1100" kern="1200">
                          <a:solidFill>
                            <a:schemeClr val="tx1"/>
                          </a:solidFill>
                          <a:effectLst/>
                          <a:latin typeface="+mn-lt"/>
                          <a:ea typeface="+mn-ea"/>
                          <a:cs typeface="+mn-cs"/>
                        </a:rPr>
                        <a:t>- Ḍegger-d yiwen, neɣ ard n-aliɣ!</a:t>
                      </a:r>
                    </a:p>
                    <a:p>
                      <a:pPr indent="457200"/>
                      <a:r>
                        <a:rPr lang="fr-FR" sz="1100" kern="1200">
                          <a:solidFill>
                            <a:schemeClr val="tx1"/>
                          </a:solidFill>
                          <a:effectLst/>
                          <a:latin typeface="+mn-lt"/>
                          <a:ea typeface="+mn-ea"/>
                          <a:cs typeface="+mn-cs"/>
                        </a:rPr>
                        <a:t>Tḥawet, tru, ulac! Teṭṭef yiwen si tferrett, tḍegger-as-t-id: yečča-t, iruḥ.</a:t>
                      </a:r>
                    </a:p>
                    <a:p>
                      <a:pPr indent="457200"/>
                      <a:r>
                        <a:rPr lang="fr-FR" sz="1100" kern="1200">
                          <a:solidFill>
                            <a:schemeClr val="tx1"/>
                          </a:solidFill>
                          <a:effectLst/>
                          <a:latin typeface="+mn-lt"/>
                          <a:ea typeface="+mn-ea"/>
                          <a:cs typeface="+mn-cs"/>
                        </a:rPr>
                        <a:t>Teqqim tmelqubeɛt la tettru idammen, tezza tasa-s.</a:t>
                      </a:r>
                    </a:p>
                    <a:p>
                      <a:pPr indent="457200"/>
                      <a:r>
                        <a:rPr lang="fr-FR" sz="1100" kern="1200">
                          <a:solidFill>
                            <a:schemeClr val="tx1"/>
                          </a:solidFill>
                          <a:effectLst/>
                          <a:latin typeface="+mn-lt"/>
                          <a:ea typeface="+mn-ea"/>
                          <a:cs typeface="+mn-cs"/>
                        </a:rPr>
                        <a:t>Iɛedda-d ibellireǧ, yufa-tt-id di yir ḥala. Yenna-yas:</a:t>
                      </a:r>
                    </a:p>
                    <a:p>
                      <a:pPr indent="457200"/>
                      <a:r>
                        <a:rPr lang="fr-FR" sz="1100" kern="1200">
                          <a:solidFill>
                            <a:schemeClr val="tx1"/>
                          </a:solidFill>
                          <a:effectLst/>
                          <a:latin typeface="+mn-lt"/>
                          <a:ea typeface="+mn-ea"/>
                          <a:cs typeface="+mn-cs"/>
                        </a:rPr>
                        <a:t>- D acu kem-yuɣen, a weltma?</a:t>
                      </a:r>
                    </a:p>
                    <a:p>
                      <a:pPr indent="457200"/>
                      <a:r>
                        <a:rPr lang="fr-FR" sz="1100" kern="1200">
                          <a:solidFill>
                            <a:schemeClr val="tx1"/>
                          </a:solidFill>
                          <a:effectLst/>
                          <a:latin typeface="+mn-lt"/>
                          <a:ea typeface="+mn-ea"/>
                          <a:cs typeface="+mn-cs"/>
                        </a:rPr>
                        <a:t>Teḥka-yas f lbaṭel yekkan fell-as d lḥif deg tella.</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Jette-m’en</a:t>
                      </a:r>
                      <a:r>
                        <a:rPr lang="fr-FR" sz="1100" kern="150">
                          <a:effectLst/>
                          <a:latin typeface="Cascadia Mono" panose="020B0609020000020004" pitchFamily="49" charset="0"/>
                          <a:cs typeface="Cascadia Mono" panose="020B0609020000020004" pitchFamily="49" charset="0"/>
                        </a:rPr>
                        <a:t> un ou je monte ! Lui cria-t-il.</a:t>
                      </a:r>
                    </a:p>
                    <a:p>
                      <a:pPr indent="216000" algn="l"/>
                      <a:r>
                        <a:rPr lang="fr-FR" sz="1100" kern="15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a:effectLst/>
                          <a:latin typeface="Cascadia Mono" panose="020B0609020000020004" pitchFamily="49" charset="0"/>
                          <a:cs typeface="Cascadia Mono" panose="020B0609020000020004" pitchFamily="49" charset="0"/>
                        </a:rPr>
                        <a:t>Le chacal le croqua et s’en alla.</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lendemain il revint :</a:t>
                      </a:r>
                    </a:p>
                    <a:p>
                      <a:pPr indent="216000" algn="l"/>
                      <a:r>
                        <a:rPr lang="fr-FR" sz="1100" kern="150">
                          <a:effectLst/>
                          <a:latin typeface="Cascadia Mono" panose="020B0609020000020004" pitchFamily="49" charset="0"/>
                          <a:cs typeface="Cascadia Mono" panose="020B0609020000020004" pitchFamily="49" charset="0"/>
                        </a:rPr>
                        <a:t>- Jettes-en un, ou je monte !</a:t>
                      </a:r>
                    </a:p>
                    <a:p>
                      <a:pPr indent="216000" algn="l"/>
                      <a:r>
                        <a:rPr lang="fr-FR" sz="1100" kern="15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a:effectLst/>
                          <a:latin typeface="Cascadia Mono" panose="020B0609020000020004" pitchFamily="49" charset="0"/>
                          <a:cs typeface="Cascadia Mono" panose="020B0609020000020004" pitchFamily="49" charset="0"/>
                        </a:rPr>
                        <a:t>L’alouette pleurait des larmes de sang, le cœur brisé.</a:t>
                      </a:r>
                    </a:p>
                    <a:p>
                      <a:pPr indent="216000" algn="l"/>
                      <a:r>
                        <a:rPr lang="fr-FR" sz="1100" kern="15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a:effectLst/>
                          <a:latin typeface="Cascadia Mono" panose="020B0609020000020004" pitchFamily="49" charset="0"/>
                          <a:cs typeface="Cascadia Mono" panose="020B0609020000020004" pitchFamily="49" charset="0"/>
                        </a:rPr>
                        <a:t>L’alouette la mit au courant.</a:t>
                      </a:r>
                    </a:p>
                    <a:p>
                      <a:pPr indent="216000" algn="l"/>
                      <a:endParaRPr lang="fr-FR" sz="1100" kern="150">
                        <a:effectLst/>
                        <a:latin typeface="Cascadia Mono" panose="020B0609020000020004" pitchFamily="49" charset="0"/>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20881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Ikellex-ikem</a:t>
                      </a:r>
                      <a:r>
                        <a:rPr lang="fr-FR" sz="1100" kern="1200">
                          <a:solidFill>
                            <a:schemeClr val="tx1"/>
                          </a:solidFill>
                          <a:effectLst/>
                          <a:latin typeface="+mn-lt"/>
                          <a:ea typeface="+mn-ea"/>
                          <a:cs typeface="+mn-cs"/>
                        </a:rPr>
                        <a:t> bu tḥila: </a:t>
                      </a:r>
                      <a:r>
                        <a:rPr lang="fr-FR" sz="1100" kern="1200" err="1">
                          <a:solidFill>
                            <a:schemeClr val="tx1"/>
                          </a:solidFill>
                          <a:effectLst/>
                          <a:latin typeface="+mn-lt"/>
                          <a:ea typeface="+mn-ea"/>
                          <a:cs typeface="+mn-cs"/>
                        </a:rPr>
                        <a:t>Lukan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ad n-yali,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i m-</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tikelt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s-</a:t>
                      </a:r>
                      <a:r>
                        <a:rPr lang="fr-FR" sz="1100" kern="1200" err="1">
                          <a:solidFill>
                            <a:schemeClr val="tx1"/>
                          </a:solidFill>
                          <a:effectLst/>
                          <a:latin typeface="+mn-lt"/>
                          <a:ea typeface="+mn-ea"/>
                          <a:cs typeface="+mn-cs"/>
                        </a:rPr>
                        <a:t>temmaleḍ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cceɣl-is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Azekka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yusa</a:t>
                      </a:r>
                      <a:r>
                        <a:rPr lang="fr-FR" sz="1100" kern="1200">
                          <a:solidFill>
                            <a:schemeClr val="tx1"/>
                          </a:solidFill>
                          <a:effectLst/>
                          <a:latin typeface="+mn-lt"/>
                          <a:ea typeface="+mn-ea"/>
                          <a:cs typeface="+mn-cs"/>
                        </a:rPr>
                        <a:t>-d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Ḍegger</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aliɣ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Iɛecca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yessagad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yettagges</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uberwaq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yettcebbib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yeqḍi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Tamelqubeɛt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nneyya</a:t>
                      </a:r>
                      <a:r>
                        <a:rPr lang="fr-FR" sz="1100" kern="1200">
                          <a:solidFill>
                            <a:schemeClr val="tx1"/>
                          </a:solidFill>
                          <a:effectLst/>
                          <a:latin typeface="+mn-lt"/>
                          <a:ea typeface="+mn-ea"/>
                          <a:cs typeface="+mn-cs"/>
                        </a:rPr>
                        <a:t>, tenna-yas: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yiman</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ukellex</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-yi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ibellireǧ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tezmireḍ</a:t>
                      </a:r>
                      <a:r>
                        <a:rPr lang="fr-FR" sz="1100" kern="1200">
                          <a:solidFill>
                            <a:schemeClr val="tx1"/>
                          </a:solidFill>
                          <a:effectLst/>
                          <a:latin typeface="+mn-lt"/>
                          <a:ea typeface="+mn-ea"/>
                          <a:cs typeface="+mn-cs"/>
                        </a:rPr>
                        <a:t> ara ad d-</a:t>
                      </a:r>
                      <a:r>
                        <a:rPr lang="fr-FR" sz="1100" kern="1200" err="1">
                          <a:solidFill>
                            <a:schemeClr val="tx1"/>
                          </a:solidFill>
                          <a:effectLst/>
                          <a:latin typeface="+mn-lt"/>
                          <a:ea typeface="+mn-ea"/>
                          <a:cs typeface="+mn-cs"/>
                        </a:rPr>
                        <a:t>taliḍ</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yexdeɛ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i yi-</a:t>
                      </a:r>
                      <a:r>
                        <a:rPr lang="fr-FR" sz="1100" kern="1200" err="1">
                          <a:solidFill>
                            <a:schemeClr val="tx1"/>
                          </a:solidFill>
                          <a:effectLst/>
                          <a:latin typeface="+mn-lt"/>
                          <a:ea typeface="+mn-ea"/>
                          <a:cs typeface="+mn-cs"/>
                        </a:rPr>
                        <a:t>txedɛeḍ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warraw-iw</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Ah! d bu </a:t>
                      </a:r>
                      <a:r>
                        <a:rPr lang="fr-FR" sz="1100" kern="1200" err="1">
                          <a:solidFill>
                            <a:schemeClr val="tx1"/>
                          </a:solidFill>
                          <a:effectLst/>
                          <a:latin typeface="+mn-lt"/>
                          <a:ea typeface="+mn-ea"/>
                          <a:cs typeface="+mn-cs"/>
                        </a:rPr>
                        <a:t>iɛejquren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kem-yesḥeṛcen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ṭṭfeɣ</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iɛefnaḍ</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mleɣ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Netta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tamelqubeɛt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tɛeggen</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ibellireǧ</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a:effectLst/>
                          <a:latin typeface="Cascadia Mono" panose="020B0609020000020004" pitchFamily="49" charset="0"/>
                          <a:cs typeface="Cascadia Mono" panose="020B0609020000020004" pitchFamily="49" charset="0"/>
                        </a:rPr>
                        <a:t>Et la cigogne alla à ses occupations.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lendemain, le chacal revint :</a:t>
                      </a:r>
                    </a:p>
                    <a:p>
                      <a:pPr indent="216000" algn="l"/>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Jette-m’en</a:t>
                      </a:r>
                      <a:r>
                        <a:rPr lang="fr-FR" sz="1100" kern="150">
                          <a:effectLst/>
                          <a:latin typeface="Cascadia Mono" panose="020B0609020000020004" pitchFamily="49" charset="0"/>
                          <a:cs typeface="Cascadia Mono" panose="020B0609020000020004" pitchFamily="49" charset="0"/>
                        </a:rPr>
                        <a:t> un ou je monte !</a:t>
                      </a:r>
                    </a:p>
                    <a:p>
                      <a:pPr indent="216000" algn="l"/>
                      <a:r>
                        <a:rPr lang="fr-FR" sz="1100" kern="15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a:effectLst/>
                          <a:latin typeface="Cascadia Mono" panose="020B0609020000020004" pitchFamily="49" charset="0"/>
                          <a:cs typeface="Cascadia Mono" panose="020B0609020000020004" pitchFamily="49" charset="0"/>
                        </a:rPr>
                        <a:t>L’alouette, l’innocente, lui dit :</a:t>
                      </a:r>
                    </a:p>
                    <a:p>
                      <a:pPr indent="216000" algn="l"/>
                      <a:r>
                        <a:rPr lang="fr-FR" sz="1100" kern="15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a:effectLst/>
                          <a:latin typeface="Cascadia Mono" panose="020B0609020000020004" pitchFamily="49" charset="0"/>
                          <a:cs typeface="Cascadia Mono" panose="020B0609020000020004" pitchFamily="49" charset="0"/>
                        </a:rPr>
                        <a:t>Dès qu’il fut parti, l’alouette prévint la cigogne d’être sur ses gardes…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185672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132-134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133-135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Iṛuḥ wuccen s imqurqren ad asen-d-yessebges, ad xlun ibellireǧ. Yenna-yas:</a:t>
                      </a:r>
                    </a:p>
                    <a:p>
                      <a:pPr indent="457200"/>
                      <a:r>
                        <a:rPr lang="fr-FR" sz="1100" kern="1200">
                          <a:solidFill>
                            <a:schemeClr val="tx1"/>
                          </a:solidFill>
                          <a:effectLst/>
                          <a:latin typeface="+mn-lt"/>
                          <a:ea typeface="+mn-ea"/>
                          <a:cs typeface="+mn-cs"/>
                        </a:rPr>
                        <a:t>- Ay atmaten, yečča-d tasa nnwen ibellireǧ: la ttmettaten warraw nnwen ur asen-teččuṛ. Amek tqeblem ccɣel agi, talli netta weḥd-s, kenwi ur ken-ikeffu ara ujenwi? Nnan-as:</a:t>
                      </a:r>
                    </a:p>
                    <a:p>
                      <a:pPr indent="457200"/>
                      <a:r>
                        <a:rPr lang="fr-FR" sz="1100" kern="1200">
                          <a:solidFill>
                            <a:schemeClr val="tx1"/>
                          </a:solidFill>
                          <a:effectLst/>
                          <a:latin typeface="+mn-lt"/>
                          <a:ea typeface="+mn-ea"/>
                          <a:cs typeface="+mn-cs"/>
                        </a:rPr>
                        <a:t>- Ixuṣṣ-aɣ ṛṛay. Ḍebber fell-aɣ, a Si Mḥemmed.</a:t>
                      </a:r>
                    </a:p>
                    <a:p>
                      <a:pPr indent="457200"/>
                      <a:r>
                        <a:rPr lang="fr-FR" sz="1100" kern="1200">
                          <a:solidFill>
                            <a:schemeClr val="tx1"/>
                          </a:solidFill>
                          <a:effectLst/>
                          <a:latin typeface="+mn-lt"/>
                          <a:ea typeface="+mn-ea"/>
                          <a:cs typeface="+mn-cs"/>
                        </a:rPr>
                        <a:t>Yuɣal yesnejmeɛ-iten deg yiḍ: wten lluɣa-nsen: qwer! qwer! qwer! Mkul yiwen yemmesli-d ayen d-yemmesli, armi mtafaqen f yiwen n wawal: Azekka ad nexlu ɛemmi ibellireǧ!</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Azekka nni, begsen ɣer lfetna, ferqen d tiɣugga. Akken d-yers ibellireǧ deg wasif, qeddmen ɣur-s s tiẓẓift. Yuɣ lḥal, yiwen seg-sen, d bab n nnif, d bab n yiɣil, yezwar zdat-sen am gellid zdat lemḥella. Yemmeɣ-d fell-as ibellireǧ s umenqar-is, yeṭṭef-it, wexxṛen wiyaḍ. Yuɣal ar d-yettissix:</a:t>
                      </a:r>
                    </a:p>
                    <a:p>
                      <a:pPr indent="457200"/>
                      <a:r>
                        <a:rPr lang="fr-FR" sz="1100" kern="1200">
                          <a:solidFill>
                            <a:schemeClr val="tx1"/>
                          </a:solidFill>
                          <a:effectLst/>
                          <a:latin typeface="+mn-lt"/>
                          <a:ea typeface="+mn-ea"/>
                          <a:cs typeface="+mn-cs"/>
                        </a:rPr>
                        <a:t>- Abbuh! ay atmaten! Annaɣ, mačči akka i nenna!</a:t>
                      </a:r>
                    </a:p>
                    <a:p>
                      <a:pPr indent="457200"/>
                      <a:r>
                        <a:rPr lang="fr-FR" sz="1100" kern="1200">
                          <a:solidFill>
                            <a:schemeClr val="tx1"/>
                          </a:solidFill>
                          <a:effectLst/>
                          <a:latin typeface="+mn-lt"/>
                          <a:ea typeface="+mn-ea"/>
                          <a:cs typeface="+mn-cs"/>
                        </a:rPr>
                        <a:t>Ur as-ḥessen ara: rewlen s imerjan-nsen, am wudayen.</a:t>
                      </a:r>
                    </a:p>
                    <a:p>
                      <a:pPr indent="457200"/>
                      <a:r>
                        <a:rPr lang="fr-FR" sz="1100" kern="1200">
                          <a:solidFill>
                            <a:schemeClr val="tx1"/>
                          </a:solidFill>
                          <a:effectLst/>
                          <a:latin typeface="+mn-lt"/>
                          <a:ea typeface="+mn-ea"/>
                          <a:cs typeface="+mn-cs"/>
                        </a:rPr>
                        <a:t>Mkul yiwen, mi yeɣmes di temda, yin’as: Amcum b ṛas-u!</a:t>
                      </a:r>
                    </a:p>
                    <a:p>
                      <a:pPr indent="457200"/>
                      <a:r>
                        <a:rPr lang="fr-FR" sz="1100" kern="1200">
                          <a:solidFill>
                            <a:schemeClr val="tx1"/>
                          </a:solidFill>
                          <a:effectLst/>
                          <a:latin typeface="+mn-lt"/>
                          <a:ea typeface="+mn-ea"/>
                          <a:cs typeface="+mn-cs"/>
                        </a:rPr>
                        <a:t>Amcum b ṛas-u!</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Yewwi ibellireǧ bab n nnif nni ɣer lɛecc-is, yesxenzer-it: ččan-t warraw-is. Qqimen-d imqerqren am wezduz ur nesɛi afus.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fr-FR" sz="1100" kern="150">
                          <a:effectLst/>
                          <a:latin typeface="Cascadia Mono" panose="020B0609020000020004" pitchFamily="49" charset="0"/>
                          <a:cs typeface="Cascadia Mono" panose="020B0609020000020004" pitchFamily="49" charset="0"/>
                        </a:rPr>
                        <a:t>Alors, il les réunit de nuit et elles commencèrent sur l’air familier : </a:t>
                      </a:r>
                      <a:r>
                        <a:rPr lang="fr-FR" sz="1100" kern="150" err="1">
                          <a:effectLst/>
                          <a:latin typeface="Cascadia Mono" panose="020B0609020000020004" pitchFamily="49" charset="0"/>
                          <a:cs typeface="Cascadia Mono" panose="020B0609020000020004" pitchFamily="49" charset="0"/>
                        </a:rPr>
                        <a:t>Korr</a:t>
                      </a:r>
                      <a:r>
                        <a:rPr lang="fr-FR" sz="1100" kern="150">
                          <a:effectLst/>
                          <a:latin typeface="Cascadia Mono" panose="020B0609020000020004" pitchFamily="49" charset="0"/>
                          <a:cs typeface="Cascadia Mono" panose="020B0609020000020004" pitchFamily="49" charset="0"/>
                        </a:rPr>
                        <a:t> ! </a:t>
                      </a:r>
                      <a:r>
                        <a:rPr lang="fr-FR" sz="1100" kern="150" err="1">
                          <a:effectLst/>
                          <a:latin typeface="Cascadia Mono" panose="020B0609020000020004" pitchFamily="49" charset="0"/>
                          <a:cs typeface="Cascadia Mono" panose="020B0609020000020004" pitchFamily="49" charset="0"/>
                        </a:rPr>
                        <a:t>Korrr</a:t>
                      </a:r>
                      <a:r>
                        <a:rPr lang="fr-FR" sz="1100" kern="150">
                          <a:effectLst/>
                          <a:latin typeface="Cascadia Mono" panose="020B0609020000020004" pitchFamily="49" charset="0"/>
                          <a:cs typeface="Cascadia Mono" panose="020B0609020000020004" pitchFamily="49" charset="0"/>
                        </a:rPr>
                        <a:t> ! </a:t>
                      </a:r>
                      <a:r>
                        <a:rPr lang="fr-FR" sz="1100" kern="150" err="1">
                          <a:effectLst/>
                          <a:latin typeface="Cascadia Mono" panose="020B0609020000020004" pitchFamily="49" charset="0"/>
                          <a:cs typeface="Cascadia Mono" panose="020B0609020000020004" pitchFamily="49" charset="0"/>
                        </a:rPr>
                        <a:t>Korrr</a:t>
                      </a:r>
                      <a:r>
                        <a:rPr lang="fr-FR" sz="1100" kern="15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5906278"/>
              </p:ext>
            </p:extLst>
          </p:nvPr>
        </p:nvGraphicFramePr>
        <p:xfrm>
          <a:off x="296561" y="148280"/>
          <a:ext cx="11631828" cy="699898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137-139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978001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tugdi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usemmiḍ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aɣerbal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aqdim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amendayer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tiyita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Tu </a:t>
                      </a:r>
                      <a:r>
                        <a:rPr lang="fr-FR" sz="1100" kern="1200" err="1">
                          <a:solidFill>
                            <a:schemeClr val="tx1"/>
                          </a:solidFill>
                          <a:effectLst/>
                          <a:latin typeface="+mn-lt"/>
                          <a:ea typeface="+mn-ea"/>
                          <a:cs typeface="+mn-cs"/>
                        </a:rPr>
                        <a:t>tefla</a:t>
                      </a:r>
                      <a:r>
                        <a:rPr lang="fr-FR" sz="1100" kern="1200">
                          <a:solidFill>
                            <a:schemeClr val="tx1"/>
                          </a:solidFill>
                          <a:effectLst/>
                          <a:latin typeface="+mn-lt"/>
                          <a:ea typeface="+mn-ea"/>
                          <a:cs typeface="+mn-cs"/>
                        </a:rPr>
                        <a:t>, ta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tefli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ajdid</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nufi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Twala</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liḥala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Teɣriḍ</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uxenfuf</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usenfuf</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teẓriḍ</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ɣriɣ</a:t>
                      </a:r>
                      <a:r>
                        <a:rPr lang="fr-FR" sz="1100" kern="1200">
                          <a:solidFill>
                            <a:schemeClr val="tx1"/>
                          </a:solidFill>
                          <a:effectLst/>
                          <a:latin typeface="+mn-lt"/>
                          <a:ea typeface="+mn-ea"/>
                          <a:cs typeface="+mn-cs"/>
                        </a:rPr>
                        <a:t>: baba </a:t>
                      </a:r>
                      <a:r>
                        <a:rPr lang="fr-FR" sz="1100" kern="1200" err="1">
                          <a:solidFill>
                            <a:schemeClr val="tx1"/>
                          </a:solidFill>
                          <a:effectLst/>
                          <a:latin typeface="+mn-lt"/>
                          <a:ea typeface="+mn-ea"/>
                          <a:cs typeface="+mn-cs"/>
                        </a:rPr>
                        <a:t>yeɣra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jeddi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yeɣra</a:t>
                      </a:r>
                      <a:r>
                        <a:rPr lang="fr-FR" sz="1100" kern="1200">
                          <a:solidFill>
                            <a:schemeClr val="tx1"/>
                          </a:solidFill>
                          <a:effectLst/>
                          <a:latin typeface="+mn-lt"/>
                          <a:ea typeface="+mn-ea"/>
                          <a:cs typeface="+mn-cs"/>
                        </a:rPr>
                        <a:t>. A-tt-an </a:t>
                      </a:r>
                      <a:r>
                        <a:rPr lang="fr-FR" sz="1100" kern="1200" err="1">
                          <a:solidFill>
                            <a:schemeClr val="tx1"/>
                          </a:solidFill>
                          <a:effectLst/>
                          <a:latin typeface="+mn-lt"/>
                          <a:ea typeface="+mn-ea"/>
                          <a:cs typeface="+mn-cs"/>
                        </a:rPr>
                        <a:t>tqubbett-is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yiɣil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Tumen-</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Fran ad as-</a:t>
                      </a:r>
                      <a:r>
                        <a:rPr lang="fr-FR" sz="1100" kern="1200" err="1">
                          <a:solidFill>
                            <a:schemeClr val="tx1"/>
                          </a:solidFill>
                          <a:effectLst/>
                          <a:latin typeface="+mn-lt"/>
                          <a:ea typeface="+mn-ea"/>
                          <a:cs typeface="+mn-cs"/>
                        </a:rPr>
                        <a:t>yesɣer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iṛebbi-ten: ad as-</a:t>
                      </a:r>
                      <a:r>
                        <a:rPr lang="fr-FR" sz="1100" kern="1200" err="1">
                          <a:solidFill>
                            <a:schemeClr val="tx1"/>
                          </a:solidFill>
                          <a:effectLst/>
                          <a:latin typeface="+mn-lt"/>
                          <a:ea typeface="+mn-ea"/>
                          <a:cs typeface="+mn-cs"/>
                        </a:rPr>
                        <a:t>tefk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leɛtab-is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lɣar-is: di </a:t>
                      </a:r>
                      <a:r>
                        <a:rPr lang="fr-FR" sz="1100" kern="1200" err="1">
                          <a:solidFill>
                            <a:schemeClr val="tx1"/>
                          </a:solidFill>
                          <a:effectLst/>
                          <a:latin typeface="+mn-lt"/>
                          <a:ea typeface="+mn-ea"/>
                          <a:cs typeface="+mn-cs"/>
                        </a:rPr>
                        <a:t>tnac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-sen, d </a:t>
                      </a:r>
                      <a:r>
                        <a:rPr lang="fr-FR" sz="1100" kern="1200" err="1">
                          <a:solidFill>
                            <a:schemeClr val="tx1"/>
                          </a:solidFill>
                          <a:effectLst/>
                          <a:latin typeface="+mn-lt"/>
                          <a:ea typeface="+mn-ea"/>
                          <a:cs typeface="+mn-cs"/>
                        </a:rPr>
                        <a:t>ibelkuken</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temmuqel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yemmatsen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yeǧǧuǧǧeg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teswa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Yesself-asen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iberra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fr-FR" sz="1100" kern="15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Ce trou est percé :</a:t>
                      </a:r>
                    </a:p>
                    <a:p>
                      <a:pPr indent="216000" algn="l"/>
                      <a:r>
                        <a:rPr lang="fr-FR" sz="1100" kern="150">
                          <a:effectLst/>
                          <a:latin typeface="Cascadia Mono" panose="020B0609020000020004" pitchFamily="49" charset="0"/>
                          <a:cs typeface="Cascadia Mono" panose="020B0609020000020004" pitchFamily="49" charset="0"/>
                        </a:rPr>
                        <a:t>Celui-là ne l’est point !</a:t>
                      </a:r>
                    </a:p>
                    <a:p>
                      <a:pPr indent="216000" algn="l"/>
                      <a:r>
                        <a:rPr lang="fr-FR" sz="1100" kern="150">
                          <a:effectLst/>
                          <a:latin typeface="Cascadia Mono" panose="020B0609020000020004" pitchFamily="49" charset="0"/>
                          <a:cs typeface="Cascadia Mono" panose="020B0609020000020004" pitchFamily="49" charset="0"/>
                        </a:rPr>
                        <a:t>Nous n’avons pas trouvé plus neuf !</a:t>
                      </a:r>
                    </a:p>
                    <a:p>
                      <a:pPr indent="216000" algn="l"/>
                      <a:r>
                        <a:rPr lang="fr-FR" sz="1100" kern="15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fr-FR" sz="1100" kern="15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Si Mohammed caressa les marcassins l’un après l’autre, puis il avertit la mère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137944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lalla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ɣren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warrac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ttṛuḥu</a:t>
                      </a:r>
                      <a:r>
                        <a:rPr lang="fr-FR" sz="1100" kern="1200">
                          <a:solidFill>
                            <a:schemeClr val="tx1"/>
                          </a:solidFill>
                          <a:effectLst/>
                          <a:latin typeface="+mn-lt"/>
                          <a:ea typeface="+mn-ea"/>
                          <a:cs typeface="+mn-cs"/>
                        </a:rPr>
                        <a:t> ara ad </a:t>
                      </a:r>
                      <a:r>
                        <a:rPr lang="fr-FR" sz="1100" kern="1200" err="1">
                          <a:solidFill>
                            <a:schemeClr val="tx1"/>
                          </a:solidFill>
                          <a:effectLst/>
                          <a:latin typeface="+mn-lt"/>
                          <a:ea typeface="+mn-ea"/>
                          <a:cs typeface="+mn-cs"/>
                        </a:rPr>
                        <a:t>ten-tettcewwileḍ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kull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mi sen-d-</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efk</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mi n </a:t>
                      </a:r>
                      <a:r>
                        <a:rPr lang="fr-FR" sz="1100" kern="1200" err="1">
                          <a:solidFill>
                            <a:schemeClr val="tx1"/>
                          </a:solidFill>
                          <a:effectLst/>
                          <a:latin typeface="+mn-lt"/>
                          <a:ea typeface="+mn-ea"/>
                          <a:cs typeface="+mn-cs"/>
                        </a:rPr>
                        <a:t>tewwurt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allen-is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ttbeɛṛuṛucent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imeṭṭawen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warraw</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iɣsan-nsen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tebḍanin-nsen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iɛelleq-itent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ttẓenẓunen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fell-asent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igelfan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wareẓẓen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yizan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izegzawen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Mi d-</a:t>
                      </a:r>
                      <a:r>
                        <a:rPr lang="fr-FR" sz="1100" kern="1200" err="1">
                          <a:solidFill>
                            <a:schemeClr val="tx1"/>
                          </a:solidFill>
                          <a:effectLst/>
                          <a:latin typeface="+mn-lt"/>
                          <a:ea typeface="+mn-ea"/>
                          <a:cs typeface="+mn-cs"/>
                        </a:rPr>
                        <a:t>tbedd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weɛwin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Sel! Sel!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 sel!</a:t>
                      </a:r>
                    </a:p>
                    <a:p>
                      <a:pPr indent="457200"/>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tejjem-iten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thenna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tedhem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ten-tẓer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tufa</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lɣar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tetbeɛ-it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ṭṭlam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aẓar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aẓar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Ikellex</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tebra-ya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a:effectLst/>
                          <a:latin typeface="Cascadia Mono" panose="020B0609020000020004" pitchFamily="49" charset="0"/>
                          <a:cs typeface="Cascadia Mono" panose="020B0609020000020004" pitchFamily="49" charset="0"/>
                        </a:rPr>
                        <a:t>- C’est bien, dit-elle.</a:t>
                      </a:r>
                    </a:p>
                    <a:p>
                      <a:pPr indent="216000" algn="l"/>
                      <a:r>
                        <a:rPr lang="fr-FR" sz="1100" kern="150">
                          <a:effectLst/>
                          <a:latin typeface="Cascadia Mono" panose="020B0609020000020004" pitchFamily="49" charset="0"/>
                          <a:cs typeface="Cascadia Mono" panose="020B0609020000020004" pitchFamily="49" charset="0"/>
                        </a:rPr>
                        <a:t>Et elle repartit seule, les yeux pleins de larmes.</a:t>
                      </a:r>
                    </a:p>
                    <a:p>
                      <a:pPr indent="216000" algn="l"/>
                      <a:r>
                        <a:rPr lang="fr-FR" sz="1100" kern="150">
                          <a:effectLst/>
                          <a:latin typeface="Cascadia Mono" panose="020B0609020000020004" pitchFamily="49" charset="0"/>
                          <a:cs typeface="Cascadia Mono" panose="020B0609020000020004" pitchFamily="49" charset="0"/>
                        </a:rPr>
                        <a:t>Puis le chacal revint vers les marcassins et les dévora.</a:t>
                      </a:r>
                    </a:p>
                    <a:p>
                      <a:pPr indent="216000" algn="l"/>
                      <a:r>
                        <a:rPr lang="fr-FR" sz="1100" kern="15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fr-FR" sz="1100" kern="15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fr-FR" sz="1100" kern="15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a:effectLst/>
                          <a:latin typeface="Cascadia Mono" panose="020B0609020000020004" pitchFamily="49" charset="0"/>
                          <a:cs typeface="Cascadia Mono" panose="020B0609020000020004" pitchFamily="49" charset="0"/>
                        </a:rPr>
                        <a:t>- Elle tient une racine et croit que c’est ma patte !</a:t>
                      </a:r>
                    </a:p>
                    <a:p>
                      <a:pPr indent="216000" algn="l"/>
                      <a:r>
                        <a:rPr lang="fr-FR" sz="1100" kern="150">
                          <a:effectLst/>
                          <a:latin typeface="Cascadia Mono" panose="020B0609020000020004" pitchFamily="49" charset="0"/>
                          <a:cs typeface="Cascadia Mono" panose="020B0609020000020004" pitchFamily="49" charset="0"/>
                        </a:rPr>
                        <a:t>Elle crut s’être effectivement trompée. Elle lâcha prise et il s’enfuit.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7373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146-148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147-149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imenɛ</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lehwa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txeddem?</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tcetki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ikellex</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tefka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ɛzizen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ten-yesɣer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tessɛac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ten-yečča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zik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aɣeddaṛ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nṣeggem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yesxeṣr</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aneɣ</a:t>
                      </a:r>
                      <a:r>
                        <a:rPr lang="fr-FR" sz="1100" kern="1200">
                          <a:solidFill>
                            <a:schemeClr val="tx1"/>
                          </a:solidFill>
                          <a:effectLst/>
                          <a:latin typeface="+mn-lt"/>
                          <a:ea typeface="+mn-ea"/>
                          <a:cs typeface="+mn-cs"/>
                        </a:rPr>
                        <a:t>-tt. Ad t-</a:t>
                      </a:r>
                      <a:r>
                        <a:rPr lang="fr-FR" sz="1100" kern="1200" err="1">
                          <a:solidFill>
                            <a:schemeClr val="tx1"/>
                          </a:solidFill>
                          <a:effectLst/>
                          <a:latin typeface="+mn-lt"/>
                          <a:ea typeface="+mn-ea"/>
                          <a:cs typeface="+mn-cs"/>
                        </a:rPr>
                        <a:t>texdeɛ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tgella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lemleḥ</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tesseččeḍ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afus-is</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ttagad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am-rreɣ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lluẓeɣ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tɛemleḍ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-i </a:t>
                      </a:r>
                      <a:r>
                        <a:rPr lang="fr-FR" sz="1100" kern="1200" err="1">
                          <a:solidFill>
                            <a:schemeClr val="tx1"/>
                          </a:solidFill>
                          <a:effectLst/>
                          <a:latin typeface="+mn-lt"/>
                          <a:ea typeface="+mn-ea"/>
                          <a:cs typeface="+mn-cs"/>
                        </a:rPr>
                        <a:t>lemzegga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iyi-tefkeḍ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-m ad t-</a:t>
                      </a:r>
                      <a:r>
                        <a:rPr lang="fr-FR" sz="1100" kern="1200" err="1">
                          <a:solidFill>
                            <a:schemeClr val="tx1"/>
                          </a:solidFill>
                          <a:effectLst/>
                          <a:latin typeface="+mn-lt"/>
                          <a:ea typeface="+mn-ea"/>
                          <a:cs typeface="+mn-cs"/>
                        </a:rPr>
                        <a:t>ɣeẓẓeɣ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am-fkeɣ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taṣwiɛt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tḥemmel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tessemḥes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wasmi</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yeɣdeṛ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warraw-is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wwin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aql</a:t>
                      </a:r>
                      <a:r>
                        <a:rPr lang="fr-FR" sz="1100" kern="1200">
                          <a:solidFill>
                            <a:schemeClr val="tx1"/>
                          </a:solidFill>
                          <a:effectLst/>
                          <a:latin typeface="+mn-lt"/>
                          <a:ea typeface="+mn-ea"/>
                          <a:cs typeface="+mn-cs"/>
                        </a:rPr>
                        <a:t>-i di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ḥala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iyi-tanfeḍ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qqimeɣ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yiman-iw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cubkeɣ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uyaleɣ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lexbaṛ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fr-FR" sz="1100" kern="150">
                          <a:effectLst/>
                          <a:latin typeface="Cascadia Mono" panose="020B0609020000020004" pitchFamily="49" charset="0"/>
                          <a:cs typeface="Cascadia Mono" panose="020B0609020000020004" pitchFamily="49" charset="0"/>
                        </a:rPr>
                        <a:t>Puis, il ajouta :</a:t>
                      </a:r>
                    </a:p>
                    <a:p>
                      <a:pPr indent="216000" algn="l"/>
                      <a:r>
                        <a:rPr lang="fr-FR" sz="1100" kern="15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fr-FR" sz="1100" kern="15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p>
                      <a:pPr indent="216000" algn="l"/>
                      <a:r>
                        <a:rPr lang="fr-FR" sz="1100" kern="15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a:effectLst/>
                          <a:latin typeface="Cascadia Mono" panose="020B0609020000020004" pitchFamily="49" charset="0"/>
                          <a:cs typeface="Cascadia Mono" panose="020B0609020000020004" pitchFamily="49" charset="0"/>
                        </a:rPr>
                        <a:t>Il la laissa partir.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9202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yeẓran</a:t>
                      </a:r>
                      <a:r>
                        <a:rPr lang="fr-FR" sz="1100" kern="1200">
                          <a:solidFill>
                            <a:schemeClr val="tx1"/>
                          </a:solidFill>
                          <a:effectLst/>
                          <a:latin typeface="+mn-lt"/>
                          <a:ea typeface="+mn-ea"/>
                          <a:cs typeface="+mn-cs"/>
                        </a:rPr>
                        <a:t> tin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la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yettagad</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iɛass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ten-yettɛassa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refden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tcetka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uxenfuf</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uzenfuf</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i m-d-</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Tergem-it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tedɛa-yas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kem-menɛeɣ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tamehbult</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tamebhult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tekfeḍ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-m ad t-</a:t>
                      </a:r>
                      <a:r>
                        <a:rPr lang="fr-FR" sz="1100" kern="1200" err="1">
                          <a:solidFill>
                            <a:schemeClr val="tx1"/>
                          </a:solidFill>
                          <a:effectLst/>
                          <a:latin typeface="+mn-lt"/>
                          <a:ea typeface="+mn-ea"/>
                          <a:cs typeface="+mn-cs"/>
                        </a:rPr>
                        <a:t>iɣeẓẓ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teẓdeḍ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ibawen-is</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ṛṛay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nger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wessreɣ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yeẓri</a:t>
                      </a:r>
                      <a:r>
                        <a:rPr lang="fr-FR" sz="1100" kern="1200">
                          <a:solidFill>
                            <a:schemeClr val="tx1"/>
                          </a:solidFill>
                          <a:effectLst/>
                          <a:latin typeface="+mn-lt"/>
                          <a:ea typeface="+mn-ea"/>
                          <a:cs typeface="+mn-cs"/>
                        </a:rPr>
                        <a:t>-w,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aselli</a:t>
                      </a:r>
                      <a:r>
                        <a:rPr lang="fr-FR" sz="1100" kern="1200">
                          <a:solidFill>
                            <a:schemeClr val="tx1"/>
                          </a:solidFill>
                          <a:effectLst/>
                          <a:latin typeface="+mn-lt"/>
                          <a:ea typeface="+mn-ea"/>
                          <a:cs typeface="+mn-cs"/>
                        </a:rPr>
                        <a:t>-w…</a:t>
                      </a:r>
                    </a:p>
                    <a:p>
                      <a:pPr indent="457200"/>
                      <a:r>
                        <a:rPr lang="fr-FR" sz="1100" kern="1200" err="1">
                          <a:solidFill>
                            <a:schemeClr val="tx1"/>
                          </a:solidFill>
                          <a:effectLst/>
                          <a:latin typeface="+mn-lt"/>
                          <a:ea typeface="+mn-ea"/>
                          <a:cs typeface="+mn-cs"/>
                        </a:rPr>
                        <a:t>Tkukra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Mi ara 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-w ad t-</a:t>
                      </a:r>
                      <a:r>
                        <a:rPr lang="fr-FR" sz="1100" kern="1200" err="1">
                          <a:solidFill>
                            <a:schemeClr val="tx1"/>
                          </a:solidFill>
                          <a:effectLst/>
                          <a:latin typeface="+mn-lt"/>
                          <a:ea typeface="+mn-ea"/>
                          <a:cs typeface="+mn-cs"/>
                        </a:rPr>
                        <a:t>tɣeẓẓeḍ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ẓdeɣ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-ik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Mmeggreɣ</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fr-FR" sz="1100" kern="15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fr-FR" sz="1100" kern="15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a:effectLst/>
                          <a:latin typeface="Cascadia Mono" panose="020B0609020000020004" pitchFamily="49" charset="0"/>
                          <a:cs typeface="Cascadia Mono" panose="020B0609020000020004" pitchFamily="49" charset="0"/>
                        </a:rPr>
                        <a:t>Elle n’osa pas et répondit :</a:t>
                      </a:r>
                    </a:p>
                    <a:p>
                      <a:pPr indent="216000" algn="l"/>
                      <a:r>
                        <a:rPr lang="fr-FR" sz="1100" kern="15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a:effectLst/>
                          <a:latin typeface="Cascadia Mono" panose="020B0609020000020004" pitchFamily="49" charset="0"/>
                          <a:cs typeface="Cascadia Mono" panose="020B0609020000020004" pitchFamily="49" charset="0"/>
                        </a:rPr>
                        <a:t>- Tu as rencontré Mohammed !</a:t>
                      </a:r>
                    </a:p>
                    <a:p>
                      <a:pPr indent="216000" algn="l"/>
                      <a:r>
                        <a:rPr lang="fr-FR" sz="1100" kern="150">
                          <a:effectLst/>
                          <a:latin typeface="Cascadia Mono" panose="020B0609020000020004" pitchFamily="49" charset="0"/>
                          <a:cs typeface="Cascadia Mono" panose="020B0609020000020004" pitchFamily="49" charset="0"/>
                        </a:rPr>
                        <a:t>La laie en convint. Elle se retira vivement.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18112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le chameau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chausseurs.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230680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akli</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ɛebbiɣ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srekbeɣ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tmecḥa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aɛekkaz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yisem-iw</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taselqubt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ayefki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taduṭ</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arweɣ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izamaren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ten-zlun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zlun-iyi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ay d </a:t>
                      </a:r>
                      <a:r>
                        <a:rPr lang="fr-FR" sz="1100" kern="1200" err="1">
                          <a:solidFill>
                            <a:schemeClr val="tx1"/>
                          </a:solidFill>
                          <a:effectLst/>
                          <a:latin typeface="+mn-lt"/>
                          <a:ea typeface="+mn-ea"/>
                          <a:cs typeface="+mn-cs"/>
                        </a:rPr>
                        <a:t>ḍḍalem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kerzeɣ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temẓin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meggleɣ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izemran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wurtan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ara d </a:t>
                      </a:r>
                      <a:r>
                        <a:rPr lang="fr-FR" sz="1100" kern="1200" err="1">
                          <a:solidFill>
                            <a:schemeClr val="tx1"/>
                          </a:solidFill>
                          <a:effectLst/>
                          <a:latin typeface="+mn-lt"/>
                          <a:ea typeface="+mn-ea"/>
                          <a:cs typeface="+mn-cs"/>
                        </a:rPr>
                        <a:t>iyi-rren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iyi-qeddmen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aɛric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Lukan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uɣilif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yebna</a:t>
                      </a:r>
                      <a:r>
                        <a:rPr lang="fr-FR" sz="1100" kern="1200">
                          <a:solidFill>
                            <a:schemeClr val="tx1"/>
                          </a:solidFill>
                          <a:effectLst/>
                          <a:latin typeface="+mn-lt"/>
                          <a:ea typeface="+mn-ea"/>
                          <a:cs typeface="+mn-cs"/>
                        </a:rPr>
                        <a:t> i-</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yettmečča</a:t>
                      </a:r>
                      <a:r>
                        <a:rPr lang="fr-FR" sz="1100" kern="1200">
                          <a:solidFill>
                            <a:schemeClr val="tx1"/>
                          </a:solidFill>
                          <a:effectLst/>
                          <a:latin typeface="+mn-lt"/>
                          <a:ea typeface="+mn-ea"/>
                          <a:cs typeface="+mn-cs"/>
                        </a:rPr>
                        <a:t>, ad as-t-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ileḥḥu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yeṭṭes</a:t>
                      </a:r>
                      <a:r>
                        <a:rPr lang="fr-FR" sz="1100" kern="1200">
                          <a:solidFill>
                            <a:schemeClr val="tx1"/>
                          </a:solidFill>
                          <a:effectLst/>
                          <a:latin typeface="+mn-lt"/>
                          <a:ea typeface="+mn-ea"/>
                          <a:cs typeface="+mn-cs"/>
                        </a:rPr>
                        <a:t> i d-yuki!</a:t>
                      </a:r>
                    </a:p>
                    <a:p>
                      <a:pPr indent="457200"/>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yuɣen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 Bumgerḍ?</a:t>
                      </a:r>
                    </a:p>
                    <a:p>
                      <a:pPr indent="457200"/>
                      <a:r>
                        <a:rPr lang="fr-FR" sz="1100" kern="1200" err="1">
                          <a:solidFill>
                            <a:schemeClr val="tx1"/>
                          </a:solidFill>
                          <a:effectLst/>
                          <a:latin typeface="+mn-lt"/>
                          <a:ea typeface="+mn-ea"/>
                          <a:cs typeface="+mn-cs"/>
                        </a:rPr>
                        <a:t>Yeḥka-yas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amcum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yettreɛreɛ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Tettalaseḍ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-tt: ad k-</a:t>
                      </a:r>
                      <a:r>
                        <a:rPr lang="fr-FR" sz="1100" kern="1200" err="1">
                          <a:solidFill>
                            <a:schemeClr val="tx1"/>
                          </a:solidFill>
                          <a:effectLst/>
                          <a:latin typeface="+mn-lt"/>
                          <a:ea typeface="+mn-ea"/>
                          <a:cs typeface="+mn-cs"/>
                        </a:rPr>
                        <a:t>sellkeɣ</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umeẓẓuɣ</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bâton ; mon nom sert d’insulte. Non, les bienfaits ne sont jamais rendus.</a:t>
                      </a:r>
                    </a:p>
                    <a:p>
                      <a:pPr indent="216000" algn="l"/>
                      <a:r>
                        <a:rPr lang="fr-FR" sz="1100" kern="15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fr-FR" sz="1100" kern="15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fr-FR" sz="1100" kern="15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a:effectLst/>
                          <a:latin typeface="Cascadia Mono" panose="020B0609020000020004" pitchFamily="49" charset="0"/>
                          <a:cs typeface="Cascadia Mono" panose="020B0609020000020004" pitchFamily="49" charset="0"/>
                        </a:rPr>
                        <a:t>Qu’as-tu donc, mon oncle long-cou ?</a:t>
                      </a:r>
                    </a:p>
                    <a:p>
                      <a:pPr indent="216000" algn="l"/>
                      <a:r>
                        <a:rPr lang="fr-FR" sz="1100" kern="150">
                          <a:effectLst/>
                          <a:latin typeface="Cascadia Mono" panose="020B0609020000020004" pitchFamily="49" charset="0"/>
                          <a:cs typeface="Cascadia Mono" panose="020B0609020000020004" pitchFamily="49" charset="0"/>
                        </a:rPr>
                        <a:t>Le chameau le mit au courant :</a:t>
                      </a:r>
                    </a:p>
                    <a:p>
                      <a:pPr indent="216000" algn="l"/>
                      <a:r>
                        <a:rPr lang="fr-FR" sz="1100" kern="15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fr-FR" sz="1100" kern="15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a:effectLst/>
                          <a:latin typeface="Cascadia Mono" panose="020B0609020000020004" pitchFamily="49" charset="0"/>
                          <a:cs typeface="Cascadia Mono" panose="020B0609020000020004" pitchFamily="49" charset="0"/>
                        </a:rPr>
                        <a:t>Il lui confia quelque chose à l’oreille.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32730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lewḥyc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yettmiẓẓid,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Ihi</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Ssiweḍ-iyi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tarrawt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Yedduqqes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ad </a:t>
                      </a:r>
                      <a:r>
                        <a:rPr lang="fr-FR" sz="1100" kern="1200" err="1">
                          <a:solidFill>
                            <a:schemeClr val="tx1"/>
                          </a:solidFill>
                          <a:effectLst/>
                          <a:latin typeface="+mn-lt"/>
                          <a:ea typeface="+mn-ea"/>
                          <a:cs typeface="+mn-cs"/>
                        </a:rPr>
                        <a:t>yessemsu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Yerra-yas: </a:t>
                      </a:r>
                      <a:r>
                        <a:rPr lang="fr-FR" sz="1100" kern="1200" err="1">
                          <a:solidFill>
                            <a:schemeClr val="tx1"/>
                          </a:solidFill>
                          <a:effectLst/>
                          <a:latin typeface="+mn-lt"/>
                          <a:ea typeface="+mn-ea"/>
                          <a:cs typeface="+mn-cs"/>
                        </a:rPr>
                        <a:t>Mmugreɣ</a:t>
                      </a:r>
                      <a:r>
                        <a:rPr lang="fr-FR" sz="1100" kern="1200">
                          <a:solidFill>
                            <a:schemeClr val="tx1"/>
                          </a:solidFill>
                          <a:effectLst/>
                          <a:latin typeface="+mn-lt"/>
                          <a:ea typeface="+mn-ea"/>
                          <a:cs typeface="+mn-cs"/>
                        </a:rPr>
                        <a:t>-t,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laman</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ḍman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yezgaren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amellal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aberkan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azeggaɣ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weqmen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tagmatt</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ssemlilen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tiseḍwa-nsen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mekknen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acciwen-nsen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ṭṭsen</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yussa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iqurɛ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-s: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assen-yezmir</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azger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Sliɣ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watmaten</a:t>
                      </a:r>
                      <a:r>
                        <a:rPr lang="fr-FR" sz="1100" kern="1200">
                          <a:solidFill>
                            <a:schemeClr val="tx1"/>
                          </a:solidFill>
                          <a:effectLst/>
                          <a:latin typeface="+mn-lt"/>
                          <a:ea typeface="+mn-ea"/>
                          <a:cs typeface="+mn-cs"/>
                        </a:rPr>
                        <a:t>-ik la </a:t>
                      </a:r>
                      <a:r>
                        <a:rPr lang="fr-FR" sz="1100" kern="1200" err="1">
                          <a:solidFill>
                            <a:schemeClr val="tx1"/>
                          </a:solidFill>
                          <a:effectLst/>
                          <a:latin typeface="+mn-lt"/>
                          <a:ea typeface="+mn-ea"/>
                          <a:cs typeface="+mn-cs"/>
                        </a:rPr>
                        <a:t>ttsewwiqen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-k, ad k-</a:t>
                      </a:r>
                      <a:r>
                        <a:rPr lang="fr-FR" sz="1100" kern="1200" err="1">
                          <a:solidFill>
                            <a:schemeClr val="tx1"/>
                          </a:solidFill>
                          <a:effectLst/>
                          <a:latin typeface="+mn-lt"/>
                          <a:ea typeface="+mn-ea"/>
                          <a:cs typeface="+mn-cs"/>
                        </a:rPr>
                        <a:t>sebblen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a:effectLst/>
                          <a:latin typeface="Cascadia Mono" panose="020B0609020000020004" pitchFamily="49" charset="0"/>
                          <a:cs typeface="Cascadia Mono" panose="020B0609020000020004" pitchFamily="49" charset="0"/>
                        </a:rPr>
                        <a:t>Le lion s’étira mollement :</a:t>
                      </a:r>
                    </a:p>
                    <a:p>
                      <a:pPr indent="216000" algn="l"/>
                      <a:r>
                        <a:rPr lang="fr-FR" sz="1100" kern="150">
                          <a:effectLst/>
                          <a:latin typeface="Cascadia Mono" panose="020B0609020000020004" pitchFamily="49" charset="0"/>
                          <a:cs typeface="Cascadia Mono" panose="020B0609020000020004" pitchFamily="49" charset="0"/>
                        </a:rPr>
                        <a:t>- Alors, dit-il, je vais te dévorer !</a:t>
                      </a:r>
                    </a:p>
                    <a:p>
                      <a:pPr indent="216000" algn="l"/>
                      <a:r>
                        <a:rPr lang="fr-FR" sz="1100" kern="15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fr-FR" sz="1100" kern="15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a:effectLst/>
                          <a:latin typeface="Cascadia Mono" panose="020B0609020000020004" pitchFamily="49" charset="0"/>
                          <a:cs typeface="Cascadia Mono" panose="020B0609020000020004" pitchFamily="49" charset="0"/>
                        </a:rPr>
                        <a:t>- Tu as rencontré chacal !</a:t>
                      </a:r>
                    </a:p>
                    <a:p>
                      <a:pPr indent="216000" algn="l"/>
                      <a:r>
                        <a:rPr lang="fr-FR" sz="1100" kern="15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a:effectLst/>
                          <a:latin typeface="Cascadia Mono" panose="020B0609020000020004" pitchFamily="49" charset="0"/>
                          <a:cs typeface="Cascadia Mono" panose="020B0609020000020004" pitchFamily="49" charset="0"/>
                        </a:rPr>
                        <a:t>Le chameau s’en alla, sain et sauf.</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fr-FR" sz="1100" kern="15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272783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amellal: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a:t>
                      </a:r>
                    </a:p>
                    <a:p>
                      <a:pPr indent="216000" algn="l"/>
                      <a:r>
                        <a:rPr lang="fr-FR" sz="1100" kern="150" dirty="0">
                          <a:effectLst/>
                          <a:latin typeface="Cascadia Mono" panose="020B0609020000020004" pitchFamily="49" charset="0"/>
                          <a:cs typeface="Cascadia Mono" panose="020B0609020000020004" pitchFamily="49" charset="0"/>
                        </a:rPr>
                        <a:t>Aussi, chaque soir, au lieu de réunir leurs queues comme autrefois et de diriger leurs cornes vers l’extérieur, ils dormaient front contre front, se surveillant entre eux.</a:t>
                      </a:r>
                    </a:p>
                    <a:p>
                      <a:pPr indent="216000" algn="l"/>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38492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20176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162-164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163-165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tent-iger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qqurent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a:t>
                      </a:r>
                      <a:r>
                        <a:rPr lang="fr-FR" sz="1100" kern="1200" err="1">
                          <a:solidFill>
                            <a:schemeClr val="tx1"/>
                          </a:solidFill>
                          <a:effectLst/>
                          <a:latin typeface="+mn-lt"/>
                          <a:ea typeface="+mn-ea"/>
                          <a:cs typeface="+mn-cs"/>
                        </a:rPr>
                        <a:t>yeǧǧ</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la t-</a:t>
                      </a:r>
                      <a:r>
                        <a:rPr lang="fr-FR" sz="1100" kern="1200" err="1">
                          <a:solidFill>
                            <a:schemeClr val="tx1"/>
                          </a:solidFill>
                          <a:effectLst/>
                          <a:latin typeface="+mn-lt"/>
                          <a:ea typeface="+mn-ea"/>
                          <a:cs typeface="+mn-cs"/>
                        </a:rPr>
                        <a:t>ttabaɛen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yemṣalaḥ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-sen i sin, </a:t>
                      </a:r>
                      <a:r>
                        <a:rPr lang="fr-FR" sz="1100" kern="1200" err="1">
                          <a:solidFill>
                            <a:schemeClr val="tx1"/>
                          </a:solidFill>
                          <a:effectLst/>
                          <a:latin typeface="+mn-lt"/>
                          <a:ea typeface="+mn-ea"/>
                          <a:cs typeface="+mn-cs"/>
                        </a:rPr>
                        <a:t>iɛahed-iten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ten-yečči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ddib</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nṣafeṛ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rrbeḥ</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iban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a:t>
                      </a:r>
                    </a:p>
                    <a:p>
                      <a:pPr indent="457200"/>
                      <a:r>
                        <a:rPr lang="fr-FR" sz="1100" kern="1200">
                          <a:solidFill>
                            <a:schemeClr val="tx1"/>
                          </a:solidFill>
                          <a:effectLst/>
                          <a:latin typeface="+mn-lt"/>
                          <a:ea typeface="+mn-ea"/>
                          <a:cs typeface="+mn-cs"/>
                        </a:rPr>
                        <a:t>Ma </a:t>
                      </a:r>
                      <a:r>
                        <a:rPr lang="fr-FR" sz="1100" kern="1200" err="1">
                          <a:solidFill>
                            <a:schemeClr val="tx1"/>
                          </a:solidFill>
                          <a:effectLst/>
                          <a:latin typeface="+mn-lt"/>
                          <a:ea typeface="+mn-ea"/>
                          <a:cs typeface="+mn-cs"/>
                        </a:rPr>
                        <a:t>nɣiɣ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Ma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-i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-i!</a:t>
                      </a:r>
                    </a:p>
                    <a:p>
                      <a:pPr indent="457200"/>
                      <a:r>
                        <a:rPr lang="fr-FR" sz="1100" kern="1200" err="1">
                          <a:solidFill>
                            <a:schemeClr val="tx1"/>
                          </a:solidFill>
                          <a:effectLst/>
                          <a:latin typeface="+mn-lt"/>
                          <a:ea typeface="+mn-ea"/>
                          <a:cs typeface="+mn-cs"/>
                        </a:rPr>
                        <a:t>Cerken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taxerraẓt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ttqeddimen</a:t>
                      </a:r>
                      <a:r>
                        <a:rPr lang="fr-FR" sz="1100" kern="1200">
                          <a:solidFill>
                            <a:schemeClr val="tx1"/>
                          </a:solidFill>
                          <a:effectLst/>
                          <a:latin typeface="+mn-lt"/>
                          <a:ea typeface="+mn-ea"/>
                          <a:cs typeface="+mn-cs"/>
                        </a:rPr>
                        <a:t>-as-d </a:t>
                      </a:r>
                      <a:r>
                        <a:rPr lang="fr-FR" sz="1100" kern="1200" err="1">
                          <a:solidFill>
                            <a:schemeClr val="tx1"/>
                          </a:solidFill>
                          <a:effectLst/>
                          <a:latin typeface="+mn-lt"/>
                          <a:ea typeface="+mn-ea"/>
                          <a:cs typeface="+mn-cs"/>
                        </a:rPr>
                        <a:t>ṣṣyada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yettɣimi-yas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wemḍiq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yettruẓu</a:t>
                      </a:r>
                      <a:r>
                        <a:rPr lang="fr-FR" sz="1100" kern="1200">
                          <a:solidFill>
                            <a:schemeClr val="tx1"/>
                          </a:solidFill>
                          <a:effectLst/>
                          <a:latin typeface="+mn-lt"/>
                          <a:ea typeface="+mn-ea"/>
                          <a:cs typeface="+mn-cs"/>
                        </a:rPr>
                        <a:t>-tt. Mi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lmakla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tisigar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Iḍleb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gar-aneɣ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waccaren-is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leɛmeṛ-is</a:t>
                      </a:r>
                      <a:r>
                        <a:rPr lang="fr-FR" sz="1100" kern="1200">
                          <a:solidFill>
                            <a:schemeClr val="tx1"/>
                          </a:solidFill>
                          <a:effectLst/>
                          <a:latin typeface="+mn-lt"/>
                          <a:ea typeface="+mn-ea"/>
                          <a:cs typeface="+mn-cs"/>
                        </a:rPr>
                        <a:t>. Yenna-yas i wuccen:</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keččini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tsefsuḍ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tfetreḍ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imensi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Wi k-</a:t>
                      </a:r>
                      <a:r>
                        <a:rPr lang="fr-FR" sz="1100" kern="1200" err="1">
                          <a:solidFill>
                            <a:schemeClr val="tx1"/>
                          </a:solidFill>
                          <a:effectLst/>
                          <a:latin typeface="+mn-lt"/>
                          <a:ea typeface="+mn-ea"/>
                          <a:cs typeface="+mn-cs"/>
                        </a:rPr>
                        <a:t>yefkan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Iǧaweb</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D </a:t>
                      </a:r>
                      <a:r>
                        <a:rPr lang="fr-FR" sz="1100" kern="1200" err="1">
                          <a:solidFill>
                            <a:schemeClr val="tx1"/>
                          </a:solidFill>
                          <a:effectLst/>
                          <a:latin typeface="+mn-lt"/>
                          <a:ea typeface="+mn-ea"/>
                          <a:cs typeface="+mn-cs"/>
                        </a:rPr>
                        <a:t>accaren</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yentan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constat un jour que le chacal déjouait ses plans. Alors il se réconcilia avec lui et avec l’hyène qui profitaient toujours des restes de sa chasse. Il jura donc de ne jamais les dévorer et il ajouta, pour le chacal :</a:t>
                      </a:r>
                    </a:p>
                    <a:p>
                      <a:pPr indent="216000" algn="l"/>
                      <a:r>
                        <a:rPr lang="fr-FR" sz="1100" kern="150">
                          <a:effectLst/>
                          <a:latin typeface="Cascadia Mono" panose="020B0609020000020004" pitchFamily="49" charset="0"/>
                          <a:cs typeface="Cascadia Mono" panose="020B0609020000020004" pitchFamily="49" charset="0"/>
                        </a:rPr>
                        <a:t>Partons en voyage, chacal !</a:t>
                      </a:r>
                    </a:p>
                    <a:p>
                      <a:pPr indent="216000" algn="l"/>
                      <a:r>
                        <a:rPr lang="fr-FR" sz="1100" kern="150">
                          <a:effectLst/>
                          <a:latin typeface="Cascadia Mono" panose="020B0609020000020004" pitchFamily="49" charset="0"/>
                          <a:cs typeface="Cascadia Mono" panose="020B0609020000020004" pitchFamily="49" charset="0"/>
                        </a:rPr>
                        <a:t>Avec moi, ton bonheur est assuré :</a:t>
                      </a:r>
                    </a:p>
                    <a:p>
                      <a:pPr indent="216000" algn="l"/>
                      <a:r>
                        <a:rPr lang="fr-FR" sz="1100" kern="150">
                          <a:effectLst/>
                          <a:latin typeface="Cascadia Mono" panose="020B0609020000020004" pitchFamily="49" charset="0"/>
                          <a:cs typeface="Cascadia Mono" panose="020B0609020000020004" pitchFamily="49" charset="0"/>
                        </a:rPr>
                        <a:t>Si je tue les autres, tu dévoreras ;</a:t>
                      </a:r>
                    </a:p>
                    <a:p>
                      <a:pPr indent="216000" algn="l"/>
                      <a:r>
                        <a:rPr lang="fr-FR" sz="1100" kern="150">
                          <a:effectLst/>
                          <a:latin typeface="Cascadia Mono" panose="020B0609020000020004" pitchFamily="49" charset="0"/>
                          <a:cs typeface="Cascadia Mono" panose="020B0609020000020004" pitchFamily="49" charset="0"/>
                        </a:rPr>
                        <a:t>S’ils me tuaient, tu me dévorerais !</a:t>
                      </a:r>
                    </a:p>
                    <a:p>
                      <a:pPr indent="216000" algn="l"/>
                      <a:r>
                        <a:rPr lang="fr-FR" sz="1100" kern="15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fr-FR" sz="1100" kern="15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a:effectLst/>
                          <a:latin typeface="Cascadia Mono" panose="020B0609020000020004" pitchFamily="49" charset="0"/>
                          <a:cs typeface="Cascadia Mono" panose="020B0609020000020004" pitchFamily="49" charset="0"/>
                        </a:rPr>
                        <a:t>- Fais toi-même le partage.</a:t>
                      </a:r>
                    </a:p>
                    <a:p>
                      <a:pPr indent="216000" algn="l"/>
                      <a:r>
                        <a:rPr lang="fr-FR" sz="1100" kern="15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2423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Ɛuhden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ččin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idewweṛ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yellemlem</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tedhen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imeddukal-is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yimi-nsen</a:t>
                      </a:r>
                      <a:r>
                        <a:rPr lang="fr-FR" sz="1100" kern="1200">
                          <a:solidFill>
                            <a:schemeClr val="tx1"/>
                          </a:solidFill>
                          <a:effectLst/>
                          <a:latin typeface="+mn-lt"/>
                          <a:ea typeface="+mn-ea"/>
                          <a:cs typeface="+mn-cs"/>
                        </a:rPr>
                        <a:t> aman.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mcawaṛen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ad t-</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aql-aɣ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nemmut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isebbel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selken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wiyaḍ</a:t>
                      </a:r>
                      <a:r>
                        <a:rPr lang="fr-FR" sz="1100" kern="1200">
                          <a:solidFill>
                            <a:schemeClr val="tx1"/>
                          </a:solidFill>
                          <a:effectLst/>
                          <a:latin typeface="+mn-lt"/>
                          <a:ea typeface="+mn-ea"/>
                          <a:cs typeface="+mn-cs"/>
                        </a:rPr>
                        <a:t>! Tura,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tasedda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tagmart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xali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aɛudiw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baba,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ssineɣ</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yini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Nnan-as: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Ini-</a:t>
                      </a:r>
                      <a:r>
                        <a:rPr lang="fr-FR" sz="1100" kern="1200" err="1">
                          <a:solidFill>
                            <a:schemeClr val="tx1"/>
                          </a:solidFill>
                          <a:effectLst/>
                          <a:latin typeface="+mn-lt"/>
                          <a:ea typeface="+mn-ea"/>
                          <a:cs typeface="+mn-cs"/>
                        </a:rPr>
                        <a:t>yaneɣ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Serrḥet-iyi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ṛuḥeɣ</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steqsiɣ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Cubkeɣ-kwen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awiɣ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lexbaṛ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Serrḥen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fr-FR" sz="1100" kern="15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À sa vue, ses compagnons sentirent bientôt l’eau leur venir à la bouche.</a:t>
                      </a:r>
                    </a:p>
                    <a:p>
                      <a:pPr indent="216000" algn="l"/>
                      <a:r>
                        <a:rPr lang="fr-FR" sz="1100" kern="15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a:effectLst/>
                          <a:latin typeface="Cascadia Mono" panose="020B0609020000020004" pitchFamily="49" charset="0"/>
                          <a:cs typeface="Cascadia Mono" panose="020B0609020000020004" pitchFamily="49" charset="0"/>
                        </a:rPr>
                        <a:t>- C’est de bonne famille, dit le lion.</a:t>
                      </a:r>
                    </a:p>
                    <a:p>
                      <a:pPr indent="216000" algn="l"/>
                      <a:r>
                        <a:rPr lang="fr-FR" sz="1100" kern="150">
                          <a:effectLst/>
                          <a:latin typeface="Cascadia Mono" panose="020B0609020000020004" pitchFamily="49" charset="0"/>
                          <a:cs typeface="Cascadia Mono" panose="020B0609020000020004" pitchFamily="49" charset="0"/>
                        </a:rPr>
                        <a:t>Restait le mulet qui dit :</a:t>
                      </a:r>
                    </a:p>
                    <a:p>
                      <a:pPr indent="216000" algn="l"/>
                      <a:r>
                        <a:rPr lang="fr-FR" sz="1100" kern="15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a:effectLst/>
                          <a:latin typeface="Cascadia Mono" panose="020B0609020000020004" pitchFamily="49" charset="0"/>
                          <a:cs typeface="Cascadia Mono" panose="020B0609020000020004" pitchFamily="49" charset="0"/>
                        </a:rPr>
                        <a:t>Ils le laissèrent partir.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855730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Yuɣal wuccen yeṭṭef aserdun weḥd-s, sewwqen deg uqerru n yizem, ad iṛuḥ am tadla yečča yilef.</a:t>
                      </a:r>
                    </a:p>
                    <a:p>
                      <a:pPr indent="457200"/>
                      <a:r>
                        <a:rPr lang="fr-FR" sz="1100" kern="1200">
                          <a:solidFill>
                            <a:schemeClr val="tx1"/>
                          </a:solidFill>
                          <a:effectLst/>
                          <a:latin typeface="+mn-lt"/>
                          <a:ea typeface="+mn-ea"/>
                          <a:cs typeface="+mn-cs"/>
                        </a:rPr>
                        <a:t>Yewweḍ userdun s aḥeddad: igerrez-as-d tasmiṛt, inqec-itt-id, yesɣezf-as-d imesmaṛen, Ssyen, ibren-d s imddukal-is. Yenna-yas yizem:</a:t>
                      </a:r>
                    </a:p>
                    <a:p>
                      <a:pPr indent="457200"/>
                      <a:r>
                        <a:rPr lang="fr-FR" sz="1100" kern="1200">
                          <a:solidFill>
                            <a:schemeClr val="tx1"/>
                          </a:solidFill>
                          <a:effectLst/>
                          <a:latin typeface="+mn-lt"/>
                          <a:ea typeface="+mn-ea"/>
                          <a:cs typeface="+mn-cs"/>
                        </a:rPr>
                        <a:t>- Ihi, anwa i d baba-k?</a:t>
                      </a:r>
                    </a:p>
                    <a:p>
                      <a:pPr indent="457200"/>
                      <a:r>
                        <a:rPr lang="fr-FR" sz="1100" kern="1200">
                          <a:solidFill>
                            <a:schemeClr val="tx1"/>
                          </a:solidFill>
                          <a:effectLst/>
                          <a:latin typeface="+mn-lt"/>
                          <a:ea typeface="+mn-ea"/>
                          <a:cs typeface="+mn-cs"/>
                        </a:rPr>
                        <a:t>- Yerra-yas userdun: Ur ufiɣ ara lexbaṛ-is, lameɛna yeǧǧa-yi-d ttajiṛa deg ḍarren-iw: ma tebɣam ad tt-id-teɣrem.</a:t>
                      </a:r>
                    </a:p>
                    <a:p>
                      <a:pPr indent="457200"/>
                      <a:r>
                        <a:rPr lang="fr-FR" sz="1100" kern="1200">
                          <a:solidFill>
                            <a:schemeClr val="tx1"/>
                          </a:solidFill>
                          <a:effectLst/>
                          <a:latin typeface="+mn-lt"/>
                          <a:ea typeface="+mn-ea"/>
                          <a:cs typeface="+mn-cs"/>
                        </a:rPr>
                        <a:t>Yenna-yas yizem i wuccen:</a:t>
                      </a:r>
                    </a:p>
                    <a:p>
                      <a:pPr indent="457200"/>
                      <a:r>
                        <a:rPr lang="fr-FR" sz="1100" kern="1200">
                          <a:solidFill>
                            <a:schemeClr val="tx1"/>
                          </a:solidFill>
                          <a:effectLst/>
                          <a:latin typeface="+mn-lt"/>
                          <a:ea typeface="+mn-ea"/>
                          <a:cs typeface="+mn-cs"/>
                        </a:rPr>
                        <a:t>- Qerreb eɣr-itt-id, a Mḥemmed.</a:t>
                      </a:r>
                    </a:p>
                    <a:p>
                      <a:pPr indent="457200"/>
                      <a:r>
                        <a:rPr lang="fr-FR" sz="1100" kern="1200">
                          <a:solidFill>
                            <a:schemeClr val="tx1"/>
                          </a:solidFill>
                          <a:effectLst/>
                          <a:latin typeface="+mn-lt"/>
                          <a:ea typeface="+mn-ea"/>
                          <a:cs typeface="+mn-cs"/>
                        </a:rPr>
                        <a:t>- Yerra-yas wuccen: A lmir n lewḥuc, nek, imawlan-iw d igellilen: ur iyi-fkin ɣer leqraya. D keč ay d mmis n wexxam ameqran: tessenḍ ad tt-id-teɣreḍ.</a:t>
                      </a:r>
                    </a:p>
                    <a:p>
                      <a:pPr indent="457200"/>
                      <a:r>
                        <a:rPr lang="fr-FR" sz="1100" kern="1200">
                          <a:solidFill>
                            <a:schemeClr val="tx1"/>
                          </a:solidFill>
                          <a:effectLst/>
                          <a:latin typeface="+mn-lt"/>
                          <a:ea typeface="+mn-ea"/>
                          <a:cs typeface="+mn-cs"/>
                        </a:rPr>
                        <a:t>Iqerreb yizem axencuc-is, yesteɛmel ad iɣer: leɛmaṛa terɣa: ibedd userdun f imezwura, yewt-it-id s ineggura: kecmen imesmaṛen di lmux n yizem, yeɣli.</a:t>
                      </a:r>
                    </a:p>
                    <a:p>
                      <a:pPr indent="457200"/>
                      <a:r>
                        <a:rPr lang="fr-FR" sz="1100" kern="1200">
                          <a:solidFill>
                            <a:schemeClr val="tx1"/>
                          </a:solidFill>
                          <a:effectLst/>
                          <a:latin typeface="+mn-lt"/>
                          <a:ea typeface="+mn-ea"/>
                          <a:cs typeface="+mn-cs"/>
                        </a:rPr>
                        <a:t>Werɛad yessufeɣ taṛwiḥt, yeɛna-t wuccen s acekkab.</a:t>
                      </a:r>
                    </a:p>
                    <a:p>
                      <a:pPr indent="457200"/>
                      <a:r>
                        <a:rPr lang="fr-FR" sz="1100" kern="1200">
                          <a:solidFill>
                            <a:schemeClr val="tx1"/>
                          </a:solidFill>
                          <a:effectLst/>
                          <a:latin typeface="+mn-lt"/>
                          <a:ea typeface="+mn-ea"/>
                          <a:cs typeface="+mn-cs"/>
                        </a:rPr>
                        <a:t>Yenna-yas yizem:</a:t>
                      </a:r>
                    </a:p>
                    <a:p>
                      <a:pPr indent="457200"/>
                      <a:r>
                        <a:rPr lang="fr-FR" sz="1100" kern="1200">
                          <a:solidFill>
                            <a:schemeClr val="tx1"/>
                          </a:solidFill>
                          <a:effectLst/>
                          <a:latin typeface="+mn-lt"/>
                          <a:ea typeface="+mn-ea"/>
                          <a:cs typeface="+mn-cs"/>
                        </a:rPr>
                        <a:t>- Ah! ddunit d wi ibedden, ɣas ad yili baba-s d aɣyul!</a:t>
                      </a:r>
                    </a:p>
                    <a:p>
                      <a:pPr indent="457200"/>
                      <a:r>
                        <a:rPr lang="fr-FR" sz="1100" kern="1200">
                          <a:solidFill>
                            <a:schemeClr val="tx1"/>
                          </a:solidFill>
                          <a:effectLst/>
                          <a:latin typeface="+mn-lt"/>
                          <a:ea typeface="+mn-ea"/>
                          <a:cs typeface="+mn-cs"/>
                        </a:rPr>
                        <a:t>Yemmut yizem, bu tissas, lmir n lewḥuc: yenɣa-t userdun, mmi-s n weɣyul, ččan-t wuccanen.</a:t>
                      </a:r>
                    </a:p>
                    <a:p>
                      <a:pPr indent="457200"/>
                      <a:r>
                        <a:rPr lang="fr-FR" sz="1100" kern="1200">
                          <a:solidFill>
                            <a:schemeClr val="tx1"/>
                          </a:solidFill>
                          <a:effectLst/>
                          <a:latin typeface="+mn-lt"/>
                          <a:ea typeface="+mn-ea"/>
                          <a:cs typeface="+mn-cs"/>
                        </a:rPr>
                        <a:t>Seg wass nni ay txab tmurt.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Le mulet alla chez un forgeron qui lui ajusta de beaux fers ciselés, avec des clous qui n’en finissaient plus, puis il revint vers ses compagnons.</a:t>
                      </a:r>
                    </a:p>
                    <a:p>
                      <a:pPr indent="216000" algn="l"/>
                      <a:r>
                        <a:rPr lang="fr-FR" sz="1100" kern="15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a:effectLst/>
                          <a:latin typeface="Cascadia Mono" panose="020B0609020000020004" pitchFamily="49" charset="0"/>
                          <a:cs typeface="Cascadia Mono" panose="020B0609020000020004" pitchFamily="49" charset="0"/>
                        </a:rPr>
                        <a:t>Le mulet répondit :</a:t>
                      </a:r>
                    </a:p>
                    <a:p>
                      <a:pPr indent="216000" algn="l"/>
                      <a:r>
                        <a:rPr lang="fr-FR" sz="1100" kern="15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a:effectLst/>
                          <a:latin typeface="Cascadia Mono" panose="020B0609020000020004" pitchFamily="49" charset="0"/>
                          <a:cs typeface="Cascadia Mono" panose="020B0609020000020004" pitchFamily="49" charset="0"/>
                        </a:rPr>
                        <a:t>- Va lire, Mohammed, dit le lion.</a:t>
                      </a:r>
                    </a:p>
                    <a:p>
                      <a:pPr indent="216000" algn="l"/>
                      <a:r>
                        <a:rPr lang="fr-FR" sz="1100" kern="15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fr-FR" sz="1100" kern="15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fr-FR" sz="1100" kern="15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a:effectLst/>
                          <a:latin typeface="Cascadia Mono" panose="020B0609020000020004" pitchFamily="49" charset="0"/>
                          <a:cs typeface="Cascadia Mono" panose="020B0609020000020004" pitchFamily="49" charset="0"/>
                        </a:rPr>
                        <a:t>- Ah ! gémit le lion, le monde est toujours du côté du plus fort, </a:t>
                      </a:r>
                      <a:r>
                        <a:rPr lang="fr-FR" sz="1100" kern="150" err="1">
                          <a:effectLst/>
                          <a:latin typeface="Cascadia Mono" panose="020B0609020000020004" pitchFamily="49" charset="0"/>
                          <a:cs typeface="Cascadia Mono" panose="020B0609020000020004" pitchFamily="49" charset="0"/>
                        </a:rPr>
                        <a:t>fût-il</a:t>
                      </a:r>
                      <a:r>
                        <a:rPr lang="fr-FR" sz="1100" kern="150">
                          <a:effectLst/>
                          <a:latin typeface="Cascadia Mono" panose="020B0609020000020004" pitchFamily="49" charset="0"/>
                          <a:cs typeface="Cascadia Mono" panose="020B0609020000020004" pitchFamily="49" charset="0"/>
                        </a:rPr>
                        <a:t> fils de baudet !…</a:t>
                      </a:r>
                    </a:p>
                    <a:p>
                      <a:pPr indent="216000" algn="l"/>
                      <a:r>
                        <a:rPr lang="fr-FR" sz="1100" kern="15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a:effectLst/>
                          <a:latin typeface="Cascadia Mono" panose="020B0609020000020004" pitchFamily="49" charset="0"/>
                          <a:cs typeface="Cascadia Mono" panose="020B0609020000020004" pitchFamily="49" charset="0"/>
                        </a:rPr>
                        <a:t>C’est depuis ce jour-là que le pays vit dans l’anarchie.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367510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93180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Tamacahut-iw lwad lwad:</a:t>
                      </a:r>
                    </a:p>
                    <a:p>
                      <a:pPr indent="457200"/>
                      <a:r>
                        <a:rPr lang="fr-FR" sz="1100" kern="1200">
                          <a:solidFill>
                            <a:schemeClr val="tx1"/>
                          </a:solidFill>
                          <a:effectLst/>
                          <a:latin typeface="+mn-lt"/>
                          <a:ea typeface="+mn-ea"/>
                          <a:cs typeface="+mn-cs"/>
                        </a:rPr>
                        <a:t>Sawleɣ-tt-id i tarrawt n leǧwad.</a:t>
                      </a:r>
                    </a:p>
                    <a:p>
                      <a:pPr indent="457200"/>
                      <a:r>
                        <a:rPr lang="fr-FR" sz="1100" kern="1200">
                          <a:solidFill>
                            <a:schemeClr val="tx1"/>
                          </a:solidFill>
                          <a:effectLst/>
                          <a:latin typeface="+mn-lt"/>
                          <a:ea typeface="+mn-ea"/>
                          <a:cs typeface="+mn-cs"/>
                        </a:rPr>
                        <a:t>Nekni nṛuḥ abrid abrid,</a:t>
                      </a:r>
                    </a:p>
                    <a:p>
                      <a:pPr indent="457200"/>
                      <a:r>
                        <a:rPr lang="fr-FR" sz="1100" kern="1200">
                          <a:solidFill>
                            <a:schemeClr val="tx1"/>
                          </a:solidFill>
                          <a:effectLst/>
                          <a:latin typeface="+mn-lt"/>
                          <a:ea typeface="+mn-ea"/>
                          <a:cs typeface="+mn-cs"/>
                        </a:rPr>
                        <a:t>Uccen iṛuḥ lexla lexla:</a:t>
                      </a:r>
                    </a:p>
                    <a:p>
                      <a:pPr indent="457200"/>
                      <a:r>
                        <a:rPr lang="fr-FR" sz="1100" kern="1200">
                          <a:solidFill>
                            <a:schemeClr val="tx1"/>
                          </a:solidFill>
                          <a:effectLst/>
                          <a:latin typeface="+mn-lt"/>
                          <a:ea typeface="+mn-ea"/>
                          <a:cs typeface="+mn-cs"/>
                        </a:rPr>
                        <a:t>Yewt-aɣ-d s tesfenǧett: nečča-tt;</a:t>
                      </a:r>
                    </a:p>
                    <a:p>
                      <a:pPr indent="457200"/>
                      <a:r>
                        <a:rPr lang="fr-FR" sz="1100" kern="1200">
                          <a:solidFill>
                            <a:schemeClr val="tx1"/>
                          </a:solidFill>
                          <a:effectLst/>
                          <a:latin typeface="+mn-lt"/>
                          <a:ea typeface="+mn-ea"/>
                          <a:cs typeface="+mn-cs"/>
                        </a:rPr>
                        <a:t>Newt-it s weẓru, nerẓa-t!</a:t>
                      </a:r>
                    </a:p>
                    <a:p>
                      <a:pPr indent="457200"/>
                      <a:r>
                        <a:rPr lang="fr-FR" sz="1100" kern="1200">
                          <a:solidFill>
                            <a:schemeClr val="tx1"/>
                          </a:solidFill>
                          <a:effectLst/>
                          <a:latin typeface="+mn-lt"/>
                          <a:ea typeface="+mn-ea"/>
                          <a:cs typeface="+mn-cs"/>
                        </a:rPr>
                        <a:t>Nekni, ad aɣ-yeṛḥem Ṛebbi;</a:t>
                      </a:r>
                    </a:p>
                    <a:p>
                      <a:pPr indent="457200"/>
                      <a:r>
                        <a:rPr lang="fr-FR" sz="1100" kern="1200">
                          <a:solidFill>
                            <a:schemeClr val="tx1"/>
                          </a:solidFill>
                          <a:effectLst/>
                          <a:latin typeface="+mn-lt"/>
                          <a:ea typeface="+mn-ea"/>
                          <a:cs typeface="+mn-cs"/>
                        </a:rPr>
                        <a:t>Uccanen, ad ten-yeḥreq Ṛebbi!</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Tasekkurt tezreɛ tineqqict,</a:t>
                      </a:r>
                    </a:p>
                    <a:p>
                      <a:pPr indent="457200"/>
                      <a:r>
                        <a:rPr lang="fr-FR" sz="1100" kern="1200">
                          <a:solidFill>
                            <a:schemeClr val="tx1"/>
                          </a:solidFill>
                          <a:effectLst/>
                          <a:latin typeface="+mn-lt"/>
                          <a:ea typeface="+mn-ea"/>
                          <a:cs typeface="+mn-cs"/>
                        </a:rPr>
                        <a:t>Tefka-d ijeǧǧigen:</a:t>
                      </a:r>
                    </a:p>
                    <a:p>
                      <a:pPr indent="457200"/>
                      <a:r>
                        <a:rPr lang="fr-FR" sz="1100" kern="1200">
                          <a:solidFill>
                            <a:schemeClr val="tx1"/>
                          </a:solidFill>
                          <a:effectLst/>
                          <a:latin typeface="+mn-lt"/>
                          <a:ea typeface="+mn-ea"/>
                          <a:cs typeface="+mn-cs"/>
                        </a:rPr>
                        <a:t>Teglalez deg-s,</a:t>
                      </a:r>
                    </a:p>
                    <a:p>
                      <a:pPr indent="457200"/>
                      <a:r>
                        <a:rPr lang="fr-FR" sz="1100" kern="1200">
                          <a:solidFill>
                            <a:schemeClr val="tx1"/>
                          </a:solidFill>
                          <a:effectLst/>
                          <a:latin typeface="+mn-lt"/>
                          <a:ea typeface="+mn-ea"/>
                          <a:cs typeface="+mn-cs"/>
                        </a:rPr>
                        <a:t>Telsa-d am teslit.</a:t>
                      </a:r>
                    </a:p>
                    <a:p>
                      <a:pPr indent="457200"/>
                      <a:r>
                        <a:rPr lang="fr-FR" sz="1100" kern="1200">
                          <a:solidFill>
                            <a:schemeClr val="tx1"/>
                          </a:solidFill>
                          <a:effectLst/>
                          <a:latin typeface="+mn-lt"/>
                          <a:ea typeface="+mn-ea"/>
                          <a:cs typeface="+mn-cs"/>
                        </a:rPr>
                        <a:t>Temmuqel s igenni,</a:t>
                      </a:r>
                    </a:p>
                    <a:p>
                      <a:pPr indent="457200"/>
                      <a:r>
                        <a:rPr lang="fr-FR" sz="1100" kern="1200">
                          <a:solidFill>
                            <a:schemeClr val="tx1"/>
                          </a:solidFill>
                          <a:effectLst/>
                          <a:latin typeface="+mn-lt"/>
                          <a:ea typeface="+mn-ea"/>
                          <a:cs typeface="+mn-cs"/>
                        </a:rPr>
                        <a:t>Tkeḥḥel-d ṭiṭṭuct-is</a:t>
                      </a:r>
                    </a:p>
                    <a:p>
                      <a:pPr indent="457200"/>
                      <a:r>
                        <a:rPr lang="fr-FR" sz="1100" kern="1200">
                          <a:solidFill>
                            <a:schemeClr val="tx1"/>
                          </a:solidFill>
                          <a:effectLst/>
                          <a:latin typeface="+mn-lt"/>
                          <a:ea typeface="+mn-ea"/>
                          <a:cs typeface="+mn-cs"/>
                        </a:rPr>
                        <a:t>Tezger tiɣẓert,</a:t>
                      </a:r>
                    </a:p>
                    <a:p>
                      <a:pPr indent="457200"/>
                      <a:r>
                        <a:rPr lang="fr-FR" sz="1100" kern="1200">
                          <a:solidFill>
                            <a:schemeClr val="tx1"/>
                          </a:solidFill>
                          <a:effectLst/>
                          <a:latin typeface="+mn-lt"/>
                          <a:ea typeface="+mn-ea"/>
                          <a:cs typeface="+mn-cs"/>
                        </a:rPr>
                        <a:t>Teqqen-d lḥenni.</a:t>
                      </a:r>
                    </a:p>
                    <a:p>
                      <a:pPr indent="457200"/>
                      <a:r>
                        <a:rPr lang="fr-FR" sz="1100" kern="1200">
                          <a:solidFill>
                            <a:schemeClr val="tx1"/>
                          </a:solidFill>
                          <a:effectLst/>
                          <a:latin typeface="+mn-lt"/>
                          <a:ea typeface="+mn-ea"/>
                          <a:cs typeface="+mn-cs"/>
                        </a:rPr>
                        <a:t>Tṣubb takessart,</a:t>
                      </a:r>
                    </a:p>
                    <a:p>
                      <a:pPr indent="457200"/>
                      <a:r>
                        <a:rPr lang="fr-FR" sz="1100" kern="1200">
                          <a:solidFill>
                            <a:schemeClr val="tx1"/>
                          </a:solidFill>
                          <a:effectLst/>
                          <a:latin typeface="+mn-lt"/>
                          <a:ea typeface="+mn-ea"/>
                          <a:cs typeface="+mn-cs"/>
                        </a:rPr>
                        <a:t>Terkeb f tserdunt-is.</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Uccen yezreɛ tineqqict,</a:t>
                      </a:r>
                    </a:p>
                    <a:p>
                      <a:pPr indent="457200"/>
                      <a:r>
                        <a:rPr lang="fr-FR" sz="1100" kern="1200">
                          <a:solidFill>
                            <a:schemeClr val="tx1"/>
                          </a:solidFill>
                          <a:effectLst/>
                          <a:latin typeface="+mn-lt"/>
                          <a:ea typeface="+mn-ea"/>
                          <a:cs typeface="+mn-cs"/>
                        </a:rPr>
                        <a:t>Tefka-d isennanen:</a:t>
                      </a:r>
                    </a:p>
                    <a:p>
                      <a:pPr indent="457200"/>
                      <a:r>
                        <a:rPr lang="fr-FR" sz="1100" kern="1200">
                          <a:solidFill>
                            <a:schemeClr val="tx1"/>
                          </a:solidFill>
                          <a:effectLst/>
                          <a:latin typeface="+mn-lt"/>
                          <a:ea typeface="+mn-ea"/>
                          <a:cs typeface="+mn-cs"/>
                        </a:rPr>
                        <a:t>Yeglalez deg-s,</a:t>
                      </a:r>
                    </a:p>
                    <a:p>
                      <a:pPr indent="457200"/>
                      <a:r>
                        <a:rPr lang="fr-FR" sz="1100" kern="1200">
                          <a:solidFill>
                            <a:schemeClr val="tx1"/>
                          </a:solidFill>
                          <a:effectLst/>
                          <a:latin typeface="+mn-lt"/>
                          <a:ea typeface="+mn-ea"/>
                          <a:cs typeface="+mn-cs"/>
                        </a:rPr>
                        <a:t>Tedda-d tebḍant-is.</a:t>
                      </a:r>
                    </a:p>
                    <a:p>
                      <a:pPr indent="457200"/>
                      <a:r>
                        <a:rPr lang="fr-FR" sz="1100" kern="1200">
                          <a:solidFill>
                            <a:schemeClr val="tx1"/>
                          </a:solidFill>
                          <a:effectLst/>
                          <a:latin typeface="+mn-lt"/>
                          <a:ea typeface="+mn-ea"/>
                          <a:cs typeface="+mn-cs"/>
                        </a:rPr>
                        <a:t>Yemmuqel s igenni,</a:t>
                      </a:r>
                    </a:p>
                    <a:p>
                      <a:pPr indent="457200"/>
                      <a:r>
                        <a:rPr lang="fr-FR" sz="1100" kern="1200">
                          <a:solidFill>
                            <a:schemeClr val="tx1"/>
                          </a:solidFill>
                          <a:effectLst/>
                          <a:latin typeface="+mn-lt"/>
                          <a:ea typeface="+mn-ea"/>
                          <a:cs typeface="+mn-cs"/>
                        </a:rPr>
                        <a:t>Tedderɣel tṭiṭṭuct-is.</a:t>
                      </a:r>
                    </a:p>
                    <a:p>
                      <a:pPr indent="457200"/>
                      <a:r>
                        <a:rPr lang="fr-FR" sz="1100" kern="1200">
                          <a:solidFill>
                            <a:schemeClr val="tx1"/>
                          </a:solidFill>
                          <a:effectLst/>
                          <a:latin typeface="+mn-lt"/>
                          <a:ea typeface="+mn-ea"/>
                          <a:cs typeface="+mn-cs"/>
                        </a:rPr>
                        <a:t>Yezger tiɣẓert,</a:t>
                      </a:r>
                    </a:p>
                    <a:p>
                      <a:pPr indent="457200"/>
                      <a:r>
                        <a:rPr lang="fr-FR" sz="1100" kern="1200">
                          <a:solidFill>
                            <a:schemeClr val="tx1"/>
                          </a:solidFill>
                          <a:effectLst/>
                          <a:latin typeface="+mn-lt"/>
                          <a:ea typeface="+mn-ea"/>
                          <a:cs typeface="+mn-cs"/>
                        </a:rPr>
                        <a:t>Tedda-d tmessaṭ-is.</a:t>
                      </a:r>
                    </a:p>
                    <a:p>
                      <a:pPr indent="457200"/>
                      <a:r>
                        <a:rPr lang="fr-FR" sz="1100" kern="1200">
                          <a:solidFill>
                            <a:schemeClr val="tx1"/>
                          </a:solidFill>
                          <a:effectLst/>
                          <a:latin typeface="+mn-lt"/>
                          <a:ea typeface="+mn-ea"/>
                          <a:cs typeface="+mn-cs"/>
                        </a:rPr>
                        <a:t>Yuli-d tasawent,</a:t>
                      </a:r>
                    </a:p>
                    <a:p>
                      <a:pPr indent="457200"/>
                      <a:r>
                        <a:rPr lang="fr-FR" sz="1100" kern="1200">
                          <a:solidFill>
                            <a:schemeClr val="tx1"/>
                          </a:solidFill>
                          <a:effectLst/>
                          <a:latin typeface="+mn-lt"/>
                          <a:ea typeface="+mn-ea"/>
                          <a:cs typeface="+mn-cs"/>
                        </a:rPr>
                        <a:t>Terḍ-d tẓemmumt-is.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Mon histoire va au fil de l’eau :</a:t>
                      </a:r>
                    </a:p>
                    <a:p>
                      <a:pPr indent="216000" algn="l"/>
                      <a:r>
                        <a:rPr lang="fr-FR" sz="1100" kern="150">
                          <a:effectLst/>
                          <a:latin typeface="Cascadia Mono" panose="020B0609020000020004" pitchFamily="49" charset="0"/>
                          <a:cs typeface="Cascadia Mono" panose="020B0609020000020004" pitchFamily="49" charset="0"/>
                        </a:rPr>
                        <a:t>Je l’ai confiée aux fils de nobles.</a:t>
                      </a:r>
                    </a:p>
                    <a:p>
                      <a:pPr indent="216000" algn="l"/>
                      <a:r>
                        <a:rPr lang="fr-FR" sz="1100" kern="150">
                          <a:effectLst/>
                          <a:latin typeface="Cascadia Mono" panose="020B0609020000020004" pitchFamily="49" charset="0"/>
                          <a:cs typeface="Cascadia Mono" panose="020B0609020000020004" pitchFamily="49" charset="0"/>
                        </a:rPr>
                        <a:t>Nous, nous suivons le droit chemin ;</a:t>
                      </a:r>
                    </a:p>
                    <a:p>
                      <a:pPr indent="216000" algn="l"/>
                      <a:r>
                        <a:rPr lang="fr-FR" sz="1100" kern="150">
                          <a:effectLst/>
                          <a:latin typeface="Cascadia Mono" panose="020B0609020000020004" pitchFamily="49" charset="0"/>
                          <a:cs typeface="Cascadia Mono" panose="020B0609020000020004" pitchFamily="49" charset="0"/>
                        </a:rPr>
                        <a:t>Le chacal a pris par les champs,</a:t>
                      </a:r>
                    </a:p>
                    <a:p>
                      <a:pPr indent="216000" algn="l"/>
                      <a:r>
                        <a:rPr lang="fr-FR" sz="1100" kern="15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a:effectLst/>
                          <a:latin typeface="Cascadia Mono" panose="020B0609020000020004" pitchFamily="49" charset="0"/>
                          <a:cs typeface="Cascadia Mono" panose="020B0609020000020004" pitchFamily="49" charset="0"/>
                        </a:rPr>
                        <a:t>Nous, que Dieu nos pardonne ;</a:t>
                      </a:r>
                    </a:p>
                    <a:p>
                      <a:pPr indent="216000" algn="l"/>
                      <a:r>
                        <a:rPr lang="fr-FR" sz="1100" kern="150">
                          <a:effectLst/>
                          <a:latin typeface="Cascadia Mono" panose="020B0609020000020004" pitchFamily="49" charset="0"/>
                          <a:cs typeface="Cascadia Mono" panose="020B0609020000020004" pitchFamily="49" charset="0"/>
                        </a:rPr>
                        <a:t>Les chacals, que Dieu les grille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perdrix cultiva une parcelle</a:t>
                      </a:r>
                    </a:p>
                    <a:p>
                      <a:pPr indent="216000" algn="l"/>
                      <a:r>
                        <a:rPr lang="fr-FR" sz="1100" kern="150">
                          <a:effectLst/>
                          <a:latin typeface="Cascadia Mono" panose="020B0609020000020004" pitchFamily="49" charset="0"/>
                          <a:cs typeface="Cascadia Mono" panose="020B0609020000020004" pitchFamily="49" charset="0"/>
                        </a:rPr>
                        <a:t>Qui se couvrit de fleurs,</a:t>
                      </a:r>
                    </a:p>
                    <a:p>
                      <a:pPr indent="216000" algn="l"/>
                      <a:r>
                        <a:rPr lang="fr-FR" sz="1100" kern="150">
                          <a:effectLst/>
                          <a:latin typeface="Cascadia Mono" panose="020B0609020000020004" pitchFamily="49" charset="0"/>
                          <a:cs typeface="Cascadia Mono" panose="020B0609020000020004" pitchFamily="49" charset="0"/>
                        </a:rPr>
                        <a:t>Elle s’y roula</a:t>
                      </a:r>
                    </a:p>
                    <a:p>
                      <a:pPr indent="216000" algn="l"/>
                      <a:r>
                        <a:rPr lang="fr-FR" sz="1100" kern="150">
                          <a:effectLst/>
                          <a:latin typeface="Cascadia Mono" panose="020B0609020000020004" pitchFamily="49" charset="0"/>
                          <a:cs typeface="Cascadia Mono" panose="020B0609020000020004" pitchFamily="49" charset="0"/>
                        </a:rPr>
                        <a:t>Et fut vêtue comme une mariée ;</a:t>
                      </a:r>
                    </a:p>
                    <a:p>
                      <a:pPr indent="216000" algn="l"/>
                      <a:r>
                        <a:rPr lang="fr-FR" sz="1100" kern="150">
                          <a:effectLst/>
                          <a:latin typeface="Cascadia Mono" panose="020B0609020000020004" pitchFamily="49" charset="0"/>
                          <a:cs typeface="Cascadia Mono" panose="020B0609020000020004" pitchFamily="49" charset="0"/>
                        </a:rPr>
                        <a:t>Elle regarda vers le ciel</a:t>
                      </a:r>
                    </a:p>
                    <a:p>
                      <a:pPr indent="216000" algn="l"/>
                      <a:r>
                        <a:rPr lang="fr-FR" sz="1100" kern="150">
                          <a:effectLst/>
                          <a:latin typeface="Cascadia Mono" panose="020B0609020000020004" pitchFamily="49" charset="0"/>
                          <a:cs typeface="Cascadia Mono" panose="020B0609020000020004" pitchFamily="49" charset="0"/>
                        </a:rPr>
                        <a:t>Qui lui mit du kohol à l’œil ;</a:t>
                      </a:r>
                    </a:p>
                    <a:p>
                      <a:pPr indent="216000" algn="l"/>
                      <a:r>
                        <a:rPr lang="fr-FR" sz="1100" kern="150">
                          <a:effectLst/>
                          <a:latin typeface="Cascadia Mono" panose="020B0609020000020004" pitchFamily="49" charset="0"/>
                          <a:cs typeface="Cascadia Mono" panose="020B0609020000020004" pitchFamily="49" charset="0"/>
                        </a:rPr>
                        <a:t>Elle traversa le ruisselet</a:t>
                      </a:r>
                    </a:p>
                    <a:p>
                      <a:pPr indent="216000" algn="l"/>
                      <a:r>
                        <a:rPr lang="fr-FR" sz="1100" kern="150">
                          <a:effectLst/>
                          <a:latin typeface="Cascadia Mono" panose="020B0609020000020004" pitchFamily="49" charset="0"/>
                          <a:cs typeface="Cascadia Mono" panose="020B0609020000020004" pitchFamily="49" charset="0"/>
                        </a:rPr>
                        <a:t>Qui lui mit du henné.</a:t>
                      </a:r>
                    </a:p>
                    <a:p>
                      <a:pPr indent="216000" algn="l"/>
                      <a:r>
                        <a:rPr lang="fr-FR" sz="1100" kern="150">
                          <a:effectLst/>
                          <a:latin typeface="Cascadia Mono" panose="020B0609020000020004" pitchFamily="49" charset="0"/>
                          <a:cs typeface="Cascadia Mono" panose="020B0609020000020004" pitchFamily="49" charset="0"/>
                        </a:rPr>
                        <a:t>Elle prit la descente,</a:t>
                      </a:r>
                    </a:p>
                    <a:p>
                      <a:pPr indent="216000" algn="l"/>
                      <a:r>
                        <a:rPr lang="fr-FR" sz="1100" kern="150">
                          <a:effectLst/>
                          <a:latin typeface="Cascadia Mono" panose="020B0609020000020004" pitchFamily="49" charset="0"/>
                          <a:cs typeface="Cascadia Mono" panose="020B0609020000020004" pitchFamily="49" charset="0"/>
                        </a:rPr>
                        <a:t>Montée sur sa mule.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cultiva une parcelle</a:t>
                      </a:r>
                    </a:p>
                    <a:p>
                      <a:pPr indent="216000" algn="l"/>
                      <a:r>
                        <a:rPr lang="fr-FR" sz="1100" kern="150">
                          <a:effectLst/>
                          <a:latin typeface="Cascadia Mono" panose="020B0609020000020004" pitchFamily="49" charset="0"/>
                          <a:cs typeface="Cascadia Mono" panose="020B0609020000020004" pitchFamily="49" charset="0"/>
                        </a:rPr>
                        <a:t>Que se couvrit d’épines ;</a:t>
                      </a:r>
                    </a:p>
                    <a:p>
                      <a:pPr indent="216000" algn="l"/>
                      <a:r>
                        <a:rPr lang="fr-FR" sz="1100" kern="150">
                          <a:effectLst/>
                          <a:latin typeface="Cascadia Mono" panose="020B0609020000020004" pitchFamily="49" charset="0"/>
                          <a:cs typeface="Cascadia Mono" panose="020B0609020000020004" pitchFamily="49" charset="0"/>
                        </a:rPr>
                        <a:t>Il s’y roula</a:t>
                      </a:r>
                    </a:p>
                    <a:p>
                      <a:pPr indent="216000" algn="l"/>
                      <a:r>
                        <a:rPr lang="fr-FR" sz="1100" kern="150">
                          <a:effectLst/>
                          <a:latin typeface="Cascadia Mono" panose="020B0609020000020004" pitchFamily="49" charset="0"/>
                          <a:cs typeface="Cascadia Mono" panose="020B0609020000020004" pitchFamily="49" charset="0"/>
                        </a:rPr>
                        <a:t>Et y laissa sa fourrure.</a:t>
                      </a:r>
                    </a:p>
                    <a:p>
                      <a:pPr indent="216000" algn="l"/>
                      <a:r>
                        <a:rPr lang="fr-FR" sz="1100" kern="150">
                          <a:effectLst/>
                          <a:latin typeface="Cascadia Mono" panose="020B0609020000020004" pitchFamily="49" charset="0"/>
                          <a:cs typeface="Cascadia Mono" panose="020B0609020000020004" pitchFamily="49" charset="0"/>
                        </a:rPr>
                        <a:t>Il regarda le ciel</a:t>
                      </a:r>
                    </a:p>
                    <a:p>
                      <a:pPr indent="216000" algn="l"/>
                      <a:r>
                        <a:rPr lang="fr-FR" sz="1100" kern="150">
                          <a:effectLst/>
                          <a:latin typeface="Cascadia Mono" panose="020B0609020000020004" pitchFamily="49" charset="0"/>
                          <a:cs typeface="Cascadia Mono" panose="020B0609020000020004" pitchFamily="49" charset="0"/>
                        </a:rPr>
                        <a:t>Qui l’éborgna.</a:t>
                      </a:r>
                    </a:p>
                    <a:p>
                      <a:pPr indent="216000" algn="l"/>
                      <a:r>
                        <a:rPr lang="fr-FR" sz="1100" kern="150">
                          <a:effectLst/>
                          <a:latin typeface="Cascadia Mono" panose="020B0609020000020004" pitchFamily="49" charset="0"/>
                          <a:cs typeface="Cascadia Mono" panose="020B0609020000020004" pitchFamily="49" charset="0"/>
                        </a:rPr>
                        <a:t>Il traversa le ruisselet</a:t>
                      </a:r>
                    </a:p>
                    <a:p>
                      <a:pPr indent="216000" algn="l"/>
                      <a:r>
                        <a:rPr lang="fr-FR" sz="1100" kern="150">
                          <a:effectLst/>
                          <a:latin typeface="Cascadia Mono" panose="020B0609020000020004" pitchFamily="49" charset="0"/>
                          <a:cs typeface="Cascadia Mono" panose="020B0609020000020004" pitchFamily="49" charset="0"/>
                        </a:rPr>
                        <a:t>Qui lui emporta une patte.</a:t>
                      </a:r>
                    </a:p>
                    <a:p>
                      <a:pPr indent="216000" algn="l"/>
                      <a:r>
                        <a:rPr lang="fr-FR" sz="1100" kern="150">
                          <a:effectLst/>
                          <a:latin typeface="Cascadia Mono" panose="020B0609020000020004" pitchFamily="49" charset="0"/>
                          <a:cs typeface="Cascadia Mono" panose="020B0609020000020004" pitchFamily="49" charset="0"/>
                        </a:rPr>
                        <a:t>Il prit la montée</a:t>
                      </a:r>
                    </a:p>
                    <a:p>
                      <a:pPr indent="216000" algn="l"/>
                      <a:r>
                        <a:rPr lang="fr-FR" sz="1100" kern="150">
                          <a:effectLst/>
                          <a:latin typeface="Cascadia Mono" panose="020B0609020000020004" pitchFamily="49" charset="0"/>
                          <a:cs typeface="Cascadia Mono" panose="020B0609020000020004" pitchFamily="49" charset="0"/>
                        </a:rPr>
                        <a:t>Et creva de fatigue.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53877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172-174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A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irkel i yi-d-</a:t>
                      </a:r>
                      <a:r>
                        <a:rPr lang="fr-FR" sz="1100" kern="1200" err="1">
                          <a:solidFill>
                            <a:schemeClr val="tx1"/>
                          </a:solidFill>
                          <a:effectLst/>
                          <a:latin typeface="+mn-lt"/>
                          <a:ea typeface="+mn-ea"/>
                          <a:cs typeface="+mn-cs"/>
                        </a:rPr>
                        <a:t>yeslan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nelli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imunan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tmeyyzem </a:t>
                      </a:r>
                      <a:r>
                        <a:rPr lang="fr-FR" sz="1100" kern="1200" err="1">
                          <a:solidFill>
                            <a:schemeClr val="tx1"/>
                          </a:solidFill>
                          <a:effectLst/>
                          <a:latin typeface="+mn-lt"/>
                          <a:ea typeface="+mn-ea"/>
                          <a:cs typeface="+mn-cs"/>
                        </a:rPr>
                        <a:t>taḥkayt</a:t>
                      </a:r>
                      <a:r>
                        <a:rPr lang="fr-FR" sz="1100" kern="1200">
                          <a:solidFill>
                            <a:schemeClr val="tx1"/>
                          </a:solidFill>
                          <a:effectLst/>
                          <a:latin typeface="+mn-lt"/>
                          <a:ea typeface="+mn-ea"/>
                          <a:cs typeface="+mn-cs"/>
                        </a:rPr>
                        <a:t> agi.</a:t>
                      </a:r>
                    </a:p>
                    <a:p>
                      <a:pPr indent="457200"/>
                      <a:r>
                        <a:rPr lang="fr-FR" sz="1100" kern="1200">
                          <a:solidFill>
                            <a:schemeClr val="tx1"/>
                          </a:solidFill>
                          <a:effectLst/>
                          <a:latin typeface="+mn-lt"/>
                          <a:ea typeface="+mn-ea"/>
                          <a:cs typeface="+mn-cs"/>
                        </a:rPr>
                        <a:t>D kenwi yakk ay d-</a:t>
                      </a:r>
                      <a:r>
                        <a:rPr lang="fr-FR" sz="1100" kern="1200" err="1">
                          <a:solidFill>
                            <a:schemeClr val="tx1"/>
                          </a:solidFill>
                          <a:effectLst/>
                          <a:latin typeface="+mn-lt"/>
                          <a:ea typeface="+mn-ea"/>
                          <a:cs typeface="+mn-cs"/>
                        </a:rPr>
                        <a:t>lhaɣ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ken-menɛeɣ,</a:t>
                      </a:r>
                    </a:p>
                    <a:p>
                      <a:pPr indent="457200"/>
                      <a:r>
                        <a:rPr lang="fr-FR" sz="1100" kern="1200">
                          <a:solidFill>
                            <a:schemeClr val="tx1"/>
                          </a:solidFill>
                          <a:effectLst/>
                          <a:latin typeface="+mn-lt"/>
                          <a:ea typeface="+mn-ea"/>
                          <a:cs typeface="+mn-cs"/>
                        </a:rPr>
                        <a:t>Si </a:t>
                      </a:r>
                      <a:r>
                        <a:rPr lang="fr-FR" sz="1100" kern="1200" err="1">
                          <a:solidFill>
                            <a:schemeClr val="tx1"/>
                          </a:solidFill>
                          <a:effectLst/>
                          <a:latin typeface="+mn-lt"/>
                          <a:ea typeface="+mn-ea"/>
                          <a:cs typeface="+mn-cs"/>
                        </a:rPr>
                        <a:t>tyitwin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yellan di lḥekma</a:t>
                      </a:r>
                    </a:p>
                    <a:p>
                      <a:pPr indent="457200"/>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lewqama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Bac ad </a:t>
                      </a:r>
                      <a:r>
                        <a:rPr lang="fr-FR" sz="1100" kern="1200" err="1">
                          <a:solidFill>
                            <a:schemeClr val="tx1"/>
                          </a:solidFill>
                          <a:effectLst/>
                          <a:latin typeface="+mn-lt"/>
                          <a:ea typeface="+mn-ea"/>
                          <a:cs typeface="+mn-cs"/>
                        </a:rPr>
                        <a:t>yerkeb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yettrus.</a:t>
                      </a:r>
                    </a:p>
                    <a:p>
                      <a:pPr indent="457200"/>
                      <a:r>
                        <a:rPr lang="fr-FR" sz="1100" kern="1200">
                          <a:solidFill>
                            <a:schemeClr val="tx1"/>
                          </a:solidFill>
                          <a:effectLst/>
                          <a:latin typeface="+mn-lt"/>
                          <a:ea typeface="+mn-ea"/>
                          <a:cs typeface="+mn-cs"/>
                        </a:rPr>
                        <a:t>Ad </a:t>
                      </a:r>
                      <a:r>
                        <a:rPr lang="fr-FR" sz="1100" kern="1200" err="1">
                          <a:solidFill>
                            <a:schemeClr val="tx1"/>
                          </a:solidFill>
                          <a:effectLst/>
                          <a:latin typeface="+mn-lt"/>
                          <a:ea typeface="+mn-ea"/>
                          <a:cs typeface="+mn-cs"/>
                        </a:rPr>
                        <a:t>yefk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leqdeṛ</a:t>
                      </a:r>
                      <a:r>
                        <a:rPr lang="fr-FR" sz="1100" kern="1200">
                          <a:solidFill>
                            <a:schemeClr val="tx1"/>
                          </a:solidFill>
                          <a:effectLst/>
                          <a:latin typeface="+mn-lt"/>
                          <a:ea typeface="+mn-ea"/>
                          <a:cs typeface="+mn-cs"/>
                        </a:rPr>
                        <a:t> i umeqran,</a:t>
                      </a:r>
                    </a:p>
                    <a:p>
                      <a:pPr indent="457200"/>
                      <a:r>
                        <a:rPr lang="fr-FR" sz="1100" kern="1200" err="1">
                          <a:solidFill>
                            <a:schemeClr val="tx1"/>
                          </a:solidFill>
                          <a:effectLst/>
                          <a:latin typeface="+mn-lt"/>
                          <a:ea typeface="+mn-ea"/>
                          <a:cs typeface="+mn-cs"/>
                        </a:rPr>
                        <a:t>Iḥader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ameẓyan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Fell-as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ttaken </a:t>
                      </a:r>
                      <a:r>
                        <a:rPr lang="fr-FR" sz="1100" kern="1200" err="1">
                          <a:solidFill>
                            <a:schemeClr val="tx1"/>
                          </a:solidFill>
                          <a:effectLst/>
                          <a:latin typeface="+mn-lt"/>
                          <a:ea typeface="+mn-ea"/>
                          <a:cs typeface="+mn-cs"/>
                        </a:rPr>
                        <a:t>afus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deg wawal,</a:t>
                      </a:r>
                    </a:p>
                    <a:p>
                      <a:pPr indent="457200"/>
                      <a:r>
                        <a:rPr lang="fr-FR" sz="1100" kern="1200" err="1">
                          <a:solidFill>
                            <a:schemeClr val="tx1"/>
                          </a:solidFill>
                          <a:effectLst/>
                          <a:latin typeface="+mn-lt"/>
                          <a:ea typeface="+mn-ea"/>
                          <a:cs typeface="+mn-cs"/>
                        </a:rPr>
                        <a:t>Izemren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ccwal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Ssemrarɣen</a:t>
                      </a:r>
                      <a:r>
                        <a:rPr lang="fr-FR" sz="1100" kern="1200">
                          <a:solidFill>
                            <a:schemeClr val="tx1"/>
                          </a:solidFill>
                          <a:effectLst/>
                          <a:latin typeface="+mn-lt"/>
                          <a:ea typeface="+mn-ea"/>
                          <a:cs typeface="+mn-cs"/>
                        </a:rPr>
                        <a:t>-t deg wemṛaḥ.</a:t>
                      </a:r>
                    </a:p>
                    <a:p>
                      <a:pPr indent="457200"/>
                      <a:r>
                        <a:rPr lang="fr-FR" sz="1100" kern="1200" err="1">
                          <a:solidFill>
                            <a:schemeClr val="tx1"/>
                          </a:solidFill>
                          <a:effectLst/>
                          <a:latin typeface="+mn-lt"/>
                          <a:ea typeface="+mn-ea"/>
                          <a:cs typeface="+mn-cs"/>
                        </a:rPr>
                        <a:t>Xelli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ɛad</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bunadem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lɛadem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Ha kan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yenjaḥ</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Ma d </a:t>
                      </a:r>
                      <a:r>
                        <a:rPr lang="fr-FR" sz="1100" kern="1200" err="1">
                          <a:solidFill>
                            <a:schemeClr val="tx1"/>
                          </a:solidFill>
                          <a:effectLst/>
                          <a:latin typeface="+mn-lt"/>
                          <a:ea typeface="+mn-ea"/>
                          <a:cs typeface="+mn-cs"/>
                        </a:rPr>
                        <a:t>w’illan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menwala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Iḍuɛen i </a:t>
                      </a:r>
                      <a:r>
                        <a:rPr lang="fr-FR" sz="1100" kern="1200" err="1">
                          <a:solidFill>
                            <a:schemeClr val="tx1"/>
                          </a:solidFill>
                          <a:effectLst/>
                          <a:latin typeface="+mn-lt"/>
                          <a:ea typeface="+mn-ea"/>
                          <a:cs typeface="+mn-cs"/>
                        </a:rPr>
                        <a:t>ddewla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yettili d </a:t>
                      </a:r>
                      <a:r>
                        <a:rPr lang="fr-FR" sz="1100" kern="1200" err="1">
                          <a:solidFill>
                            <a:schemeClr val="tx1"/>
                          </a:solidFill>
                          <a:effectLst/>
                          <a:latin typeface="+mn-lt"/>
                          <a:ea typeface="+mn-ea"/>
                          <a:cs typeface="+mn-cs"/>
                        </a:rPr>
                        <a:t>alemmam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Ma la yettɛanad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Yesnaɣa</a:t>
                      </a:r>
                      <a:r>
                        <a:rPr lang="fr-FR" sz="1100" kern="1200">
                          <a:solidFill>
                            <a:schemeClr val="tx1"/>
                          </a:solidFill>
                          <a:effectLst/>
                          <a:latin typeface="+mn-lt"/>
                          <a:ea typeface="+mn-ea"/>
                          <a:cs typeface="+mn-cs"/>
                        </a:rPr>
                        <a:t> medden,</a:t>
                      </a:r>
                    </a:p>
                    <a:p>
                      <a:pPr indent="457200"/>
                      <a:r>
                        <a:rPr lang="fr-FR" sz="1100" kern="1200" err="1">
                          <a:solidFill>
                            <a:schemeClr val="tx1"/>
                          </a:solidFill>
                          <a:effectLst/>
                          <a:latin typeface="+mn-lt"/>
                          <a:ea typeface="+mn-ea"/>
                          <a:cs typeface="+mn-cs"/>
                        </a:rPr>
                        <a:t>Kulwa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yesɣab</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nadam</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Vous tous qui m’avez écouté</a:t>
                      </a:r>
                    </a:p>
                    <a:p>
                      <a:pPr indent="216000" algn="l"/>
                      <a:r>
                        <a:rPr lang="fr-FR" sz="1100" kern="150">
                          <a:effectLst/>
                          <a:latin typeface="Cascadia Mono" panose="020B0609020000020004" pitchFamily="49" charset="0"/>
                          <a:cs typeface="Cascadia Mono" panose="020B0609020000020004" pitchFamily="49" charset="0"/>
                        </a:rPr>
                        <a:t>Et qui n’êtes pas des profanes,</a:t>
                      </a:r>
                    </a:p>
                    <a:p>
                      <a:pPr indent="216000" algn="l"/>
                      <a:r>
                        <a:rPr lang="fr-FR" sz="1100" kern="150">
                          <a:effectLst/>
                          <a:latin typeface="Cascadia Mono" panose="020B0609020000020004" pitchFamily="49" charset="0"/>
                          <a:cs typeface="Cascadia Mono" panose="020B0609020000020004" pitchFamily="49" charset="0"/>
                        </a:rPr>
                        <a:t>Méditez cette histoire.</a:t>
                      </a:r>
                    </a:p>
                    <a:p>
                      <a:pPr indent="216000" algn="l"/>
                      <a:r>
                        <a:rPr lang="fr-FR" sz="1100" kern="150">
                          <a:effectLst/>
                          <a:latin typeface="Cascadia Mono" panose="020B0609020000020004" pitchFamily="49" charset="0"/>
                          <a:cs typeface="Cascadia Mono" panose="020B0609020000020004" pitchFamily="49" charset="0"/>
                        </a:rPr>
                        <a:t>C’est de vous tous qu’il s’agit,</a:t>
                      </a:r>
                    </a:p>
                    <a:p>
                      <a:pPr indent="216000" algn="l"/>
                      <a:r>
                        <a:rPr lang="fr-FR" sz="1100" kern="150">
                          <a:effectLst/>
                          <a:latin typeface="Cascadia Mono" panose="020B0609020000020004" pitchFamily="49" charset="0"/>
                          <a:cs typeface="Cascadia Mono" panose="020B0609020000020004" pitchFamily="49" charset="0"/>
                        </a:rPr>
                        <a:t>Car je désire vous épargner</a:t>
                      </a:r>
                    </a:p>
                    <a:p>
                      <a:pPr indent="216000" algn="l"/>
                      <a:r>
                        <a:rPr lang="fr-FR" sz="1100" kern="150">
                          <a:effectLst/>
                          <a:latin typeface="Cascadia Mono" panose="020B0609020000020004" pitchFamily="49" charset="0"/>
                          <a:cs typeface="Cascadia Mono" panose="020B0609020000020004" pitchFamily="49" charset="0"/>
                        </a:rPr>
                        <a:t>Les coups du destin.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Que celui qui détient le pouvoir</a:t>
                      </a:r>
                    </a:p>
                    <a:p>
                      <a:pPr indent="216000" algn="l"/>
                      <a:r>
                        <a:rPr lang="fr-FR" sz="1100" kern="150">
                          <a:effectLst/>
                          <a:latin typeface="Cascadia Mono" panose="020B0609020000020004" pitchFamily="49" charset="0"/>
                          <a:cs typeface="Cascadia Mono" panose="020B0609020000020004" pitchFamily="49" charset="0"/>
                        </a:rPr>
                        <a:t>Agisse avec droiture,</a:t>
                      </a:r>
                    </a:p>
                    <a:p>
                      <a:pPr indent="216000" algn="l"/>
                      <a:r>
                        <a:rPr lang="fr-FR" sz="1100" kern="15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a:effectLst/>
                          <a:latin typeface="Cascadia Mono" panose="020B0609020000020004" pitchFamily="49" charset="0"/>
                          <a:cs typeface="Cascadia Mono" panose="020B0609020000020004" pitchFamily="49" charset="0"/>
                        </a:rPr>
                        <a:t>Qu’il traite le grand avec égards</a:t>
                      </a:r>
                    </a:p>
                    <a:p>
                      <a:pPr indent="216000" algn="l"/>
                      <a:r>
                        <a:rPr lang="fr-FR" sz="1100" kern="150">
                          <a:effectLst/>
                          <a:latin typeface="Cascadia Mono" panose="020B0609020000020004" pitchFamily="49" charset="0"/>
                          <a:cs typeface="Cascadia Mono" panose="020B0609020000020004" pitchFamily="49" charset="0"/>
                        </a:rPr>
                        <a:t>Et protège le petit :</a:t>
                      </a:r>
                    </a:p>
                    <a:p>
                      <a:pPr indent="216000" algn="l"/>
                      <a:r>
                        <a:rPr lang="fr-FR" sz="1100" kern="150">
                          <a:effectLst/>
                          <a:latin typeface="Cascadia Mono" panose="020B0609020000020004" pitchFamily="49" charset="0"/>
                          <a:cs typeface="Cascadia Mono" panose="020B0609020000020004" pitchFamily="49" charset="0"/>
                        </a:rPr>
                        <a:t>Ni l’un ni l’autre ne le trahira.</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lion qui, c’est notoire,</a:t>
                      </a:r>
                    </a:p>
                    <a:p>
                      <a:pPr indent="216000" algn="l"/>
                      <a:r>
                        <a:rPr lang="fr-FR" sz="1100" kern="150">
                          <a:effectLst/>
                          <a:latin typeface="Cascadia Mono" panose="020B0609020000020004" pitchFamily="49" charset="0"/>
                          <a:cs typeface="Cascadia Mono" panose="020B0609020000020004" pitchFamily="49" charset="0"/>
                        </a:rPr>
                        <a:t>Est capable de mener la lutte,</a:t>
                      </a:r>
                    </a:p>
                    <a:p>
                      <a:pPr indent="216000" algn="l"/>
                      <a:r>
                        <a:rPr lang="fr-FR" sz="1100" kern="150">
                          <a:effectLst/>
                          <a:latin typeface="Cascadia Mono" panose="020B0609020000020004" pitchFamily="49" charset="0"/>
                          <a:cs typeface="Cascadia Mono" panose="020B0609020000020004" pitchFamily="49" charset="0"/>
                        </a:rPr>
                        <a:t>A été étendu raide mort.</a:t>
                      </a:r>
                    </a:p>
                    <a:p>
                      <a:pPr indent="216000" algn="l"/>
                      <a:r>
                        <a:rPr lang="fr-FR" sz="1100" kern="15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a:effectLst/>
                          <a:latin typeface="Cascadia Mono" panose="020B0609020000020004" pitchFamily="49" charset="0"/>
                          <a:cs typeface="Cascadia Mono" panose="020B0609020000020004" pitchFamily="49" charset="0"/>
                        </a:rPr>
                        <a:t>Qui n’est que faiblesse,</a:t>
                      </a:r>
                    </a:p>
                    <a:p>
                      <a:pPr indent="216000" algn="l"/>
                      <a:r>
                        <a:rPr lang="fr-FR" sz="1100" kern="15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Quant à l’homme du peuple,</a:t>
                      </a:r>
                    </a:p>
                    <a:p>
                      <a:pPr indent="216000" algn="l"/>
                      <a:r>
                        <a:rPr lang="fr-FR" sz="1100" kern="150">
                          <a:effectLst/>
                          <a:latin typeface="Cascadia Mono" panose="020B0609020000020004" pitchFamily="49" charset="0"/>
                          <a:cs typeface="Cascadia Mono" panose="020B0609020000020004" pitchFamily="49" charset="0"/>
                        </a:rPr>
                        <a:t>Sujet loyal,</a:t>
                      </a:r>
                    </a:p>
                    <a:p>
                      <a:pPr indent="216000" algn="l"/>
                      <a:r>
                        <a:rPr lang="fr-FR" sz="1100" kern="150">
                          <a:effectLst/>
                          <a:latin typeface="Cascadia Mono" panose="020B0609020000020004" pitchFamily="49" charset="0"/>
                          <a:cs typeface="Cascadia Mono" panose="020B0609020000020004" pitchFamily="49" charset="0"/>
                        </a:rPr>
                        <a:t>Qu’il ne soit point perfide.</a:t>
                      </a:r>
                    </a:p>
                    <a:p>
                      <a:pPr indent="216000" algn="l"/>
                      <a:r>
                        <a:rPr lang="fr-FR" sz="1100" kern="150">
                          <a:effectLst/>
                          <a:latin typeface="Cascadia Mono" panose="020B0609020000020004" pitchFamily="49" charset="0"/>
                          <a:cs typeface="Cascadia Mono" panose="020B0609020000020004" pitchFamily="49" charset="0"/>
                        </a:rPr>
                        <a:t>S’il imitait le chacal,</a:t>
                      </a:r>
                    </a:p>
                    <a:p>
                      <a:pPr indent="216000" algn="l"/>
                      <a:r>
                        <a:rPr lang="fr-FR" sz="1100" kern="150">
                          <a:effectLst/>
                          <a:latin typeface="Cascadia Mono" panose="020B0609020000020004" pitchFamily="49" charset="0"/>
                          <a:cs typeface="Cascadia Mono" panose="020B0609020000020004" pitchFamily="49" charset="0"/>
                        </a:rPr>
                        <a:t>Brouillait les gens,</a:t>
                      </a:r>
                    </a:p>
                    <a:p>
                      <a:pPr indent="216000" algn="l"/>
                      <a:r>
                        <a:rPr lang="fr-FR" sz="1100" kern="150">
                          <a:effectLst/>
                          <a:latin typeface="Cascadia Mono" panose="020B0609020000020004" pitchFamily="49" charset="0"/>
                          <a:cs typeface="Cascadia Mono" panose="020B0609020000020004" pitchFamily="49" charset="0"/>
                        </a:rPr>
                        <a:t>Et leur faisait perdre le sommeil,</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Lemqassa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tegguni</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Lḥirfa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tesdull-it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Ttgammin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walin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nelhi</a:t>
                      </a:r>
                      <a:r>
                        <a:rPr lang="fr-FR" sz="1100" kern="1200">
                          <a:solidFill>
                            <a:schemeClr val="tx1"/>
                          </a:solidFill>
                          <a:effectLst/>
                          <a:latin typeface="+mn-lt"/>
                          <a:ea typeface="+mn-ea"/>
                          <a:cs typeface="+mn-cs"/>
                        </a:rPr>
                        <a:t> fell-as,</a:t>
                      </a:r>
                    </a:p>
                    <a:p>
                      <a:pPr indent="457200"/>
                      <a:r>
                        <a:rPr lang="fr-FR" sz="1100" kern="1200">
                          <a:solidFill>
                            <a:schemeClr val="tx1"/>
                          </a:solidFill>
                          <a:effectLst/>
                          <a:latin typeface="+mn-lt"/>
                          <a:ea typeface="+mn-ea"/>
                          <a:cs typeface="+mn-cs"/>
                        </a:rPr>
                        <a:t>Ad t-</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uɛessas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t>
                      </a:r>
                      <a:r>
                        <a:rPr lang="fr-FR" sz="1100" kern="1200" err="1">
                          <a:solidFill>
                            <a:schemeClr val="tx1"/>
                          </a:solidFill>
                          <a:effectLst/>
                          <a:latin typeface="+mn-lt"/>
                          <a:ea typeface="+mn-ea"/>
                          <a:cs typeface="+mn-cs"/>
                        </a:rPr>
                        <a:t>ɣunfun</a:t>
                      </a:r>
                      <a:r>
                        <a:rPr lang="fr-FR" sz="1100" kern="1200">
                          <a:solidFill>
                            <a:schemeClr val="tx1"/>
                          </a:solidFill>
                          <a:effectLst/>
                          <a:latin typeface="+mn-lt"/>
                          <a:ea typeface="+mn-ea"/>
                          <a:cs typeface="+mn-cs"/>
                        </a:rPr>
                        <a:t> w’ad t-</a:t>
                      </a:r>
                      <a:r>
                        <a:rPr lang="fr-FR" sz="1100" kern="1200" err="1">
                          <a:solidFill>
                            <a:schemeClr val="tx1"/>
                          </a:solidFill>
                          <a:effectLst/>
                          <a:latin typeface="+mn-lt"/>
                          <a:ea typeface="+mn-ea"/>
                          <a:cs typeface="+mn-cs"/>
                        </a:rPr>
                        <a:t>ilawin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Times ad tekker deg wul-is,</a:t>
                      </a:r>
                    </a:p>
                    <a:p>
                      <a:pPr indent="457200"/>
                      <a:r>
                        <a:rPr lang="fr-FR" sz="1100" kern="1200" err="1">
                          <a:solidFill>
                            <a:schemeClr val="tx1"/>
                          </a:solidFill>
                          <a:effectLst/>
                          <a:latin typeface="+mn-lt"/>
                          <a:ea typeface="+mn-ea"/>
                          <a:cs typeface="+mn-cs"/>
                        </a:rPr>
                        <a:t>Amzun</a:t>
                      </a:r>
                      <a:r>
                        <a:rPr lang="fr-FR" sz="1100" kern="1200">
                          <a:solidFill>
                            <a:schemeClr val="tx1"/>
                          </a:solidFill>
                          <a:effectLst/>
                          <a:latin typeface="+mn-lt"/>
                          <a:ea typeface="+mn-ea"/>
                          <a:cs typeface="+mn-cs"/>
                        </a:rPr>
                        <a:t> day d </a:t>
                      </a:r>
                      <a:r>
                        <a:rPr lang="fr-FR" sz="1100" kern="1200" err="1">
                          <a:solidFill>
                            <a:schemeClr val="tx1"/>
                          </a:solidFill>
                          <a:effectLst/>
                          <a:latin typeface="+mn-lt"/>
                          <a:ea typeface="+mn-ea"/>
                          <a:cs typeface="+mn-cs"/>
                        </a:rPr>
                        <a:t>Yeblis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w’ad tt-yessexsin.</a:t>
                      </a:r>
                    </a:p>
                    <a:p>
                      <a:pPr indent="457200"/>
                      <a:r>
                        <a:rPr lang="fr-FR" sz="1100" kern="1200">
                          <a:solidFill>
                            <a:schemeClr val="tx1"/>
                          </a:solidFill>
                          <a:effectLst/>
                          <a:latin typeface="+mn-lt"/>
                          <a:ea typeface="+mn-ea"/>
                          <a:cs typeface="+mn-cs"/>
                        </a:rPr>
                        <a:t>Ad 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lkaf</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Yemmet</a:t>
                      </a:r>
                      <a:r>
                        <a:rPr lang="fr-FR" sz="1100" kern="1200">
                          <a:solidFill>
                            <a:schemeClr val="tx1"/>
                          </a:solidFill>
                          <a:effectLst/>
                          <a:latin typeface="+mn-lt"/>
                          <a:ea typeface="+mn-ea"/>
                          <a:cs typeface="+mn-cs"/>
                        </a:rPr>
                        <a:t> s nncaf:</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lxeṭṭ</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lḥanin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D Si </a:t>
                      </a:r>
                      <a:r>
                        <a:rPr lang="fr-FR" sz="1100" kern="1200" err="1">
                          <a:solidFill>
                            <a:schemeClr val="tx1"/>
                          </a:solidFill>
                          <a:effectLst/>
                          <a:latin typeface="+mn-lt"/>
                          <a:ea typeface="+mn-ea"/>
                          <a:cs typeface="+mn-cs"/>
                        </a:rPr>
                        <a:t>Rabeḥ</a:t>
                      </a:r>
                      <a:r>
                        <a:rPr lang="fr-FR" sz="1100" kern="1200">
                          <a:solidFill>
                            <a:schemeClr val="tx1"/>
                          </a:solidFill>
                          <a:effectLst/>
                          <a:latin typeface="+mn-lt"/>
                          <a:ea typeface="+mn-ea"/>
                          <a:cs typeface="+mn-cs"/>
                        </a:rPr>
                        <a:t>, ad fell-as </a:t>
                      </a:r>
                      <a:r>
                        <a:rPr lang="fr-FR" sz="1100" kern="1200" err="1">
                          <a:solidFill>
                            <a:schemeClr val="tx1"/>
                          </a:solidFill>
                          <a:effectLst/>
                          <a:latin typeface="+mn-lt"/>
                          <a:ea typeface="+mn-ea"/>
                          <a:cs typeface="+mn-cs"/>
                        </a:rPr>
                        <a:t>nendem</a:t>
                      </a:r>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d lfahem:</a:t>
                      </a:r>
                    </a:p>
                    <a:p>
                      <a:pPr indent="457200"/>
                      <a:r>
                        <a:rPr lang="fr-FR" sz="1100" kern="1200" err="1">
                          <a:solidFill>
                            <a:schemeClr val="tx1"/>
                          </a:solidFill>
                          <a:effectLst/>
                          <a:latin typeface="+mn-lt"/>
                          <a:ea typeface="+mn-ea"/>
                          <a:cs typeface="+mn-cs"/>
                        </a:rPr>
                        <a:t>Tikli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teṣfa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Yessakay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iɣeflen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Ttafen-t </a:t>
                      </a:r>
                      <a:r>
                        <a:rPr lang="fr-FR" sz="1100" kern="1200" err="1">
                          <a:solidFill>
                            <a:schemeClr val="tx1"/>
                          </a:solidFill>
                          <a:effectLst/>
                          <a:latin typeface="+mn-lt"/>
                          <a:ea typeface="+mn-ea"/>
                          <a:cs typeface="+mn-cs"/>
                        </a:rPr>
                        <a:t>yeḥbiben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Ssuq</a:t>
                      </a:r>
                      <a:r>
                        <a:rPr lang="fr-FR" sz="1100" kern="1200">
                          <a:solidFill>
                            <a:schemeClr val="tx1"/>
                          </a:solidFill>
                          <a:effectLst/>
                          <a:latin typeface="+mn-lt"/>
                          <a:ea typeface="+mn-ea"/>
                          <a:cs typeface="+mn-cs"/>
                        </a:rPr>
                        <a:t> yid-s </a:t>
                      </a:r>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lfayda</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Akka ay d </a:t>
                      </a:r>
                      <a:r>
                        <a:rPr lang="fr-FR" sz="1100" kern="1200" err="1">
                          <a:solidFill>
                            <a:schemeClr val="tx1"/>
                          </a:solidFill>
                          <a:effectLst/>
                          <a:latin typeface="+mn-lt"/>
                          <a:ea typeface="+mn-ea"/>
                          <a:cs typeface="+mn-cs"/>
                        </a:rPr>
                        <a:t>bunadem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yelhan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Iḍefren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iberdan</a:t>
                      </a:r>
                      <a:endParaRPr lang="fr-FR" sz="1100" kern="1200">
                        <a:solidFill>
                          <a:schemeClr val="tx1"/>
                        </a:solidFill>
                        <a:effectLst/>
                        <a:latin typeface="+mn-lt"/>
                        <a:ea typeface="+mn-ea"/>
                        <a:cs typeface="+mn-cs"/>
                      </a:endParaRPr>
                    </a:p>
                    <a:p>
                      <a:pPr indent="457200"/>
                      <a:r>
                        <a:rPr lang="en-GB" sz="1100" kern="1200">
                          <a:solidFill>
                            <a:schemeClr val="tx1"/>
                          </a:solidFill>
                          <a:effectLst/>
                          <a:latin typeface="+mn-lt"/>
                          <a:ea typeface="+mn-ea"/>
                          <a:cs typeface="+mn-cs"/>
                        </a:rPr>
                        <a:t>Ɣ</a:t>
                      </a:r>
                      <a:r>
                        <a:rPr lang="fr-FR" sz="1100" kern="1200" err="1">
                          <a:solidFill>
                            <a:schemeClr val="tx1"/>
                          </a:solidFill>
                          <a:effectLst/>
                          <a:latin typeface="+mn-lt"/>
                          <a:ea typeface="+mn-ea"/>
                          <a:cs typeface="+mn-cs"/>
                        </a:rPr>
                        <a:t>ef</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tweṣṣa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ccaṛiɛa</a:t>
                      </a:r>
                      <a:r>
                        <a:rPr lang="fr-FR" sz="1100" kern="1200">
                          <a:solidFill>
                            <a:schemeClr val="tx1"/>
                          </a:solidFill>
                          <a:effectLst/>
                          <a:latin typeface="+mn-lt"/>
                          <a:ea typeface="+mn-ea"/>
                          <a:cs typeface="+mn-cs"/>
                        </a:rPr>
                        <a:t>.</a:t>
                      </a:r>
                    </a:p>
                    <a:p>
                      <a:pPr indent="457200"/>
                      <a:r>
                        <a:rPr lang="en-GB" sz="1100" kern="1200">
                          <a:solidFill>
                            <a:schemeClr val="tx1"/>
                          </a:solidFill>
                          <a:effectLst/>
                          <a:latin typeface="+mn-lt"/>
                          <a:ea typeface="+mn-ea"/>
                          <a:cs typeface="+mn-cs"/>
                        </a:rPr>
                        <a:t>Ɣ</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tewɛeṛ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targit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Lxattima </a:t>
                      </a:r>
                      <a:r>
                        <a:rPr lang="fr-FR" sz="1100" kern="1200" err="1">
                          <a:solidFill>
                            <a:schemeClr val="tx1"/>
                          </a:solidFill>
                          <a:effectLst/>
                          <a:latin typeface="+mn-lt"/>
                          <a:ea typeface="+mn-ea"/>
                          <a:cs typeface="+mn-cs"/>
                        </a:rPr>
                        <a:t>ines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ṛṛeḥma</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Sa punition serait certaine,</a:t>
                      </a:r>
                    </a:p>
                    <a:p>
                      <a:pPr indent="216000" algn="l"/>
                      <a:r>
                        <a:rPr lang="fr-FR" sz="1100" kern="150">
                          <a:effectLst/>
                          <a:latin typeface="Cascadia Mono" panose="020B0609020000020004" pitchFamily="49" charset="0"/>
                          <a:cs typeface="Cascadia Mono" panose="020B0609020000020004" pitchFamily="49" charset="0"/>
                        </a:rPr>
                        <a:t>Sa conduite le déshonorerait</a:t>
                      </a:r>
                    </a:p>
                    <a:p>
                      <a:pPr indent="216000" algn="l"/>
                      <a:r>
                        <a:rPr lang="fr-FR" sz="1100" kern="150">
                          <a:effectLst/>
                          <a:latin typeface="Cascadia Mono" panose="020B0609020000020004" pitchFamily="49" charset="0"/>
                          <a:cs typeface="Cascadia Mono" panose="020B0609020000020004" pitchFamily="49" charset="0"/>
                        </a:rPr>
                        <a:t>Et les gens le mépriseraient.</a:t>
                      </a:r>
                    </a:p>
                    <a:p>
                      <a:pPr indent="216000" algn="l"/>
                      <a:r>
                        <a:rPr lang="fr-FR" sz="1100" kern="150">
                          <a:effectLst/>
                          <a:latin typeface="Cascadia Mono" panose="020B0609020000020004" pitchFamily="49" charset="0"/>
                          <a:cs typeface="Cascadia Mono" panose="020B0609020000020004" pitchFamily="49" charset="0"/>
                        </a:rPr>
                        <a:t>Un jour, funeste pour lui,</a:t>
                      </a:r>
                    </a:p>
                    <a:p>
                      <a:pPr indent="216000" algn="l"/>
                      <a:r>
                        <a:rPr lang="fr-FR" sz="1100" kern="150">
                          <a:effectLst/>
                          <a:latin typeface="Cascadia Mono" panose="020B0609020000020004" pitchFamily="49" charset="0"/>
                          <a:cs typeface="Cascadia Mono" panose="020B0609020000020004" pitchFamily="49" charset="0"/>
                        </a:rPr>
                        <a:t>La providence le frapperait :</a:t>
                      </a:r>
                    </a:p>
                    <a:p>
                      <a:pPr indent="216000" algn="l"/>
                      <a:r>
                        <a:rPr lang="fr-FR" sz="1100" kern="150">
                          <a:effectLst/>
                          <a:latin typeface="Cascadia Mono" panose="020B0609020000020004" pitchFamily="49" charset="0"/>
                          <a:cs typeface="Cascadia Mono" panose="020B0609020000020004" pitchFamily="49" charset="0"/>
                        </a:rPr>
                        <a:t>On répugnerait à le soigner.</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feu s’allumerait dans son cœur,</a:t>
                      </a:r>
                    </a:p>
                    <a:p>
                      <a:pPr indent="216000" algn="l"/>
                      <a:r>
                        <a:rPr lang="fr-FR" sz="1100" kern="150">
                          <a:effectLst/>
                          <a:latin typeface="Cascadia Mono" panose="020B0609020000020004" pitchFamily="49" charset="0"/>
                          <a:cs typeface="Cascadia Mono" panose="020B0609020000020004" pitchFamily="49" charset="0"/>
                        </a:rPr>
                        <a:t>Comme dans celui du diable,</a:t>
                      </a:r>
                    </a:p>
                    <a:p>
                      <a:pPr indent="216000" algn="l"/>
                      <a:r>
                        <a:rPr lang="fr-FR" sz="1100" kern="150">
                          <a:effectLst/>
                          <a:latin typeface="Cascadia Mono" panose="020B0609020000020004" pitchFamily="49" charset="0"/>
                          <a:cs typeface="Cascadia Mono" panose="020B0609020000020004" pitchFamily="49" charset="0"/>
                        </a:rPr>
                        <a:t>Et personne ne pourrait l’éteindre.</a:t>
                      </a:r>
                    </a:p>
                    <a:p>
                      <a:pPr indent="216000" algn="l"/>
                      <a:r>
                        <a:rPr lang="fr-FR" sz="1100" kern="150">
                          <a:effectLst/>
                          <a:latin typeface="Cascadia Mono" panose="020B0609020000020004" pitchFamily="49" charset="0"/>
                          <a:cs typeface="Cascadia Mono" panose="020B0609020000020004" pitchFamily="49" charset="0"/>
                        </a:rPr>
                        <a:t>Il se trouverait dans le précipice</a:t>
                      </a:r>
                    </a:p>
                    <a:p>
                      <a:pPr indent="216000" algn="l"/>
                      <a:r>
                        <a:rPr lang="fr-FR" sz="1100" kern="15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a:effectLst/>
                          <a:latin typeface="Cascadia Mono" panose="020B0609020000020004" pitchFamily="49" charset="0"/>
                          <a:cs typeface="Cascadia Mono" panose="020B0609020000020004" pitchFamily="49" charset="0"/>
                        </a:rPr>
                        <a:t>Preuves de la justice de Dieu.</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a:effectLst/>
                          <a:latin typeface="Cascadia Mono" panose="020B0609020000020004" pitchFamily="49" charset="0"/>
                          <a:cs typeface="Cascadia Mono" panose="020B0609020000020004" pitchFamily="49" charset="0"/>
                        </a:rPr>
                        <a:t>C’était un sage</a:t>
                      </a:r>
                    </a:p>
                    <a:p>
                      <a:pPr indent="216000" algn="l"/>
                      <a:r>
                        <a:rPr lang="fr-FR" sz="1100" kern="15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a:effectLst/>
                          <a:latin typeface="Cascadia Mono" panose="020B0609020000020004" pitchFamily="49" charset="0"/>
                          <a:cs typeface="Cascadia Mono" panose="020B0609020000020004" pitchFamily="49" charset="0"/>
                        </a:rPr>
                        <a:t>Et rendu service à ses amis.</a:t>
                      </a:r>
                    </a:p>
                    <a:p>
                      <a:pPr indent="216000" algn="l"/>
                      <a:r>
                        <a:rPr lang="fr-FR" sz="1100" kern="15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Il personnifie l’homme de bien</a:t>
                      </a:r>
                    </a:p>
                    <a:p>
                      <a:pPr indent="216000" algn="l"/>
                      <a:r>
                        <a:rPr lang="fr-FR" sz="1100" kern="150">
                          <a:effectLst/>
                          <a:latin typeface="Cascadia Mono" panose="020B0609020000020004" pitchFamily="49" charset="0"/>
                          <a:cs typeface="Cascadia Mono" panose="020B0609020000020004" pitchFamily="49" charset="0"/>
                        </a:rPr>
                        <a:t>Qui suit toujours les voies</a:t>
                      </a:r>
                    </a:p>
                    <a:p>
                      <a:pPr indent="216000" algn="l"/>
                      <a:r>
                        <a:rPr lang="fr-FR" sz="1100" kern="150">
                          <a:effectLst/>
                          <a:latin typeface="Cascadia Mono" panose="020B0609020000020004" pitchFamily="49" charset="0"/>
                          <a:cs typeface="Cascadia Mono" panose="020B0609020000020004" pitchFamily="49" charset="0"/>
                        </a:rPr>
                        <a:t>Recommandées par la loi.</a:t>
                      </a:r>
                    </a:p>
                    <a:p>
                      <a:pPr indent="216000" algn="l"/>
                      <a:r>
                        <a:rPr lang="fr-FR" sz="1100" kern="15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a:effectLst/>
                          <a:latin typeface="Cascadia Mono" panose="020B0609020000020004" pitchFamily="49" charset="0"/>
                          <a:cs typeface="Cascadia Mono" panose="020B0609020000020004" pitchFamily="49" charset="0"/>
                        </a:rPr>
                        <a:t>Elle passe néanmoins comme un rêve</a:t>
                      </a:r>
                    </a:p>
                    <a:p>
                      <a:pPr indent="216000" algn="l"/>
                      <a:r>
                        <a:rPr lang="fr-FR" sz="1100" kern="150">
                          <a:effectLst/>
                          <a:latin typeface="Cascadia Mono" panose="020B0609020000020004" pitchFamily="49" charset="0"/>
                          <a:cs typeface="Cascadia Mono" panose="020B0609020000020004" pitchFamily="49" charset="0"/>
                        </a:rPr>
                        <a:t>Et il atteint son but : le Paradis.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3349</TotalTime>
  <Words>27292</Words>
  <Application>Microsoft Office PowerPoint</Application>
  <PresentationFormat>Widescreen</PresentationFormat>
  <Paragraphs>1691</Paragraphs>
  <Slides>69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69</vt:i4>
      </vt:variant>
    </vt:vector>
  </HeadingPairs>
  <TitlesOfParts>
    <vt:vector size="73"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1083</cp:revision>
  <dcterms:created xsi:type="dcterms:W3CDTF">2023-02-08T10:37:07Z</dcterms:created>
  <dcterms:modified xsi:type="dcterms:W3CDTF">2026-10-12T18:09:26Z</dcterms:modified>
</cp:coreProperties>
</file>