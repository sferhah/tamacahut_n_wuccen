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70147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d timucuha n </a:t>
                      </a:r>
                      <a:r>
                        <a:rPr lang="fr-FR" sz="1100" kern="1200" err="1">
                          <a:solidFill>
                            <a:schemeClr val="tx1"/>
                          </a:solidFill>
                          <a:effectLst/>
                          <a:latin typeface="+mn-lt"/>
                          <a:ea typeface="+mn-ea"/>
                          <a:cs typeface="+mn-cs"/>
                        </a:rPr>
                        <a:t>wedrar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Ǧeṛǧeṛ</a:t>
                      </a:r>
                      <a:r>
                        <a:rPr lang="fr-FR" sz="1100" kern="1200">
                          <a:solidFill>
                            <a:schemeClr val="tx1"/>
                          </a:solidFill>
                          <a:effectLst/>
                          <a:latin typeface="+mn-lt"/>
                          <a:ea typeface="+mn-ea"/>
                          <a:cs typeface="+mn-cs"/>
                        </a:rPr>
                        <a:t>, adrar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adrar n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a:t>
                      </a:r>
                    </a:p>
                    <a:p>
                      <a:pPr indent="457200" algn="l"/>
                      <a:endParaRPr lang="fr-FR" sz="1100"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lḥeṛma</a:t>
                      </a:r>
                      <a:r>
                        <a:rPr lang="fr-FR" sz="1100" i="1" kern="1200">
                          <a:solidFill>
                            <a:schemeClr val="tx1"/>
                          </a:solidFill>
                          <a:effectLst/>
                          <a:latin typeface="+mn-lt"/>
                          <a:ea typeface="+mn-ea"/>
                          <a:cs typeface="+mn-cs"/>
                        </a:rPr>
                        <a:t> ad </a:t>
                      </a:r>
                      <a:r>
                        <a:rPr lang="fr-FR" sz="1100" i="1" kern="1200" err="1">
                          <a:solidFill>
                            <a:schemeClr val="tx1"/>
                          </a:solidFill>
                          <a:effectLst/>
                          <a:latin typeface="+mn-lt"/>
                          <a:ea typeface="+mn-ea"/>
                          <a:cs typeface="+mn-cs"/>
                        </a:rPr>
                        <a:t>tagar</a:t>
                      </a:r>
                      <a:endParaRPr lang="fr-FR" sz="1100" i="1" kern="1200">
                        <a:solidFill>
                          <a:schemeClr val="tx1"/>
                        </a:solidFill>
                        <a:effectLst/>
                        <a:latin typeface="+mn-lt"/>
                        <a:ea typeface="+mn-ea"/>
                        <a:cs typeface="+mn-cs"/>
                      </a:endParaRPr>
                    </a:p>
                    <a:p>
                      <a:pPr indent="457200" algn="l"/>
                      <a:r>
                        <a:rPr lang="fr-FR" sz="1100" i="1" kern="1200">
                          <a:solidFill>
                            <a:schemeClr val="tx1"/>
                          </a:solidFill>
                          <a:effectLst/>
                          <a:latin typeface="+mn-lt"/>
                          <a:ea typeface="+mn-ea"/>
                          <a:cs typeface="+mn-cs"/>
                        </a:rPr>
                        <a:t>Yali s adrar,</a:t>
                      </a:r>
                    </a:p>
                    <a:p>
                      <a:pPr indent="457200" algn="l"/>
                      <a:r>
                        <a:rPr lang="fr-FR" sz="1100" i="1" kern="1200" err="1">
                          <a:solidFill>
                            <a:schemeClr val="tx1"/>
                          </a:solidFill>
                          <a:effectLst/>
                          <a:latin typeface="+mn-lt"/>
                          <a:ea typeface="+mn-ea"/>
                          <a:cs typeface="+mn-cs"/>
                        </a:rPr>
                        <a:t>Yečč</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abelluḍ</a:t>
                      </a:r>
                      <a:r>
                        <a:rPr lang="fr-FR" sz="1100" i="1" kern="1200">
                          <a:solidFill>
                            <a:schemeClr val="tx1"/>
                          </a:solidFill>
                          <a:effectLst/>
                          <a:latin typeface="+mn-lt"/>
                          <a:ea typeface="+mn-ea"/>
                          <a:cs typeface="+mn-cs"/>
                        </a:rPr>
                        <a:t> bu </a:t>
                      </a:r>
                      <a:r>
                        <a:rPr lang="fr-FR" sz="1100" i="1" kern="1200" err="1">
                          <a:solidFill>
                            <a:schemeClr val="tx1"/>
                          </a:solidFill>
                          <a:effectLst/>
                          <a:latin typeface="+mn-lt"/>
                          <a:ea typeface="+mn-ea"/>
                          <a:cs typeface="+mn-cs"/>
                        </a:rPr>
                        <a:t>tcacit</a:t>
                      </a:r>
                      <a:r>
                        <a:rPr lang="fr-FR" sz="1100" i="1" kern="1200">
                          <a:solidFill>
                            <a:schemeClr val="tx1"/>
                          </a:solidFill>
                          <a:effectLst/>
                          <a:latin typeface="+mn-lt"/>
                          <a:ea typeface="+mn-ea"/>
                          <a:cs typeface="+mn-cs"/>
                        </a:rPr>
                        <a:t>;</a:t>
                      </a:r>
                    </a:p>
                    <a:p>
                      <a:pPr indent="457200" algn="l"/>
                      <a:r>
                        <a:rPr lang="fr-FR" sz="1100" i="1" kern="1200" err="1">
                          <a:solidFill>
                            <a:schemeClr val="tx1"/>
                          </a:solidFill>
                          <a:effectLst/>
                          <a:latin typeface="+mn-lt"/>
                          <a:ea typeface="+mn-ea"/>
                          <a:cs typeface="+mn-cs"/>
                        </a:rPr>
                        <a:t>W’ibɣan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irden</a:t>
                      </a:r>
                      <a:r>
                        <a:rPr lang="fr-FR" sz="1100" i="1" kern="1200">
                          <a:solidFill>
                            <a:schemeClr val="tx1"/>
                          </a:solidFill>
                          <a:effectLst/>
                          <a:latin typeface="+mn-lt"/>
                          <a:ea typeface="+mn-ea"/>
                          <a:cs typeface="+mn-cs"/>
                        </a:rPr>
                        <a:t> n </a:t>
                      </a:r>
                      <a:r>
                        <a:rPr lang="fr-FR" sz="1100" i="1" kern="1200" err="1">
                          <a:solidFill>
                            <a:schemeClr val="tx1"/>
                          </a:solidFill>
                          <a:effectLst/>
                          <a:latin typeface="+mn-lt"/>
                          <a:ea typeface="+mn-ea"/>
                          <a:cs typeface="+mn-cs"/>
                        </a:rPr>
                        <a:t>tfazit</a:t>
                      </a:r>
                      <a:endParaRPr lang="fr-FR" sz="1100" i="1" kern="1200">
                        <a:solidFill>
                          <a:schemeClr val="tx1"/>
                        </a:solidFill>
                        <a:effectLst/>
                        <a:latin typeface="+mn-lt"/>
                        <a:ea typeface="+mn-ea"/>
                        <a:cs typeface="+mn-cs"/>
                      </a:endParaRPr>
                    </a:p>
                    <a:p>
                      <a:pPr indent="457200" algn="l"/>
                      <a:r>
                        <a:rPr lang="fr-FR" sz="1100" i="1" kern="1200" err="1">
                          <a:solidFill>
                            <a:schemeClr val="tx1"/>
                          </a:solidFill>
                          <a:effectLst/>
                          <a:latin typeface="+mn-lt"/>
                          <a:ea typeface="+mn-ea"/>
                          <a:cs typeface="+mn-cs"/>
                        </a:rPr>
                        <a:t>Iṣubb</a:t>
                      </a:r>
                      <a:r>
                        <a:rPr lang="fr-FR" sz="1100" i="1" kern="1200">
                          <a:solidFill>
                            <a:schemeClr val="tx1"/>
                          </a:solidFill>
                          <a:effectLst/>
                          <a:latin typeface="+mn-lt"/>
                          <a:ea typeface="+mn-ea"/>
                          <a:cs typeface="+mn-cs"/>
                        </a:rPr>
                        <a:t> s </a:t>
                      </a:r>
                      <a:r>
                        <a:rPr lang="fr-FR" sz="1100" i="1" kern="1200" err="1">
                          <a:solidFill>
                            <a:schemeClr val="tx1"/>
                          </a:solidFill>
                          <a:effectLst/>
                          <a:latin typeface="+mn-lt"/>
                          <a:ea typeface="+mn-ea"/>
                          <a:cs typeface="+mn-cs"/>
                        </a:rPr>
                        <a:t>azaɣar</a:t>
                      </a:r>
                      <a:r>
                        <a:rPr lang="fr-FR" sz="1100" i="1" kern="1200">
                          <a:solidFill>
                            <a:schemeClr val="tx1"/>
                          </a:solidFill>
                          <a:effectLst/>
                          <a:latin typeface="+mn-lt"/>
                          <a:ea typeface="+mn-ea"/>
                          <a:cs typeface="+mn-cs"/>
                        </a:rPr>
                        <a:t>:</a:t>
                      </a:r>
                    </a:p>
                    <a:p>
                      <a:pPr indent="457200" algn="l"/>
                      <a:r>
                        <a:rPr lang="fr-FR" sz="1100" i="1" kern="1200">
                          <a:solidFill>
                            <a:schemeClr val="tx1"/>
                          </a:solidFill>
                          <a:effectLst/>
                          <a:latin typeface="+mn-lt"/>
                          <a:ea typeface="+mn-ea"/>
                          <a:cs typeface="+mn-cs"/>
                        </a:rPr>
                        <a:t>Ad </a:t>
                      </a:r>
                      <a:r>
                        <a:rPr lang="fr-FR" sz="1100" i="1" kern="1200" err="1">
                          <a:solidFill>
                            <a:schemeClr val="tx1"/>
                          </a:solidFill>
                          <a:effectLst/>
                          <a:latin typeface="+mn-lt"/>
                          <a:ea typeface="+mn-ea"/>
                          <a:cs typeface="+mn-cs"/>
                        </a:rPr>
                        <a:t>yeɣleb</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agdi</a:t>
                      </a:r>
                      <a:r>
                        <a:rPr lang="fr-FR" sz="1100" i="1" kern="1200">
                          <a:solidFill>
                            <a:schemeClr val="tx1"/>
                          </a:solidFill>
                          <a:effectLst/>
                          <a:latin typeface="+mn-lt"/>
                          <a:ea typeface="+mn-ea"/>
                          <a:cs typeface="+mn-cs"/>
                        </a:rPr>
                        <a:t> d temrit!</a:t>
                      </a:r>
                    </a:p>
                    <a:p>
                      <a:pPr indent="457200" algn="l"/>
                      <a:endParaRPr lang="fr-FR" sz="1100" kern="1200">
                        <a:solidFill>
                          <a:schemeClr val="tx1"/>
                        </a:solidFill>
                        <a:effectLst/>
                        <a:latin typeface="+mn-lt"/>
                        <a:ea typeface="+mn-ea"/>
                        <a:cs typeface="+mn-cs"/>
                      </a:endParaRPr>
                    </a:p>
                    <a:p>
                      <a:pPr indent="457200" algn="l"/>
                      <a:r>
                        <a:rPr lang="fr-FR" sz="1100" kern="1200" err="1">
                          <a:solidFill>
                            <a:schemeClr val="tx1"/>
                          </a:solidFill>
                          <a:effectLst/>
                          <a:latin typeface="+mn-lt"/>
                          <a:ea typeface="+mn-ea"/>
                          <a:cs typeface="+mn-cs"/>
                        </a:rPr>
                        <a:t>Yura-tent</a:t>
                      </a:r>
                      <a:r>
                        <a:rPr lang="fr-FR" sz="1100" kern="1200">
                          <a:solidFill>
                            <a:schemeClr val="tx1"/>
                          </a:solidFill>
                          <a:effectLst/>
                          <a:latin typeface="+mn-lt"/>
                          <a:ea typeface="+mn-ea"/>
                          <a:cs typeface="+mn-cs"/>
                        </a:rPr>
                        <a:t> ccix </a:t>
                      </a:r>
                      <a:r>
                        <a:rPr lang="fr-FR" sz="1100" kern="1200" err="1">
                          <a:solidFill>
                            <a:schemeClr val="tx1"/>
                          </a:solidFill>
                          <a:effectLst/>
                          <a:latin typeface="+mn-lt"/>
                          <a:ea typeface="+mn-ea"/>
                          <a:cs typeface="+mn-cs"/>
                        </a:rPr>
                        <a:t>Yebṛahim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Asedqaw</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ttnaṣfa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lqern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ṛbeɛṭac</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yessifes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di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 Amin!</a:t>
                      </a:r>
                    </a:p>
                    <a:p>
                      <a:pPr indent="457200" algn="ctr"/>
                      <a:endParaRPr lang="fr-FR" sz="1100" kern="1200">
                        <a:solidFill>
                          <a:schemeClr val="tx1"/>
                        </a:solidFill>
                        <a:effectLst/>
                        <a:latin typeface="+mn-lt"/>
                        <a:ea typeface="+mn-ea"/>
                        <a:cs typeface="+mn-cs"/>
                      </a:endParaRPr>
                    </a:p>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Que celui qui désir vivre dans l’honneur</a:t>
                      </a:r>
                    </a:p>
                    <a:p>
                      <a:pPr indent="216000" algn="ctr"/>
                      <a:r>
                        <a:rPr lang="fr-FR" sz="1100" kern="150">
                          <a:effectLst/>
                          <a:latin typeface="Cascadia Mono" panose="020B0609020000020004" pitchFamily="49" charset="0"/>
                          <a:cs typeface="Cascadia Mono" panose="020B0609020000020004" pitchFamily="49" charset="0"/>
                        </a:rPr>
                        <a:t>Monte dans la Montagne</a:t>
                      </a:r>
                    </a:p>
                    <a:p>
                      <a:pPr indent="216000" algn="ctr"/>
                      <a:r>
                        <a:rPr lang="fr-FR" sz="1100" kern="150">
                          <a:effectLst/>
                          <a:latin typeface="Cascadia Mono" panose="020B0609020000020004" pitchFamily="49" charset="0"/>
                          <a:cs typeface="Cascadia Mono" panose="020B0609020000020004" pitchFamily="49" charset="0"/>
                        </a:rPr>
                        <a:t>Et se nourrisse d’(amers) glands à cupule.</a:t>
                      </a:r>
                    </a:p>
                    <a:p>
                      <a:pPr indent="216000" algn="ctr"/>
                      <a:r>
                        <a:rPr lang="fr-FR" sz="1100" kern="150">
                          <a:effectLst/>
                          <a:latin typeface="Cascadia Mono" panose="020B0609020000020004" pitchFamily="49" charset="0"/>
                          <a:cs typeface="Cascadia Mono" panose="020B0609020000020004" pitchFamily="49" charset="0"/>
                        </a:rPr>
                        <a:t>Que celui qui désire le pur froment</a:t>
                      </a:r>
                    </a:p>
                    <a:p>
                      <a:pPr indent="216000" algn="ctr"/>
                      <a:r>
                        <a:rPr lang="fr-FR" sz="1100" kern="150">
                          <a:effectLst/>
                          <a:latin typeface="Cascadia Mono" panose="020B0609020000020004" pitchFamily="49" charset="0"/>
                          <a:cs typeface="Cascadia Mono" panose="020B0609020000020004" pitchFamily="49" charset="0"/>
                        </a:rPr>
                        <a:t>Descende dans la plaine :</a:t>
                      </a:r>
                    </a:p>
                    <a:p>
                      <a:pPr indent="216000" algn="ctr"/>
                      <a:r>
                        <a:rPr lang="fr-FR" sz="1100" kern="150">
                          <a:effectLst/>
                          <a:latin typeface="Cascadia Mono" panose="020B0609020000020004" pitchFamily="49" charset="0"/>
                          <a:cs typeface="Cascadia Mono" panose="020B0609020000020004" pitchFamily="49" charset="0"/>
                        </a:rPr>
                        <a:t>Il y sera plus maltraité qu’un chien...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3602734"/>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a:effectLst/>
                          <a:latin typeface="Cascadia Mono" panose="020B0609020000020004" pitchFamily="49" charset="0"/>
                          <a:cs typeface="Cascadia Mono" panose="020B0609020000020004" pitchFamily="49" charset="0"/>
                        </a:rPr>
                        <a:t>Di </a:t>
                      </a:r>
                      <a:r>
                        <a:rPr lang="fr-FR" sz="1100" kern="150" err="1">
                          <a:effectLst/>
                          <a:latin typeface="Cascadia Mono" panose="020B0609020000020004" pitchFamily="49" charset="0"/>
                          <a:cs typeface="Cascadia Mono" panose="020B0609020000020004" pitchFamily="49" charset="0"/>
                        </a:rPr>
                        <a:t>zzman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amezwaru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nnejmɛen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myeɛhaden</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myuččen</a:t>
                      </a:r>
                      <a:r>
                        <a:rPr lang="fr-FR" sz="1100" kern="150">
                          <a:effectLst/>
                          <a:latin typeface="Cascadia Mono" panose="020B0609020000020004" pitchFamily="49" charset="0"/>
                          <a:cs typeface="Cascadia Mono" panose="020B0609020000020004" pitchFamily="49" charset="0"/>
                        </a:rPr>
                        <a:t>, ad hennin di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Semman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fell-asen</a:t>
                      </a:r>
                      <a:r>
                        <a:rPr lang="fr-FR" sz="1100" kern="150">
                          <a:effectLst/>
                          <a:latin typeface="Cascadia Mono" panose="020B0609020000020004" pitchFamily="49" charset="0"/>
                          <a:cs typeface="Cascadia Mono" panose="020B0609020000020004" pitchFamily="49" charset="0"/>
                        </a:rPr>
                        <a:t> (ay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ɣas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rṣan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tilas</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inagan</a:t>
                      </a:r>
                      <a:r>
                        <a:rPr lang="fr-FR" sz="1100" kern="150">
                          <a:effectLst/>
                          <a:latin typeface="Cascadia Mono" panose="020B0609020000020004" pitchFamily="49" charset="0"/>
                          <a:cs typeface="Cascadia Mono" panose="020B0609020000020004" pitchFamily="49" charset="0"/>
                        </a:rPr>
                        <a:t>. </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yezdeɣ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teẓgi</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tameqqrant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netta</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yilef</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tewtult</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weɣyul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tyaziṭ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lxeddam-is</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wakken</a:t>
                      </a:r>
                      <a:r>
                        <a:rPr lang="fr-FR" sz="1100" kern="150">
                          <a:effectLst/>
                          <a:latin typeface="Cascadia Mono" panose="020B0609020000020004" pitchFamily="49" charset="0"/>
                          <a:cs typeface="Cascadia Mono" panose="020B0609020000020004" pitchFamily="49" charset="0"/>
                        </a:rPr>
                        <a:t> d-</a:t>
                      </a:r>
                      <a:r>
                        <a:rPr lang="fr-FR" sz="1100" kern="150" err="1">
                          <a:effectLst/>
                          <a:latin typeface="Cascadia Mono" panose="020B0609020000020004" pitchFamily="49" charset="0"/>
                          <a:cs typeface="Cascadia Mono" panose="020B0609020000020004" pitchFamily="49" charset="0"/>
                        </a:rPr>
                        <a:t>ssawalen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tamacahut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Mkul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axeddim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iqeṭṭu-yas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ṣṣalḥa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ilef</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yeggan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t>
                      </a:r>
                      <a:r>
                        <a:rPr lang="fr-FR" sz="1100" kern="150">
                          <a:effectLst/>
                          <a:latin typeface="Cascadia Mono" panose="020B0609020000020004" pitchFamily="49" charset="0"/>
                          <a:cs typeface="Cascadia Mono" panose="020B0609020000020004" pitchFamily="49" charset="0"/>
                        </a:rPr>
                        <a:t>-as;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yeddal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yiss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tawtult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yessummut-itt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abareɣ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agem</a:t>
                      </a:r>
                      <a:r>
                        <a:rPr lang="fr-FR" sz="1100" kern="150">
                          <a:effectLst/>
                          <a:latin typeface="Cascadia Mono" panose="020B0609020000020004" pitchFamily="49" charset="0"/>
                          <a:cs typeface="Cascadia Mono" panose="020B0609020000020004" pitchFamily="49" charset="0"/>
                        </a:rPr>
                        <a:t>-as-d aman; </a:t>
                      </a:r>
                      <a:r>
                        <a:rPr lang="fr-FR" sz="1100" kern="150" err="1">
                          <a:effectLst/>
                          <a:latin typeface="Cascadia Mono" panose="020B0609020000020004" pitchFamily="49" charset="0"/>
                          <a:cs typeface="Cascadia Mono" panose="020B0609020000020004" pitchFamily="49" charset="0"/>
                        </a:rPr>
                        <a:t>aɣyul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izeddem</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isɣaren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tayaziṭ</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arew</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timellalin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ak</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ayefki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Hennan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teksa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taɣaṭ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Feṛḥen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aɛlaxaṭer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lehna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yeḍmen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leɣna</a:t>
                      </a:r>
                      <a:r>
                        <a:rPr lang="fr-FR" sz="1100" kern="150">
                          <a:effectLst/>
                          <a:latin typeface="Cascadia Mono" panose="020B0609020000020004" pitchFamily="49" charset="0"/>
                          <a:cs typeface="Cascadia Mono" panose="020B0609020000020004" pitchFamily="49" charset="0"/>
                        </a:rPr>
                        <a:t>.</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Lḥaṣul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ṣeggmen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lukan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asen</a:t>
                      </a:r>
                      <a:r>
                        <a:rPr lang="fr-FR" sz="1100" kern="150">
                          <a:effectLst/>
                          <a:latin typeface="Cascadia Mono" panose="020B0609020000020004" pitchFamily="49" charset="0"/>
                          <a:cs typeface="Cascadia Mono" panose="020B0609020000020004" pitchFamily="49" charset="0"/>
                        </a:rPr>
                        <a:t>-tt-</a:t>
                      </a:r>
                      <a:r>
                        <a:rPr lang="fr-FR" sz="1100" kern="150" err="1">
                          <a:effectLst/>
                          <a:latin typeface="Cascadia Mono" panose="020B0609020000020004" pitchFamily="49" charset="0"/>
                          <a:cs typeface="Cascadia Mono" panose="020B0609020000020004" pitchFamily="49" charset="0"/>
                        </a:rPr>
                        <a:t>yessexṣer</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yerra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d amṛayi.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yefṛiḥ</a:t>
                      </a:r>
                      <a:r>
                        <a:rPr lang="fr-FR" sz="1100" kern="150">
                          <a:effectLst/>
                          <a:latin typeface="Cascadia Mono" panose="020B0609020000020004" pitchFamily="49" charset="0"/>
                          <a:cs typeface="Cascadia Mono" panose="020B0609020000020004" pitchFamily="49" charset="0"/>
                        </a:rPr>
                        <a:t> ara s </a:t>
                      </a:r>
                      <a:r>
                        <a:rPr lang="fr-FR" sz="1100" kern="150" err="1">
                          <a:effectLst/>
                          <a:latin typeface="Cascadia Mono" panose="020B0609020000020004" pitchFamily="49" charset="0"/>
                          <a:cs typeface="Cascadia Mono" panose="020B0609020000020004" pitchFamily="49" charset="0"/>
                        </a:rPr>
                        <a:t>uṣeggem</a:t>
                      </a:r>
                      <a:r>
                        <a:rPr lang="fr-FR" sz="1100" kern="150">
                          <a:effectLst/>
                          <a:latin typeface="Cascadia Mono" panose="020B0609020000020004" pitchFamily="49" charset="0"/>
                          <a:cs typeface="Cascadia Mono" panose="020B0609020000020004" pitchFamily="49" charset="0"/>
                        </a:rPr>
                        <a:t> agi n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yuɣ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tannumi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yekkat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timeɣriwin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yendem</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liḥala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taqdimt</a:t>
                      </a:r>
                      <a:r>
                        <a:rPr lang="fr-FR" sz="1100" kern="150">
                          <a:effectLst/>
                          <a:latin typeface="Cascadia Mono" panose="020B0609020000020004" pitchFamily="49" charset="0"/>
                          <a:cs typeface="Cascadia Mono" panose="020B0609020000020004" pitchFamily="49" charset="0"/>
                        </a:rPr>
                        <a:t>: mi d-</a:t>
                      </a:r>
                      <a:r>
                        <a:rPr lang="fr-FR" sz="1100" kern="150" err="1">
                          <a:effectLst/>
                          <a:latin typeface="Cascadia Mono" panose="020B0609020000020004" pitchFamily="49" charset="0"/>
                          <a:cs typeface="Cascadia Mono" panose="020B0609020000020004" pitchFamily="49" charset="0"/>
                        </a:rPr>
                        <a:t>yesmekti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aksum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azegzaw</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idammen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yeḥman</a:t>
                      </a:r>
                      <a:r>
                        <a:rPr lang="fr-FR" sz="1100" kern="150">
                          <a:effectLst/>
                          <a:latin typeface="Cascadia Mono" panose="020B0609020000020004" pitchFamily="49" charset="0"/>
                          <a:cs typeface="Cascadia Mono" panose="020B0609020000020004" pitchFamily="49" charset="0"/>
                        </a:rPr>
                        <a:t>, ad as-</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tisselbi</a:t>
                      </a:r>
                      <a:r>
                        <a:rPr lang="fr-FR" sz="1100" kern="150">
                          <a:effectLst/>
                          <a:latin typeface="Cascadia Mono" panose="020B0609020000020004" pitchFamily="49" charset="0"/>
                          <a:cs typeface="Cascadia Mono" panose="020B0609020000020004" pitchFamily="49" charset="0"/>
                        </a:rPr>
                        <a:t>. Ass-a </a:t>
                      </a:r>
                      <a:r>
                        <a:rPr lang="fr-FR" sz="1100" kern="150" err="1">
                          <a:effectLst/>
                          <a:latin typeface="Cascadia Mono" panose="020B0609020000020004" pitchFamily="49" charset="0"/>
                          <a:cs typeface="Cascadia Mono" panose="020B0609020000020004" pitchFamily="49" charset="0"/>
                        </a:rPr>
                        <a:t>ḥeṛmen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acu</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yili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w’ixedmen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yeɛṣu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Accaren</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qeḍɛen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lḥekm-is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nniḍen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Ihi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ijebd</a:t>
                      </a:r>
                      <a:r>
                        <a:rPr lang="fr-FR" sz="1100" kern="150">
                          <a:effectLst/>
                          <a:latin typeface="Cascadia Mono" panose="020B0609020000020004" pitchFamily="49" charset="0"/>
                          <a:cs typeface="Cascadia Mono" panose="020B0609020000020004" pitchFamily="49" charset="0"/>
                        </a:rPr>
                        <a:t>-d </a:t>
                      </a:r>
                      <a:r>
                        <a:rPr lang="fr-FR" sz="1100" kern="150" err="1">
                          <a:effectLst/>
                          <a:latin typeface="Cascadia Mono" panose="020B0609020000020004" pitchFamily="49" charset="0"/>
                          <a:cs typeface="Cascadia Mono" panose="020B0609020000020004" pitchFamily="49" charset="0"/>
                        </a:rPr>
                        <a:t>taḥṛaymit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yessefra</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yessefreɣ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lxeddam</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tuffra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imciṭni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76980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mmi-s n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yuki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yeḍru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urant</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timellalin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aḥeckul</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Ttcekkiṛen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ameqqran</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Yexẓer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ṣṣeḥḥ</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xelṭen</a:t>
                      </a:r>
                      <a:r>
                        <a:rPr lang="fr-FR" sz="1100" kern="1200">
                          <a:solidFill>
                            <a:schemeClr val="tx1"/>
                          </a:solidFill>
                          <a:effectLst/>
                          <a:latin typeface="+mn-lt"/>
                          <a:ea typeface="+mn-ea"/>
                          <a:cs typeface="+mn-cs"/>
                        </a:rPr>
                        <a:t> di lmux n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iɣḍel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ljerḥ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yesquddeṛ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yenṭel</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yeɣsan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Tura,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wugur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aɛekkeṛ</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fr-FR" sz="1100" kern="15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Chacun vanta un remède plus ou moins magique :</a:t>
                      </a:r>
                    </a:p>
                    <a:p>
                      <a:pPr indent="216000" algn="l"/>
                      <a:r>
                        <a:rPr lang="fr-FR" sz="1100" kern="15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fr-FR" sz="1100" kern="15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a:effectLst/>
                          <a:latin typeface="Cascadia Mono" panose="020B0609020000020004" pitchFamily="49" charset="0"/>
                          <a:cs typeface="Cascadia Mono" panose="020B0609020000020004" pitchFamily="49" charset="0"/>
                        </a:rPr>
                        <a:t>- Va 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 dit le lion,</a:t>
                      </a:r>
                    </a:p>
                    <a:p>
                      <a:pPr indent="216000" algn="l"/>
                      <a:r>
                        <a:rPr lang="fr-FR" sz="1100" kern="15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a:effectLst/>
                          <a:latin typeface="Cascadia Mono" panose="020B0609020000020004" pitchFamily="49" charset="0"/>
                          <a:cs typeface="Cascadia Mono" panose="020B0609020000020004" pitchFamily="49" charset="0"/>
                        </a:rPr>
                        <a:t>Joyeux, il pensait : désormais. Il n’y a plus le moindre obstacle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35222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tewtult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 Le chacal alla trouver la hase pour lui chanter sa chansonnette :</a:t>
                      </a:r>
                    </a:p>
                    <a:p>
                      <a:pPr indent="216000" algn="l"/>
                      <a:r>
                        <a:rPr lang="fr-FR" sz="1100" kern="15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r>
                        <a:rPr lang="fr-FR" sz="1100" kern="15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fr-FR" sz="1100" kern="15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a:effectLst/>
                          <a:latin typeface="Cascadia Mono" panose="020B0609020000020004" pitchFamily="49" charset="0"/>
                          <a:cs typeface="Cascadia Mono" panose="020B0609020000020004" pitchFamily="49" charset="0"/>
                        </a:rPr>
                        <a:t>- Allez,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va enterrer !</a:t>
                      </a:r>
                    </a:p>
                    <a:p>
                      <a:pPr indent="216000" algn="l"/>
                      <a:r>
                        <a:rPr lang="fr-FR" sz="1100" kern="15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203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izli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tyaziḍin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kem-yeǧǧan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turweḍ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timital-im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zedlent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ssefṛuṛxent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yefṛax</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ten-sḍefṛent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tyemmatin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tiseɛdiyin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iguduyen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tmizar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tebḥirin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ibaḥanen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ičuččiwen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ɛyan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wexbaḍ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tyessawt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ten-jemɛent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wafriwen-nsent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ḥmun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steɛfun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imɣurent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tifṛax</a:t>
                      </a:r>
                      <a:r>
                        <a:rPr lang="fr-FR" sz="1100" kern="1200">
                          <a:solidFill>
                            <a:schemeClr val="tx1"/>
                          </a:solidFill>
                          <a:effectLst/>
                          <a:latin typeface="+mn-lt"/>
                          <a:ea typeface="+mn-ea"/>
                          <a:cs typeface="+mn-cs"/>
                        </a:rPr>
                        <a:t> d sut </a:t>
                      </a:r>
                      <a:r>
                        <a:rPr lang="fr-FR" sz="1100" kern="1200" err="1">
                          <a:solidFill>
                            <a:schemeClr val="tx1"/>
                          </a:solidFill>
                          <a:effectLst/>
                          <a:latin typeface="+mn-lt"/>
                          <a:ea typeface="+mn-ea"/>
                          <a:cs typeface="+mn-cs"/>
                        </a:rPr>
                        <a:t>tcebbubin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Tayaziṭ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as-t-id-terri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messus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iḥawet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qerben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a:effectLst/>
                          <a:latin typeface="Cascadia Mono" panose="020B0609020000020004" pitchFamily="49" charset="0"/>
                          <a:cs typeface="Cascadia Mono" panose="020B0609020000020004" pitchFamily="49" charset="0"/>
                        </a:rPr>
                        <a:t>- Va l’enterrer,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78814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yemmuquel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Msemlalen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temɣilin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waccaren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icexxeṛ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tiḥeddiṛt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ḥedṛeɣ</a:t>
                      </a:r>
                      <a:r>
                        <a:rPr lang="fr-FR" sz="1100" kern="1200">
                          <a:solidFill>
                            <a:schemeClr val="tx1"/>
                          </a:solidFill>
                          <a:effectLst/>
                          <a:latin typeface="+mn-lt"/>
                          <a:ea typeface="+mn-ea"/>
                          <a:cs typeface="+mn-cs"/>
                        </a:rPr>
                        <a:t> ass-a!…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iselx-it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igezm-it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sslayeɛ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tiremt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-d!</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904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a:effectLst/>
                          <a:latin typeface="Cascadia Mono" panose="020B0609020000020004" pitchFamily="49" charset="0"/>
                          <a:cs typeface="Cascadia Mono" panose="020B0609020000020004" pitchFamily="49" charset="0"/>
                        </a:rPr>
                        <a:t>L’agneau répondit :</a:t>
                      </a:r>
                    </a:p>
                    <a:p>
                      <a:pPr indent="216000" algn="l"/>
                      <a:r>
                        <a:rPr lang="fr-FR" sz="1100" kern="15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a:effectLst/>
                          <a:latin typeface="Cascadia Mono" panose="020B0609020000020004" pitchFamily="49" charset="0"/>
                          <a:cs typeface="Cascadia Mono" panose="020B0609020000020004" pitchFamily="49" charset="0"/>
                        </a:rPr>
                        <a:t>- Tu es homme de parole, lui dit-il, tu reviens pour que je te mange...</a:t>
                      </a:r>
                    </a:p>
                    <a:p>
                      <a:pPr indent="216000" algn="l"/>
                      <a:r>
                        <a:rPr lang="fr-FR" sz="1100" kern="15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a:effectLst/>
                          <a:latin typeface="Cascadia Mono" panose="020B0609020000020004" pitchFamily="49" charset="0"/>
                          <a:cs typeface="Cascadia Mono" panose="020B0609020000020004" pitchFamily="49" charset="0"/>
                        </a:rPr>
                        <a:t>L’agneau gentil était sauvé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458051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2937</TotalTime>
  <Words>27206</Words>
  <Application>Microsoft Office PowerPoint</Application>
  <PresentationFormat>Widescreen</PresentationFormat>
  <Paragraphs>1681</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1054</cp:revision>
  <dcterms:created xsi:type="dcterms:W3CDTF">2023-02-08T10:37:07Z</dcterms:created>
  <dcterms:modified xsi:type="dcterms:W3CDTF">2026-10-12T00:51:23Z</dcterms:modified>
</cp:coreProperties>
</file>