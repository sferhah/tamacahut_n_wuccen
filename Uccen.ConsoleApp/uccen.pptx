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15/10/2026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15/10/2026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15/10/2026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4674132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i="1" kern="150" dirty="0">
                          <a:effectLst/>
                          <a:latin typeface="Cascadia Mono" panose="020B0609020000020004" pitchFamily="49" charset="0"/>
                          <a:cs typeface="Cascadia Mono" panose="020B0609020000020004" pitchFamily="49" charset="0"/>
                        </a:rPr>
                        <a:t>Monte dans la Montagne</a:t>
                      </a:r>
                    </a:p>
                    <a:p>
                      <a:pPr indent="216000" algn="l"/>
                      <a:r>
                        <a:rPr lang="fr-FR" sz="1100" i="1"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i="1"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i="1" kern="150" dirty="0">
                          <a:effectLst/>
                          <a:latin typeface="Cascadia Mono" panose="020B0609020000020004" pitchFamily="49" charset="0"/>
                          <a:cs typeface="Cascadia Mono" panose="020B0609020000020004" pitchFamily="49" charset="0"/>
                        </a:rPr>
                        <a:t>Descende dans la plaine :</a:t>
                      </a:r>
                    </a:p>
                    <a:p>
                      <a:pPr indent="216000" algn="l"/>
                      <a:r>
                        <a:rPr lang="fr-FR" sz="1100" i="1" kern="150" dirty="0">
                          <a:effectLst/>
                          <a:latin typeface="Cascadia Mono" panose="020B0609020000020004" pitchFamily="49" charset="0"/>
                          <a:cs typeface="Cascadia Mono" panose="020B0609020000020004" pitchFamily="49" charset="0"/>
                        </a:rPr>
                        <a:t>Il y sera plus maltraité qu’un chien</a:t>
                      </a:r>
                      <a:r>
                        <a:rPr lang="en-US" sz="1100" i="1" dirty="0"/>
                        <a:t>…</a:t>
                      </a:r>
                      <a:endParaRPr lang="fr-FR" sz="1100" i="1"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012788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0971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 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a:t>
                      </a:r>
                      <a:r>
                        <a:rPr lang="en-US" sz="1100" dirty="0"/>
                        <a:t>¶ </a:t>
                      </a:r>
                      <a:r>
                        <a:rPr lang="fr-FR" sz="1100" kern="150" dirty="0">
                          <a:effectLst/>
                          <a:latin typeface="Cascadia Mono" panose="020B0609020000020004" pitchFamily="49" charset="0"/>
                          <a:cs typeface="Cascadia Mono" panose="020B0609020000020004" pitchFamily="49" charset="0"/>
                        </a:rPr>
                        <a:t>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 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93780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069486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8021849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36759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83414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vengeance du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604167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42883430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78381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 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0524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dirty="0">
                          <a:effectLst/>
                          <a:latin typeface="Cascadia Mono" panose="020B0609020000020004" pitchFamily="49" charset="0"/>
                          <a:cs typeface="Cascadia Mono" panose="020B0609020000020004" pitchFamily="49" charset="0"/>
                        </a:rPr>
                        <a:t>- Comment vas-tu,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dirty="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Pas d’accord, chacal répondit :</a:t>
                      </a:r>
                    </a:p>
                    <a:p>
                      <a:pPr indent="216000" algn="l"/>
                      <a:r>
                        <a:rPr lang="fr-FR" sz="1100" kern="150" dirty="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dirty="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97428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 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a:t>
                      </a:r>
                      <a:r>
                        <a:rPr lang="en-US" sz="1100" dirty="0"/>
                        <a:t>¶ </a:t>
                      </a:r>
                      <a:r>
                        <a:rPr lang="fr-FR" sz="1100" kern="150" dirty="0">
                          <a:effectLst/>
                          <a:latin typeface="Cascadia Mono" panose="020B0609020000020004" pitchFamily="49" charset="0"/>
                          <a:cs typeface="Cascadia Mono" panose="020B0609020000020004" pitchFamily="49" charset="0"/>
                        </a:rPr>
                        <a:t>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le hérisson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11115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a:t>
                      </a:r>
                      <a:r>
                        <a:rPr lang="en-US" sz="1100" dirty="0"/>
                        <a:t>¶ </a:t>
                      </a:r>
                      <a:r>
                        <a:rPr lang="fr-FR" sz="1100" kern="150" dirty="0">
                          <a:effectLst/>
                          <a:latin typeface="Cascadia Mono" panose="020B0609020000020004" pitchFamily="49" charset="0"/>
                          <a:cs typeface="Cascadia Mono" panose="020B0609020000020004" pitchFamily="49" charset="0"/>
                        </a:rPr>
                        <a:t>Mais les deux compères découvrirent une ouverture entre deux piquets et entrèrent. Ils mangèrent, à satiété, des courges, des melons, des haricots, des tomates et assaisonnèrent le tout de poivron, d’oignon, de basilic.</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dirty="0">
                          <a:effectLst/>
                          <a:latin typeface="Cascadia Mono" panose="020B0609020000020004" pitchFamily="49" charset="0"/>
                          <a:cs typeface="Cascadia Mono" panose="020B0609020000020004" pitchFamily="49" charset="0"/>
                        </a:rPr>
                        <a:t>- Fais le mort, lui conseilla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prit son temps pour l’injurier.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4005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silo à grains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a:t>
                      </a:r>
                      <a:r>
                        <a:rPr lang="en-US" sz="1100" dirty="0"/>
                        <a:t>¶ </a:t>
                      </a:r>
                      <a:r>
                        <a:rPr lang="fr-FR" sz="1100" kern="150" dirty="0">
                          <a:effectLst/>
                          <a:latin typeface="Cascadia Mono" panose="020B0609020000020004" pitchFamily="49" charset="0"/>
                          <a:cs typeface="Cascadia Mono" panose="020B0609020000020004" pitchFamily="49" charset="0"/>
                        </a:rPr>
                        <a:t>En entendant venir le paysan, de frayeur il fit dans son froc. Puis il s’étendit sur le sol et fit le mort, comme dans le potager. </a:t>
                      </a:r>
                      <a:r>
                        <a:rPr lang="en-US" sz="1100" dirty="0"/>
                        <a:t>¶ </a:t>
                      </a:r>
                      <a:r>
                        <a:rPr lang="fr-FR" sz="1100" kern="150" dirty="0">
                          <a:effectLst/>
                          <a:latin typeface="Cascadia Mono" panose="020B0609020000020004" pitchFamily="49" charset="0"/>
                          <a:cs typeface="Cascadia Mono" panose="020B0609020000020004" pitchFamily="49" charset="0"/>
                        </a:rPr>
                        <a:t>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8147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dirty="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dirty="0">
                          <a:effectLst/>
                          <a:latin typeface="Cascadia Mono" panose="020B0609020000020004" pitchFamily="49" charset="0"/>
                          <a:cs typeface="Cascadia Mono" panose="020B0609020000020004" pitchFamily="49" charset="0"/>
                        </a:rPr>
                        <a:t>- Partageons-la, proposa le hérisson.</a:t>
                      </a:r>
                    </a:p>
                    <a:p>
                      <a:pPr indent="216000" algn="l"/>
                      <a:r>
                        <a:rPr lang="fr-FR" sz="1100" kern="150" dirty="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dirty="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dirty="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dirty="0">
                          <a:effectLst/>
                          <a:latin typeface="Cascadia Mono" panose="020B0609020000020004" pitchFamily="49" charset="0"/>
                          <a:cs typeface="Cascadia Mono" panose="020B0609020000020004" pitchFamily="49" charset="0"/>
                        </a:rPr>
                        <a:t>Le hérisson dit :</a:t>
                      </a:r>
                    </a:p>
                    <a:p>
                      <a:pPr indent="216000" algn="l"/>
                      <a:r>
                        <a:rPr lang="fr-FR" sz="1100" kern="150" dirty="0">
                          <a:effectLst/>
                          <a:latin typeface="Cascadia Mono" panose="020B0609020000020004" pitchFamily="49" charset="0"/>
                          <a:cs typeface="Cascadia Mono" panose="020B0609020000020004" pitchFamily="49" charset="0"/>
                        </a:rPr>
                        <a:t>- C’est moi qui y avais mis le feu !</a:t>
                      </a:r>
                    </a:p>
                    <a:p>
                      <a:pPr indent="216000" algn="l"/>
                      <a:r>
                        <a:rPr lang="fr-FR" sz="1100" kern="150" dirty="0">
                          <a:effectLst/>
                          <a:latin typeface="Cascadia Mono" panose="020B0609020000020004" pitchFamily="49" charset="0"/>
                          <a:cs typeface="Cascadia Mono" panose="020B0609020000020004" pitchFamily="49" charset="0"/>
                        </a:rPr>
                        <a:t>Et il mangea la figue.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dirty="0">
                          <a:effectLst/>
                          <a:latin typeface="Cascadia Mono" panose="020B0609020000020004" pitchFamily="49" charset="0"/>
                          <a:cs typeface="Cascadia Mono" panose="020B0609020000020004" pitchFamily="49" charset="0"/>
                        </a:rPr>
                        <a:t>- Non, dit le hérisson : c’est du foie : partageons-le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34724962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dirty="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dirty="0">
                          <a:effectLst/>
                          <a:latin typeface="Cascadia Mono" panose="020B0609020000020004" pitchFamily="49" charset="0"/>
                          <a:cs typeface="Cascadia Mono" panose="020B0609020000020004" pitchFamily="49" charset="0"/>
                        </a:rPr>
                        <a:t>- Hier ! dit le chacal.</a:t>
                      </a:r>
                    </a:p>
                    <a:p>
                      <a:pPr indent="216000" algn="l"/>
                      <a:r>
                        <a:rPr lang="fr-FR" sz="1100" kern="150" dirty="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dirty="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366780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Pour l’</a:t>
                      </a:r>
                      <a:r>
                        <a:rPr lang="fr-FR" sz="1100" kern="150" dirty="0" err="1">
                          <a:effectLst/>
                          <a:latin typeface="Cascadia Mono" panose="020B0609020000020004" pitchFamily="49" charset="0"/>
                          <a:cs typeface="Cascadia Mono" panose="020B0609020000020004" pitchFamily="49" charset="0"/>
                        </a:rPr>
                        <a:t>Aid-El-kebir</a:t>
                      </a:r>
                      <a:r>
                        <a:rPr lang="fr-FR" sz="1100" kern="150" dirty="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dirty="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dirty="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dirty="0">
                          <a:effectLst/>
                          <a:latin typeface="Cascadia Mono" panose="020B0609020000020004" pitchFamily="49" charset="0"/>
                          <a:cs typeface="Cascadia Mono" panose="020B0609020000020004" pitchFamily="49" charset="0"/>
                        </a:rPr>
                        <a:t>- Quoi ? Quoi ? dit le chacal.</a:t>
                      </a:r>
                    </a:p>
                    <a:p>
                      <a:pPr indent="216000" algn="l"/>
                      <a:r>
                        <a:rPr lang="fr-FR" sz="1100" kern="150" dirty="0">
                          <a:effectLst/>
                          <a:latin typeface="Cascadia Mono" panose="020B0609020000020004" pitchFamily="49" charset="0"/>
                          <a:cs typeface="Cascadia Mono" panose="020B0609020000020004" pitchFamily="49" charset="0"/>
                        </a:rPr>
                        <a:t>- Un trésor ! Oui, un trésor ! Je veux te le dire à l’oreille. Approche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1613871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69322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3701156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100254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dirty="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dirty="0">
                          <a:effectLst/>
                          <a:latin typeface="Cascadia Mono" panose="020B0609020000020004" pitchFamily="49" charset="0"/>
                          <a:cs typeface="Cascadia Mono" panose="020B0609020000020004" pitchFamily="49" charset="0"/>
                        </a:rPr>
                        <a:t>Ce dernier voulut protester :</a:t>
                      </a:r>
                    </a:p>
                    <a:p>
                      <a:pPr indent="216000" algn="l"/>
                      <a:r>
                        <a:rPr lang="fr-FR" sz="1100" kern="150" dirty="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dirty="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5868258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815964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r>
                        <a:rPr lang="fr-FR" sz="1100" i="1" kern="150" dirty="0">
                          <a:effectLst/>
                          <a:latin typeface="Cascadia Mono" panose="020B0609020000020004" pitchFamily="49" charset="0"/>
                          <a:cs typeface="Cascadia Mono" panose="020B0609020000020004" pitchFamily="49" charset="0"/>
                        </a:rPr>
                        <a:t>Pitié, seigneur, pitié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Pluie et soleil !</a:t>
                      </a:r>
                    </a:p>
                    <a:p>
                      <a:pPr indent="216000" algn="l"/>
                      <a:r>
                        <a:rPr lang="fr-FR" sz="1100" i="1" kern="150" dirty="0">
                          <a:effectLst/>
                          <a:latin typeface="Cascadia Mono" panose="020B0609020000020004" pitchFamily="49" charset="0"/>
                          <a:cs typeface="Cascadia Mono" panose="020B0609020000020004" pitchFamily="49" charset="0"/>
                        </a:rPr>
                        <a:t>Le chacal a pris femme :</a:t>
                      </a:r>
                    </a:p>
                    <a:p>
                      <a:pPr indent="216000" algn="l"/>
                      <a:r>
                        <a:rPr lang="fr-FR" sz="1100" i="1" kern="150" dirty="0">
                          <a:effectLst/>
                          <a:latin typeface="Cascadia Mono" panose="020B0609020000020004" pitchFamily="49" charset="0"/>
                          <a:cs typeface="Cascadia Mono" panose="020B0609020000020004" pitchFamily="49" charset="0"/>
                        </a:rPr>
                        <a:t>Sauvez-vous, sauvez-vous !</a:t>
                      </a:r>
                    </a:p>
                    <a:p>
                      <a:pPr indent="216000" algn="l"/>
                      <a:r>
                        <a:rPr lang="fr-FR" sz="1100" i="1" kern="150" dirty="0">
                          <a:effectLst/>
                          <a:latin typeface="Cascadia Mono" panose="020B0609020000020004" pitchFamily="49" charset="0"/>
                          <a:cs typeface="Cascadia Mono" panose="020B0609020000020004" pitchFamily="49" charset="0"/>
                        </a:rPr>
                        <a:t>Il ne nous a pas donné une assiettée :</a:t>
                      </a:r>
                    </a:p>
                    <a:p>
                      <a:pPr indent="216000" algn="l"/>
                      <a:r>
                        <a:rPr lang="fr-FR" sz="1100" i="1" kern="150" dirty="0">
                          <a:effectLst/>
                          <a:latin typeface="Cascadia Mono" panose="020B0609020000020004" pitchFamily="49" charset="0"/>
                          <a:cs typeface="Cascadia Mono" panose="020B0609020000020004" pitchFamily="49" charset="0"/>
                        </a:rPr>
                        <a:t>Que Dieu lui donne </a:t>
                      </a:r>
                      <a:r>
                        <a:rPr lang="fr-FR" sz="1100" i="1" kern="150">
                          <a:effectLst/>
                          <a:latin typeface="Cascadia Mono" panose="020B0609020000020004" pitchFamily="49" charset="0"/>
                          <a:cs typeface="Cascadia Mono" panose="020B0609020000020004" pitchFamily="49" charset="0"/>
                        </a:rPr>
                        <a:t>un abcès !</a:t>
                      </a:r>
                      <a:endParaRPr lang="fr-FR" sz="1100" i="1" kern="150" dirty="0">
                        <a:effectLst/>
                        <a:latin typeface="Cascadia Mono" panose="020B0609020000020004" pitchFamily="49" charset="0"/>
                        <a:cs typeface="Cascadia Mono" panose="020B0609020000020004" pitchFamily="49" charset="0"/>
                      </a:endParaRPr>
                    </a:p>
                    <a:p>
                      <a:pPr indent="216000" algn="l"/>
                      <a:r>
                        <a:rPr lang="fr-FR" sz="1100" i="1" strike="sngStrike" kern="150" dirty="0">
                          <a:solidFill>
                            <a:srgbClr val="FF0000"/>
                          </a:solidFill>
                          <a:effectLst/>
                          <a:latin typeface="Cascadia Mono" panose="020B0609020000020004" pitchFamily="49" charset="0"/>
                          <a:cs typeface="Cascadia Mono" panose="020B0609020000020004" pitchFamily="49" charset="0"/>
                        </a:rPr>
                        <a:t>Sauvez-vous, sauvez-vous !</a:t>
                      </a:r>
                      <a:endParaRPr lang="en-GB" i="1" strike="sngStrike" dirty="0">
                        <a:solidFill>
                          <a:srgbClr val="FF0000"/>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0094944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9839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dirty="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a:t>
                      </a:r>
                      <a:r>
                        <a:rPr lang="en-US" sz="1100" dirty="0"/>
                        <a:t>¶ </a:t>
                      </a:r>
                      <a:r>
                        <a:rPr lang="fr-FR" sz="1100" kern="150" dirty="0">
                          <a:effectLst/>
                          <a:latin typeface="Cascadia Mono" panose="020B0609020000020004" pitchFamily="49" charset="0"/>
                          <a:cs typeface="Cascadia Mono" panose="020B0609020000020004" pitchFamily="49" charset="0"/>
                        </a:rPr>
                        <a:t>Quand le champ fut entièrement travaillé, ils dételèrent et se reposèrent. La graine de navet avait dû se jurer, (comme elle le fait toujours), de ne pas passer une seule nuit en terre. D’un seul coup, elle germa et poussa. </a:t>
                      </a:r>
                      <a:r>
                        <a:rPr lang="en-US" sz="1100" dirty="0"/>
                        <a:t>¶ </a:t>
                      </a:r>
                      <a:r>
                        <a:rPr lang="fr-FR" sz="1100" kern="150" dirty="0">
                          <a:effectLst/>
                          <a:latin typeface="Cascadia Mono" panose="020B0609020000020004" pitchFamily="49" charset="0"/>
                          <a:cs typeface="Cascadia Mono" panose="020B0609020000020004" pitchFamily="49" charset="0"/>
                        </a:rPr>
                        <a:t>Au bout de très peu de temps, le champ était couvert d’un joli tapis vert. Lorsque la récole fut prête, le hérisson dit :</a:t>
                      </a:r>
                    </a:p>
                    <a:p>
                      <a:pPr indent="216000" algn="l"/>
                      <a:r>
                        <a:rPr lang="fr-FR" sz="1100" kern="150" dirty="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dirty="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dirty="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dirty="0">
                          <a:effectLst/>
                          <a:latin typeface="Cascadia Mono" panose="020B0609020000020004" pitchFamily="49" charset="0"/>
                          <a:cs typeface="Cascadia Mono" panose="020B0609020000020004" pitchFamily="49" charset="0"/>
                        </a:rPr>
                        <a:t>- Ce qui est au-dessus,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19986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3113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dirty="0" err="1">
                          <a:effectLst/>
                          <a:latin typeface="Cascadia Mono" panose="020B0609020000020004" pitchFamily="49" charset="0"/>
                          <a:cs typeface="Cascadia Mono" panose="020B0609020000020004" pitchFamily="49" charset="0"/>
                        </a:rPr>
                        <a:t>d’arkoul</a:t>
                      </a:r>
                      <a:r>
                        <a:rPr lang="fr-FR" sz="1100" kern="150" dirty="0">
                          <a:effectLst/>
                          <a:latin typeface="Cascadia Mono" panose="020B0609020000020004" pitchFamily="49" charset="0"/>
                          <a:cs typeface="Cascadia Mono" panose="020B0609020000020004" pitchFamily="49" charset="0"/>
                        </a:rPr>
                        <a:t>, pour goûter le nouveau grain et ils furent très satisfaits. </a:t>
                      </a:r>
                      <a:r>
                        <a:rPr lang="en-US" sz="1100" dirty="0"/>
                        <a:t>¶ </a:t>
                      </a:r>
                      <a:r>
                        <a:rPr lang="fr-FR" sz="1100" kern="150" dirty="0">
                          <a:effectLst/>
                          <a:latin typeface="Cascadia Mono" panose="020B0609020000020004" pitchFamily="49" charset="0"/>
                          <a:cs typeface="Cascadia Mono" panose="020B0609020000020004" pitchFamily="49" charset="0"/>
                        </a:rPr>
                        <a:t>Quand la moisson fut prête, le hérisson dit au chacal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5562975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dirty="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dirty="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dirty="0">
                          <a:effectLst/>
                          <a:latin typeface="Cascadia Mono" panose="020B0609020000020004" pitchFamily="49" charset="0"/>
                          <a:cs typeface="Cascadia Mono" panose="020B0609020000020004" pitchFamily="49" charset="0"/>
                        </a:rPr>
                        <a:t>- En dessous ! dit le chacal.</a:t>
                      </a:r>
                    </a:p>
                    <a:p>
                      <a:pPr indent="216000" algn="l"/>
                      <a:r>
                        <a:rPr lang="fr-FR" sz="1100" kern="150" dirty="0">
                          <a:effectLst/>
                          <a:latin typeface="Cascadia Mono" panose="020B0609020000020004" pitchFamily="49" charset="0"/>
                          <a:cs typeface="Cascadia Mono" panose="020B0609020000020004" pitchFamily="49" charset="0"/>
                        </a:rPr>
                        <a:t>- C’est bien, prends-le,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dirty="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9726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84693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6184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l"/>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l"/>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strike="sngStrike" kern="150" dirty="0">
                          <a:solidFill>
                            <a:srgbClr val="FF0000"/>
                          </a:solidFill>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4697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La vieille brouille du chacal et du chien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a:t>
                      </a:r>
                      <a:r>
                        <a:rPr lang="en-US" sz="1100" dirty="0"/>
                        <a:t>¶ </a:t>
                      </a:r>
                      <a:r>
                        <a:rPr lang="fr-FR" sz="1100" kern="150" dirty="0">
                          <a:effectLst/>
                          <a:latin typeface="Cascadia Mono" panose="020B0609020000020004" pitchFamily="49" charset="0"/>
                          <a:cs typeface="Cascadia Mono" panose="020B0609020000020004" pitchFamily="49" charset="0"/>
                        </a:rPr>
                        <a:t>Un jour qu’ils gardaient ainsi le troupeau, une brebis glissa dans un précipice. Elle appela à l’aide. Le lévrier était occupé ailleurs ; le chacal cria :</a:t>
                      </a:r>
                    </a:p>
                    <a:p>
                      <a:pPr indent="216000" algn="l"/>
                      <a:r>
                        <a:rPr lang="fr-FR" sz="1100" kern="150" dirty="0">
                          <a:effectLst/>
                          <a:latin typeface="Cascadia Mono" panose="020B0609020000020004" pitchFamily="49" charset="0"/>
                          <a:cs typeface="Cascadia Mono" panose="020B0609020000020004" pitchFamily="49" charset="0"/>
                        </a:rPr>
                        <a:t>- Ne crains rien !</a:t>
                      </a:r>
                    </a:p>
                    <a:p>
                      <a:pPr indent="216000" algn="l"/>
                      <a:r>
                        <a:rPr lang="fr-FR" sz="1100" kern="150" dirty="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dirty="0">
                          <a:effectLst/>
                          <a:latin typeface="Cascadia Mono" panose="020B0609020000020004" pitchFamily="49" charset="0"/>
                          <a:cs typeface="Cascadia Mono" panose="020B0609020000020004" pitchFamily="49" charset="0"/>
                        </a:rPr>
                        <a:t>Il lécha le sang et, alors, il l’acheva et la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soir, quand ils regagnèrent la maison, le lévrier revint au milieu du troupeau. Quant au chacal, il fut tenu à l’écart.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a:t>
                      </a:r>
                      <a:r>
                        <a:rPr lang="en-US" sz="1100" dirty="0"/>
                        <a:t>¶ </a:t>
                      </a:r>
                      <a:r>
                        <a:rPr lang="fr-FR" sz="1100" kern="150" dirty="0">
                          <a:effectLst/>
                          <a:latin typeface="Cascadia Mono" panose="020B0609020000020004" pitchFamily="49" charset="0"/>
                          <a:cs typeface="Cascadia Mono" panose="020B0609020000020004" pitchFamily="49" charset="0"/>
                        </a:rPr>
                        <a:t>Un jour, pris de remords, il apparut sur une hauteur et appela le lévrier :</a:t>
                      </a:r>
                    </a:p>
                    <a:p>
                      <a:pPr indent="216000" algn="l"/>
                      <a:r>
                        <a:rPr lang="fr-FR" sz="1100" kern="150" dirty="0">
                          <a:effectLst/>
                          <a:latin typeface="Cascadia Mono" panose="020B0609020000020004" pitchFamily="49" charset="0"/>
                          <a:cs typeface="Cascadia Mono" panose="020B0609020000020004" pitchFamily="49" charset="0"/>
                        </a:rPr>
                        <a:t>    Que tu es heureux, lui dit-il, ô chien !</a:t>
                      </a:r>
                    </a:p>
                    <a:p>
                      <a:pPr indent="216000" algn="l"/>
                      <a:r>
                        <a:rPr lang="fr-FR" sz="1100" kern="150" dirty="0">
                          <a:effectLst/>
                          <a:latin typeface="Cascadia Mono" panose="020B0609020000020004" pitchFamily="49" charset="0"/>
                          <a:cs typeface="Cascadia Mono" panose="020B0609020000020004" pitchFamily="49" charset="0"/>
                        </a:rPr>
                        <a:t>    De dormir au milieu des brebis !</a:t>
                      </a:r>
                    </a:p>
                    <a:p>
                      <a:pPr indent="216000" algn="l"/>
                      <a:r>
                        <a:rPr lang="fr-FR" sz="1100" kern="150" dirty="0">
                          <a:effectLst/>
                          <a:latin typeface="Cascadia Mono" panose="020B0609020000020004" pitchFamily="49" charset="0"/>
                          <a:cs typeface="Cascadia Mono" panose="020B0609020000020004" pitchFamily="49" charset="0"/>
                        </a:rPr>
                        <a:t>Le lévrier lui répondit :</a:t>
                      </a:r>
                    </a:p>
                    <a:p>
                      <a:pPr indent="216000" algn="l"/>
                      <a:r>
                        <a:rPr lang="fr-FR" sz="1100" kern="150" dirty="0">
                          <a:effectLst/>
                          <a:latin typeface="Cascadia Mono" panose="020B0609020000020004" pitchFamily="49" charset="0"/>
                          <a:cs typeface="Cascadia Mono" panose="020B0609020000020004" pitchFamily="49" charset="0"/>
                        </a:rPr>
                        <a:t>    Va-t’en donc d’ici !</a:t>
                      </a:r>
                    </a:p>
                    <a:p>
                      <a:pPr indent="216000" algn="l"/>
                      <a:r>
                        <a:rPr lang="fr-FR" sz="1100" kern="150" dirty="0">
                          <a:effectLst/>
                          <a:latin typeface="Cascadia Mono" panose="020B0609020000020004" pitchFamily="49" charset="0"/>
                          <a:cs typeface="Cascadia Mono" panose="020B0609020000020004" pitchFamily="49" charset="0"/>
                        </a:rPr>
                        <a:t>    Sans tes mauvais instincts,</a:t>
                      </a:r>
                    </a:p>
                    <a:p>
                      <a:pPr indent="216000" algn="l"/>
                      <a:r>
                        <a:rPr lang="fr-FR" sz="1100" kern="150" dirty="0">
                          <a:effectLst/>
                          <a:latin typeface="Cascadia Mono" panose="020B0609020000020004" pitchFamily="49" charset="0"/>
                          <a:cs typeface="Cascadia Mono" panose="020B0609020000020004" pitchFamily="49" charset="0"/>
                        </a:rPr>
                        <a:t>    Tu serais mon égal !</a:t>
                      </a:r>
                    </a:p>
                    <a:p>
                      <a:pPr indent="216000" algn="l"/>
                      <a:r>
                        <a:rPr lang="fr-FR" sz="1100" kern="150" dirty="0">
                          <a:effectLst/>
                          <a:latin typeface="Cascadia Mono" panose="020B0609020000020004" pitchFamily="49" charset="0"/>
                          <a:cs typeface="Cascadia Mono" panose="020B0609020000020004" pitchFamily="49" charset="0"/>
                        </a:rPr>
                        <a:t>Le chacal reprit :</a:t>
                      </a:r>
                    </a:p>
                    <a:p>
                      <a:pPr indent="216000" algn="l"/>
                      <a:r>
                        <a:rPr lang="fr-FR" sz="1100" kern="150" dirty="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dirty="0">
                          <a:effectLst/>
                          <a:latin typeface="Cascadia Mono" panose="020B0609020000020004" pitchFamily="49" charset="0"/>
                          <a:cs typeface="Cascadia Mono" panose="020B0609020000020004" pitchFamily="49" charset="0"/>
                        </a:rPr>
                        <a:t>Le lévrier jura :</a:t>
                      </a:r>
                    </a:p>
                    <a:p>
                      <a:pPr indent="216000" algn="l"/>
                      <a:r>
                        <a:rPr lang="fr-FR" sz="1100" kern="150" dirty="0">
                          <a:effectLst/>
                          <a:latin typeface="Cascadia Mono" panose="020B0609020000020004" pitchFamily="49" charset="0"/>
                          <a:cs typeface="Cascadia Mono" panose="020B0609020000020004" pitchFamily="49" charset="0"/>
                        </a:rPr>
                        <a:t>- Par Dieu, je jure de ne pas te manger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3796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Quant au chacal, il se moqua de lui :</a:t>
                      </a:r>
                    </a:p>
                    <a:p>
                      <a:pPr indent="216000" algn="l"/>
                      <a:r>
                        <a:rPr lang="fr-FR" sz="1100" kern="150" dirty="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Chacun poursuivi sa voie.</a:t>
                      </a:r>
                    </a:p>
                    <a:p>
                      <a:pPr indent="216000" algn="l"/>
                      <a:r>
                        <a:rPr lang="fr-FR" sz="1100" kern="150" dirty="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455754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dirty="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dirty="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dirty="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dirty="0">
                          <a:effectLst/>
                          <a:latin typeface="Cascadia Mono" panose="020B0609020000020004" pitchFamily="49" charset="0"/>
                          <a:cs typeface="Cascadia Mono" panose="020B0609020000020004" pitchFamily="49" charset="0"/>
                        </a:rPr>
                        <a:t>Il jura. Elle descendit et ils cheminèrent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dirty="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dirty="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184343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dirty="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dirty="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dirty="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dirty="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dirty="0">
                          <a:effectLst/>
                          <a:latin typeface="Cascadia Mono" panose="020B0609020000020004" pitchFamily="49" charset="0"/>
                          <a:cs typeface="Cascadia Mono" panose="020B0609020000020004" pitchFamily="49" charset="0"/>
                        </a:rPr>
                        <a:t>- Où ?</a:t>
                      </a:r>
                    </a:p>
                    <a:p>
                      <a:pPr indent="216000" algn="l"/>
                      <a:r>
                        <a:rPr lang="fr-FR" sz="1100" kern="150" dirty="0">
                          <a:effectLst/>
                          <a:latin typeface="Cascadia Mono" panose="020B0609020000020004" pitchFamily="49" charset="0"/>
                          <a:cs typeface="Cascadia Mono" panose="020B0609020000020004" pitchFamily="49" charset="0"/>
                        </a:rPr>
                        <a:t>- À la Pierre-Blanche…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969096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 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dirty="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dirty="0">
                          <a:effectLst/>
                          <a:latin typeface="Cascadia Mono" panose="020B0609020000020004" pitchFamily="49" charset="0"/>
                          <a:cs typeface="Cascadia Mono" panose="020B0609020000020004" pitchFamily="49" charset="0"/>
                        </a:rPr>
                        <a:t>- Chevreau présomptueux, lui dit le lévrier, qui t’a donné des ailes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270459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dirty="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dirty="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dirty="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22210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dirty="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dirty="0">
                          <a:effectLst/>
                          <a:latin typeface="Cascadia Mono" panose="020B0609020000020004" pitchFamily="49" charset="0"/>
                          <a:cs typeface="Cascadia Mono" panose="020B0609020000020004" pitchFamily="49" charset="0"/>
                        </a:rPr>
                        <a:t>- Ma pauvre tante a tant peiné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3897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te mange</a:t>
                      </a:r>
                      <a:r>
                        <a:rPr lang="fr-FR" sz="1100" kern="1200" dirty="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4979434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35745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a:t>
                      </a:r>
                      <a:r>
                        <a:rPr lang="en-US" sz="1100" dirty="0"/>
                        <a:t>¶ </a:t>
                      </a:r>
                      <a:r>
                        <a:rPr lang="fr-FR" sz="1100" kern="150" dirty="0">
                          <a:effectLst/>
                          <a:latin typeface="Cascadia Mono" panose="020B0609020000020004" pitchFamily="49" charset="0"/>
                          <a:cs typeface="Cascadia Mono" panose="020B0609020000020004" pitchFamily="49" charset="0"/>
                        </a:rPr>
                        <a:t>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374806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dirty="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dirty="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marché fut conclu, moyennant un agneau bien gras et sous la foi de solennels serments. </a:t>
                      </a:r>
                      <a:r>
                        <a:rPr lang="en-US" sz="1100" dirty="0"/>
                        <a:t>¶ </a:t>
                      </a:r>
                      <a:r>
                        <a:rPr lang="fr-FR" sz="1100" kern="150" dirty="0">
                          <a:effectLst/>
                          <a:latin typeface="Cascadia Mono" panose="020B0609020000020004" pitchFamily="49" charset="0"/>
                          <a:cs typeface="Cascadia Mono" panose="020B0609020000020004" pitchFamily="49" charset="0"/>
                        </a:rPr>
                        <a:t>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était corrigé ; jamais il ne revint.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96286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41304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dirty="0">
                          <a:effectLst/>
                          <a:latin typeface="Cascadia Mono" panose="020B0609020000020004" pitchFamily="49" charset="0"/>
                          <a:cs typeface="Cascadia Mono" panose="020B0609020000020004" pitchFamily="49" charset="0"/>
                        </a:rPr>
                        <a:t>- Qu’as-tu donc, grand-mère ?</a:t>
                      </a:r>
                    </a:p>
                    <a:p>
                      <a:pPr indent="216000" algn="l"/>
                      <a:r>
                        <a:rPr lang="fr-FR" sz="1100" kern="150" dirty="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dirty="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dirty="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dirty="0">
                          <a:effectLst/>
                          <a:latin typeface="Cascadia Mono" panose="020B0609020000020004" pitchFamily="49" charset="0"/>
                          <a:cs typeface="Cascadia Mono" panose="020B0609020000020004" pitchFamily="49" charset="0"/>
                        </a:rPr>
                        <a:t>- Donne-moi un coup de hachette au front.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54738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dirty="0">
                          <a:effectLst/>
                          <a:latin typeface="Cascadia Mono" panose="020B0609020000020004" pitchFamily="49" charset="0"/>
                          <a:cs typeface="Cascadia Mono" panose="020B0609020000020004" pitchFamily="49" charset="0"/>
                        </a:rPr>
                        <a:t>- Frappe-moi, ou je te dévore !</a:t>
                      </a:r>
                    </a:p>
                    <a:p>
                      <a:pPr indent="216000" algn="l"/>
                      <a:r>
                        <a:rPr lang="fr-FR" sz="1100" kern="150" dirty="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dirty="0">
                          <a:effectLst/>
                          <a:latin typeface="Cascadia Mono" panose="020B0609020000020004" pitchFamily="49" charset="0"/>
                          <a:cs typeface="Cascadia Mono" panose="020B0609020000020004" pitchFamily="49" charset="0"/>
                        </a:rPr>
                        <a:t>- Épouille-moi, lui dit-il.</a:t>
                      </a:r>
                    </a:p>
                    <a:p>
                      <a:pPr indent="216000" algn="l"/>
                      <a:r>
                        <a:rPr lang="fr-FR" sz="1100" kern="150" dirty="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dirty="0">
                          <a:effectLst/>
                          <a:latin typeface="Cascadia Mono" panose="020B0609020000020004" pitchFamily="49" charset="0"/>
                          <a:cs typeface="Cascadia Mono" panose="020B0609020000020004" pitchFamily="49" charset="0"/>
                        </a:rPr>
                        <a:t>- Dieu merci, te voilà guéri, fils.</a:t>
                      </a:r>
                    </a:p>
                    <a:p>
                      <a:pPr indent="216000" algn="l"/>
                      <a:r>
                        <a:rPr lang="fr-FR" sz="1100" kern="150" dirty="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dirty="0">
                          <a:effectLst/>
                          <a:latin typeface="Cascadia Mono" panose="020B0609020000020004" pitchFamily="49" charset="0"/>
                          <a:cs typeface="Cascadia Mono" panose="020B0609020000020004" pitchFamily="49" charset="0"/>
                        </a:rPr>
                        <a:t>Alors il se jeta sur elle et la dévora.</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04110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 Entre le lévrier et moi, c’est désormais une guerre à mort.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dirty="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dirty="0">
                          <a:effectLst/>
                          <a:latin typeface="Cascadia Mono" panose="020B0609020000020004" pitchFamily="49" charset="0"/>
                          <a:cs typeface="Cascadia Mono" panose="020B0609020000020004" pitchFamily="49" charset="0"/>
                        </a:rPr>
                        <a:t>C’est depuis ce jour que l’altruisme est si rare.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15332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63528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p>
                    <a:p>
                      <a:pPr indent="457200"/>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dirty="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dirty="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les réunit de nuit et elles commencèrent sur l’air familier : Korr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a:t>
                      </a:r>
                      <a:r>
                        <a:rPr lang="fr-FR" sz="1100" kern="150" dirty="0" err="1">
                          <a:effectLst/>
                          <a:latin typeface="Cascadia Mono" panose="020B0609020000020004" pitchFamily="49" charset="0"/>
                          <a:cs typeface="Cascadia Mono" panose="020B0609020000020004" pitchFamily="49" charset="0"/>
                        </a:rPr>
                        <a:t>Korrr</a:t>
                      </a:r>
                      <a:r>
                        <a:rPr lang="fr-FR" sz="1100" kern="150" dirty="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dirty="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dirty="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17358852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416173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550423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365871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7699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4389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2588655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803273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dirty="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dirty="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dirty="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dirty="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dirty="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dirty="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dirty="0">
                          <a:effectLst/>
                          <a:latin typeface="Cascadia Mono" panose="020B0609020000020004" pitchFamily="49" charset="0"/>
                          <a:cs typeface="Cascadia Mono" panose="020B0609020000020004" pitchFamily="49" charset="0"/>
                        </a:rPr>
                        <a:t>Elle n’osa pas et répondit :</a:t>
                      </a:r>
                    </a:p>
                    <a:p>
                      <a:pPr indent="216000" algn="l"/>
                      <a:r>
                        <a:rPr lang="fr-FR" sz="1100" kern="150" dirty="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dirty="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dirty="0">
                          <a:effectLst/>
                          <a:latin typeface="Cascadia Mono" panose="020B0609020000020004" pitchFamily="49" charset="0"/>
                          <a:cs typeface="Cascadia Mono" panose="020B0609020000020004" pitchFamily="49" charset="0"/>
                        </a:rPr>
                        <a:t>- Tu as rencontré Mohammed !</a:t>
                      </a:r>
                    </a:p>
                    <a:p>
                      <a:pPr indent="216000" algn="l"/>
                      <a:r>
                        <a:rPr lang="fr-FR" sz="1100" kern="150" dirty="0">
                          <a:effectLst/>
                          <a:latin typeface="Cascadia Mono" panose="020B0609020000020004" pitchFamily="49" charset="0"/>
                          <a:cs typeface="Cascadia Mono" panose="020B0609020000020004" pitchFamily="49" charset="0"/>
                        </a:rPr>
                        <a:t>La laie en convint. Elle se retira vivement.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92981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Le lion et le chameau</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a:t>
                      </a:r>
                      <a:r>
                        <a:rPr lang="en-US" sz="1100" dirty="0"/>
                        <a:t>¶ </a:t>
                      </a:r>
                      <a:r>
                        <a:rPr lang="fr-FR" sz="1100" kern="150" dirty="0">
                          <a:effectLst/>
                          <a:latin typeface="Cascadia Mono" panose="020B0609020000020004" pitchFamily="49" charset="0"/>
                          <a:cs typeface="Cascadia Mono" panose="020B0609020000020004" pitchFamily="49" charset="0"/>
                        </a:rPr>
                        <a:t>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10408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le bâton ; mon nom sert d’insulte. Non,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dirty="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dirty="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dirty="0">
                          <a:effectLst/>
                          <a:latin typeface="Cascadia Mono" panose="020B0609020000020004" pitchFamily="49" charset="0"/>
                          <a:cs typeface="Cascadia Mono" panose="020B0609020000020004" pitchFamily="49" charset="0"/>
                        </a:rPr>
                        <a:t>Qu’as-tu donc, mon oncle long-cou ?</a:t>
                      </a:r>
                    </a:p>
                    <a:p>
                      <a:pPr indent="216000" algn="l"/>
                      <a:r>
                        <a:rPr lang="fr-FR" sz="1100" kern="150" dirty="0">
                          <a:effectLst/>
                          <a:latin typeface="Cascadia Mono" panose="020B0609020000020004" pitchFamily="49" charset="0"/>
                          <a:cs typeface="Cascadia Mono" panose="020B0609020000020004" pitchFamily="49" charset="0"/>
                        </a:rPr>
                        <a:t>Le chameau le mit au courant :</a:t>
                      </a:r>
                    </a:p>
                    <a:p>
                      <a:pPr indent="216000" algn="l"/>
                      <a:r>
                        <a:rPr lang="fr-FR" sz="1100" kern="150" dirty="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dirty="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dirty="0">
                          <a:effectLst/>
                          <a:latin typeface="Cascadia Mono" panose="020B0609020000020004" pitchFamily="49" charset="0"/>
                          <a:cs typeface="Cascadia Mono" panose="020B0609020000020004" pitchFamily="49" charset="0"/>
                        </a:rPr>
                        <a:t>Il lui confia quelque chose à l’oreille.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4789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dirty="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dirty="0">
                          <a:effectLst/>
                          <a:latin typeface="Cascadia Mono" panose="020B0609020000020004" pitchFamily="49" charset="0"/>
                          <a:cs typeface="Cascadia Mono" panose="020B0609020000020004" pitchFamily="49" charset="0"/>
                        </a:rPr>
                        <a:t>Le lion s’étira mollement :</a:t>
                      </a:r>
                    </a:p>
                    <a:p>
                      <a:pPr indent="216000" algn="l"/>
                      <a:r>
                        <a:rPr lang="fr-FR" sz="1100" kern="150" dirty="0">
                          <a:effectLst/>
                          <a:latin typeface="Cascadia Mono" panose="020B0609020000020004" pitchFamily="49" charset="0"/>
                          <a:cs typeface="Cascadia Mono" panose="020B0609020000020004" pitchFamily="49" charset="0"/>
                        </a:rPr>
                        <a:t>- Alors, dit-il, je vais te dévorer !</a:t>
                      </a:r>
                    </a:p>
                    <a:p>
                      <a:pPr indent="216000" algn="l"/>
                      <a:r>
                        <a:rPr lang="fr-FR" sz="1100" kern="150" dirty="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dirty="0">
                          <a:effectLst/>
                          <a:latin typeface="Cascadia Mono" panose="020B0609020000020004" pitchFamily="49" charset="0"/>
                          <a:cs typeface="Cascadia Mono" panose="020B0609020000020004" pitchFamily="49" charset="0"/>
                        </a:rPr>
                        <a:t>- Tu as rencontré chacal !</a:t>
                      </a:r>
                    </a:p>
                    <a:p>
                      <a:pPr indent="216000" algn="l"/>
                      <a:r>
                        <a:rPr lang="fr-FR" sz="1100" kern="150" dirty="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dirty="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dirty="0">
                          <a:effectLst/>
                          <a:latin typeface="Cascadia Mono" panose="020B0609020000020004" pitchFamily="49" charset="0"/>
                          <a:cs typeface="Cascadia Mono" panose="020B0609020000020004" pitchFamily="49" charset="0"/>
                        </a:rPr>
                        <a:t>Le chameau s’en alla, sain et sauf.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36947966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800" b="1" kern="150" dirty="0">
                          <a:solidFill>
                            <a:schemeClr val="accent6">
                              <a:lumMod val="75000"/>
                            </a:schemeClr>
                          </a:solidFill>
                          <a:effectLst/>
                          <a:latin typeface="Cascadia Mono" panose="020B0609020000020004" pitchFamily="49" charset="0"/>
                          <a:cs typeface="Cascadia Mono" panose="020B0609020000020004" pitchFamily="49" charset="0"/>
                        </a:rPr>
                        <a:t>Les trois bœufs, le chacal et le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dirty="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dirty="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97063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 Aussi, chaque soir, au lieu de réunir leurs queues comme autrefois et de diriger leurs cornes vers l’extérieur, ils dormaient front contre front, se surveillant entre eux.</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12075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776553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constata un jour que le chacal déjouait ses plans. Alors il se réconcilia avec lui et avec l’hyène qui profitaient toujours des restes de sa chasse. Il jura donc de ne jamais les dévorer et il ajouta, pour le chacal :</a:t>
                      </a:r>
                    </a:p>
                    <a:p>
                      <a:pPr indent="216000" algn="l"/>
                      <a:r>
                        <a:rPr lang="fr-FR" sz="1100" i="1" kern="150" dirty="0">
                          <a:effectLst/>
                          <a:latin typeface="Cascadia Mono" panose="020B0609020000020004" pitchFamily="49" charset="0"/>
                          <a:cs typeface="Cascadia Mono" panose="020B0609020000020004" pitchFamily="49" charset="0"/>
                        </a:rPr>
                        <a:t>Partons en voyage, chacal !</a:t>
                      </a:r>
                    </a:p>
                    <a:p>
                      <a:pPr indent="216000" algn="l"/>
                      <a:r>
                        <a:rPr lang="fr-FR" sz="1100" i="1" kern="150" dirty="0">
                          <a:effectLst/>
                          <a:latin typeface="Cascadia Mono" panose="020B0609020000020004" pitchFamily="49" charset="0"/>
                          <a:cs typeface="Cascadia Mono" panose="020B0609020000020004" pitchFamily="49" charset="0"/>
                        </a:rPr>
                        <a:t>Avec moi, ton bonheur est assuré :</a:t>
                      </a:r>
                    </a:p>
                    <a:p>
                      <a:pPr indent="216000" algn="l"/>
                      <a:r>
                        <a:rPr lang="fr-FR" sz="1100" i="1" kern="150" dirty="0">
                          <a:effectLst/>
                          <a:latin typeface="Cascadia Mono" panose="020B0609020000020004" pitchFamily="49" charset="0"/>
                          <a:cs typeface="Cascadia Mono" panose="020B0609020000020004" pitchFamily="49" charset="0"/>
                        </a:rPr>
                        <a:t>Si je tue les autres, tu dévoreras ;</a:t>
                      </a:r>
                    </a:p>
                    <a:p>
                      <a:pPr indent="216000" algn="l"/>
                      <a:r>
                        <a:rPr lang="fr-FR" sz="1100" i="1" kern="150" dirty="0">
                          <a:effectLst/>
                          <a:latin typeface="Cascadia Mono" panose="020B0609020000020004" pitchFamily="49" charset="0"/>
                          <a:cs typeface="Cascadia Mono" panose="020B0609020000020004" pitchFamily="49" charset="0"/>
                        </a:rPr>
                        <a:t>S’ils me tuaient, tu me dévorerais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dirty="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dirty="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dirty="0">
                          <a:effectLst/>
                          <a:latin typeface="Cascadia Mono" panose="020B0609020000020004" pitchFamily="49" charset="0"/>
                          <a:cs typeface="Cascadia Mono" panose="020B0609020000020004" pitchFamily="49" charset="0"/>
                        </a:rPr>
                        <a:t>- Fais toi-même le partage.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2121561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dirty="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dirty="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44750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a:t>
                      </a:r>
                      <a:r>
                        <a:rPr lang="en-US" sz="1100" dirty="0"/>
                        <a:t>¶ </a:t>
                      </a:r>
                      <a:r>
                        <a:rPr lang="fr-FR" sz="1100" kern="150" dirty="0">
                          <a:effectLst/>
                          <a:latin typeface="Cascadia Mono" panose="020B0609020000020004" pitchFamily="49" charset="0"/>
                          <a:cs typeface="Cascadia Mono" panose="020B0609020000020004" pitchFamily="49" charset="0"/>
                        </a:rPr>
                        <a:t>À sa vue, ses compagnons sentirent bientôt l’eau leur venir à la bouche.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dirty="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dirty="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dirty="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dirty="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dirty="0">
                          <a:effectLst/>
                          <a:latin typeface="Cascadia Mono" panose="020B0609020000020004" pitchFamily="49" charset="0"/>
                          <a:cs typeface="Cascadia Mono" panose="020B0609020000020004" pitchFamily="49" charset="0"/>
                        </a:rPr>
                        <a:t>- C’est de bonne famille, dit le lion.</a:t>
                      </a:r>
                    </a:p>
                    <a:p>
                      <a:pPr indent="216000" algn="l"/>
                      <a:r>
                        <a:rPr lang="fr-FR" sz="1100" kern="150" dirty="0">
                          <a:effectLst/>
                          <a:latin typeface="Cascadia Mono" panose="020B0609020000020004" pitchFamily="49" charset="0"/>
                          <a:cs typeface="Cascadia Mono" panose="020B0609020000020004" pitchFamily="49" charset="0"/>
                        </a:rPr>
                        <a:t>Restait le mulet qui dit :</a:t>
                      </a:r>
                    </a:p>
                    <a:p>
                      <a:pPr indent="216000" algn="l"/>
                      <a:r>
                        <a:rPr lang="fr-FR" sz="1100" kern="150" dirty="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dirty="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dirty="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dirty="0">
                          <a:effectLst/>
                          <a:latin typeface="Cascadia Mono" panose="020B0609020000020004" pitchFamily="49" charset="0"/>
                          <a:cs typeface="Cascadia Mono" panose="020B0609020000020004" pitchFamily="49" charset="0"/>
                        </a:rPr>
                        <a:t>Ils le laissèrent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697548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a:t>
                      </a:r>
                      <a:r>
                        <a:rPr lang="en-US" sz="1100" dirty="0"/>
                        <a:t>¶ </a:t>
                      </a:r>
                      <a:r>
                        <a:rPr lang="fr-FR" sz="1100" kern="150" dirty="0">
                          <a:effectLst/>
                          <a:latin typeface="Cascadia Mono" panose="020B0609020000020004" pitchFamily="49" charset="0"/>
                          <a:cs typeface="Cascadia Mono" panose="020B0609020000020004" pitchFamily="49" charset="0"/>
                        </a:rPr>
                        <a:t>Le mulet alla chez un forgeron qui lui ajusta de beaux fers ciselés, avec des clous qui n’en finissaient plus, puis il revint vers ses compagnons.</a:t>
                      </a:r>
                    </a:p>
                    <a:p>
                      <a:pPr indent="216000" algn="l"/>
                      <a:r>
                        <a:rPr lang="fr-FR" sz="1100" kern="150" dirty="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dirty="0">
                          <a:effectLst/>
                          <a:latin typeface="Cascadia Mono" panose="020B0609020000020004" pitchFamily="49" charset="0"/>
                          <a:cs typeface="Cascadia Mono" panose="020B0609020000020004" pitchFamily="49" charset="0"/>
                        </a:rPr>
                        <a:t>Le mulet répondit :</a:t>
                      </a:r>
                    </a:p>
                    <a:p>
                      <a:pPr indent="216000" algn="l"/>
                      <a:r>
                        <a:rPr lang="fr-FR" sz="1100" kern="150" dirty="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dirty="0">
                          <a:effectLst/>
                          <a:latin typeface="Cascadia Mono" panose="020B0609020000020004" pitchFamily="49" charset="0"/>
                          <a:cs typeface="Cascadia Mono" panose="020B0609020000020004" pitchFamily="49" charset="0"/>
                        </a:rPr>
                        <a:t>- Va lire, Mohammed, dit le lion.</a:t>
                      </a:r>
                    </a:p>
                    <a:p>
                      <a:pPr indent="216000" algn="l"/>
                      <a:r>
                        <a:rPr lang="fr-FR" sz="1100" kern="150" dirty="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dirty="0">
                          <a:effectLst/>
                          <a:latin typeface="Cascadia Mono" panose="020B0609020000020004" pitchFamily="49" charset="0"/>
                          <a:cs typeface="Cascadia Mono" panose="020B0609020000020004" pitchFamily="49" charset="0"/>
                        </a:rPr>
                        <a:t>- Ah ! gémit le lion, le monde est toujours du côté du plus fort, </a:t>
                      </a:r>
                      <a:r>
                        <a:rPr lang="fr-FR" sz="1100" kern="150" dirty="0" err="1">
                          <a:effectLst/>
                          <a:latin typeface="Cascadia Mono" panose="020B0609020000020004" pitchFamily="49" charset="0"/>
                          <a:cs typeface="Cascadia Mono" panose="020B0609020000020004" pitchFamily="49" charset="0"/>
                        </a:rPr>
                        <a:t>fût-il</a:t>
                      </a:r>
                      <a:r>
                        <a:rPr lang="fr-FR" sz="1100" kern="150" dirty="0">
                          <a:effectLst/>
                          <a:latin typeface="Cascadia Mono" panose="020B0609020000020004" pitchFamily="49" charset="0"/>
                          <a:cs typeface="Cascadia Mono" panose="020B0609020000020004" pitchFamily="49" charset="0"/>
                        </a:rPr>
                        <a:t> fils de baudet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dirty="0">
                          <a:effectLst/>
                          <a:latin typeface="Cascadia Mono" panose="020B0609020000020004" pitchFamily="49" charset="0"/>
                          <a:cs typeface="Cascadia Mono" panose="020B0609020000020004" pitchFamily="49" charset="0"/>
                        </a:rPr>
                        <a:t>C’est depuis ce jour-là que le pays vit dans l’anarchie.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331162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Mon histoire va au fil de l’eau :</a:t>
                      </a:r>
                    </a:p>
                    <a:p>
                      <a:pPr indent="216000" algn="l"/>
                      <a:r>
                        <a:rPr lang="fr-FR" sz="1100" kern="150" dirty="0">
                          <a:effectLst/>
                          <a:latin typeface="Cascadia Mono" panose="020B0609020000020004" pitchFamily="49" charset="0"/>
                          <a:cs typeface="Cascadia Mono" panose="020B0609020000020004" pitchFamily="49" charset="0"/>
                        </a:rPr>
                        <a:t>Je l’ai confiée aux fils de nobles.</a:t>
                      </a:r>
                    </a:p>
                    <a:p>
                      <a:pPr indent="216000" algn="l"/>
                      <a:r>
                        <a:rPr lang="fr-FR" sz="1100" kern="150" dirty="0">
                          <a:effectLst/>
                          <a:latin typeface="Cascadia Mono" panose="020B0609020000020004" pitchFamily="49" charset="0"/>
                          <a:cs typeface="Cascadia Mono" panose="020B0609020000020004" pitchFamily="49" charset="0"/>
                        </a:rPr>
                        <a:t>Nous, nous suivons le droit chemin ;</a:t>
                      </a:r>
                    </a:p>
                    <a:p>
                      <a:pPr indent="216000" algn="l"/>
                      <a:r>
                        <a:rPr lang="fr-FR" sz="1100" kern="150" dirty="0">
                          <a:effectLst/>
                          <a:latin typeface="Cascadia Mono" panose="020B0609020000020004" pitchFamily="49" charset="0"/>
                          <a:cs typeface="Cascadia Mono" panose="020B0609020000020004" pitchFamily="49" charset="0"/>
                        </a:rPr>
                        <a:t>Le chacal a pris par les champs,</a:t>
                      </a:r>
                    </a:p>
                    <a:p>
                      <a:pPr indent="216000" algn="l"/>
                      <a:r>
                        <a:rPr lang="fr-FR" sz="1100" kern="150" dirty="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dirty="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dirty="0">
                          <a:effectLst/>
                          <a:latin typeface="Cascadia Mono" panose="020B0609020000020004" pitchFamily="49" charset="0"/>
                          <a:cs typeface="Cascadia Mono" panose="020B0609020000020004" pitchFamily="49" charset="0"/>
                        </a:rPr>
                        <a:t>Nous, que Dieu nos pardonne ;</a:t>
                      </a:r>
                    </a:p>
                    <a:p>
                      <a:pPr indent="216000" algn="l"/>
                      <a:r>
                        <a:rPr lang="fr-FR" sz="1100" kern="150" dirty="0">
                          <a:effectLst/>
                          <a:latin typeface="Cascadia Mono" panose="020B0609020000020004" pitchFamily="49" charset="0"/>
                          <a:cs typeface="Cascadia Mono" panose="020B0609020000020004" pitchFamily="49" charset="0"/>
                        </a:rPr>
                        <a:t>Les chacals, que Dieu les grille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La perdrix cultiva une parcelle</a:t>
                      </a:r>
                    </a:p>
                    <a:p>
                      <a:pPr indent="216000" algn="l"/>
                      <a:r>
                        <a:rPr lang="fr-FR" sz="1100" kern="150" dirty="0">
                          <a:effectLst/>
                          <a:latin typeface="Cascadia Mono" panose="020B0609020000020004" pitchFamily="49" charset="0"/>
                          <a:cs typeface="Cascadia Mono" panose="020B0609020000020004" pitchFamily="49" charset="0"/>
                        </a:rPr>
                        <a:t>Qui se couvrit de fleurs,</a:t>
                      </a:r>
                    </a:p>
                    <a:p>
                      <a:pPr indent="216000" algn="l"/>
                      <a:r>
                        <a:rPr lang="fr-FR" sz="1100" kern="150" dirty="0">
                          <a:effectLst/>
                          <a:latin typeface="Cascadia Mono" panose="020B0609020000020004" pitchFamily="49" charset="0"/>
                          <a:cs typeface="Cascadia Mono" panose="020B0609020000020004" pitchFamily="49" charset="0"/>
                        </a:rPr>
                        <a:t>Elle s’y roula</a:t>
                      </a:r>
                    </a:p>
                    <a:p>
                      <a:pPr indent="216000" algn="l"/>
                      <a:r>
                        <a:rPr lang="fr-FR" sz="1100" kern="150" dirty="0">
                          <a:effectLst/>
                          <a:latin typeface="Cascadia Mono" panose="020B0609020000020004" pitchFamily="49" charset="0"/>
                          <a:cs typeface="Cascadia Mono" panose="020B0609020000020004" pitchFamily="49" charset="0"/>
                        </a:rPr>
                        <a:t>Et fut vêtue comme une mariée ;</a:t>
                      </a:r>
                    </a:p>
                    <a:p>
                      <a:pPr indent="216000" algn="l"/>
                      <a:r>
                        <a:rPr lang="fr-FR" sz="1100" kern="150" dirty="0">
                          <a:effectLst/>
                          <a:latin typeface="Cascadia Mono" panose="020B0609020000020004" pitchFamily="49" charset="0"/>
                          <a:cs typeface="Cascadia Mono" panose="020B0609020000020004" pitchFamily="49" charset="0"/>
                        </a:rPr>
                        <a:t>Elle regarda vers le ciel</a:t>
                      </a:r>
                    </a:p>
                    <a:p>
                      <a:pPr indent="216000" algn="l"/>
                      <a:r>
                        <a:rPr lang="fr-FR" sz="1100" kern="150" dirty="0">
                          <a:effectLst/>
                          <a:latin typeface="Cascadia Mono" panose="020B0609020000020004" pitchFamily="49" charset="0"/>
                          <a:cs typeface="Cascadia Mono" panose="020B0609020000020004" pitchFamily="49" charset="0"/>
                        </a:rPr>
                        <a:t>Qui lui mit du kohol à l’œil ;</a:t>
                      </a:r>
                    </a:p>
                    <a:p>
                      <a:pPr indent="216000" algn="l"/>
                      <a:r>
                        <a:rPr lang="fr-FR" sz="1100" kern="150" dirty="0">
                          <a:effectLst/>
                          <a:latin typeface="Cascadia Mono" panose="020B0609020000020004" pitchFamily="49" charset="0"/>
                          <a:cs typeface="Cascadia Mono" panose="020B0609020000020004" pitchFamily="49" charset="0"/>
                        </a:rPr>
                        <a:t>Elle traversa le ruisselet</a:t>
                      </a:r>
                    </a:p>
                    <a:p>
                      <a:pPr indent="216000" algn="l"/>
                      <a:r>
                        <a:rPr lang="fr-FR" sz="1100" kern="150" dirty="0">
                          <a:effectLst/>
                          <a:latin typeface="Cascadia Mono" panose="020B0609020000020004" pitchFamily="49" charset="0"/>
                          <a:cs typeface="Cascadia Mono" panose="020B0609020000020004" pitchFamily="49" charset="0"/>
                        </a:rPr>
                        <a:t>Qui lui mit du henné.</a:t>
                      </a:r>
                    </a:p>
                    <a:p>
                      <a:pPr indent="216000" algn="l"/>
                      <a:r>
                        <a:rPr lang="fr-FR" sz="1100" kern="150" dirty="0">
                          <a:effectLst/>
                          <a:latin typeface="Cascadia Mono" panose="020B0609020000020004" pitchFamily="49" charset="0"/>
                          <a:cs typeface="Cascadia Mono" panose="020B0609020000020004" pitchFamily="49" charset="0"/>
                        </a:rPr>
                        <a:t>Elle prit la descente,</a:t>
                      </a:r>
                    </a:p>
                    <a:p>
                      <a:pPr indent="216000" algn="l"/>
                      <a:r>
                        <a:rPr lang="fr-FR" sz="1100" kern="150" dirty="0">
                          <a:effectLst/>
                          <a:latin typeface="Cascadia Mono" panose="020B0609020000020004" pitchFamily="49" charset="0"/>
                          <a:cs typeface="Cascadia Mono" panose="020B0609020000020004" pitchFamily="49" charset="0"/>
                        </a:rPr>
                        <a:t>Montée sur sa mule.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cultiva une parcelle</a:t>
                      </a:r>
                    </a:p>
                    <a:p>
                      <a:pPr indent="216000" algn="l"/>
                      <a:r>
                        <a:rPr lang="fr-FR" sz="1100" kern="150" dirty="0">
                          <a:effectLst/>
                          <a:latin typeface="Cascadia Mono" panose="020B0609020000020004" pitchFamily="49" charset="0"/>
                          <a:cs typeface="Cascadia Mono" panose="020B0609020000020004" pitchFamily="49" charset="0"/>
                        </a:rPr>
                        <a:t>Que se couvrit d’épines.</a:t>
                      </a:r>
                    </a:p>
                    <a:p>
                      <a:pPr indent="216000" algn="l"/>
                      <a:r>
                        <a:rPr lang="fr-FR" sz="1100" kern="150" dirty="0">
                          <a:effectLst/>
                          <a:latin typeface="Cascadia Mono" panose="020B0609020000020004" pitchFamily="49" charset="0"/>
                          <a:cs typeface="Cascadia Mono" panose="020B0609020000020004" pitchFamily="49" charset="0"/>
                        </a:rPr>
                        <a:t>Il s’y roula</a:t>
                      </a:r>
                    </a:p>
                    <a:p>
                      <a:pPr indent="216000" algn="l"/>
                      <a:r>
                        <a:rPr lang="fr-FR" sz="1100" kern="150" dirty="0">
                          <a:effectLst/>
                          <a:latin typeface="Cascadia Mono" panose="020B0609020000020004" pitchFamily="49" charset="0"/>
                          <a:cs typeface="Cascadia Mono" panose="020B0609020000020004" pitchFamily="49" charset="0"/>
                        </a:rPr>
                        <a:t>Et y laissa sa fourrure.</a:t>
                      </a:r>
                    </a:p>
                    <a:p>
                      <a:pPr indent="216000" algn="l"/>
                      <a:r>
                        <a:rPr lang="fr-FR" sz="1100" kern="150" dirty="0">
                          <a:effectLst/>
                          <a:latin typeface="Cascadia Mono" panose="020B0609020000020004" pitchFamily="49" charset="0"/>
                          <a:cs typeface="Cascadia Mono" panose="020B0609020000020004" pitchFamily="49" charset="0"/>
                        </a:rPr>
                        <a:t>Il regarda le ciel</a:t>
                      </a:r>
                    </a:p>
                    <a:p>
                      <a:pPr indent="216000" algn="l"/>
                      <a:r>
                        <a:rPr lang="fr-FR" sz="1100" kern="150" dirty="0">
                          <a:effectLst/>
                          <a:latin typeface="Cascadia Mono" panose="020B0609020000020004" pitchFamily="49" charset="0"/>
                          <a:cs typeface="Cascadia Mono" panose="020B0609020000020004" pitchFamily="49" charset="0"/>
                        </a:rPr>
                        <a:t>Qui l’éborgna.</a:t>
                      </a:r>
                    </a:p>
                    <a:p>
                      <a:pPr indent="216000" algn="l"/>
                      <a:r>
                        <a:rPr lang="fr-FR" sz="1100" kern="150" dirty="0">
                          <a:effectLst/>
                          <a:latin typeface="Cascadia Mono" panose="020B0609020000020004" pitchFamily="49" charset="0"/>
                          <a:cs typeface="Cascadia Mono" panose="020B0609020000020004" pitchFamily="49" charset="0"/>
                        </a:rPr>
                        <a:t>Il traversa le ruisselet</a:t>
                      </a:r>
                    </a:p>
                    <a:p>
                      <a:pPr indent="216000" algn="l"/>
                      <a:r>
                        <a:rPr lang="fr-FR" sz="1100" kern="150" dirty="0">
                          <a:effectLst/>
                          <a:latin typeface="Cascadia Mono" panose="020B0609020000020004" pitchFamily="49" charset="0"/>
                          <a:cs typeface="Cascadia Mono" panose="020B0609020000020004" pitchFamily="49" charset="0"/>
                        </a:rPr>
                        <a:t>Qui lui emporta une patte.</a:t>
                      </a:r>
                    </a:p>
                    <a:p>
                      <a:pPr indent="216000" algn="l"/>
                      <a:r>
                        <a:rPr lang="fr-FR" sz="1100" kern="150" dirty="0">
                          <a:effectLst/>
                          <a:latin typeface="Cascadia Mono" panose="020B0609020000020004" pitchFamily="49" charset="0"/>
                          <a:cs typeface="Cascadia Mono" panose="020B0609020000020004" pitchFamily="49" charset="0"/>
                        </a:rPr>
                        <a:t>Il prit la montée</a:t>
                      </a:r>
                    </a:p>
                    <a:p>
                      <a:pPr indent="216000" algn="l"/>
                      <a:r>
                        <a:rPr lang="fr-FR" sz="1100" kern="150" dirty="0">
                          <a:effectLst/>
                          <a:latin typeface="Cascadia Mono" panose="020B0609020000020004" pitchFamily="49" charset="0"/>
                          <a:cs typeface="Cascadia Mono" panose="020B0609020000020004" pitchFamily="49" charset="0"/>
                        </a:rPr>
                        <a:t>Et creva de fatigue.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9196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Vous tous qui m’avez écouté</a:t>
                      </a:r>
                    </a:p>
                    <a:p>
                      <a:pPr indent="216000" algn="l"/>
                      <a:r>
                        <a:rPr lang="fr-FR" sz="1100" kern="150" dirty="0">
                          <a:effectLst/>
                          <a:latin typeface="Cascadia Mono" panose="020B0609020000020004" pitchFamily="49" charset="0"/>
                          <a:cs typeface="Cascadia Mono" panose="020B0609020000020004" pitchFamily="49" charset="0"/>
                        </a:rPr>
                        <a:t>Et qui n’êtes pas des profanes,</a:t>
                      </a:r>
                    </a:p>
                    <a:p>
                      <a:pPr indent="216000" algn="l"/>
                      <a:r>
                        <a:rPr lang="fr-FR" sz="1100" kern="150" dirty="0">
                          <a:effectLst/>
                          <a:latin typeface="Cascadia Mono" panose="020B0609020000020004" pitchFamily="49" charset="0"/>
                          <a:cs typeface="Cascadia Mono" panose="020B0609020000020004" pitchFamily="49" charset="0"/>
                        </a:rPr>
                        <a:t>Méditez cette histoire.</a:t>
                      </a:r>
                    </a:p>
                    <a:p>
                      <a:pPr indent="216000" algn="l"/>
                      <a:r>
                        <a:rPr lang="fr-FR" sz="1100" kern="150" dirty="0">
                          <a:effectLst/>
                          <a:latin typeface="Cascadia Mono" panose="020B0609020000020004" pitchFamily="49" charset="0"/>
                          <a:cs typeface="Cascadia Mono" panose="020B0609020000020004" pitchFamily="49" charset="0"/>
                        </a:rPr>
                        <a:t>C’est de vous tous qu’il s’agit,</a:t>
                      </a:r>
                    </a:p>
                    <a:p>
                      <a:pPr indent="216000" algn="l"/>
                      <a:r>
                        <a:rPr lang="fr-FR" sz="1100" kern="150" dirty="0">
                          <a:effectLst/>
                          <a:latin typeface="Cascadia Mono" panose="020B0609020000020004" pitchFamily="49" charset="0"/>
                          <a:cs typeface="Cascadia Mono" panose="020B0609020000020004" pitchFamily="49" charset="0"/>
                        </a:rPr>
                        <a:t>Car je désire vous épargner</a:t>
                      </a:r>
                    </a:p>
                    <a:p>
                      <a:pPr indent="216000" algn="l"/>
                      <a:r>
                        <a:rPr lang="fr-FR" sz="1100" kern="150" dirty="0">
                          <a:effectLst/>
                          <a:latin typeface="Cascadia Mono" panose="020B0609020000020004" pitchFamily="49" charset="0"/>
                          <a:cs typeface="Cascadia Mono" panose="020B0609020000020004" pitchFamily="49" charset="0"/>
                        </a:rPr>
                        <a:t>Les coups du destin.</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détient le pouvoir</a:t>
                      </a:r>
                    </a:p>
                    <a:p>
                      <a:pPr indent="216000" algn="l"/>
                      <a:r>
                        <a:rPr lang="fr-FR" sz="1100" kern="150" dirty="0">
                          <a:effectLst/>
                          <a:latin typeface="Cascadia Mono" panose="020B0609020000020004" pitchFamily="49" charset="0"/>
                          <a:cs typeface="Cascadia Mono" panose="020B0609020000020004" pitchFamily="49" charset="0"/>
                        </a:rPr>
                        <a:t>Agisse avec droiture,</a:t>
                      </a:r>
                    </a:p>
                    <a:p>
                      <a:pPr indent="216000" algn="l"/>
                      <a:r>
                        <a:rPr lang="fr-FR" sz="1100" kern="150" dirty="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dirty="0">
                          <a:effectLst/>
                          <a:latin typeface="Cascadia Mono" panose="020B0609020000020004" pitchFamily="49" charset="0"/>
                          <a:cs typeface="Cascadia Mono" panose="020B0609020000020004" pitchFamily="49" charset="0"/>
                        </a:rPr>
                        <a:t>Qu’il traite le grand avec égards</a:t>
                      </a:r>
                    </a:p>
                    <a:p>
                      <a:pPr indent="216000" algn="l"/>
                      <a:r>
                        <a:rPr lang="fr-FR" sz="1100" kern="150" dirty="0">
                          <a:effectLst/>
                          <a:latin typeface="Cascadia Mono" panose="020B0609020000020004" pitchFamily="49" charset="0"/>
                          <a:cs typeface="Cascadia Mono" panose="020B0609020000020004" pitchFamily="49" charset="0"/>
                        </a:rPr>
                        <a:t>Et protège le petit :</a:t>
                      </a:r>
                    </a:p>
                    <a:p>
                      <a:pPr indent="216000" algn="l"/>
                      <a:r>
                        <a:rPr lang="fr-FR" sz="1100" kern="150" dirty="0">
                          <a:effectLst/>
                          <a:latin typeface="Cascadia Mono" panose="020B0609020000020004" pitchFamily="49" charset="0"/>
                          <a:cs typeface="Cascadia Mono" panose="020B0609020000020004" pitchFamily="49" charset="0"/>
                        </a:rPr>
                        <a:t>Ni l’un ni l’autre ne le trahira.</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lion qui, c’est notoire,</a:t>
                      </a:r>
                    </a:p>
                    <a:p>
                      <a:pPr indent="216000" algn="l"/>
                      <a:r>
                        <a:rPr lang="fr-FR" sz="1100" kern="150" dirty="0">
                          <a:effectLst/>
                          <a:latin typeface="Cascadia Mono" panose="020B0609020000020004" pitchFamily="49" charset="0"/>
                          <a:cs typeface="Cascadia Mono" panose="020B0609020000020004" pitchFamily="49" charset="0"/>
                        </a:rPr>
                        <a:t>Est capable de mener la lutte,</a:t>
                      </a:r>
                    </a:p>
                    <a:p>
                      <a:pPr indent="216000" algn="l"/>
                      <a:r>
                        <a:rPr lang="fr-FR" sz="1100" kern="150" dirty="0">
                          <a:effectLst/>
                          <a:latin typeface="Cascadia Mono" panose="020B0609020000020004" pitchFamily="49" charset="0"/>
                          <a:cs typeface="Cascadia Mono" panose="020B0609020000020004" pitchFamily="49" charset="0"/>
                        </a:rPr>
                        <a:t>A été étendu raide mort.</a:t>
                      </a:r>
                    </a:p>
                    <a:p>
                      <a:pPr indent="216000" algn="l"/>
                      <a:r>
                        <a:rPr lang="fr-FR" sz="1100" kern="150" dirty="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dirty="0">
                          <a:effectLst/>
                          <a:latin typeface="Cascadia Mono" panose="020B0609020000020004" pitchFamily="49" charset="0"/>
                          <a:cs typeface="Cascadia Mono" panose="020B0609020000020004" pitchFamily="49" charset="0"/>
                        </a:rPr>
                        <a:t>Qui n’est que faiblesse,</a:t>
                      </a:r>
                    </a:p>
                    <a:p>
                      <a:pPr indent="216000" algn="l"/>
                      <a:r>
                        <a:rPr lang="fr-FR" sz="1100" kern="150" dirty="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Quant à l’homme du peuple,</a:t>
                      </a:r>
                    </a:p>
                    <a:p>
                      <a:pPr indent="216000" algn="l"/>
                      <a:r>
                        <a:rPr lang="fr-FR" sz="1100" kern="150" dirty="0">
                          <a:effectLst/>
                          <a:latin typeface="Cascadia Mono" panose="020B0609020000020004" pitchFamily="49" charset="0"/>
                          <a:cs typeface="Cascadia Mono" panose="020B0609020000020004" pitchFamily="49" charset="0"/>
                        </a:rPr>
                        <a:t>Sujet loyal,</a:t>
                      </a:r>
                    </a:p>
                    <a:p>
                      <a:pPr indent="216000" algn="l"/>
                      <a:r>
                        <a:rPr lang="fr-FR" sz="1100" kern="150" dirty="0">
                          <a:effectLst/>
                          <a:latin typeface="Cascadia Mono" panose="020B0609020000020004" pitchFamily="49" charset="0"/>
                          <a:cs typeface="Cascadia Mono" panose="020B0609020000020004" pitchFamily="49" charset="0"/>
                        </a:rPr>
                        <a:t>Qu’il ne soit point perfide.</a:t>
                      </a:r>
                    </a:p>
                    <a:p>
                      <a:pPr indent="216000" algn="l"/>
                      <a:r>
                        <a:rPr lang="fr-FR" sz="1100" kern="150" dirty="0">
                          <a:effectLst/>
                          <a:latin typeface="Cascadia Mono" panose="020B0609020000020004" pitchFamily="49" charset="0"/>
                          <a:cs typeface="Cascadia Mono" panose="020B0609020000020004" pitchFamily="49" charset="0"/>
                        </a:rPr>
                        <a:t>S’il imitait le chacal,</a:t>
                      </a:r>
                    </a:p>
                    <a:p>
                      <a:pPr indent="216000" algn="l"/>
                      <a:r>
                        <a:rPr lang="fr-FR" sz="1100" kern="150" dirty="0">
                          <a:effectLst/>
                          <a:latin typeface="Cascadia Mono" panose="020B0609020000020004" pitchFamily="49" charset="0"/>
                          <a:cs typeface="Cascadia Mono" panose="020B0609020000020004" pitchFamily="49" charset="0"/>
                        </a:rPr>
                        <a:t>Brouillait les gens,</a:t>
                      </a:r>
                    </a:p>
                    <a:p>
                      <a:pPr indent="216000" algn="l"/>
                      <a:r>
                        <a:rPr lang="fr-FR" sz="1100" kern="150" dirty="0">
                          <a:effectLst/>
                          <a:latin typeface="Cascadia Mono" panose="020B0609020000020004" pitchFamily="49" charset="0"/>
                          <a:cs typeface="Cascadia Mono" panose="020B0609020000020004" pitchFamily="49" charset="0"/>
                        </a:rPr>
                        <a:t>Et leur faisait perdre le sommeil,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Sa punition serait certaine,</a:t>
                      </a:r>
                    </a:p>
                    <a:p>
                      <a:pPr indent="216000" algn="l"/>
                      <a:r>
                        <a:rPr lang="fr-FR" sz="1100" kern="150" dirty="0">
                          <a:effectLst/>
                          <a:latin typeface="Cascadia Mono" panose="020B0609020000020004" pitchFamily="49" charset="0"/>
                          <a:cs typeface="Cascadia Mono" panose="020B0609020000020004" pitchFamily="49" charset="0"/>
                        </a:rPr>
                        <a:t>Sa conduite le déshonorerait</a:t>
                      </a:r>
                    </a:p>
                    <a:p>
                      <a:pPr indent="216000" algn="l"/>
                      <a:r>
                        <a:rPr lang="fr-FR" sz="1100" kern="150" dirty="0">
                          <a:effectLst/>
                          <a:latin typeface="Cascadia Mono" panose="020B0609020000020004" pitchFamily="49" charset="0"/>
                          <a:cs typeface="Cascadia Mono" panose="020B0609020000020004" pitchFamily="49" charset="0"/>
                        </a:rPr>
                        <a:t>Et les gens le mépriseraient.</a:t>
                      </a:r>
                    </a:p>
                    <a:p>
                      <a:pPr indent="216000" algn="l"/>
                      <a:r>
                        <a:rPr lang="fr-FR" sz="1100" kern="150" dirty="0">
                          <a:effectLst/>
                          <a:latin typeface="Cascadia Mono" panose="020B0609020000020004" pitchFamily="49" charset="0"/>
                          <a:cs typeface="Cascadia Mono" panose="020B0609020000020004" pitchFamily="49" charset="0"/>
                        </a:rPr>
                        <a:t>Un jour, funeste pour lui,</a:t>
                      </a:r>
                    </a:p>
                    <a:p>
                      <a:pPr indent="216000" algn="l"/>
                      <a:r>
                        <a:rPr lang="fr-FR" sz="1100" kern="150" dirty="0">
                          <a:effectLst/>
                          <a:latin typeface="Cascadia Mono" panose="020B0609020000020004" pitchFamily="49" charset="0"/>
                          <a:cs typeface="Cascadia Mono" panose="020B0609020000020004" pitchFamily="49" charset="0"/>
                        </a:rPr>
                        <a:t>La providence le frapperait :</a:t>
                      </a:r>
                    </a:p>
                    <a:p>
                      <a:pPr indent="216000" algn="l"/>
                      <a:r>
                        <a:rPr lang="fr-FR" sz="1100" kern="150" dirty="0">
                          <a:effectLst/>
                          <a:latin typeface="Cascadia Mono" panose="020B0609020000020004" pitchFamily="49" charset="0"/>
                          <a:cs typeface="Cascadia Mono" panose="020B0609020000020004" pitchFamily="49" charset="0"/>
                        </a:rPr>
                        <a:t>On répugnerait à le soigner.</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feu s’allumerait dans son cœur,</a:t>
                      </a:r>
                    </a:p>
                    <a:p>
                      <a:pPr indent="216000" algn="l"/>
                      <a:r>
                        <a:rPr lang="fr-FR" sz="1100" kern="150" dirty="0">
                          <a:effectLst/>
                          <a:latin typeface="Cascadia Mono" panose="020B0609020000020004" pitchFamily="49" charset="0"/>
                          <a:cs typeface="Cascadia Mono" panose="020B0609020000020004" pitchFamily="49" charset="0"/>
                        </a:rPr>
                        <a:t>Comme dans celui du diable,</a:t>
                      </a:r>
                    </a:p>
                    <a:p>
                      <a:pPr indent="216000" algn="l"/>
                      <a:r>
                        <a:rPr lang="fr-FR" sz="1100" kern="150" dirty="0">
                          <a:effectLst/>
                          <a:latin typeface="Cascadia Mono" panose="020B0609020000020004" pitchFamily="49" charset="0"/>
                          <a:cs typeface="Cascadia Mono" panose="020B0609020000020004" pitchFamily="49" charset="0"/>
                        </a:rPr>
                        <a:t>Et personne ne pourrait l’éteindre.</a:t>
                      </a:r>
                    </a:p>
                    <a:p>
                      <a:pPr indent="216000" algn="l"/>
                      <a:r>
                        <a:rPr lang="fr-FR" sz="1100" kern="150" dirty="0">
                          <a:effectLst/>
                          <a:latin typeface="Cascadia Mono" panose="020B0609020000020004" pitchFamily="49" charset="0"/>
                          <a:cs typeface="Cascadia Mono" panose="020B0609020000020004" pitchFamily="49" charset="0"/>
                        </a:rPr>
                        <a:t>Il se trouverait dans le précipice</a:t>
                      </a:r>
                    </a:p>
                    <a:p>
                      <a:pPr indent="216000" algn="l"/>
                      <a:r>
                        <a:rPr lang="fr-FR" sz="1100" kern="150" dirty="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dirty="0">
                          <a:effectLst/>
                          <a:latin typeface="Cascadia Mono" panose="020B0609020000020004" pitchFamily="49" charset="0"/>
                          <a:cs typeface="Cascadia Mono" panose="020B0609020000020004" pitchFamily="49" charset="0"/>
                        </a:rPr>
                        <a:t>Preuves de la justice de Dieu.</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dirty="0">
                          <a:effectLst/>
                          <a:latin typeface="Cascadia Mono" panose="020B0609020000020004" pitchFamily="49" charset="0"/>
                          <a:cs typeface="Cascadia Mono" panose="020B0609020000020004" pitchFamily="49" charset="0"/>
                        </a:rPr>
                        <a:t>C’était un sage</a:t>
                      </a:r>
                    </a:p>
                    <a:p>
                      <a:pPr indent="216000" algn="l"/>
                      <a:r>
                        <a:rPr lang="fr-FR" sz="1100" kern="150" dirty="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dirty="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dirty="0">
                          <a:effectLst/>
                          <a:latin typeface="Cascadia Mono" panose="020B0609020000020004" pitchFamily="49" charset="0"/>
                          <a:cs typeface="Cascadia Mono" panose="020B0609020000020004" pitchFamily="49" charset="0"/>
                        </a:rPr>
                        <a:t>Et rendu service à ses amis.</a:t>
                      </a:r>
                    </a:p>
                    <a:p>
                      <a:pPr indent="216000" algn="l"/>
                      <a:r>
                        <a:rPr lang="fr-FR" sz="1100" kern="150" dirty="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personnifie l’homme de bien</a:t>
                      </a:r>
                    </a:p>
                    <a:p>
                      <a:pPr indent="216000" algn="l"/>
                      <a:r>
                        <a:rPr lang="fr-FR" sz="1100" kern="150" dirty="0">
                          <a:effectLst/>
                          <a:latin typeface="Cascadia Mono" panose="020B0609020000020004" pitchFamily="49" charset="0"/>
                          <a:cs typeface="Cascadia Mono" panose="020B0609020000020004" pitchFamily="49" charset="0"/>
                        </a:rPr>
                        <a:t>Qui suit toujours les voies</a:t>
                      </a:r>
                    </a:p>
                    <a:p>
                      <a:pPr indent="216000" algn="l"/>
                      <a:r>
                        <a:rPr lang="fr-FR" sz="1100" kern="150" dirty="0">
                          <a:effectLst/>
                          <a:latin typeface="Cascadia Mono" panose="020B0609020000020004" pitchFamily="49" charset="0"/>
                          <a:cs typeface="Cascadia Mono" panose="020B0609020000020004" pitchFamily="49" charset="0"/>
                        </a:rPr>
                        <a:t>Recommandées par la loi.</a:t>
                      </a:r>
                    </a:p>
                    <a:p>
                      <a:pPr indent="216000" algn="l"/>
                      <a:r>
                        <a:rPr lang="fr-FR" sz="1100" kern="150" dirty="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dirty="0">
                          <a:effectLst/>
                          <a:latin typeface="Cascadia Mono" panose="020B0609020000020004" pitchFamily="49" charset="0"/>
                          <a:cs typeface="Cascadia Mono" panose="020B0609020000020004" pitchFamily="49" charset="0"/>
                        </a:rPr>
                        <a:t>Elle passe néanmoins comme un rêve</a:t>
                      </a:r>
                    </a:p>
                    <a:p>
                      <a:pPr indent="216000" algn="l"/>
                      <a:r>
                        <a:rPr lang="fr-FR" sz="1100" kern="150" dirty="0">
                          <a:effectLst/>
                          <a:latin typeface="Cascadia Mono" panose="020B0609020000020004" pitchFamily="49" charset="0"/>
                          <a:cs typeface="Cascadia Mono" panose="020B0609020000020004" pitchFamily="49" charset="0"/>
                        </a:rPr>
                        <a:t>Et il atteint son but : le Paradis.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5766</TotalTime>
  <Words>27756</Words>
  <Application>Microsoft Office PowerPoint</Application>
  <PresentationFormat>Widescreen</PresentationFormat>
  <Paragraphs>1627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1444</cp:revision>
  <dcterms:created xsi:type="dcterms:W3CDTF">2023-02-08T10:37:07Z</dcterms:created>
  <dcterms:modified xsi:type="dcterms:W3CDTF">2026-10-15T07:58:21Z</dcterms:modified>
</cp:coreProperties>
</file>