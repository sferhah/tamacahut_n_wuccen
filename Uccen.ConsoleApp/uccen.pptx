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323" r:id="rId2"/>
    <p:sldId id="324" r:id="rId3"/>
    <p:sldId id="257" r:id="rId4"/>
    <p:sldId id="258" r:id="rId5"/>
    <p:sldId id="259" r:id="rId6"/>
    <p:sldId id="260" r:id="rId7"/>
    <p:sldId id="261" r:id="rId8"/>
    <p:sldId id="262" r:id="rId9"/>
    <p:sldId id="274" r:id="rId10"/>
    <p:sldId id="263" r:id="rId11"/>
    <p:sldId id="264" r:id="rId12"/>
    <p:sldId id="275" r:id="rId13"/>
    <p:sldId id="265" r:id="rId14"/>
    <p:sldId id="266" r:id="rId15"/>
    <p:sldId id="267" r:id="rId16"/>
    <p:sldId id="276" r:id="rId17"/>
    <p:sldId id="268" r:id="rId18"/>
    <p:sldId id="269" r:id="rId19"/>
    <p:sldId id="325" r:id="rId20"/>
    <p:sldId id="277" r:id="rId21"/>
    <p:sldId id="270" r:id="rId22"/>
    <p:sldId id="271" r:id="rId23"/>
    <p:sldId id="272" r:id="rId24"/>
    <p:sldId id="278" r:id="rId25"/>
    <p:sldId id="279" r:id="rId26"/>
    <p:sldId id="280" r:id="rId27"/>
    <p:sldId id="281" r:id="rId28"/>
    <p:sldId id="282" r:id="rId29"/>
    <p:sldId id="283" r:id="rId30"/>
    <p:sldId id="284" r:id="rId31"/>
    <p:sldId id="285" r:id="rId32"/>
    <p:sldId id="286" r:id="rId33"/>
    <p:sldId id="293" r:id="rId34"/>
    <p:sldId id="292" r:id="rId35"/>
    <p:sldId id="287" r:id="rId36"/>
    <p:sldId id="288" r:id="rId37"/>
    <p:sldId id="306" r:id="rId38"/>
    <p:sldId id="289" r:id="rId39"/>
    <p:sldId id="290" r:id="rId40"/>
    <p:sldId id="326" r:id="rId41"/>
    <p:sldId id="291" r:id="rId42"/>
    <p:sldId id="294" r:id="rId43"/>
    <p:sldId id="295" r:id="rId44"/>
    <p:sldId id="307" r:id="rId45"/>
    <p:sldId id="296" r:id="rId46"/>
    <p:sldId id="308" r:id="rId47"/>
    <p:sldId id="297" r:id="rId48"/>
    <p:sldId id="298" r:id="rId49"/>
    <p:sldId id="299" r:id="rId50"/>
    <p:sldId id="309" r:id="rId51"/>
    <p:sldId id="300" r:id="rId52"/>
    <p:sldId id="301" r:id="rId53"/>
    <p:sldId id="305" r:id="rId54"/>
    <p:sldId id="302" r:id="rId55"/>
    <p:sldId id="318" r:id="rId56"/>
    <p:sldId id="303" r:id="rId57"/>
    <p:sldId id="304" r:id="rId58"/>
    <p:sldId id="310" r:id="rId59"/>
    <p:sldId id="319" r:id="rId60"/>
    <p:sldId id="320" r:id="rId61"/>
    <p:sldId id="321" r:id="rId62"/>
    <p:sldId id="322" r:id="rId63"/>
    <p:sldId id="311" r:id="rId64"/>
    <p:sldId id="312" r:id="rId65"/>
    <p:sldId id="313" r:id="rId66"/>
    <p:sldId id="314" r:id="rId67"/>
    <p:sldId id="315" r:id="rId68"/>
    <p:sldId id="316" r:id="rId69"/>
    <p:sldId id="317"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12/10/2026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16413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746895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15418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73408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295744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28-30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29-31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08685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59809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vengeance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8767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38-40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39-41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309175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a:t>
                      </a:r>
                    </a:p>
                    <a:p>
                      <a:pPr indent="216000" algn="l"/>
                      <a:r>
                        <a:rPr lang="fr-FR" sz="1100" kern="150" dirty="0">
                          <a:effectLst/>
                          <a:latin typeface="Cascadia Mono" panose="020B0609020000020004" pitchFamily="49" charset="0"/>
                          <a:cs typeface="Cascadia Mono" panose="020B0609020000020004" pitchFamily="49" charset="0"/>
                        </a:rPr>
                        <a:t>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141607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Yesteɛmel</a:t>
                      </a:r>
                      <a:r>
                        <a:rPr lang="fr-FR" sz="1100" kern="1200">
                          <a:solidFill>
                            <a:schemeClr val="tx1"/>
                          </a:solidFill>
                          <a:effectLst/>
                          <a:latin typeface="+mn-lt"/>
                          <a:ea typeface="+mn-ea"/>
                          <a:cs typeface="+mn-cs"/>
                        </a:rPr>
                        <a:t> yizem men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as-teḥṣil ara lmeɛna deg wuccen. Ur </a:t>
                      </a:r>
                      <a:r>
                        <a:rPr lang="fr-FR" sz="1100" kern="1200" err="1">
                          <a:solidFill>
                            <a:schemeClr val="tx1"/>
                          </a:solidFill>
                          <a:effectLst/>
                          <a:latin typeface="+mn-lt"/>
                          <a:ea typeface="+mn-ea"/>
                          <a:cs typeface="+mn-cs"/>
                        </a:rPr>
                        <a:t>iqelleb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yesteqsa</a:t>
                      </a:r>
                      <a:r>
                        <a:rPr lang="fr-FR" sz="1100" kern="1200">
                          <a:solidFill>
                            <a:schemeClr val="tx1"/>
                          </a:solidFill>
                          <a:effectLst/>
                          <a:latin typeface="+mn-lt"/>
                          <a:ea typeface="+mn-ea"/>
                          <a:cs typeface="+mn-cs"/>
                        </a:rPr>
                        <a:t> deg-s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iwet</a:t>
                      </a:r>
                      <a:r>
                        <a:rPr lang="fr-FR" sz="1100" kern="1200">
                          <a:solidFill>
                            <a:schemeClr val="tx1"/>
                          </a:solidFill>
                          <a:effectLst/>
                          <a:latin typeface="+mn-lt"/>
                          <a:ea typeface="+mn-ea"/>
                          <a:cs typeface="+mn-cs"/>
                        </a:rPr>
                        <a:t> di laman.</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a:t>
                      </a:r>
                      <a:r>
                        <a:rPr lang="fr-FR" sz="1100" kern="1200">
                          <a:solidFill>
                            <a:schemeClr val="tx1"/>
                          </a:solidFill>
                          <a:effectLst/>
                          <a:latin typeface="+mn-lt"/>
                          <a:ea typeface="+mn-ea"/>
                          <a:cs typeface="+mn-cs"/>
                        </a:rPr>
                        <a:t> yettu lḥal, isers-d f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aṭṭan</a:t>
                      </a:r>
                      <a:r>
                        <a:rPr lang="fr-FR" sz="1100" kern="1200">
                          <a:solidFill>
                            <a:schemeClr val="tx1"/>
                          </a:solidFill>
                          <a:effectLst/>
                          <a:latin typeface="+mn-lt"/>
                          <a:ea typeface="+mn-ea"/>
                          <a:cs typeface="+mn-cs"/>
                        </a:rPr>
                        <a:t> ameqran, la yettergigi, </a:t>
                      </a:r>
                      <a:r>
                        <a:rPr lang="fr-FR" sz="1100" kern="1200" err="1">
                          <a:solidFill>
                            <a:schemeClr val="tx1"/>
                          </a:solidFill>
                          <a:effectLst/>
                          <a:latin typeface="+mn-lt"/>
                          <a:ea typeface="+mn-ea"/>
                          <a:cs typeface="+mn-cs"/>
                        </a:rPr>
                        <a:t>inedder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Iceggeɛ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mmeẓren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msamaḥen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Umnen</a:t>
                      </a:r>
                      <a:r>
                        <a:rPr lang="fr-FR" sz="1100" kern="1200">
                          <a:solidFill>
                            <a:schemeClr val="tx1"/>
                          </a:solidFill>
                          <a:effectLst/>
                          <a:latin typeface="+mn-lt"/>
                          <a:ea typeface="+mn-ea"/>
                          <a:cs typeface="+mn-cs"/>
                        </a:rPr>
                        <a:t> lewḥuc: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yeffiɣ</a:t>
                      </a:r>
                      <a:r>
                        <a:rPr lang="fr-FR" sz="1100" kern="1200">
                          <a:solidFill>
                            <a:schemeClr val="tx1"/>
                          </a:solidFill>
                          <a:effectLst/>
                          <a:latin typeface="+mn-lt"/>
                          <a:ea typeface="+mn-ea"/>
                          <a:cs typeface="+mn-cs"/>
                        </a:rPr>
                        <a:t> d ssalem!</a:t>
                      </a:r>
                    </a:p>
                    <a:p>
                      <a:pPr indent="457200"/>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 si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telliḍ?</a:t>
                      </a:r>
                    </a:p>
                    <a:p>
                      <a:pPr indent="457200"/>
                      <a:r>
                        <a:rPr lang="fr-FR" sz="1100" kern="1200" err="1">
                          <a:solidFill>
                            <a:schemeClr val="tx1"/>
                          </a:solidFill>
                          <a:effectLst/>
                          <a:latin typeface="+mn-lt"/>
                          <a:ea typeface="+mn-ea"/>
                          <a:cs typeface="+mn-cs"/>
                        </a:rPr>
                        <a:t>Iɛeql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yeldi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d-yettru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tewweḍ-it-id mm lḥeq:</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Kecm</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nemsamaḥ!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a-tt-a </a:t>
                      </a:r>
                      <a:r>
                        <a:rPr lang="fr-FR" sz="1100" kern="1200" err="1">
                          <a:solidFill>
                            <a:schemeClr val="tx1"/>
                          </a:solidFill>
                          <a:effectLst/>
                          <a:latin typeface="+mn-lt"/>
                          <a:ea typeface="+mn-ea"/>
                          <a:cs typeface="+mn-cs"/>
                        </a:rPr>
                        <a:t>teṛwiḥt</a:t>
                      </a:r>
                      <a:r>
                        <a:rPr lang="fr-FR" sz="1100" kern="1200">
                          <a:solidFill>
                            <a:schemeClr val="tx1"/>
                          </a:solidFill>
                          <a:effectLst/>
                          <a:latin typeface="+mn-lt"/>
                          <a:ea typeface="+mn-ea"/>
                          <a:cs typeface="+mn-cs"/>
                        </a:rPr>
                        <a:t> di lfawatt!</a:t>
                      </a:r>
                    </a:p>
                    <a:p>
                      <a:pPr indent="457200"/>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a:t>
                      </a:r>
                    </a:p>
                    <a:p>
                      <a:pPr indent="457200"/>
                      <a:r>
                        <a:rPr lang="fr-FR" sz="1100" kern="1200">
                          <a:solidFill>
                            <a:schemeClr val="tx1"/>
                          </a:solidFill>
                          <a:effectLst/>
                          <a:latin typeface="+mn-lt"/>
                          <a:ea typeface="+mn-ea"/>
                          <a:cs typeface="+mn-cs"/>
                        </a:rPr>
                        <a:t>- Ad nemsamaḥ kan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Ḥareɣ: ɣur-i ccɣel!</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yeḥṛes</a:t>
                      </a:r>
                      <a:r>
                        <a:rPr lang="fr-FR" sz="1100" kern="1200">
                          <a:solidFill>
                            <a:schemeClr val="tx1"/>
                          </a:solidFill>
                          <a:effectLst/>
                          <a:latin typeface="+mn-lt"/>
                          <a:ea typeface="+mn-ea"/>
                          <a:cs typeface="+mn-cs"/>
                        </a:rPr>
                        <a:t> yizem, yenna-yas:</a:t>
                      </a:r>
                    </a:p>
                    <a:p>
                      <a:pPr indent="457200"/>
                      <a:r>
                        <a:rPr lang="fr-FR" sz="1100" kern="1200">
                          <a:solidFill>
                            <a:schemeClr val="tx1"/>
                          </a:solidFill>
                          <a:effectLst/>
                          <a:latin typeface="+mn-lt"/>
                          <a:ea typeface="+mn-ea"/>
                          <a:cs typeface="+mn-cs"/>
                        </a:rPr>
                        <a:t>-Ala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uṣubbu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tin n </a:t>
                      </a:r>
                      <a:r>
                        <a:rPr lang="fr-FR" sz="1100" kern="1200" err="1">
                          <a:solidFill>
                            <a:schemeClr val="tx1"/>
                          </a:solidFill>
                          <a:effectLst/>
                          <a:latin typeface="+mn-lt"/>
                          <a:ea typeface="+mn-ea"/>
                          <a:cs typeface="+mn-cs"/>
                        </a:rPr>
                        <a:t>tuɣalin</a:t>
                      </a:r>
                      <a:r>
                        <a:rPr lang="fr-FR" sz="1100" kern="1200">
                          <a:solidFill>
                            <a:schemeClr val="tx1"/>
                          </a:solidFill>
                          <a:effectLst/>
                          <a:latin typeface="+mn-lt"/>
                          <a:ea typeface="+mn-ea"/>
                          <a:cs typeface="+mn-cs"/>
                        </a:rPr>
                        <a:t>, ulac!</a:t>
                      </a:r>
                      <a:endParaRPr lang="en-GB" sz="11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fr-FR" sz="1100" kern="15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fr-FR" sz="1100" kern="15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fr-FR" sz="1100" kern="15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a:effectLst/>
                          <a:latin typeface="Cascadia Mono" panose="020B0609020000020004" pitchFamily="49" charset="0"/>
                          <a:cs typeface="Cascadia Mono" panose="020B0609020000020004" pitchFamily="49" charset="0"/>
                        </a:rPr>
                        <a:t>- Comment vas-tu, roi des animaux ?</a:t>
                      </a:r>
                    </a:p>
                    <a:p>
                      <a:pPr indent="216000" algn="l"/>
                      <a:r>
                        <a:rPr lang="fr-FR" sz="1100" kern="15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fr-FR" sz="1100" kern="150">
                          <a:effectLst/>
                          <a:latin typeface="Cascadia Mono" panose="020B0609020000020004" pitchFamily="49" charset="0"/>
                          <a:cs typeface="Cascadia Mono" panose="020B0609020000020004" pitchFamily="49" charset="0"/>
                        </a:rPr>
                        <a:t>Pas d’accord, chacal répondit :</a:t>
                      </a:r>
                    </a:p>
                    <a:p>
                      <a:pPr indent="216000" algn="l"/>
                      <a:r>
                        <a:rPr lang="fr-FR" sz="1100" kern="15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fr-FR" sz="1100" kern="15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64306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fr-FR" sz="1100" kern="150" dirty="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inisi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hérisson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5123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tḥilett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yettsellik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ireṭṭel-it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yemdukal-is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ssarmen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yettkatab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yules-itt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izebbel-itt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iḥemmeṛ-itt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yessew-itt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ẓẓerb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yeṭṭilli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tgusa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kecemen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tawant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taxsayt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afeqqus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ṭumaṭic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sxelḍen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ifelfel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ticcert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leḥbeq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akeyyas</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iqiss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yeṭṭembel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lhaffa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yessefqed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Err</a:t>
                      </a:r>
                      <a:r>
                        <a:rPr lang="fr-FR" sz="1100" kern="1200">
                          <a:solidFill>
                            <a:schemeClr val="tx1"/>
                          </a:solidFill>
                          <a:effectLst/>
                          <a:latin typeface="+mn-lt"/>
                          <a:ea typeface="+mn-ea"/>
                          <a:cs typeface="+mn-cs"/>
                        </a:rPr>
                        <a:t> iman-ik </a:t>
                      </a:r>
                      <a:r>
                        <a:rPr lang="fr-FR" sz="1100" kern="1200" err="1">
                          <a:solidFill>
                            <a:schemeClr val="tx1"/>
                          </a:solidFill>
                          <a:effectLst/>
                          <a:latin typeface="+mn-lt"/>
                          <a:ea typeface="+mn-ea"/>
                          <a:cs typeface="+mn-cs"/>
                        </a:rPr>
                        <a:t>temmuteḍ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iḥseb-it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Yessusel</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yeskifif</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fr-FR" sz="1100" kern="15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fr-FR" sz="1100" kern="15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a:effectLst/>
                          <a:latin typeface="Cascadia Mono" panose="020B0609020000020004" pitchFamily="49" charset="0"/>
                          <a:cs typeface="Cascadia Mono" panose="020B0609020000020004" pitchFamily="49" charset="0"/>
                        </a:rPr>
                        <a:t>- Fais le mort, lui conseilla le hérisson.</a:t>
                      </a:r>
                    </a:p>
                    <a:p>
                      <a:pPr indent="216000" algn="l"/>
                      <a:r>
                        <a:rPr lang="fr-FR" sz="1100" kern="15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fr-FR" sz="1100" kern="150">
                          <a:effectLst/>
                          <a:latin typeface="Cascadia Mono" panose="020B0609020000020004" pitchFamily="49" charset="0"/>
                          <a:cs typeface="Cascadia Mono" panose="020B0609020000020004" pitchFamily="49" charset="0"/>
                        </a:rPr>
                        <a:t>L’homme prit son temps pour l’injurier.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9710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tesraft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silo à grains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4839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58-60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59-61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ccetwa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ageffur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adfel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yeddukel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ttqelliben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lxiṛ-im</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Tura, mi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ɛmu</a:t>
                      </a:r>
                      <a:r>
                        <a:rPr lang="fr-FR" sz="1100" kern="1200">
                          <a:solidFill>
                            <a:schemeClr val="tx1"/>
                          </a:solidFill>
                          <a:effectLst/>
                          <a:latin typeface="+mn-lt"/>
                          <a:ea typeface="+mn-ea"/>
                          <a:cs typeface="+mn-cs"/>
                        </a:rPr>
                        <a:t>-yi-d! Mi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tarbibt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waḍil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tecwawt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ttejṛa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imeksawen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(Wi d-</a:t>
                      </a:r>
                      <a:r>
                        <a:rPr lang="fr-FR" sz="1100" kern="1200" err="1">
                          <a:solidFill>
                            <a:schemeClr val="tx1"/>
                          </a:solidFill>
                          <a:effectLst/>
                          <a:latin typeface="+mn-lt"/>
                          <a:ea typeface="+mn-ea"/>
                          <a:cs typeface="+mn-cs"/>
                        </a:rPr>
                        <a:t>yecfan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-tt-id-</a:t>
                      </a:r>
                      <a:r>
                        <a:rPr lang="fr-FR" sz="1100" kern="1200" err="1">
                          <a:solidFill>
                            <a:schemeClr val="tx1"/>
                          </a:solidFill>
                          <a:effectLst/>
                          <a:latin typeface="+mn-lt"/>
                          <a:ea typeface="+mn-ea"/>
                          <a:cs typeface="+mn-cs"/>
                        </a:rPr>
                        <a:t>yellfen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err="1">
                          <a:solidFill>
                            <a:schemeClr val="tx1"/>
                          </a:solidFill>
                          <a:effectLst/>
                          <a:latin typeface="+mn-lt"/>
                          <a:ea typeface="+mn-ea"/>
                          <a:cs typeface="+mn-cs"/>
                        </a:rPr>
                        <a:t>Kemmlen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aftat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yemsewwqen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kan: ad tt-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meẓẓiyen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iḍelli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-n ad n-</a:t>
                      </a:r>
                      <a:r>
                        <a:rPr lang="fr-FR" sz="1100" kern="1200" err="1">
                          <a:solidFill>
                            <a:schemeClr val="tx1"/>
                          </a:solidFill>
                          <a:effectLst/>
                          <a:latin typeface="+mn-lt"/>
                          <a:ea typeface="+mn-ea"/>
                          <a:cs typeface="+mn-cs"/>
                        </a:rPr>
                        <a:t>laleɣ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tebḍant-is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-as-tt d </a:t>
                      </a:r>
                      <a:r>
                        <a:rPr lang="fr-FR" sz="1100" kern="1200" err="1">
                          <a:solidFill>
                            <a:schemeClr val="tx1"/>
                          </a:solidFill>
                          <a:effectLst/>
                          <a:latin typeface="+mn-lt"/>
                          <a:ea typeface="+mn-ea"/>
                          <a:cs typeface="+mn-cs"/>
                        </a:rPr>
                        <a:t>tuḥsift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a:effectLst/>
                          <a:latin typeface="Cascadia Mono" panose="020B0609020000020004" pitchFamily="49" charset="0"/>
                          <a:cs typeface="Cascadia Mono" panose="020B0609020000020004" pitchFamily="49" charset="0"/>
                        </a:rPr>
                        <a:t>- Partageons-la, proposa le hérisson.</a:t>
                      </a:r>
                    </a:p>
                    <a:p>
                      <a:pPr indent="216000" algn="l"/>
                      <a:r>
                        <a:rPr lang="fr-FR" sz="1100" kern="15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a:effectLst/>
                          <a:latin typeface="Cascadia Mono" panose="020B0609020000020004" pitchFamily="49" charset="0"/>
                          <a:cs typeface="Cascadia Mono" panose="020B0609020000020004" pitchFamily="49" charset="0"/>
                        </a:rPr>
                        <a:t>Le hérisson dit :</a:t>
                      </a:r>
                    </a:p>
                    <a:p>
                      <a:pPr indent="216000" algn="l"/>
                      <a:r>
                        <a:rPr lang="fr-FR" sz="1100" kern="150">
                          <a:effectLst/>
                          <a:latin typeface="Cascadia Mono" panose="020B0609020000020004" pitchFamily="49" charset="0"/>
                          <a:cs typeface="Cascadia Mono" panose="020B0609020000020004" pitchFamily="49" charset="0"/>
                        </a:rPr>
                        <a:t>- C’est moi qui y avais mis le feu !</a:t>
                      </a:r>
                    </a:p>
                    <a:p>
                      <a:pPr indent="216000" algn="l"/>
                      <a:r>
                        <a:rPr lang="fr-FR" sz="1100" kern="150">
                          <a:effectLst/>
                          <a:latin typeface="Cascadia Mono" panose="020B0609020000020004" pitchFamily="49" charset="0"/>
                          <a:cs typeface="Cascadia Mono" panose="020B0609020000020004" pitchFamily="49" charset="0"/>
                        </a:rPr>
                        <a:t>- Et il mangea la figue.</a:t>
                      </a:r>
                    </a:p>
                    <a:p>
                      <a:pPr indent="216000" algn="l"/>
                      <a:r>
                        <a:rPr lang="fr-FR" sz="1100" kern="15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a:effectLst/>
                          <a:latin typeface="Cascadia Mono" panose="020B0609020000020004" pitchFamily="49" charset="0"/>
                          <a:cs typeface="Cascadia Mono" panose="020B0609020000020004" pitchFamily="49" charset="0"/>
                        </a:rPr>
                        <a:t>- Non, dit le hérisson : c’est du foie : partageons-le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a:effectLst/>
                          <a:latin typeface="Cascadia Mono" panose="020B0609020000020004" pitchFamily="49" charset="0"/>
                          <a:cs typeface="Cascadia Mono" panose="020B0609020000020004" pitchFamily="49" charset="0"/>
                        </a:rPr>
                        <a:t>- Hier ! dit le chacal.</a:t>
                      </a:r>
                    </a:p>
                    <a:p>
                      <a:pPr indent="216000" algn="l"/>
                      <a:r>
                        <a:rPr lang="fr-FR" sz="1100" kern="15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2628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62-64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63-65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wergaz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ameɛluf</a:t>
                      </a:r>
                      <a:r>
                        <a:rPr lang="fr-FR" sz="1100" kern="1200">
                          <a:solidFill>
                            <a:schemeClr val="tx1"/>
                          </a:solidFill>
                          <a:effectLst/>
                          <a:latin typeface="+mn-lt"/>
                          <a:ea typeface="+mn-ea"/>
                          <a:cs typeface="+mn-cs"/>
                        </a:rPr>
                        <a:t> i lɛid tameqrant.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netta d lwacul-is;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d-yeqqimen, </a:t>
                      </a:r>
                      <a:r>
                        <a:rPr lang="fr-FR" sz="1100" kern="1200" err="1">
                          <a:solidFill>
                            <a:schemeClr val="tx1"/>
                          </a:solidFill>
                          <a:effectLst/>
                          <a:latin typeface="+mn-lt"/>
                          <a:ea typeface="+mn-ea"/>
                          <a:cs typeface="+mn-cs"/>
                        </a:rPr>
                        <a:t>icelleḥ-it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fesren</a:t>
                      </a:r>
                      <a:r>
                        <a:rPr lang="fr-FR" sz="1100" kern="1200">
                          <a:solidFill>
                            <a:schemeClr val="tx1"/>
                          </a:solidFill>
                          <a:effectLst/>
                          <a:latin typeface="+mn-lt"/>
                          <a:ea typeface="+mn-ea"/>
                          <a:cs typeface="+mn-cs"/>
                        </a:rPr>
                        <a: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terra-t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di tqellalt, tesleɣ-itt.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tedla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buṣuf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Teddem</a:t>
                      </a:r>
                      <a:r>
                        <a:rPr lang="fr-FR" sz="1100" kern="1200">
                          <a:solidFill>
                            <a:schemeClr val="tx1"/>
                          </a:solidFill>
                          <a:effectLst/>
                          <a:latin typeface="+mn-lt"/>
                          <a:ea typeface="+mn-ea"/>
                          <a:cs typeface="+mn-cs"/>
                        </a:rPr>
                        <a:t> taqellalt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tsers-itt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tṛuḥ </a:t>
                      </a:r>
                      <a:r>
                        <a:rPr lang="fr-FR" sz="1100" kern="1200" err="1">
                          <a:solidFill>
                            <a:schemeClr val="tx1"/>
                          </a:solidFill>
                          <a:effectLst/>
                          <a:latin typeface="+mn-lt"/>
                          <a:ea typeface="+mn-ea"/>
                          <a:cs typeface="+mn-cs"/>
                        </a:rPr>
                        <a:t>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tissirt</a:t>
                      </a:r>
                      <a:r>
                        <a:rPr lang="fr-FR" sz="1100" kern="1200">
                          <a:solidFill>
                            <a:schemeClr val="tx1"/>
                          </a:solidFill>
                          <a:effectLst/>
                          <a:latin typeface="+mn-lt"/>
                          <a:ea typeface="+mn-ea"/>
                          <a:cs typeface="+mn-cs"/>
                        </a:rPr>
                        <a:t> n wawal nettat d tǧaṛett-is. Igubeṛ-itt wuccen: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d-akren </a:t>
                      </a:r>
                      <a:r>
                        <a:rPr lang="fr-FR" sz="1100" kern="1200" err="1">
                          <a:solidFill>
                            <a:schemeClr val="tx1"/>
                          </a:solidFill>
                          <a:effectLst/>
                          <a:latin typeface="+mn-lt"/>
                          <a:ea typeface="+mn-ea"/>
                          <a:cs typeface="+mn-cs"/>
                        </a:rPr>
                        <a:t>lexliɛa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yettuɛi,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yeṛwa;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n tqellalt: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ula d netta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deg umeddakel-is ad t-id-</a:t>
                      </a:r>
                      <a:r>
                        <a:rPr lang="fr-FR" sz="1100" kern="1200" err="1">
                          <a:solidFill>
                            <a:schemeClr val="tx1"/>
                          </a:solidFill>
                          <a:effectLst/>
                          <a:latin typeface="+mn-lt"/>
                          <a:ea typeface="+mn-ea"/>
                          <a:cs typeface="+mn-cs"/>
                        </a:rPr>
                        <a:t>yessufeɣ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Mḥemmed:</a:t>
                      </a:r>
                    </a:p>
                    <a:p>
                      <a:pPr indent="457200"/>
                      <a:r>
                        <a:rPr lang="fr-FR" sz="1100" kern="1200">
                          <a:solidFill>
                            <a:schemeClr val="tx1"/>
                          </a:solidFill>
                          <a:effectLst/>
                          <a:latin typeface="+mn-lt"/>
                          <a:ea typeface="+mn-ea"/>
                          <a:cs typeface="+mn-cs"/>
                        </a:rPr>
                        <a:t>- Ta di tin n yiḍelli, a Muḥend!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k-id-taf lalla-k: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deg-s imensi!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mmuteɣ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ffreɣ</a:t>
                      </a:r>
                      <a:r>
                        <a:rPr lang="fr-FR" sz="1100" kern="1200">
                          <a:solidFill>
                            <a:schemeClr val="tx1"/>
                          </a:solidFill>
                          <a:effectLst/>
                          <a:latin typeface="+mn-lt"/>
                          <a:ea typeface="+mn-ea"/>
                          <a:cs typeface="+mn-cs"/>
                        </a:rPr>
                        <a:t> agerruj: qerreb-d,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-t-</a:t>
                      </a:r>
                      <a:r>
                        <a:rPr lang="fr-FR" sz="1100" kern="1200" err="1">
                          <a:solidFill>
                            <a:schemeClr val="tx1"/>
                          </a:solidFill>
                          <a:effectLst/>
                          <a:latin typeface="+mn-lt"/>
                          <a:ea typeface="+mn-ea"/>
                          <a:cs typeface="+mn-cs"/>
                        </a:rPr>
                        <a:t>meleɣ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tferqeḍ</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 Anida? Anida?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inisi: Aha-t! Aha-t… ugerruj! Qerreb-d ameẓẓuɣ-ik!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Iqerreb-d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wuccen: iḥuza-tt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iɣeẓẓa-tt. Ineggez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Muḥend si tqellalt,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Ɣas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tugad</a:t>
                      </a:r>
                      <a:r>
                        <a:rPr lang="fr-FR" sz="1100" kern="1200">
                          <a:solidFill>
                            <a:schemeClr val="tx1"/>
                          </a:solidFill>
                          <a:effectLst/>
                          <a:latin typeface="+mn-lt"/>
                          <a:ea typeface="+mn-ea"/>
                          <a:cs typeface="+mn-cs"/>
                        </a:rPr>
                        <a:t> ad tt-yennaɣ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tuɣ-itent</a:t>
                      </a:r>
                      <a:r>
                        <a:rPr lang="fr-FR" sz="1100" kern="1200">
                          <a:solidFill>
                            <a:schemeClr val="tx1"/>
                          </a:solidFill>
                          <a:effectLst/>
                          <a:latin typeface="+mn-lt"/>
                          <a:ea typeface="+mn-ea"/>
                          <a:cs typeface="+mn-cs"/>
                        </a:rPr>
                        <a:t> mkemmda.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Pour l’</a:t>
                      </a:r>
                      <a:r>
                        <a:rPr lang="fr-FR" sz="1100" kern="150" err="1">
                          <a:effectLst/>
                          <a:latin typeface="Cascadia Mono" panose="020B0609020000020004" pitchFamily="49" charset="0"/>
                          <a:cs typeface="Cascadia Mono" panose="020B0609020000020004" pitchFamily="49" charset="0"/>
                        </a:rPr>
                        <a:t>Aid-El-kebir</a:t>
                      </a:r>
                      <a:r>
                        <a:rPr lang="fr-FR" sz="1100" kern="15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a:effectLst/>
                          <a:latin typeface="Cascadia Mono" panose="020B0609020000020004" pitchFamily="49" charset="0"/>
                          <a:cs typeface="Cascadia Mono" panose="020B0609020000020004" pitchFamily="49" charset="0"/>
                        </a:rPr>
                        <a:t>- Quoi ? Quoi ? dit le chacal.</a:t>
                      </a:r>
                    </a:p>
                    <a:p>
                      <a:pPr indent="216000" algn="l"/>
                      <a:r>
                        <a:rPr lang="fr-FR" sz="1100" kern="150">
                          <a:effectLst/>
                          <a:latin typeface="Cascadia Mono" panose="020B0609020000020004" pitchFamily="49" charset="0"/>
                          <a:cs typeface="Cascadia Mono" panose="020B0609020000020004" pitchFamily="49" charset="0"/>
                        </a:rPr>
                        <a:t>- Un trésor ! Oui, un trésor ! Je veux te le dire à l’oreille. Approche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45917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67-69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61210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70-72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yennuɣ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ufrarent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iɛawed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yenna-yasen:</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awen-mleɣ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texṣer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ad tt-nṣeggem. </a:t>
                      </a:r>
                      <a:r>
                        <a:rPr lang="fr-FR" sz="1100" kern="1200" err="1">
                          <a:solidFill>
                            <a:schemeClr val="tx1"/>
                          </a:solidFill>
                          <a:effectLst/>
                          <a:latin typeface="+mn-lt"/>
                          <a:ea typeface="+mn-ea"/>
                          <a:cs typeface="+mn-cs"/>
                        </a:rPr>
                        <a:t>Acimi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lemtel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awtul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tawtult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taɣyult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yettaɣ kan talɣemt?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ṣṣwab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Yessefk-aneɣ</a:t>
                      </a:r>
                      <a:r>
                        <a:rPr lang="fr-FR" sz="1100" kern="1200">
                          <a:solidFill>
                            <a:schemeClr val="tx1"/>
                          </a:solidFill>
                          <a:effectLst/>
                          <a:latin typeface="+mn-lt"/>
                          <a:ea typeface="+mn-ea"/>
                          <a:cs typeface="+mn-cs"/>
                        </a:rPr>
                        <a:t> ad nemxalaḍ di nnesba: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ad yawi i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ad tbeddel </a:t>
                      </a:r>
                      <a:r>
                        <a:rPr lang="fr-FR" sz="1100" kern="1200" err="1">
                          <a:solidFill>
                            <a:schemeClr val="tx1"/>
                          </a:solidFill>
                          <a:effectLst/>
                          <a:latin typeface="+mn-lt"/>
                          <a:ea typeface="+mn-ea"/>
                          <a:cs typeface="+mn-cs"/>
                        </a:rPr>
                        <a:t>ccetla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lhan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ɛedlen</a:t>
                      </a:r>
                      <a:r>
                        <a:rPr lang="fr-FR" sz="1100" kern="1200">
                          <a:solidFill>
                            <a:schemeClr val="tx1"/>
                          </a:solidFill>
                          <a:effectLst/>
                          <a:latin typeface="+mn-lt"/>
                          <a:ea typeface="+mn-ea"/>
                          <a:cs typeface="+mn-cs"/>
                        </a:rPr>
                        <a:t> irkel.</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wawal: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mseɛyan: </a:t>
                      </a:r>
                      <a:r>
                        <a:rPr lang="fr-FR" sz="1100" kern="1200" err="1">
                          <a:solidFill>
                            <a:schemeClr val="tx1"/>
                          </a:solidFill>
                          <a:effectLst/>
                          <a:latin typeface="+mn-lt"/>
                          <a:ea typeface="+mn-ea"/>
                          <a:cs typeface="+mn-cs"/>
                        </a:rPr>
                        <a:t>qeblen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tajdiṭ</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snejmeɛen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tilawin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iger-asent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taseqqart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iṣaḥ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i t-id-iṣaḥen: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telɣemt: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d taberkant d taqurent.</a:t>
                      </a:r>
                    </a:p>
                    <a:p>
                      <a:pPr indent="457200"/>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ad iberri: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-k ccṛeɛ!</a:t>
                      </a:r>
                    </a:p>
                    <a:p>
                      <a:pPr indent="457200"/>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 yewwi-yas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tameṭṭut; ay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ixten</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agi tajdiṭ: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sshala;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di ṛṛay-is: </a:t>
                      </a:r>
                      <a:r>
                        <a:rPr lang="fr-FR" sz="1100" kern="1200" err="1">
                          <a:solidFill>
                            <a:schemeClr val="tx1"/>
                          </a:solidFill>
                          <a:effectLst/>
                          <a:latin typeface="+mn-lt"/>
                          <a:ea typeface="+mn-ea"/>
                          <a:cs typeface="+mn-cs"/>
                        </a:rPr>
                        <a:t>teɣleb-it</a:t>
                      </a:r>
                      <a:r>
                        <a:rPr lang="fr-FR" sz="1100" kern="1200">
                          <a:solidFill>
                            <a:schemeClr val="tx1"/>
                          </a:solidFill>
                          <a:effectLst/>
                          <a:latin typeface="+mn-lt"/>
                          <a:ea typeface="+mn-ea"/>
                          <a:cs typeface="+mn-cs"/>
                        </a:rPr>
                        <a:t> aṭas!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fr-FR" sz="1100" kern="15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fr-FR" sz="1100" kern="15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a:effectLst/>
                          <a:latin typeface="Cascadia Mono" panose="020B0609020000020004" pitchFamily="49" charset="0"/>
                          <a:cs typeface="Cascadia Mono" panose="020B0609020000020004" pitchFamily="49" charset="0"/>
                        </a:rPr>
                        <a:t>Ce dernier voulut protester :</a:t>
                      </a:r>
                    </a:p>
                    <a:p>
                      <a:pPr indent="216000" algn="l"/>
                      <a:r>
                        <a:rPr lang="fr-FR" sz="1100" kern="15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p>
                    <a:p>
                      <a:pPr indent="216000" algn="l"/>
                      <a:r>
                        <a:rPr lang="fr-FR" sz="1100" kern="15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7533967"/>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74-76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75-77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taqbaylit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tameɣbunt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leɛṛas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lḥaṣul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tamessast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sbarken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tteklen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ten-yessečč</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jjekk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tebliɛ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telqimt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yas-yenna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Mebṛuk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-as-d: Ma </a:t>
                      </a:r>
                      <a:r>
                        <a:rPr lang="fr-FR" sz="1100" kern="1200" err="1">
                          <a:solidFill>
                            <a:schemeClr val="tx1"/>
                          </a:solidFill>
                          <a:effectLst/>
                          <a:latin typeface="+mn-lt"/>
                          <a:ea typeface="+mn-ea"/>
                          <a:cs typeface="+mn-cs"/>
                        </a:rPr>
                        <a:t>tebrek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yehwi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beggnen</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genwan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ixelṭ</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ugeffur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wanẓar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lebraq</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ṛṛɛud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bbehdeln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 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tafukt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aɣ</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taqessult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as-d-</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taqeẓẓult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tqeslin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tilmawin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ijeqduṛen-is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tɛedda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i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yettaɣ-itt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yessin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leḥkaṛ-is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fr-FR" sz="1100" kern="15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Pitié, seigneur, pitié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Pluie et soleil !</a:t>
                      </a:r>
                    </a:p>
                    <a:p>
                      <a:pPr indent="216000" algn="l"/>
                      <a:r>
                        <a:rPr lang="fr-FR" sz="1100" kern="150">
                          <a:effectLst/>
                          <a:latin typeface="Cascadia Mono" panose="020B0609020000020004" pitchFamily="49" charset="0"/>
                          <a:cs typeface="Cascadia Mono" panose="020B0609020000020004" pitchFamily="49" charset="0"/>
                        </a:rPr>
                        <a:t>Le chacal a pris femme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Il ne nous a pas donné une assiettée :</a:t>
                      </a:r>
                    </a:p>
                    <a:p>
                      <a:pPr indent="216000" algn="l"/>
                      <a:r>
                        <a:rPr lang="fr-FR" sz="1100" kern="150">
                          <a:effectLst/>
                          <a:latin typeface="Cascadia Mono" panose="020B0609020000020004" pitchFamily="49" charset="0"/>
                          <a:cs typeface="Cascadia Mono" panose="020B0609020000020004" pitchFamily="49" charset="0"/>
                        </a:rPr>
                        <a:t>Que Dieu lui donne un abcès</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fr-FR" sz="1100" kern="15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461903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78-80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79-81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taffellaḥt</a:t>
                      </a:r>
                      <a:r>
                        <a:rPr lang="fr-FR" sz="1100" kern="1200">
                          <a:solidFill>
                            <a:schemeClr val="tx1"/>
                          </a:solidFill>
                          <a:effectLst/>
                          <a:latin typeface="+mn-lt"/>
                          <a:ea typeface="+mn-ea"/>
                          <a:cs typeface="+mn-cs"/>
                        </a:rPr>
                        <a:t> d inisi: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yefka-d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tṛemmant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zzerriɛa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Heggan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tagersa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tazaglutt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tafekkalt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ijebdan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tsilett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tmazirt</a:t>
                      </a:r>
                      <a:r>
                        <a:rPr lang="fr-FR" sz="1100" kern="1200">
                          <a:solidFill>
                            <a:schemeClr val="tx1"/>
                          </a:solidFill>
                          <a:effectLst/>
                          <a:latin typeface="+mn-lt"/>
                          <a:ea typeface="+mn-ea"/>
                          <a:cs typeface="+mn-cs"/>
                        </a:rPr>
                        <a:t>, bran, </a:t>
                      </a:r>
                      <a:r>
                        <a:rPr lang="fr-FR" sz="1100" kern="1200" err="1">
                          <a:solidFill>
                            <a:schemeClr val="tx1"/>
                          </a:solidFill>
                          <a:effectLst/>
                          <a:latin typeface="+mn-lt"/>
                          <a:ea typeface="+mn-ea"/>
                          <a:cs typeface="+mn-cs"/>
                        </a:rPr>
                        <a:t>steɛfan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yejbed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tamezzurt</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yebberber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sserris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nefreq</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Ssextaṛeɣ</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Tɛeǧb-it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tizzegzewt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Tewwiḍ!</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aḍegger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yeqqaz</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tdeggar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a:effectLst/>
                          <a:latin typeface="Cascadia Mono" panose="020B0609020000020004" pitchFamily="49" charset="0"/>
                          <a:cs typeface="Cascadia Mono" panose="020B0609020000020004" pitchFamily="49" charset="0"/>
                        </a:rPr>
                        <a:t>- Ce qui est au-dessus, dit le chacal.</a:t>
                      </a:r>
                    </a:p>
                    <a:p>
                      <a:pPr indent="216000" algn="l"/>
                      <a:r>
                        <a:rPr lang="fr-FR" sz="1100" kern="150">
                          <a:effectLst/>
                          <a:latin typeface="Cascadia Mono" panose="020B0609020000020004" pitchFamily="49" charset="0"/>
                          <a:cs typeface="Cascadia Mono" panose="020B0609020000020004" pitchFamily="49" charset="0"/>
                        </a:rPr>
                        <a:t>- C’est bien, prends-le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8472113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82-84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83-85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Gan </a:t>
                      </a:r>
                      <a:r>
                        <a:rPr lang="fr-FR" sz="1100" kern="1200" err="1">
                          <a:solidFill>
                            <a:schemeClr val="tx1"/>
                          </a:solidFill>
                          <a:effectLst/>
                          <a:latin typeface="+mn-lt"/>
                          <a:ea typeface="+mn-ea"/>
                          <a:cs typeface="+mn-cs"/>
                        </a:rPr>
                        <a:t>asudu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seksu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dehnen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yellexs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sen-</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iḥbiben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lǧiran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ɣran-asen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lfattiḥa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ɛellmen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taferka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timẓin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taɣezzut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tefsut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ssusun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anɛam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lḥeb</a:t>
                      </a:r>
                      <a:r>
                        <a:rPr lang="fr-FR" sz="1100" kern="1200">
                          <a:solidFill>
                            <a:schemeClr val="tx1"/>
                          </a:solidFill>
                          <a:effectLst/>
                          <a:latin typeface="+mn-lt"/>
                          <a:ea typeface="+mn-ea"/>
                          <a:cs typeface="+mn-cs"/>
                        </a:rPr>
                        <a:t> alim.</a:t>
                      </a:r>
                    </a:p>
                    <a:p>
                      <a:pPr indent="457200"/>
                      <a:r>
                        <a:rPr lang="fr-FR" sz="1100" kern="1200" err="1">
                          <a:solidFill>
                            <a:schemeClr val="tx1"/>
                          </a:solidFill>
                          <a:effectLst/>
                          <a:latin typeface="+mn-lt"/>
                          <a:ea typeface="+mn-ea"/>
                          <a:cs typeface="+mn-cs"/>
                        </a:rPr>
                        <a:t>Cellfen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rreẓq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tafellaḥt-is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tcadd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tadliwin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irinen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adellas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iẓuran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err="1">
                          <a:effectLst/>
                          <a:latin typeface="Cascadia Mono" panose="020B0609020000020004" pitchFamily="49" charset="0"/>
                          <a:cs typeface="Cascadia Mono" panose="020B0609020000020004" pitchFamily="49" charset="0"/>
                        </a:rPr>
                        <a:t>d’arkoul</a:t>
                      </a:r>
                      <a:r>
                        <a:rPr lang="fr-FR" sz="1100" kern="15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pPr indent="216000" algn="l"/>
                      <a:r>
                        <a:rPr lang="fr-FR" sz="1100" kern="15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a:effectLst/>
                          <a:latin typeface="Cascadia Mono" panose="020B0609020000020004" pitchFamily="49" charset="0"/>
                          <a:cs typeface="Cascadia Mono" panose="020B0609020000020004" pitchFamily="49" charset="0"/>
                        </a:rPr>
                        <a:t>- En dessous ! dit le chacal.</a:t>
                      </a:r>
                    </a:p>
                    <a:p>
                      <a:pPr indent="216000" algn="l"/>
                      <a:r>
                        <a:rPr lang="fr-FR" sz="1100" kern="150">
                          <a:effectLst/>
                          <a:latin typeface="Cascadia Mono" panose="020B0609020000020004" pitchFamily="49" charset="0"/>
                          <a:cs typeface="Cascadia Mono" panose="020B0609020000020004" pitchFamily="49" charset="0"/>
                        </a:rPr>
                        <a:t>- C’est bien, prends-le, dit le hérisson.</a:t>
                      </a:r>
                    </a:p>
                    <a:p>
                      <a:pPr indent="216000" algn="l"/>
                      <a:r>
                        <a:rPr lang="fr-FR" sz="1100" kern="15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9276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8467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Faits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73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dirty="0">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9953586"/>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96-98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97-99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vieille brouille du chacal et du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taqdimt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isem-is</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weḥd-sen: ad brun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yeṛwu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irren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deg yefri. Tsuɣ-d.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yecɣel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nniḍen: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Ur ttagad!</a:t>
                      </a:r>
                    </a:p>
                    <a:p>
                      <a:pPr indent="457200"/>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ad tt-id-isellek: yufa-tt-in </a:t>
                      </a:r>
                      <a:r>
                        <a:rPr lang="fr-FR" sz="1100" kern="1200" err="1">
                          <a:solidFill>
                            <a:schemeClr val="tx1"/>
                          </a:solidFill>
                          <a:effectLst/>
                          <a:latin typeface="+mn-lt"/>
                          <a:ea typeface="+mn-ea"/>
                          <a:cs typeface="+mn-cs"/>
                        </a:rPr>
                        <a:t>tejreḥ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Yemceḥ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ikemmel-as: yenɣa-tt, yečča-tt.</a:t>
                      </a:r>
                    </a:p>
                    <a:p>
                      <a:pPr indent="457200"/>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bernen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tlemmast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ɛezlen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weḥd-s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fell-as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yendem</a:t>
                      </a:r>
                      <a:r>
                        <a:rPr lang="fr-FR" sz="1100" kern="1200">
                          <a:solidFill>
                            <a:schemeClr val="tx1"/>
                          </a:solidFill>
                          <a:effectLst/>
                          <a:latin typeface="+mn-lt"/>
                          <a:ea typeface="+mn-ea"/>
                          <a:cs typeface="+mn-cs"/>
                        </a:rPr>
                        <a:t> deg wayen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Yiwwass, ibedd-d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-as-d i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yenna-yas-d:</a:t>
                      </a:r>
                    </a:p>
                    <a:p>
                      <a:pPr indent="457200"/>
                      <a:r>
                        <a:rPr lang="fr-FR" sz="1100" kern="1200" err="1">
                          <a:solidFill>
                            <a:schemeClr val="tx1"/>
                          </a:solidFill>
                          <a:effectLst/>
                          <a:latin typeface="+mn-lt"/>
                          <a:ea typeface="+mn-ea"/>
                          <a:cs typeface="+mn-cs"/>
                        </a:rPr>
                        <a:t>Amarezg</a:t>
                      </a:r>
                      <a:r>
                        <a:rPr lang="fr-FR" sz="1100" kern="1200">
                          <a:solidFill>
                            <a:schemeClr val="tx1"/>
                          </a:solidFill>
                          <a:effectLst/>
                          <a:latin typeface="+mn-lt"/>
                          <a:ea typeface="+mn-ea"/>
                          <a:cs typeface="+mn-cs"/>
                        </a:rPr>
                        <a:t>-ik, ay agdi:</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tegganeḍ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wulli!</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ssyenni!</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leɛmal</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nelhi:</a:t>
                      </a:r>
                    </a:p>
                    <a:p>
                      <a:pPr indent="457200"/>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kečč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nekkini!</a:t>
                      </a:r>
                    </a:p>
                    <a:p>
                      <a:pPr indent="457200"/>
                      <a:r>
                        <a:rPr lang="fr-FR" sz="1100" kern="1200">
                          <a:solidFill>
                            <a:schemeClr val="tx1"/>
                          </a:solidFill>
                          <a:effectLst/>
                          <a:latin typeface="+mn-lt"/>
                          <a:ea typeface="+mn-ea"/>
                          <a:cs typeface="+mn-cs"/>
                        </a:rPr>
                        <a:t>Yerna-yas: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d atmaten: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i yaɣ-yurwen: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meqqar</a:t>
                      </a:r>
                      <a:r>
                        <a:rPr lang="fr-FR" sz="1100" kern="1200">
                          <a:solidFill>
                            <a:schemeClr val="tx1"/>
                          </a:solidFill>
                          <a:effectLst/>
                          <a:latin typeface="+mn-lt"/>
                          <a:ea typeface="+mn-ea"/>
                          <a:cs typeface="+mn-cs"/>
                        </a:rPr>
                        <a:t>, ad nemɛahad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nemyučč!</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wuccay: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k-ččiɣ!</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fell-as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k-ččeɣ!</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wass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gar-asen,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dderya-nsen.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a:effectLst/>
                          <a:latin typeface="Cascadia Mono" panose="020B0609020000020004" pitchFamily="49" charset="0"/>
                          <a:cs typeface="Cascadia Mono" panose="020B0609020000020004" pitchFamily="49" charset="0"/>
                        </a:rPr>
                        <a:t>- Ne crains rien !</a:t>
                      </a:r>
                    </a:p>
                    <a:p>
                      <a:pPr indent="216000" algn="l"/>
                      <a:r>
                        <a:rPr lang="fr-FR" sz="1100" kern="15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a:effectLst/>
                          <a:latin typeface="Cascadia Mono" panose="020B0609020000020004" pitchFamily="49" charset="0"/>
                          <a:cs typeface="Cascadia Mono" panose="020B0609020000020004" pitchFamily="49" charset="0"/>
                        </a:rPr>
                        <a:t>De dormir au milieu des brebis !</a:t>
                      </a:r>
                    </a:p>
                    <a:p>
                      <a:pPr indent="216000" algn="l"/>
                      <a:r>
                        <a:rPr lang="fr-FR" sz="1100" kern="150">
                          <a:effectLst/>
                          <a:latin typeface="Cascadia Mono" panose="020B0609020000020004" pitchFamily="49" charset="0"/>
                          <a:cs typeface="Cascadia Mono" panose="020B0609020000020004" pitchFamily="49" charset="0"/>
                        </a:rPr>
                        <a:t>Le lévrier lui répondit :</a:t>
                      </a:r>
                    </a:p>
                    <a:p>
                      <a:pPr indent="216000" algn="l"/>
                      <a:r>
                        <a:rPr lang="fr-FR" sz="1100" kern="150">
                          <a:effectLst/>
                          <a:latin typeface="Cascadia Mono" panose="020B0609020000020004" pitchFamily="49" charset="0"/>
                          <a:cs typeface="Cascadia Mono" panose="020B0609020000020004" pitchFamily="49" charset="0"/>
                        </a:rPr>
                        <a:t>Va-t’en donc d’ici !</a:t>
                      </a:r>
                    </a:p>
                    <a:p>
                      <a:pPr indent="216000" algn="l"/>
                      <a:r>
                        <a:rPr lang="fr-FR" sz="1100" kern="150">
                          <a:effectLst/>
                          <a:latin typeface="Cascadia Mono" panose="020B0609020000020004" pitchFamily="49" charset="0"/>
                          <a:cs typeface="Cascadia Mono" panose="020B0609020000020004" pitchFamily="49" charset="0"/>
                        </a:rPr>
                        <a:t>Sans tes mauvais instincts,</a:t>
                      </a:r>
                    </a:p>
                    <a:p>
                      <a:pPr indent="216000" algn="l"/>
                      <a:r>
                        <a:rPr lang="fr-FR" sz="1100" kern="150">
                          <a:effectLst/>
                          <a:latin typeface="Cascadia Mono" panose="020B0609020000020004" pitchFamily="49" charset="0"/>
                          <a:cs typeface="Cascadia Mono" panose="020B0609020000020004" pitchFamily="49" charset="0"/>
                        </a:rPr>
                        <a:t>Tu serais mon égal !</a:t>
                      </a:r>
                    </a:p>
                    <a:p>
                      <a:pPr indent="216000" algn="l"/>
                      <a:r>
                        <a:rPr lang="fr-FR" sz="1100" kern="150">
                          <a:effectLst/>
                          <a:latin typeface="Cascadia Mono" panose="020B0609020000020004" pitchFamily="49" charset="0"/>
                          <a:cs typeface="Cascadia Mono" panose="020B0609020000020004" pitchFamily="49" charset="0"/>
                        </a:rPr>
                        <a:t>Le chacal reprit :</a:t>
                      </a:r>
                    </a:p>
                    <a:p>
                      <a:pPr indent="216000" algn="l"/>
                      <a:r>
                        <a:rPr lang="fr-FR" sz="1100" kern="15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a:effectLst/>
                          <a:latin typeface="Cascadia Mono" panose="020B0609020000020004" pitchFamily="49" charset="0"/>
                          <a:cs typeface="Cascadia Mono" panose="020B0609020000020004" pitchFamily="49" charset="0"/>
                        </a:rPr>
                        <a:t>Le lévrier jura :</a:t>
                      </a:r>
                    </a:p>
                    <a:p>
                      <a:pPr indent="216000" algn="l"/>
                      <a:r>
                        <a:rPr lang="fr-FR" sz="1100" kern="150">
                          <a:effectLst/>
                          <a:latin typeface="Cascadia Mono" panose="020B0609020000020004" pitchFamily="49" charset="0"/>
                          <a:cs typeface="Cascadia Mono" panose="020B0609020000020004" pitchFamily="49" charset="0"/>
                        </a:rPr>
                        <a:t>- Par Dieu, je jure de ne pas te manger !</a:t>
                      </a:r>
                    </a:p>
                    <a:p>
                      <a:pPr indent="216000" algn="l"/>
                      <a:r>
                        <a:rPr lang="fr-FR" sz="1100" kern="150">
                          <a:effectLst/>
                          <a:latin typeface="Cascadia Mono" panose="020B0609020000020004" pitchFamily="49" charset="0"/>
                          <a:cs typeface="Cascadia Mono" panose="020B0609020000020004" pitchFamily="49" charset="0"/>
                        </a:rPr>
                        <a:t>Quant au chacal, il se moqua de lui ;</a:t>
                      </a:r>
                    </a:p>
                    <a:p>
                      <a:pPr indent="216000" algn="l"/>
                      <a:r>
                        <a:rPr lang="fr-FR" sz="1100" kern="15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a:effectLst/>
                          <a:latin typeface="Cascadia Mono" panose="020B0609020000020004" pitchFamily="49" charset="0"/>
                          <a:cs typeface="Cascadia Mono" panose="020B0609020000020004" pitchFamily="49" charset="0"/>
                        </a:rPr>
                        <a:t>Chacun poursuivi sa voie.</a:t>
                      </a:r>
                    </a:p>
                    <a:p>
                      <a:pPr indent="216000" algn="l"/>
                      <a:r>
                        <a:rPr lang="fr-FR" sz="1100" kern="15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529218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d sin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tesɛa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amalas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Ixutel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Tqubel-it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wacciwen-is</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tberrez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iwexxeṛ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teddun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la tt-</a:t>
                      </a:r>
                      <a:r>
                        <a:rPr lang="fr-FR" sz="1100" kern="1200" err="1">
                          <a:solidFill>
                            <a:schemeClr val="tx1"/>
                          </a:solidFill>
                          <a:effectLst/>
                          <a:latin typeface="+mn-lt"/>
                          <a:ea typeface="+mn-ea"/>
                          <a:cs typeface="+mn-cs"/>
                        </a:rPr>
                        <a:t>ttdarayen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ifureq-itt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mɣint</a:t>
                      </a:r>
                      <a:r>
                        <a:rPr lang="fr-FR" sz="1100" kern="1200">
                          <a:solidFill>
                            <a:schemeClr val="tx1"/>
                          </a:solidFill>
                          <a:effectLst/>
                          <a:latin typeface="+mn-lt"/>
                          <a:ea typeface="+mn-ea"/>
                          <a:cs typeface="+mn-cs"/>
                        </a:rPr>
                        <a:t>-as-d tacciwin: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d </a:t>
                      </a:r>
                      <a:r>
                        <a:rPr lang="fr-FR" sz="1100" kern="1200" err="1">
                          <a:solidFill>
                            <a:schemeClr val="tx1"/>
                          </a:solidFill>
                          <a:effectLst/>
                          <a:latin typeface="+mn-lt"/>
                          <a:ea typeface="+mn-ea"/>
                          <a:cs typeface="+mn-cs"/>
                        </a:rPr>
                        <a:t>wul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iberrez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neṭṭa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ifeṛṛed-it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idhem-it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yuzzel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ten-lḥiqen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wuglan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-as 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iẓur</a:t>
                      </a:r>
                      <a:r>
                        <a:rPr lang="fr-FR" sz="1100" kern="1200">
                          <a:solidFill>
                            <a:schemeClr val="tx1"/>
                          </a:solidFill>
                          <a:effectLst/>
                          <a:latin typeface="+mn-lt"/>
                          <a:ea typeface="+mn-ea"/>
                          <a:cs typeface="+mn-cs"/>
                        </a:rPr>
                        <a:t>-d at </a:t>
                      </a:r>
                      <a:r>
                        <a:rPr lang="fr-FR" sz="1100" kern="1200" err="1">
                          <a:solidFill>
                            <a:schemeClr val="tx1"/>
                          </a:solidFill>
                          <a:effectLst/>
                          <a:latin typeface="+mn-lt"/>
                          <a:ea typeface="+mn-ea"/>
                          <a:cs typeface="+mn-cs"/>
                        </a:rPr>
                        <a:t>laxeṛt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yettawin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tettafgeḍ</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a:effectLst/>
                          <a:latin typeface="Cascadia Mono" panose="020B0609020000020004" pitchFamily="49" charset="0"/>
                          <a:cs typeface="Cascadia Mono" panose="020B0609020000020004" pitchFamily="49" charset="0"/>
                        </a:rPr>
                        <a:t>- Chevreau présomptueux, lui dit le lévrier, qui t’a donné des ailes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96058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106-108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107-109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Iɛued-itt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lebḥer</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tettiwriɣ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sswen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teṣbeḥ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tala,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tuɛi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sswan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ucekkuk</a:t>
                      </a:r>
                      <a:r>
                        <a:rPr lang="fr-FR" sz="1100" kern="1200">
                          <a:solidFill>
                            <a:schemeClr val="tx1"/>
                          </a:solidFill>
                          <a:effectLst/>
                          <a:latin typeface="+mn-lt"/>
                          <a:ea typeface="+mn-ea"/>
                          <a:cs typeface="+mn-cs"/>
                        </a:rPr>
                        <a:t>. </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tettagem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axlaf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lwin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sseɣren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ferqen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yehwa-yas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nca-lleh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ihebbu</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teqbil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mcaṛaɛen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Ay at </a:t>
                      </a:r>
                      <a:r>
                        <a:rPr lang="fr-FR" sz="1100" kern="1200" err="1">
                          <a:solidFill>
                            <a:schemeClr val="tx1"/>
                          </a:solidFill>
                          <a:effectLst/>
                          <a:latin typeface="+mn-lt"/>
                          <a:ea typeface="+mn-ea"/>
                          <a:cs typeface="+mn-cs"/>
                        </a:rPr>
                        <a:t>leɛraḍ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lekdeb</a:t>
                      </a:r>
                      <a:r>
                        <a:rPr lang="fr-FR" sz="1100" kern="1200">
                          <a:solidFill>
                            <a:schemeClr val="tx1"/>
                          </a:solidFill>
                          <a:effectLst/>
                          <a:latin typeface="+mn-lt"/>
                          <a:ea typeface="+mn-ea"/>
                          <a:cs typeface="+mn-cs"/>
                        </a:rPr>
                        <a:t>! 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81943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110-112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111-113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Mṛeḥba</a:t>
                      </a:r>
                      <a:r>
                        <a:rPr lang="fr-FR" sz="1100" kern="1200">
                          <a:solidFill>
                            <a:schemeClr val="tx1"/>
                          </a:solidFill>
                          <a:effectLst/>
                          <a:latin typeface="+mn-lt"/>
                          <a:ea typeface="+mn-ea"/>
                          <a:cs typeface="+mn-cs"/>
                        </a:rPr>
                        <a:t> yiss-k, a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fudeɣ</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usiɣ</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Teskaddbeḍ</a:t>
                      </a:r>
                      <a:r>
                        <a:rPr lang="fr-FR" sz="1100" kern="1200">
                          <a:solidFill>
                            <a:schemeClr val="tx1"/>
                          </a:solidFill>
                          <a:effectLst/>
                          <a:latin typeface="+mn-lt"/>
                          <a:ea typeface="+mn-ea"/>
                          <a:cs typeface="+mn-cs"/>
                        </a:rPr>
                        <a:t>! Kra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teččêḍ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 Si </a:t>
                      </a:r>
                      <a:r>
                        <a:rPr lang="fr-FR" sz="1100" kern="1200" err="1">
                          <a:solidFill>
                            <a:schemeClr val="tx1"/>
                          </a:solidFill>
                          <a:effectLst/>
                          <a:latin typeface="+mn-lt"/>
                          <a:ea typeface="+mn-ea"/>
                          <a:cs typeface="+mn-cs"/>
                        </a:rPr>
                        <a:t>Mḥemmend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tɣeswatin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iɛemṛen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Sebru</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wagguren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nnerniɣ</a:t>
                      </a:r>
                      <a:r>
                        <a:rPr lang="fr-FR" sz="1100" kern="1200">
                          <a:solidFill>
                            <a:schemeClr val="tx1"/>
                          </a:solidFill>
                          <a:effectLst/>
                          <a:latin typeface="+mn-lt"/>
                          <a:ea typeface="+mn-ea"/>
                          <a:cs typeface="+mn-cs"/>
                        </a:rPr>
                        <a:t>, ad d-qewwiɣ: </a:t>
                      </a:r>
                      <a:r>
                        <a:rPr lang="fr-FR" sz="1100" kern="1200" err="1">
                          <a:solidFill>
                            <a:schemeClr val="tx1"/>
                          </a:solidFill>
                          <a:effectLst/>
                          <a:latin typeface="+mn-lt"/>
                          <a:ea typeface="+mn-ea"/>
                          <a:cs typeface="+mn-cs"/>
                        </a:rPr>
                        <a:t>ɛuhdeɣ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Ata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yezmumeg</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tusiḍ</a:t>
                      </a:r>
                      <a:r>
                        <a:rPr lang="fr-FR" sz="1100" kern="1200">
                          <a:solidFill>
                            <a:schemeClr val="tx1"/>
                          </a:solidFill>
                          <a:effectLst/>
                          <a:latin typeface="+mn-lt"/>
                          <a:ea typeface="+mn-ea"/>
                          <a:cs typeface="+mn-cs"/>
                        </a:rPr>
                        <a:t>-d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yemmaleɛtab</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taqejjiṛt-is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yeggall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yebri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iḍarren: </a:t>
                      </a:r>
                      <a:r>
                        <a:rPr lang="fr-FR" sz="1100" kern="1200" err="1">
                          <a:solidFill>
                            <a:schemeClr val="tx1"/>
                          </a:solidFill>
                          <a:effectLst/>
                          <a:latin typeface="+mn-lt"/>
                          <a:ea typeface="+mn-ea"/>
                          <a:cs typeface="+mn-cs"/>
                        </a:rPr>
                        <a:t>yeslek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abaḥan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a:t>
                      </a:r>
                      <a:r>
                        <a:rPr lang="fr-FR" sz="1100" kern="150">
                          <a:effectLst/>
                          <a:latin typeface="Cascadia Mono" panose="020B0609020000020004" pitchFamily="49" charset="0"/>
                          <a:cs typeface="Cascadia Mono" panose="020B0609020000020004" pitchFamily="49" charset="0"/>
                        </a:rPr>
                        <a:t>te mange</a:t>
                      </a:r>
                      <a:r>
                        <a:rPr lang="fr-FR" sz="1100" kern="120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55545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794520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856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132-134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133-135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Iṛuḥ wuccen s imqurqren ad asen-d-yessebges, ad xlun ibellireǧ. Yenna-yas:</a:t>
                      </a:r>
                    </a:p>
                    <a:p>
                      <a:pPr indent="457200"/>
                      <a:r>
                        <a:rPr lang="fr-FR" sz="1100" kern="1200">
                          <a:solidFill>
                            <a:schemeClr val="tx1"/>
                          </a:solidFill>
                          <a:effectLst/>
                          <a:latin typeface="+mn-lt"/>
                          <a:ea typeface="+mn-ea"/>
                          <a:cs typeface="+mn-cs"/>
                        </a:rPr>
                        <a:t>- Ay atmaten, yečča-d tasa nnwen ibellireǧ: la ttmettaten warraw nnwen ur asen-teččuṛ. Amek tqeblem ccɣel agi, talli netta weḥd-s, kenwi ur ken-ikeffu ara ujenwi? Nnan-as:</a:t>
                      </a:r>
                    </a:p>
                    <a:p>
                      <a:pPr indent="457200"/>
                      <a:r>
                        <a:rPr lang="fr-FR" sz="1100" kern="1200">
                          <a:solidFill>
                            <a:schemeClr val="tx1"/>
                          </a:solidFill>
                          <a:effectLst/>
                          <a:latin typeface="+mn-lt"/>
                          <a:ea typeface="+mn-ea"/>
                          <a:cs typeface="+mn-cs"/>
                        </a:rPr>
                        <a:t>- Ixuṣṣ-aɣ ṛṛay. Ḍebber fell-aɣ, a Si Mḥemmed.</a:t>
                      </a:r>
                    </a:p>
                    <a:p>
                      <a:pPr indent="457200"/>
                      <a:r>
                        <a:rPr lang="fr-FR" sz="1100" kern="1200">
                          <a:solidFill>
                            <a:schemeClr val="tx1"/>
                          </a:solidFill>
                          <a:effectLst/>
                          <a:latin typeface="+mn-lt"/>
                          <a:ea typeface="+mn-ea"/>
                          <a:cs typeface="+mn-cs"/>
                        </a:rPr>
                        <a:t>Yuɣal yesnejmeɛ-iten deg yiḍ: wten lluɣa-nsen: qwer! qwer! qwer! Mkul yiwen yemmesli-d ayen d-yemmesli, armi mtafaqen f yiwen n wawal: Azekka ad nexlu ɛemmi ibellireǧ!</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begsen ɣer lfetna, ferqen d tiɣugga. Akken d-yers ibellireǧ deg wasif, qeddmen ɣur-s s tiẓẓift. Yuɣ lḥal, yiwen seg-sen, d bab n nnif, d bab n yiɣil, yezwar zdat-sen am gellid zdat lemḥella. Yemmeɣ-d fell-as ibellireǧ s umenqar-is, yeṭṭef-it, wexxṛen wiyaḍ. Yuɣal ar d-yettissix:</a:t>
                      </a:r>
                    </a:p>
                    <a:p>
                      <a:pPr indent="457200"/>
                      <a:r>
                        <a:rPr lang="fr-FR" sz="1100" kern="1200">
                          <a:solidFill>
                            <a:schemeClr val="tx1"/>
                          </a:solidFill>
                          <a:effectLst/>
                          <a:latin typeface="+mn-lt"/>
                          <a:ea typeface="+mn-ea"/>
                          <a:cs typeface="+mn-cs"/>
                        </a:rPr>
                        <a:t>- Abbuh! ay atmaten! Annaɣ, mačči akka i nenna!</a:t>
                      </a:r>
                    </a:p>
                    <a:p>
                      <a:pPr indent="457200"/>
                      <a:r>
                        <a:rPr lang="fr-FR" sz="1100" kern="1200">
                          <a:solidFill>
                            <a:schemeClr val="tx1"/>
                          </a:solidFill>
                          <a:effectLst/>
                          <a:latin typeface="+mn-lt"/>
                          <a:ea typeface="+mn-ea"/>
                          <a:cs typeface="+mn-cs"/>
                        </a:rPr>
                        <a:t>Ur as-ḥessen ara: rewlen s imerjan-nsen, am wudayen.</a:t>
                      </a:r>
                    </a:p>
                    <a:p>
                      <a:pPr indent="457200"/>
                      <a:r>
                        <a:rPr lang="fr-FR" sz="1100" kern="1200">
                          <a:solidFill>
                            <a:schemeClr val="tx1"/>
                          </a:solidFill>
                          <a:effectLst/>
                          <a:latin typeface="+mn-lt"/>
                          <a:ea typeface="+mn-ea"/>
                          <a:cs typeface="+mn-cs"/>
                        </a:rPr>
                        <a:t>Mkul yiwen, mi yeɣmes di temda, yin’as: Amcum b ṛas-u!</a:t>
                      </a:r>
                    </a:p>
                    <a:p>
                      <a:pPr indent="457200"/>
                      <a:r>
                        <a:rPr lang="fr-FR" sz="1100" kern="1200">
                          <a:solidFill>
                            <a:schemeClr val="tx1"/>
                          </a:solidFill>
                          <a:effectLst/>
                          <a:latin typeface="+mn-lt"/>
                          <a:ea typeface="+mn-ea"/>
                          <a:cs typeface="+mn-cs"/>
                        </a:rPr>
                        <a:t>Amcum b ṛas-u!</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Yewwi ibellireǧ bab n nnif nni ɣer lɛecc-is, yesxenzer-it: ččan-t warraw-is. Qqimen-d imqerqren am wezduz ur nesɛi afus.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a:effectLst/>
                          <a:latin typeface="Cascadia Mono" panose="020B0609020000020004" pitchFamily="49" charset="0"/>
                          <a:cs typeface="Cascadia Mono" panose="020B0609020000020004" pitchFamily="49" charset="0"/>
                        </a:rPr>
                        <a:t>Alors, il les réunit de nuit et elles commencèrent sur l’air familier : </a:t>
                      </a:r>
                      <a:r>
                        <a:rPr lang="fr-FR" sz="1100" kern="150" err="1">
                          <a:effectLst/>
                          <a:latin typeface="Cascadia Mono" panose="020B0609020000020004" pitchFamily="49" charset="0"/>
                          <a:cs typeface="Cascadia Mono" panose="020B0609020000020004" pitchFamily="49" charset="0"/>
                        </a:rPr>
                        <a:t>Korr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5906278"/>
              </p:ext>
            </p:extLst>
          </p:nvPr>
        </p:nvGraphicFramePr>
        <p:xfrm>
          <a:off x="296561" y="148280"/>
          <a:ext cx="11631828" cy="699898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137-139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9126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20176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162-164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163-165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tent-iger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la t-</a:t>
                      </a:r>
                      <a:r>
                        <a:rPr lang="fr-FR" sz="1100" kern="1200" err="1">
                          <a:solidFill>
                            <a:schemeClr val="tx1"/>
                          </a:solidFill>
                          <a:effectLst/>
                          <a:latin typeface="+mn-lt"/>
                          <a:ea typeface="+mn-ea"/>
                          <a:cs typeface="+mn-cs"/>
                        </a:rPr>
                        <a:t>ttabaɛen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yemṣalaḥ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i sin, </a:t>
                      </a:r>
                      <a:r>
                        <a:rPr lang="fr-FR" sz="1100" kern="1200" err="1">
                          <a:solidFill>
                            <a:schemeClr val="tx1"/>
                          </a:solidFill>
                          <a:effectLst/>
                          <a:latin typeface="+mn-lt"/>
                          <a:ea typeface="+mn-ea"/>
                          <a:cs typeface="+mn-cs"/>
                        </a:rPr>
                        <a:t>iɛahed-iten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ddib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nṣafeṛ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rrbeḥ</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nɣiɣ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-i!</a:t>
                      </a:r>
                    </a:p>
                    <a:p>
                      <a:pPr indent="457200"/>
                      <a:r>
                        <a:rPr lang="fr-FR" sz="1100" kern="1200" err="1">
                          <a:solidFill>
                            <a:schemeClr val="tx1"/>
                          </a:solidFill>
                          <a:effectLst/>
                          <a:latin typeface="+mn-lt"/>
                          <a:ea typeface="+mn-ea"/>
                          <a:cs typeface="+mn-cs"/>
                        </a:rPr>
                        <a:t>Cerken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taxerraẓt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ttqeddimen</a:t>
                      </a:r>
                      <a:r>
                        <a:rPr lang="fr-FR" sz="1100" kern="1200">
                          <a:solidFill>
                            <a:schemeClr val="tx1"/>
                          </a:solidFill>
                          <a:effectLst/>
                          <a:latin typeface="+mn-lt"/>
                          <a:ea typeface="+mn-ea"/>
                          <a:cs typeface="+mn-cs"/>
                        </a:rPr>
                        <a:t>-as-d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yettɣimi-yas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yettruẓu</a:t>
                      </a:r>
                      <a:r>
                        <a:rPr lang="fr-FR" sz="1100" kern="1200">
                          <a:solidFill>
                            <a:schemeClr val="tx1"/>
                          </a:solidFill>
                          <a:effectLst/>
                          <a:latin typeface="+mn-lt"/>
                          <a:ea typeface="+mn-ea"/>
                          <a:cs typeface="+mn-cs"/>
                        </a:rPr>
                        <a:t>-tt. Mi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lmakla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tisigar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Iḍleb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leɛmeṛ-is</a:t>
                      </a:r>
                      <a:r>
                        <a:rPr lang="fr-FR" sz="1100" kern="1200">
                          <a:solidFill>
                            <a:schemeClr val="tx1"/>
                          </a:solidFill>
                          <a:effectLst/>
                          <a:latin typeface="+mn-lt"/>
                          <a:ea typeface="+mn-ea"/>
                          <a:cs typeface="+mn-cs"/>
                        </a:rPr>
                        <a:t>. Yenna-yas i wuccen:</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tsefsuḍ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tfetreḍ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Wi k-</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D </a:t>
                      </a:r>
                      <a:r>
                        <a:rPr lang="fr-FR" sz="1100" kern="1200" err="1">
                          <a:solidFill>
                            <a:schemeClr val="tx1"/>
                          </a:solidFill>
                          <a:effectLst/>
                          <a:latin typeface="+mn-lt"/>
                          <a:ea typeface="+mn-ea"/>
                          <a:cs typeface="+mn-cs"/>
                        </a:rPr>
                        <a:t>accaren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yentan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a:effectLst/>
                          <a:latin typeface="Cascadia Mono" panose="020B0609020000020004" pitchFamily="49" charset="0"/>
                          <a:cs typeface="Cascadia Mono" panose="020B0609020000020004" pitchFamily="49" charset="0"/>
                        </a:rPr>
                        <a:t>Partons en voyage, chacal !</a:t>
                      </a:r>
                    </a:p>
                    <a:p>
                      <a:pPr indent="216000" algn="l"/>
                      <a:r>
                        <a:rPr lang="fr-FR" sz="1100" kern="150">
                          <a:effectLst/>
                          <a:latin typeface="Cascadia Mono" panose="020B0609020000020004" pitchFamily="49" charset="0"/>
                          <a:cs typeface="Cascadia Mono" panose="020B0609020000020004" pitchFamily="49" charset="0"/>
                        </a:rPr>
                        <a:t>Avec moi, ton bonheur est assuré :</a:t>
                      </a:r>
                    </a:p>
                    <a:p>
                      <a:pPr indent="216000" algn="l"/>
                      <a:r>
                        <a:rPr lang="fr-FR" sz="1100" kern="150">
                          <a:effectLst/>
                          <a:latin typeface="Cascadia Mono" panose="020B0609020000020004" pitchFamily="49" charset="0"/>
                          <a:cs typeface="Cascadia Mono" panose="020B0609020000020004" pitchFamily="49" charset="0"/>
                        </a:rPr>
                        <a:t>Si je tue les autres, tu dévoreras ;</a:t>
                      </a:r>
                    </a:p>
                    <a:p>
                      <a:pPr indent="216000" algn="l"/>
                      <a:r>
                        <a:rPr lang="fr-FR" sz="1100" kern="150">
                          <a:effectLst/>
                          <a:latin typeface="Cascadia Mono" panose="020B0609020000020004" pitchFamily="49" charset="0"/>
                          <a:cs typeface="Cascadia Mono" panose="020B0609020000020004" pitchFamily="49" charset="0"/>
                        </a:rPr>
                        <a:t>S’ils me tuaient, tu me dévorerais !</a:t>
                      </a:r>
                    </a:p>
                    <a:p>
                      <a:pPr indent="216000" algn="l"/>
                      <a:r>
                        <a:rPr lang="fr-FR" sz="1100" kern="15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a:effectLst/>
                          <a:latin typeface="Cascadia Mono" panose="020B0609020000020004" pitchFamily="49" charset="0"/>
                          <a:cs typeface="Cascadia Mono" panose="020B0609020000020004" pitchFamily="49" charset="0"/>
                        </a:rPr>
                        <a:t>- Fais toi-même le partage.</a:t>
                      </a:r>
                    </a:p>
                    <a:p>
                      <a:pPr indent="216000" algn="l"/>
                      <a:r>
                        <a:rPr lang="fr-FR" sz="1100" kern="15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55730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Yuɣal wuccen yeṭṭef aserdun weḥd-s, sewwqen deg uqerru n yizem, ad iṛuḥ am tadla yečča yilef.</a:t>
                      </a:r>
                    </a:p>
                    <a:p>
                      <a:pPr indent="457200"/>
                      <a:r>
                        <a:rPr lang="fr-FR" sz="1100" kern="1200">
                          <a:solidFill>
                            <a:schemeClr val="tx1"/>
                          </a:solidFill>
                          <a:effectLst/>
                          <a:latin typeface="+mn-lt"/>
                          <a:ea typeface="+mn-ea"/>
                          <a:cs typeface="+mn-cs"/>
                        </a:rPr>
                        <a:t>Yewweḍ userdun s aḥeddad: igerrez-as-d tasmiṛt, inqec-itt-id, yesɣezf-as-d imesmaṛen, Ssyen, ibren-d s imddukal-is. Yenna-yas yizem:</a:t>
                      </a:r>
                    </a:p>
                    <a:p>
                      <a:pPr indent="457200"/>
                      <a:r>
                        <a:rPr lang="fr-FR" sz="1100" kern="1200">
                          <a:solidFill>
                            <a:schemeClr val="tx1"/>
                          </a:solidFill>
                          <a:effectLst/>
                          <a:latin typeface="+mn-lt"/>
                          <a:ea typeface="+mn-ea"/>
                          <a:cs typeface="+mn-cs"/>
                        </a:rPr>
                        <a:t>- Ihi, anwa i d baba-k?</a:t>
                      </a:r>
                    </a:p>
                    <a:p>
                      <a:pPr indent="457200"/>
                      <a:r>
                        <a:rPr lang="fr-FR" sz="1100" kern="1200">
                          <a:solidFill>
                            <a:schemeClr val="tx1"/>
                          </a:solidFill>
                          <a:effectLst/>
                          <a:latin typeface="+mn-lt"/>
                          <a:ea typeface="+mn-ea"/>
                          <a:cs typeface="+mn-cs"/>
                        </a:rPr>
                        <a:t>- Yerra-yas userdun: Ur ufiɣ ara lexbaṛ-is, lameɛna yeǧǧa-yi-d ttajiṛa deg ḍarren-iw: ma tebɣam ad tt-id-teɣrem.</a:t>
                      </a:r>
                    </a:p>
                    <a:p>
                      <a:pPr indent="457200"/>
                      <a:r>
                        <a:rPr lang="fr-FR" sz="1100" kern="1200">
                          <a:solidFill>
                            <a:schemeClr val="tx1"/>
                          </a:solidFill>
                          <a:effectLst/>
                          <a:latin typeface="+mn-lt"/>
                          <a:ea typeface="+mn-ea"/>
                          <a:cs typeface="+mn-cs"/>
                        </a:rPr>
                        <a:t>Yenna-yas yizem i wuccen:</a:t>
                      </a:r>
                    </a:p>
                    <a:p>
                      <a:pPr indent="457200"/>
                      <a:r>
                        <a:rPr lang="fr-FR" sz="1100" kern="1200">
                          <a:solidFill>
                            <a:schemeClr val="tx1"/>
                          </a:solidFill>
                          <a:effectLst/>
                          <a:latin typeface="+mn-lt"/>
                          <a:ea typeface="+mn-ea"/>
                          <a:cs typeface="+mn-cs"/>
                        </a:rPr>
                        <a:t>- Qerreb eɣr-itt-id, a Mḥemmed.</a:t>
                      </a:r>
                    </a:p>
                    <a:p>
                      <a:pPr indent="457200"/>
                      <a:r>
                        <a:rPr lang="fr-FR" sz="1100" kern="1200">
                          <a:solidFill>
                            <a:schemeClr val="tx1"/>
                          </a:solidFill>
                          <a:effectLst/>
                          <a:latin typeface="+mn-lt"/>
                          <a:ea typeface="+mn-ea"/>
                          <a:cs typeface="+mn-cs"/>
                        </a:rPr>
                        <a:t>- Yerra-yas wuccen: A lmir n lewḥuc, nek, imawlan-iw d igellilen: ur iyi-fkin ɣer leqraya. D keč ay d mmis n wexxam ameqran: tessenḍ ad tt-id-teɣreḍ.</a:t>
                      </a:r>
                    </a:p>
                    <a:p>
                      <a:pPr indent="457200"/>
                      <a:r>
                        <a:rPr lang="fr-FR" sz="1100" kern="1200">
                          <a:solidFill>
                            <a:schemeClr val="tx1"/>
                          </a:solidFill>
                          <a:effectLst/>
                          <a:latin typeface="+mn-lt"/>
                          <a:ea typeface="+mn-ea"/>
                          <a:cs typeface="+mn-cs"/>
                        </a:rPr>
                        <a:t>Iqerreb yizem axencuc-is, yesteɛmel ad iɣer: leɛmaṛa terɣa: ibedd userdun f imezwura, yewt-it-id s ineggura: kecmen imesmaṛen di lmux n yizem, yeɣli.</a:t>
                      </a:r>
                    </a:p>
                    <a:p>
                      <a:pPr indent="457200"/>
                      <a:r>
                        <a:rPr lang="fr-FR" sz="1100" kern="1200">
                          <a:solidFill>
                            <a:schemeClr val="tx1"/>
                          </a:solidFill>
                          <a:effectLst/>
                          <a:latin typeface="+mn-lt"/>
                          <a:ea typeface="+mn-ea"/>
                          <a:cs typeface="+mn-cs"/>
                        </a:rPr>
                        <a:t>Werɛad yessufeɣ taṛwiḥt, yeɛna-t wuccen s acekkab.</a:t>
                      </a:r>
                    </a:p>
                    <a:p>
                      <a:pPr indent="457200"/>
                      <a:r>
                        <a:rPr lang="fr-FR" sz="1100" kern="1200">
                          <a:solidFill>
                            <a:schemeClr val="tx1"/>
                          </a:solidFill>
                          <a:effectLst/>
                          <a:latin typeface="+mn-lt"/>
                          <a:ea typeface="+mn-ea"/>
                          <a:cs typeface="+mn-cs"/>
                        </a:rPr>
                        <a:t>Yenna-yas yizem:</a:t>
                      </a:r>
                    </a:p>
                    <a:p>
                      <a:pPr indent="457200"/>
                      <a:r>
                        <a:rPr lang="fr-FR" sz="1100" kern="1200">
                          <a:solidFill>
                            <a:schemeClr val="tx1"/>
                          </a:solidFill>
                          <a:effectLst/>
                          <a:latin typeface="+mn-lt"/>
                          <a:ea typeface="+mn-ea"/>
                          <a:cs typeface="+mn-cs"/>
                        </a:rPr>
                        <a:t>- Ah! ddunit d wi ibedden, ɣas ad yili baba-s d aɣyul!</a:t>
                      </a:r>
                    </a:p>
                    <a:p>
                      <a:pPr indent="457200"/>
                      <a:r>
                        <a:rPr lang="fr-FR" sz="1100" kern="1200">
                          <a:solidFill>
                            <a:schemeClr val="tx1"/>
                          </a:solidFill>
                          <a:effectLst/>
                          <a:latin typeface="+mn-lt"/>
                          <a:ea typeface="+mn-ea"/>
                          <a:cs typeface="+mn-cs"/>
                        </a:rPr>
                        <a:t>Yemmut yizem, bu tissas, lmir n lewḥuc: yenɣa-t userdun, mmi-s n weɣyul, ččan-t wuccanen.</a:t>
                      </a:r>
                    </a:p>
                    <a:p>
                      <a:pPr indent="457200"/>
                      <a:r>
                        <a:rPr lang="fr-FR" sz="1100" kern="1200">
                          <a:solidFill>
                            <a:schemeClr val="tx1"/>
                          </a:solidFill>
                          <a:effectLst/>
                          <a:latin typeface="+mn-lt"/>
                          <a:ea typeface="+mn-ea"/>
                          <a:cs typeface="+mn-cs"/>
                        </a:rPr>
                        <a:t>Seg wass nni ay txab tmurt.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a:effectLst/>
                          <a:latin typeface="Cascadia Mono" panose="020B0609020000020004" pitchFamily="49" charset="0"/>
                          <a:cs typeface="Cascadia Mono" panose="020B0609020000020004" pitchFamily="49" charset="0"/>
                        </a:rPr>
                        <a:t>Le mulet répondit :</a:t>
                      </a:r>
                    </a:p>
                    <a:p>
                      <a:pPr indent="216000" algn="l"/>
                      <a:r>
                        <a:rPr lang="fr-FR" sz="1100" kern="15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a:effectLst/>
                          <a:latin typeface="Cascadia Mono" panose="020B0609020000020004" pitchFamily="49" charset="0"/>
                          <a:cs typeface="Cascadia Mono" panose="020B0609020000020004" pitchFamily="49" charset="0"/>
                        </a:rPr>
                        <a:t>- Va lire, Mohammed, dit le lion.</a:t>
                      </a:r>
                    </a:p>
                    <a:p>
                      <a:pPr indent="216000" algn="l"/>
                      <a:r>
                        <a:rPr lang="fr-FR" sz="1100" kern="15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a:effectLst/>
                          <a:latin typeface="Cascadia Mono" panose="020B0609020000020004" pitchFamily="49" charset="0"/>
                          <a:cs typeface="Cascadia Mono" panose="020B0609020000020004" pitchFamily="49" charset="0"/>
                        </a:rPr>
                        <a:t>- Ah ! gémit le lion, le monde est toujours du côté du plus fort, </a:t>
                      </a:r>
                      <a:r>
                        <a:rPr lang="fr-FR" sz="1100" kern="150" err="1">
                          <a:effectLst/>
                          <a:latin typeface="Cascadia Mono" panose="020B0609020000020004" pitchFamily="49" charset="0"/>
                          <a:cs typeface="Cascadia Mono" panose="020B0609020000020004" pitchFamily="49" charset="0"/>
                        </a:rPr>
                        <a:t>fût-il</a:t>
                      </a:r>
                      <a:r>
                        <a:rPr lang="fr-FR" sz="1100" kern="150">
                          <a:effectLst/>
                          <a:latin typeface="Cascadia Mono" panose="020B0609020000020004" pitchFamily="49" charset="0"/>
                          <a:cs typeface="Cascadia Mono" panose="020B0609020000020004" pitchFamily="49" charset="0"/>
                        </a:rPr>
                        <a:t> fils de baudet !…</a:t>
                      </a:r>
                    </a:p>
                    <a:p>
                      <a:pPr indent="216000" algn="l"/>
                      <a:r>
                        <a:rPr lang="fr-FR" sz="1100" kern="15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a:effectLst/>
                          <a:latin typeface="Cascadia Mono" panose="020B0609020000020004" pitchFamily="49" charset="0"/>
                          <a:cs typeface="Cascadia Mono" panose="020B0609020000020004" pitchFamily="49" charset="0"/>
                        </a:rPr>
                        <a:t>C’est depuis ce jour-là que le pays vit dans l’anarchie.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367510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53877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172-174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irkel i yi-d-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nelli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imunan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tmeyyzem </a:t>
                      </a:r>
                      <a:r>
                        <a:rPr lang="fr-FR" sz="1100" kern="1200" err="1">
                          <a:solidFill>
                            <a:schemeClr val="tx1"/>
                          </a:solidFill>
                          <a:effectLst/>
                          <a:latin typeface="+mn-lt"/>
                          <a:ea typeface="+mn-ea"/>
                          <a:cs typeface="+mn-cs"/>
                        </a:rPr>
                        <a:t>taḥkayt</a:t>
                      </a:r>
                      <a:r>
                        <a:rPr lang="fr-FR" sz="1100" kern="1200">
                          <a:solidFill>
                            <a:schemeClr val="tx1"/>
                          </a:solidFill>
                          <a:effectLst/>
                          <a:latin typeface="+mn-lt"/>
                          <a:ea typeface="+mn-ea"/>
                          <a:cs typeface="+mn-cs"/>
                        </a:rPr>
                        <a:t> agi.</a:t>
                      </a:r>
                    </a:p>
                    <a:p>
                      <a:pPr indent="457200"/>
                      <a:r>
                        <a:rPr lang="fr-FR" sz="1100" kern="1200">
                          <a:solidFill>
                            <a:schemeClr val="tx1"/>
                          </a:solidFill>
                          <a:effectLst/>
                          <a:latin typeface="+mn-lt"/>
                          <a:ea typeface="+mn-ea"/>
                          <a:cs typeface="+mn-cs"/>
                        </a:rPr>
                        <a:t>D kenwi yakk ay d-</a:t>
                      </a:r>
                      <a:r>
                        <a:rPr lang="fr-FR" sz="1100" kern="1200" err="1">
                          <a:solidFill>
                            <a:schemeClr val="tx1"/>
                          </a:solidFill>
                          <a:effectLst/>
                          <a:latin typeface="+mn-lt"/>
                          <a:ea typeface="+mn-ea"/>
                          <a:cs typeface="+mn-cs"/>
                        </a:rPr>
                        <a:t>lhaɣ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ken-menɛeɣ,</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tyitwin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yellan di lḥekma</a:t>
                      </a:r>
                    </a:p>
                    <a:p>
                      <a:pPr indent="457200"/>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lewqama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Bac ad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yettrus.</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leqdeṛ</a:t>
                      </a:r>
                      <a:r>
                        <a:rPr lang="fr-FR" sz="1100" kern="1200">
                          <a:solidFill>
                            <a:schemeClr val="tx1"/>
                          </a:solidFill>
                          <a:effectLst/>
                          <a:latin typeface="+mn-lt"/>
                          <a:ea typeface="+mn-ea"/>
                          <a:cs typeface="+mn-cs"/>
                        </a:rPr>
                        <a:t> i umeqran,</a:t>
                      </a:r>
                    </a:p>
                    <a:p>
                      <a:pPr indent="457200"/>
                      <a:r>
                        <a:rPr lang="fr-FR" sz="1100" kern="1200" err="1">
                          <a:solidFill>
                            <a:schemeClr val="tx1"/>
                          </a:solidFill>
                          <a:effectLst/>
                          <a:latin typeface="+mn-lt"/>
                          <a:ea typeface="+mn-ea"/>
                          <a:cs typeface="+mn-cs"/>
                        </a:rPr>
                        <a:t>Iḥader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Fell-as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ttaken </a:t>
                      </a:r>
                      <a:r>
                        <a:rPr lang="fr-FR" sz="1100" kern="1200" err="1">
                          <a:solidFill>
                            <a:schemeClr val="tx1"/>
                          </a:solidFill>
                          <a:effectLst/>
                          <a:latin typeface="+mn-lt"/>
                          <a:ea typeface="+mn-ea"/>
                          <a:cs typeface="+mn-cs"/>
                        </a:rPr>
                        <a:t>afus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deg wawal,</a:t>
                      </a:r>
                    </a:p>
                    <a:p>
                      <a:pPr indent="457200"/>
                      <a:r>
                        <a:rPr lang="fr-FR" sz="1100" kern="1200" err="1">
                          <a:solidFill>
                            <a:schemeClr val="tx1"/>
                          </a:solidFill>
                          <a:effectLst/>
                          <a:latin typeface="+mn-lt"/>
                          <a:ea typeface="+mn-ea"/>
                          <a:cs typeface="+mn-cs"/>
                        </a:rPr>
                        <a:t>Izemren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ccwal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Ssemrarɣen</a:t>
                      </a:r>
                      <a:r>
                        <a:rPr lang="fr-FR" sz="1100" kern="1200">
                          <a:solidFill>
                            <a:schemeClr val="tx1"/>
                          </a:solidFill>
                          <a:effectLst/>
                          <a:latin typeface="+mn-lt"/>
                          <a:ea typeface="+mn-ea"/>
                          <a:cs typeface="+mn-cs"/>
                        </a:rPr>
                        <a:t>-t deg wemṛaḥ.</a:t>
                      </a:r>
                    </a:p>
                    <a:p>
                      <a:pPr indent="457200"/>
                      <a:r>
                        <a:rPr lang="fr-FR" sz="1100" kern="1200" err="1">
                          <a:solidFill>
                            <a:schemeClr val="tx1"/>
                          </a:solidFill>
                          <a:effectLst/>
                          <a:latin typeface="+mn-lt"/>
                          <a:ea typeface="+mn-ea"/>
                          <a:cs typeface="+mn-cs"/>
                        </a:rPr>
                        <a:t>Xelli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ɛad</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Ha kan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yenjaḥ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w’illan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menwala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Iḍuɛen i </a:t>
                      </a:r>
                      <a:r>
                        <a:rPr lang="fr-FR" sz="1100" kern="1200" err="1">
                          <a:solidFill>
                            <a:schemeClr val="tx1"/>
                          </a:solidFill>
                          <a:effectLst/>
                          <a:latin typeface="+mn-lt"/>
                          <a:ea typeface="+mn-ea"/>
                          <a:cs typeface="+mn-cs"/>
                        </a:rPr>
                        <a:t>ddewla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yettili d </a:t>
                      </a:r>
                      <a:r>
                        <a:rPr lang="fr-FR" sz="1100" kern="1200" err="1">
                          <a:solidFill>
                            <a:schemeClr val="tx1"/>
                          </a:solidFill>
                          <a:effectLst/>
                          <a:latin typeface="+mn-lt"/>
                          <a:ea typeface="+mn-ea"/>
                          <a:cs typeface="+mn-cs"/>
                        </a:rPr>
                        <a:t>alemmam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la yettɛanad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Yesnaɣa</a:t>
                      </a:r>
                      <a:r>
                        <a:rPr lang="fr-FR" sz="1100" kern="1200">
                          <a:solidFill>
                            <a:schemeClr val="tx1"/>
                          </a:solidFill>
                          <a:effectLst/>
                          <a:latin typeface="+mn-lt"/>
                          <a:ea typeface="+mn-ea"/>
                          <a:cs typeface="+mn-cs"/>
                        </a:rPr>
                        <a:t> medden,</a:t>
                      </a:r>
                    </a:p>
                    <a:p>
                      <a:pPr indent="457200"/>
                      <a:r>
                        <a:rPr lang="fr-FR" sz="1100" kern="1200" err="1">
                          <a:solidFill>
                            <a:schemeClr val="tx1"/>
                          </a:solidFill>
                          <a:effectLst/>
                          <a:latin typeface="+mn-lt"/>
                          <a:ea typeface="+mn-ea"/>
                          <a:cs typeface="+mn-cs"/>
                        </a:rPr>
                        <a:t>Kulwa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yesɣab</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Vous tous qui m’avez écouté</a:t>
                      </a:r>
                    </a:p>
                    <a:p>
                      <a:pPr indent="216000" algn="l"/>
                      <a:r>
                        <a:rPr lang="fr-FR" sz="1100" kern="150">
                          <a:effectLst/>
                          <a:latin typeface="Cascadia Mono" panose="020B0609020000020004" pitchFamily="49" charset="0"/>
                          <a:cs typeface="Cascadia Mono" panose="020B0609020000020004" pitchFamily="49" charset="0"/>
                        </a:rPr>
                        <a:t>Et qui n’êtes pas des profanes,</a:t>
                      </a:r>
                    </a:p>
                    <a:p>
                      <a:pPr indent="216000" algn="l"/>
                      <a:r>
                        <a:rPr lang="fr-FR" sz="1100" kern="150">
                          <a:effectLst/>
                          <a:latin typeface="Cascadia Mono" panose="020B0609020000020004" pitchFamily="49" charset="0"/>
                          <a:cs typeface="Cascadia Mono" panose="020B0609020000020004" pitchFamily="49" charset="0"/>
                        </a:rPr>
                        <a:t>Méditez cette histoire.</a:t>
                      </a:r>
                    </a:p>
                    <a:p>
                      <a:pPr indent="216000" algn="l"/>
                      <a:r>
                        <a:rPr lang="fr-FR" sz="1100" kern="150">
                          <a:effectLst/>
                          <a:latin typeface="Cascadia Mono" panose="020B0609020000020004" pitchFamily="49" charset="0"/>
                          <a:cs typeface="Cascadia Mono" panose="020B0609020000020004" pitchFamily="49" charset="0"/>
                        </a:rPr>
                        <a:t>C’est de vous tous qu’il s’agit,</a:t>
                      </a:r>
                    </a:p>
                    <a:p>
                      <a:pPr indent="216000" algn="l"/>
                      <a:r>
                        <a:rPr lang="fr-FR" sz="1100" kern="150">
                          <a:effectLst/>
                          <a:latin typeface="Cascadia Mono" panose="020B0609020000020004" pitchFamily="49" charset="0"/>
                          <a:cs typeface="Cascadia Mono" panose="020B0609020000020004" pitchFamily="49" charset="0"/>
                        </a:rPr>
                        <a:t>Car je désire vous épargner</a:t>
                      </a:r>
                    </a:p>
                    <a:p>
                      <a:pPr indent="216000" algn="l"/>
                      <a:r>
                        <a:rPr lang="fr-FR" sz="1100" kern="150">
                          <a:effectLst/>
                          <a:latin typeface="Cascadia Mono" panose="020B0609020000020004" pitchFamily="49" charset="0"/>
                          <a:cs typeface="Cascadia Mono" panose="020B0609020000020004" pitchFamily="49" charset="0"/>
                        </a:rPr>
                        <a:t>Les coups du destin.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Que celui qui détient le pouvoir</a:t>
                      </a:r>
                    </a:p>
                    <a:p>
                      <a:pPr indent="216000" algn="l"/>
                      <a:r>
                        <a:rPr lang="fr-FR" sz="1100" kern="150">
                          <a:effectLst/>
                          <a:latin typeface="Cascadia Mono" panose="020B0609020000020004" pitchFamily="49" charset="0"/>
                          <a:cs typeface="Cascadia Mono" panose="020B0609020000020004" pitchFamily="49" charset="0"/>
                        </a:rPr>
                        <a:t>Agisse avec droiture,</a:t>
                      </a:r>
                    </a:p>
                    <a:p>
                      <a:pPr indent="216000" algn="l"/>
                      <a:r>
                        <a:rPr lang="fr-FR" sz="1100" kern="15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a:effectLst/>
                          <a:latin typeface="Cascadia Mono" panose="020B0609020000020004" pitchFamily="49" charset="0"/>
                          <a:cs typeface="Cascadia Mono" panose="020B0609020000020004" pitchFamily="49" charset="0"/>
                        </a:rPr>
                        <a:t>Qu’il traite le grand avec égards</a:t>
                      </a:r>
                    </a:p>
                    <a:p>
                      <a:pPr indent="216000" algn="l"/>
                      <a:r>
                        <a:rPr lang="fr-FR" sz="1100" kern="150">
                          <a:effectLst/>
                          <a:latin typeface="Cascadia Mono" panose="020B0609020000020004" pitchFamily="49" charset="0"/>
                          <a:cs typeface="Cascadia Mono" panose="020B0609020000020004" pitchFamily="49" charset="0"/>
                        </a:rPr>
                        <a:t>Et protège le petit :</a:t>
                      </a:r>
                    </a:p>
                    <a:p>
                      <a:pPr indent="216000" algn="l"/>
                      <a:r>
                        <a:rPr lang="fr-FR" sz="1100" kern="150">
                          <a:effectLst/>
                          <a:latin typeface="Cascadia Mono" panose="020B0609020000020004" pitchFamily="49" charset="0"/>
                          <a:cs typeface="Cascadia Mono" panose="020B0609020000020004" pitchFamily="49" charset="0"/>
                        </a:rPr>
                        <a:t>Ni l’un ni l’autre ne le trahira.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qui, c’est notoire,</a:t>
                      </a:r>
                    </a:p>
                    <a:p>
                      <a:pPr indent="216000" algn="l"/>
                      <a:r>
                        <a:rPr lang="fr-FR" sz="1100" kern="150">
                          <a:effectLst/>
                          <a:latin typeface="Cascadia Mono" panose="020B0609020000020004" pitchFamily="49" charset="0"/>
                          <a:cs typeface="Cascadia Mono" panose="020B0609020000020004" pitchFamily="49" charset="0"/>
                        </a:rPr>
                        <a:t>Est capable de mener la lutte,</a:t>
                      </a:r>
                    </a:p>
                    <a:p>
                      <a:pPr indent="216000" algn="l"/>
                      <a:r>
                        <a:rPr lang="fr-FR" sz="1100" kern="150">
                          <a:effectLst/>
                          <a:latin typeface="Cascadia Mono" panose="020B0609020000020004" pitchFamily="49" charset="0"/>
                          <a:cs typeface="Cascadia Mono" panose="020B0609020000020004" pitchFamily="49" charset="0"/>
                        </a:rPr>
                        <a:t>A été étendu raide mort.</a:t>
                      </a:r>
                    </a:p>
                    <a:p>
                      <a:pPr indent="216000" algn="l"/>
                      <a:r>
                        <a:rPr lang="fr-FR" sz="1100" kern="15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a:effectLst/>
                          <a:latin typeface="Cascadia Mono" panose="020B0609020000020004" pitchFamily="49" charset="0"/>
                          <a:cs typeface="Cascadia Mono" panose="020B0609020000020004" pitchFamily="49" charset="0"/>
                        </a:rPr>
                        <a:t>Qui n’est que faiblesse,</a:t>
                      </a:r>
                    </a:p>
                    <a:p>
                      <a:pPr indent="216000" algn="l"/>
                      <a:r>
                        <a:rPr lang="fr-FR" sz="1100" kern="15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Quant à l’homme du peuple,</a:t>
                      </a:r>
                    </a:p>
                    <a:p>
                      <a:pPr indent="216000" algn="l"/>
                      <a:r>
                        <a:rPr lang="fr-FR" sz="1100" kern="150">
                          <a:effectLst/>
                          <a:latin typeface="Cascadia Mono" panose="020B0609020000020004" pitchFamily="49" charset="0"/>
                          <a:cs typeface="Cascadia Mono" panose="020B0609020000020004" pitchFamily="49" charset="0"/>
                        </a:rPr>
                        <a:t>Sujet loyal,</a:t>
                      </a:r>
                    </a:p>
                    <a:p>
                      <a:pPr indent="216000" algn="l"/>
                      <a:r>
                        <a:rPr lang="fr-FR" sz="1100" kern="150">
                          <a:effectLst/>
                          <a:latin typeface="Cascadia Mono" panose="020B0609020000020004" pitchFamily="49" charset="0"/>
                          <a:cs typeface="Cascadia Mono" panose="020B0609020000020004" pitchFamily="49" charset="0"/>
                        </a:rPr>
                        <a:t>Qu’il ne soit point perfide.</a:t>
                      </a:r>
                    </a:p>
                    <a:p>
                      <a:pPr indent="216000" algn="l"/>
                      <a:r>
                        <a:rPr lang="fr-FR" sz="1100" kern="150">
                          <a:effectLst/>
                          <a:latin typeface="Cascadia Mono" panose="020B0609020000020004" pitchFamily="49" charset="0"/>
                          <a:cs typeface="Cascadia Mono" panose="020B0609020000020004" pitchFamily="49" charset="0"/>
                        </a:rPr>
                        <a:t>S’il imitait le chacal,</a:t>
                      </a:r>
                    </a:p>
                    <a:p>
                      <a:pPr indent="216000" algn="l"/>
                      <a:r>
                        <a:rPr lang="fr-FR" sz="1100" kern="150">
                          <a:effectLst/>
                          <a:latin typeface="Cascadia Mono" panose="020B0609020000020004" pitchFamily="49" charset="0"/>
                          <a:cs typeface="Cascadia Mono" panose="020B0609020000020004" pitchFamily="49" charset="0"/>
                        </a:rPr>
                        <a:t>Brouillait les gens,</a:t>
                      </a:r>
                    </a:p>
                    <a:p>
                      <a:pPr indent="216000" algn="l"/>
                      <a:r>
                        <a:rPr lang="fr-FR" sz="1100" kern="150">
                          <a:effectLst/>
                          <a:latin typeface="Cascadia Mono" panose="020B0609020000020004" pitchFamily="49" charset="0"/>
                          <a:cs typeface="Cascadia Mono" panose="020B0609020000020004" pitchFamily="49" charset="0"/>
                        </a:rPr>
                        <a:t>Et leur faisait perdre le sommeil,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5076</TotalTime>
  <Words>27449</Words>
  <Application>Microsoft Office PowerPoint</Application>
  <PresentationFormat>Widescreen</PresentationFormat>
  <Paragraphs>1630</Paragraphs>
  <Slides>69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69</vt:i4>
      </vt:variant>
    </vt:vector>
  </HeadingPairs>
  <TitlesOfParts>
    <vt:vector size="73"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1175</cp:revision>
  <dcterms:created xsi:type="dcterms:W3CDTF">2023-02-08T10:37:07Z</dcterms:created>
  <dcterms:modified xsi:type="dcterms:W3CDTF">2026-10-13T22:55:43Z</dcterms:modified>
</cp:coreProperties>
</file>