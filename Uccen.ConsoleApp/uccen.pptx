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27/10/2026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27/10/2026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467413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i="1" kern="150" dirty="0">
                          <a:effectLst/>
                          <a:latin typeface="Cascadia Mono" panose="020B0609020000020004" pitchFamily="49" charset="0"/>
                          <a:cs typeface="Cascadia Mono" panose="020B0609020000020004" pitchFamily="49" charset="0"/>
                        </a:rPr>
                        <a:t>Monte dans la Montagne</a:t>
                      </a:r>
                    </a:p>
                    <a:p>
                      <a:pPr indent="216000" algn="l"/>
                      <a:r>
                        <a:rPr lang="fr-FR" sz="1100" i="1"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i="1"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i="1" kern="150" dirty="0">
                          <a:effectLst/>
                          <a:latin typeface="Cascadia Mono" panose="020B0609020000020004" pitchFamily="49" charset="0"/>
                          <a:cs typeface="Cascadia Mono" panose="020B0609020000020004" pitchFamily="49" charset="0"/>
                        </a:rPr>
                        <a:t>Descende dans la plaine :</a:t>
                      </a:r>
                    </a:p>
                    <a:p>
                      <a:pPr indent="216000" algn="l"/>
                      <a:r>
                        <a:rPr lang="fr-FR" sz="1100" i="1" kern="150" dirty="0">
                          <a:effectLst/>
                          <a:latin typeface="Cascadia Mono" panose="020B0609020000020004" pitchFamily="49" charset="0"/>
                          <a:cs typeface="Cascadia Mono" panose="020B0609020000020004" pitchFamily="49" charset="0"/>
                        </a:rPr>
                        <a:t>Il y sera plus maltraité qu’un chien</a:t>
                      </a:r>
                      <a:r>
                        <a:rPr lang="en-US" sz="1100" i="1" dirty="0"/>
                        <a:t>…</a:t>
                      </a:r>
                      <a:endParaRPr lang="fr-FR" sz="1100" i="1"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012788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0971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 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a:t>
                      </a:r>
                      <a:r>
                        <a:rPr lang="en-US" sz="1100" dirty="0"/>
                        <a:t>¶ </a:t>
                      </a:r>
                      <a:r>
                        <a:rPr lang="fr-FR" sz="1100" kern="150" dirty="0">
                          <a:effectLst/>
                          <a:latin typeface="Cascadia Mono" panose="020B0609020000020004" pitchFamily="49" charset="0"/>
                          <a:cs typeface="Cascadia Mono" panose="020B0609020000020004" pitchFamily="49" charset="0"/>
                        </a:rPr>
                        <a:t>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 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93780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802184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350785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604167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074168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92474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 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11115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a:t>
                      </a:r>
                      <a:r>
                        <a:rPr lang="en-US" sz="1100" dirty="0"/>
                        <a:t>¶ </a:t>
                      </a:r>
                      <a:r>
                        <a:rPr lang="fr-FR" sz="1100" kern="150" dirty="0">
                          <a:effectLst/>
                          <a:latin typeface="Cascadia Mono" panose="020B0609020000020004" pitchFamily="49" charset="0"/>
                          <a:cs typeface="Cascadia Mono" panose="020B0609020000020004" pitchFamily="49" charset="0"/>
                        </a:rPr>
                        <a:t>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4005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a:t>
                      </a:r>
                      <a:r>
                        <a:rPr lang="en-US" sz="1100" dirty="0"/>
                        <a:t>¶ </a:t>
                      </a:r>
                      <a:r>
                        <a:rPr lang="fr-FR" sz="1100" kern="150" dirty="0">
                          <a:effectLst/>
                          <a:latin typeface="Cascadia Mono" panose="020B0609020000020004" pitchFamily="49" charset="0"/>
                          <a:cs typeface="Cascadia Mono" panose="020B0609020000020004" pitchFamily="49" charset="0"/>
                        </a:rPr>
                        <a:t>En entendant venir le paysan, de frayeur il fit dans son froc. Puis il s’étendit sur le sol et fit le mort, comme dans le potager. </a:t>
                      </a:r>
                      <a:r>
                        <a:rPr lang="en-US" sz="1100" dirty="0"/>
                        <a:t>¶ </a:t>
                      </a:r>
                      <a:r>
                        <a:rPr lang="fr-FR" sz="1100" kern="150" dirty="0">
                          <a:effectLst/>
                          <a:latin typeface="Cascadia Mono" panose="020B0609020000020004" pitchFamily="49" charset="0"/>
                          <a:cs typeface="Cascadia Mono" panose="020B0609020000020004" pitchFamily="49" charset="0"/>
                        </a:rPr>
                        <a:t>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092687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iniɣem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Et il mangea la figue.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883765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a:t>
                      </a:r>
                      <a:r>
                        <a:rPr lang="fr-FR" sz="1100" kern="150" dirty="0" err="1">
                          <a:effectLst/>
                          <a:latin typeface="Cascadia Mono" panose="020B0609020000020004" pitchFamily="49" charset="0"/>
                          <a:cs typeface="Cascadia Mono" panose="020B0609020000020004" pitchFamily="49" charset="0"/>
                        </a:rPr>
                        <a:t>l’Aïd-El-kebir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1613871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69322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701156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85803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5868258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815964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a:t>
                      </a:r>
                      <a:r>
                        <a:rPr lang="fr-FR" sz="1100" i="1" kern="150">
                          <a:effectLst/>
                          <a:latin typeface="Cascadia Mono" panose="020B0609020000020004" pitchFamily="49" charset="0"/>
                          <a:cs typeface="Cascadia Mono" panose="020B0609020000020004" pitchFamily="49" charset="0"/>
                        </a:rPr>
                        <a:t>un abcès !</a:t>
                      </a:r>
                      <a:endParaRPr lang="fr-FR" sz="1100" i="1" kern="150" dirty="0">
                        <a:effectLst/>
                        <a:latin typeface="Cascadia Mono" panose="020B0609020000020004" pitchFamily="49" charset="0"/>
                        <a:cs typeface="Cascadia Mono" panose="020B0609020000020004" pitchFamily="49" charset="0"/>
                      </a:endParaRPr>
                    </a:p>
                    <a:p>
                      <a:pPr indent="216000" algn="l"/>
                      <a:r>
                        <a:rPr lang="fr-FR" sz="1100" i="1" strike="sngStrike" kern="150" dirty="0">
                          <a:solidFill>
                            <a:srgbClr val="FF0000"/>
                          </a:solidFill>
                          <a:effectLst/>
                          <a:latin typeface="Cascadia Mono" panose="020B0609020000020004" pitchFamily="49" charset="0"/>
                          <a:cs typeface="Cascadia Mono" panose="020B0609020000020004" pitchFamily="49" charset="0"/>
                        </a:rPr>
                        <a:t>Sauvez-vous, sauvez-vous !</a:t>
                      </a:r>
                      <a:endParaRPr lang="en-GB" i="1" strike="sngStrike" dirty="0">
                        <a:solidFill>
                          <a:srgbClr val="FF0000"/>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0094944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548469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a:t>
                      </a:r>
                      <a:r>
                        <a:rPr lang="en-US" sz="1100" dirty="0"/>
                        <a:t>¶ </a:t>
                      </a:r>
                      <a:r>
                        <a:rPr lang="fr-FR" sz="1100" kern="150" dirty="0">
                          <a:effectLst/>
                          <a:latin typeface="Cascadia Mono" panose="020B0609020000020004" pitchFamily="49" charset="0"/>
                          <a:cs typeface="Cascadia Mono" panose="020B0609020000020004" pitchFamily="49" charset="0"/>
                        </a:rPr>
                        <a:t>Quand le champ fut entièrement travaillé, ils dételèrent et se reposèrent. La graine de navet avait dû se jurer, (comme elle le fait toujours), de ne pas passer une seule nuit en terre. D’un seul coup, elle germa et poussa. </a:t>
                      </a:r>
                      <a:r>
                        <a:rPr lang="en-US" sz="1100" dirty="0"/>
                        <a:t>¶ </a:t>
                      </a:r>
                      <a:r>
                        <a:rPr lang="fr-FR" sz="1100" kern="150" dirty="0">
                          <a:effectLst/>
                          <a:latin typeface="Cascadia Mono" panose="020B0609020000020004" pitchFamily="49" charset="0"/>
                          <a:cs typeface="Cascadia Mono" panose="020B0609020000020004" pitchFamily="49" charset="0"/>
                        </a:rPr>
                        <a:t>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19986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3113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a:t>
                      </a:r>
                      <a:r>
                        <a:rPr lang="en-US" sz="1100" dirty="0"/>
                        <a:t>¶ </a:t>
                      </a:r>
                      <a:r>
                        <a:rPr lang="fr-FR" sz="1100" kern="150" dirty="0">
                          <a:effectLst/>
                          <a:latin typeface="Cascadia Mono" panose="020B0609020000020004" pitchFamily="49" charset="0"/>
                          <a:cs typeface="Cascadia Mono" panose="020B0609020000020004" pitchFamily="49" charset="0"/>
                        </a:rPr>
                        <a:t>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5562975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9726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84693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61837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l"/>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l"/>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strike="sngStrike" kern="150" dirty="0">
                          <a:solidFill>
                            <a:srgbClr val="FF0000"/>
                          </a:solidFill>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4697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a:t>
                      </a:r>
                      <a:r>
                        <a:rPr lang="en-US" sz="1100" dirty="0"/>
                        <a:t>¶ </a:t>
                      </a:r>
                      <a:r>
                        <a:rPr lang="fr-FR" sz="1100" kern="150" dirty="0">
                          <a:effectLst/>
                          <a:latin typeface="Cascadia Mono" panose="020B0609020000020004" pitchFamily="49" charset="0"/>
                          <a:cs typeface="Cascadia Mono" panose="020B0609020000020004" pitchFamily="49" charset="0"/>
                        </a:rPr>
                        <a:t>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 Quant au chacal, il fut tenu à l’écart.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a:t>
                      </a:r>
                      <a:r>
                        <a:rPr lang="en-US" sz="1100" dirty="0"/>
                        <a:t>¶ </a:t>
                      </a:r>
                      <a:r>
                        <a:rPr lang="fr-FR" sz="1100" kern="150" dirty="0">
                          <a:effectLst/>
                          <a:latin typeface="Cascadia Mono" panose="020B0609020000020004" pitchFamily="49" charset="0"/>
                          <a:cs typeface="Cascadia Mono" panose="020B0609020000020004" pitchFamily="49" charset="0"/>
                        </a:rPr>
                        <a:t>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    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    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    Va-t’en donc d’ici !</a:t>
                      </a:r>
                    </a:p>
                    <a:p>
                      <a:pPr indent="216000" algn="l"/>
                      <a:r>
                        <a:rPr lang="fr-FR" sz="1100" kern="150" dirty="0">
                          <a:effectLst/>
                          <a:latin typeface="Cascadia Mono" panose="020B0609020000020004" pitchFamily="49" charset="0"/>
                          <a:cs typeface="Cascadia Mono" panose="020B0609020000020004" pitchFamily="49" charset="0"/>
                        </a:rPr>
                        <a:t>    Sans tes mauvais instincts,</a:t>
                      </a:r>
                    </a:p>
                    <a:p>
                      <a:pPr indent="216000" algn="l"/>
                      <a:r>
                        <a:rPr lang="fr-FR" sz="1100" kern="150" dirty="0">
                          <a:effectLst/>
                          <a:latin typeface="Cascadia Mono" panose="020B0609020000020004" pitchFamily="49" charset="0"/>
                          <a:cs typeface="Cascadia Mono" panose="020B0609020000020004" pitchFamily="49" charset="0"/>
                        </a:rPr>
                        <a:t>    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3796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4557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dirty="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dirty="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dirty="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dirty="0">
                          <a:effectLst/>
                          <a:latin typeface="Cascadia Mono" panose="020B0609020000020004" pitchFamily="49" charset="0"/>
                          <a:cs typeface="Cascadia Mono" panose="020B0609020000020004" pitchFamily="49" charset="0"/>
                        </a:rPr>
                        <a:t>Il jura. Elle descendit et ils cheminèrent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dirty="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dirty="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184343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dirty="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dirty="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dirty="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dirty="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dirty="0">
                          <a:effectLst/>
                          <a:latin typeface="Cascadia Mono" panose="020B0609020000020004" pitchFamily="49" charset="0"/>
                          <a:cs typeface="Cascadia Mono" panose="020B0609020000020004" pitchFamily="49" charset="0"/>
                        </a:rPr>
                        <a:t>- Où ?</a:t>
                      </a:r>
                    </a:p>
                    <a:p>
                      <a:pPr indent="216000" algn="l"/>
                      <a:r>
                        <a:rPr lang="fr-FR" sz="1100" kern="150" dirty="0">
                          <a:effectLst/>
                          <a:latin typeface="Cascadia Mono" panose="020B0609020000020004" pitchFamily="49" charset="0"/>
                          <a:cs typeface="Cascadia Mono" panose="020B0609020000020004" pitchFamily="49" charset="0"/>
                        </a:rPr>
                        <a:t>- À la Pierre-Blanche…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557724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199888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a:t>
                      </a:r>
                      <a:r>
                        <a:rPr lang="en-US" sz="1100" dirty="0"/>
                        <a:t>¶ </a:t>
                      </a:r>
                      <a:r>
                        <a:rPr lang="fr-FR" sz="1100" kern="150" dirty="0">
                          <a:effectLst/>
                          <a:latin typeface="Cascadia Mono" panose="020B0609020000020004" pitchFamily="49" charset="0"/>
                          <a:cs typeface="Cascadia Mono" panose="020B0609020000020004" pitchFamily="49" charset="0"/>
                        </a:rPr>
                        <a:t>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417118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en-US" sz="1100"/>
                        <a:t>¶ </a:t>
                      </a:r>
                      <a:r>
                        <a:rPr lang="fr-FR" sz="1100" kern="150">
                          <a:effectLst/>
                          <a:latin typeface="Cascadia Mono" panose="020B0609020000020004" pitchFamily="49" charset="0"/>
                          <a:cs typeface="Cascadia Mono" panose="020B0609020000020004" pitchFamily="49" charset="0"/>
                        </a:rPr>
                        <a:t>Alors </a:t>
                      </a:r>
                      <a:r>
                        <a:rPr lang="fr-FR" sz="1100" kern="150" dirty="0">
                          <a:effectLst/>
                          <a:latin typeface="Cascadia Mono" panose="020B0609020000020004" pitchFamily="49" charset="0"/>
                          <a:cs typeface="Cascadia Mono" panose="020B0609020000020004" pitchFamily="49" charset="0"/>
                        </a:rPr>
                        <a:t>il accepta le juste et l’injuste et fit le partage inverse : une part pour lui et six pour la brebis, en disant :</a:t>
                      </a:r>
                    </a:p>
                    <a:p>
                      <a:pPr indent="216000" algn="l"/>
                      <a:r>
                        <a:rPr lang="fr-FR" sz="1100" kern="150" dirty="0">
                          <a:effectLst/>
                          <a:latin typeface="Cascadia Mono" panose="020B0609020000020004" pitchFamily="49" charset="0"/>
                          <a:cs typeface="Cascadia Mono" panose="020B0609020000020004" pitchFamily="49" charset="0"/>
                        </a:rPr>
                        <a:t>- Ma pauvre tante a tant peiné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389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1724967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a:t>¶ </a:t>
                      </a:r>
                      <a:r>
                        <a:rPr lang="fr-FR" sz="1100" kern="1200">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retourna chez lui sur trois pattes. 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35745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a:t>
                      </a:r>
                      <a:r>
                        <a:rPr lang="en-US" sz="1100" dirty="0"/>
                        <a:t>¶ </a:t>
                      </a:r>
                      <a:r>
                        <a:rPr lang="fr-FR" sz="1100" kern="150" dirty="0">
                          <a:effectLst/>
                          <a:latin typeface="Cascadia Mono" panose="020B0609020000020004" pitchFamily="49" charset="0"/>
                          <a:cs typeface="Cascadia Mono" panose="020B0609020000020004" pitchFamily="49" charset="0"/>
                        </a:rPr>
                        <a:t>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374806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dirty="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dirty="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marché fut conclu, moyennant un agneau bien gras et sous la foi de solennels serments. </a:t>
                      </a:r>
                      <a:r>
                        <a:rPr lang="en-US" sz="1100" dirty="0"/>
                        <a:t>¶ </a:t>
                      </a:r>
                      <a:r>
                        <a:rPr lang="fr-FR" sz="1100" kern="150" dirty="0">
                          <a:effectLst/>
                          <a:latin typeface="Cascadia Mono" panose="020B0609020000020004" pitchFamily="49" charset="0"/>
                          <a:cs typeface="Cascadia Mono" panose="020B0609020000020004" pitchFamily="49" charset="0"/>
                        </a:rPr>
                        <a:t>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était corrigé ; jamais il ne revint.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96286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41304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dirty="0">
                          <a:effectLst/>
                          <a:latin typeface="Cascadia Mono" panose="020B0609020000020004" pitchFamily="49" charset="0"/>
                          <a:cs typeface="Cascadia Mono" panose="020B0609020000020004" pitchFamily="49" charset="0"/>
                        </a:rPr>
                        <a:t>- Qu’as-tu donc, grand-mère ?</a:t>
                      </a:r>
                    </a:p>
                    <a:p>
                      <a:pPr indent="216000" algn="l"/>
                      <a:r>
                        <a:rPr lang="fr-FR" sz="1100" kern="150" dirty="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dirty="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dirty="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dirty="0">
                          <a:effectLst/>
                          <a:latin typeface="Cascadia Mono" panose="020B0609020000020004" pitchFamily="49" charset="0"/>
                          <a:cs typeface="Cascadia Mono" panose="020B0609020000020004" pitchFamily="49" charset="0"/>
                        </a:rPr>
                        <a:t>- Donne-moi un coup de hachette au front.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5473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dirty="0">
                          <a:effectLst/>
                          <a:latin typeface="Cascadia Mono" panose="020B0609020000020004" pitchFamily="49" charset="0"/>
                          <a:cs typeface="Cascadia Mono" panose="020B0609020000020004" pitchFamily="49" charset="0"/>
                        </a:rPr>
                        <a:t>- Frappe-moi, ou je te dévore !</a:t>
                      </a:r>
                    </a:p>
                    <a:p>
                      <a:pPr indent="216000" algn="l"/>
                      <a:r>
                        <a:rPr lang="fr-FR" sz="1100" kern="150" dirty="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dirty="0">
                          <a:effectLst/>
                          <a:latin typeface="Cascadia Mono" panose="020B0609020000020004" pitchFamily="49" charset="0"/>
                          <a:cs typeface="Cascadia Mono" panose="020B0609020000020004" pitchFamily="49" charset="0"/>
                        </a:rPr>
                        <a:t>- Épouille-moi, lui dit-il.</a:t>
                      </a:r>
                    </a:p>
                    <a:p>
                      <a:pPr indent="216000" algn="l"/>
                      <a:r>
                        <a:rPr lang="fr-FR" sz="1100" kern="150" dirty="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dirty="0">
                          <a:effectLst/>
                          <a:latin typeface="Cascadia Mono" panose="020B0609020000020004" pitchFamily="49" charset="0"/>
                          <a:cs typeface="Cascadia Mono" panose="020B0609020000020004" pitchFamily="49" charset="0"/>
                        </a:rPr>
                        <a:t>- Dieu merci, te voilà guéri, fils.</a:t>
                      </a:r>
                    </a:p>
                    <a:p>
                      <a:pPr indent="216000" algn="l"/>
                      <a:r>
                        <a:rPr lang="fr-FR" sz="1100" kern="150" dirty="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dirty="0">
                          <a:effectLst/>
                          <a:latin typeface="Cascadia Mono" panose="020B0609020000020004" pitchFamily="49" charset="0"/>
                          <a:cs typeface="Cascadia Mono" panose="020B0609020000020004" pitchFamily="49" charset="0"/>
                        </a:rPr>
                        <a:t>Alors il se jeta sur elle et la dévora.</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6362517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8253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 Entre le lévrier et moi, c’est désormais une guerre à mort.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en-US" sz="1100" kern="150" dirty="0">
                          <a:effectLst/>
                          <a:latin typeface="Cascadia Mono" panose="020B0609020000020004" pitchFamily="49" charset="0"/>
                          <a:cs typeface="Cascadia Mono" panose="020B0609020000020004" pitchFamily="49" charset="0"/>
                        </a:rPr>
                        <a:t>¶ </a:t>
                      </a:r>
                      <a:r>
                        <a:rPr lang="fr-FR" sz="1100" kern="150" dirty="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dirty="0">
                          <a:effectLst/>
                          <a:latin typeface="Cascadia Mono" panose="020B0609020000020004" pitchFamily="49" charset="0"/>
                          <a:cs typeface="Cascadia Mono" panose="020B0609020000020004" pitchFamily="49" charset="0"/>
                        </a:rPr>
                        <a:t>C’est depuis ce jour que l’altruisme est si rare.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423092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a:t>
                      </a:r>
                      <a:r>
                        <a:rPr lang="fr-FR" sz="1100" kern="150">
                          <a:effectLst/>
                          <a:latin typeface="Cascadia Mono" panose="020B0609020000020004" pitchFamily="49" charset="0"/>
                          <a:cs typeface="Cascadia Mono" panose="020B0609020000020004" pitchFamily="49" charset="0"/>
                        </a:rPr>
                        <a:t>becquée.</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80637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17358852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416173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0945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l"/>
                      <a:r>
                        <a:rPr lang="fr-FR" sz="1100" i="1" kern="150" dirty="0">
                          <a:effectLst/>
                          <a:latin typeface="Cascadia Mono" panose="020B0609020000020004" pitchFamily="49" charset="0"/>
                          <a:cs typeface="Cascadia Mono" panose="020B0609020000020004" pitchFamily="49" charset="0"/>
                        </a:rPr>
                        <a:t>    Ce trou est percé; Celui-là ne l’est point !</a:t>
                      </a:r>
                    </a:p>
                    <a:p>
                      <a:pPr indent="216000" algn="l"/>
                      <a:r>
                        <a:rPr lang="fr-FR" sz="1100" i="1" kern="150" dirty="0">
                          <a:effectLst/>
                          <a:latin typeface="Cascadia Mono" panose="020B0609020000020004" pitchFamily="49" charset="0"/>
                          <a:cs typeface="Cascadia Mono" panose="020B0609020000020004" pitchFamily="49" charset="0"/>
                        </a:rPr>
                        <a:t>    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4389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2588655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03273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dirty="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dirty="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dirty="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dirty="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dirty="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dirty="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dirty="0">
                          <a:effectLst/>
                          <a:latin typeface="Cascadia Mono" panose="020B0609020000020004" pitchFamily="49" charset="0"/>
                          <a:cs typeface="Cascadia Mono" panose="020B0609020000020004" pitchFamily="49" charset="0"/>
                        </a:rPr>
                        <a:t>Elle n’osa pas et répondit :</a:t>
                      </a:r>
                    </a:p>
                    <a:p>
                      <a:pPr indent="216000" algn="l"/>
                      <a:r>
                        <a:rPr lang="fr-FR" sz="1100" kern="150" dirty="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dirty="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dirty="0">
                          <a:effectLst/>
                          <a:latin typeface="Cascadia Mono" panose="020B0609020000020004" pitchFamily="49" charset="0"/>
                          <a:cs typeface="Cascadia Mono" panose="020B0609020000020004" pitchFamily="49" charset="0"/>
                        </a:rPr>
                        <a:t>- Tu as rencontré Mohammed !</a:t>
                      </a:r>
                    </a:p>
                    <a:p>
                      <a:pPr indent="216000" algn="l"/>
                      <a:r>
                        <a:rPr lang="fr-FR" sz="1100" kern="150" dirty="0">
                          <a:effectLst/>
                          <a:latin typeface="Cascadia Mono" panose="020B0609020000020004" pitchFamily="49" charset="0"/>
                          <a:cs typeface="Cascadia Mono" panose="020B0609020000020004" pitchFamily="49" charset="0"/>
                        </a:rPr>
                        <a:t>La laie en convint. Elle se retira vivement.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733538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Le lion et le chameau</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a:t>
                      </a:r>
                      <a:r>
                        <a:rPr lang="en-US" sz="1100" dirty="0"/>
                        <a:t>¶ </a:t>
                      </a:r>
                      <a:r>
                        <a:rPr lang="fr-FR" sz="1100" kern="150" dirty="0">
                          <a:effectLst/>
                          <a:latin typeface="Cascadia Mono" panose="020B0609020000020004" pitchFamily="49" charset="0"/>
                          <a:cs typeface="Cascadia Mono" panose="020B0609020000020004" pitchFamily="49" charset="0"/>
                        </a:rPr>
                        <a:t>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10408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le bâton ; mon nom sert d’insulte. Non,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dirty="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dirty="0">
                          <a:effectLst/>
                          <a:latin typeface="Cascadia Mono" panose="020B0609020000020004" pitchFamily="49" charset="0"/>
                          <a:cs typeface="Cascadia Mono" panose="020B0609020000020004" pitchFamily="49" charset="0"/>
                        </a:rPr>
                        <a:t>Qu’as-tu donc, mon oncle long-cou ?</a:t>
                      </a:r>
                    </a:p>
                    <a:p>
                      <a:pPr indent="216000" algn="l"/>
                      <a:r>
                        <a:rPr lang="fr-FR" sz="1100" kern="150" dirty="0">
                          <a:effectLst/>
                          <a:latin typeface="Cascadia Mono" panose="020B0609020000020004" pitchFamily="49" charset="0"/>
                          <a:cs typeface="Cascadia Mono" panose="020B0609020000020004" pitchFamily="49" charset="0"/>
                        </a:rPr>
                        <a:t>Le chameau le mit au courant :</a:t>
                      </a:r>
                    </a:p>
                    <a:p>
                      <a:pPr indent="216000" algn="l"/>
                      <a:r>
                        <a:rPr lang="fr-FR" sz="1100" kern="150" dirty="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dirty="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dirty="0">
                          <a:effectLst/>
                          <a:latin typeface="Cascadia Mono" panose="020B0609020000020004" pitchFamily="49" charset="0"/>
                          <a:cs typeface="Cascadia Mono" panose="020B0609020000020004" pitchFamily="49" charset="0"/>
                        </a:rPr>
                        <a:t>Il lui confia quelque chose à l’oreille.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85574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dirty="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dirty="0">
                          <a:effectLst/>
                          <a:latin typeface="Cascadia Mono" panose="020B0609020000020004" pitchFamily="49" charset="0"/>
                          <a:cs typeface="Cascadia Mono" panose="020B0609020000020004" pitchFamily="49" charset="0"/>
                        </a:rPr>
                        <a:t>Le lion s’étira mollement :</a:t>
                      </a:r>
                    </a:p>
                    <a:p>
                      <a:pPr indent="216000" algn="l"/>
                      <a:r>
                        <a:rPr lang="fr-FR" sz="1100" kern="150" dirty="0">
                          <a:effectLst/>
                          <a:latin typeface="Cascadia Mono" panose="020B0609020000020004" pitchFamily="49" charset="0"/>
                          <a:cs typeface="Cascadia Mono" panose="020B0609020000020004" pitchFamily="49" charset="0"/>
                        </a:rPr>
                        <a:t>- Alors, dit-il, je vais te dévorer !</a:t>
                      </a:r>
                    </a:p>
                    <a:p>
                      <a:pPr indent="216000" algn="l"/>
                      <a:r>
                        <a:rPr lang="fr-FR" sz="1100" kern="150" dirty="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dirty="0">
                          <a:effectLst/>
                          <a:latin typeface="Cascadia Mono" panose="020B0609020000020004" pitchFamily="49" charset="0"/>
                          <a:cs typeface="Cascadia Mono" panose="020B0609020000020004" pitchFamily="49" charset="0"/>
                        </a:rPr>
                        <a:t>- Tu as rencontré chacal !</a:t>
                      </a:r>
                    </a:p>
                    <a:p>
                      <a:pPr indent="216000" algn="l"/>
                      <a:r>
                        <a:rPr lang="fr-FR" sz="1100" kern="150" dirty="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dirty="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dirty="0">
                          <a:effectLst/>
                          <a:latin typeface="Cascadia Mono" panose="020B0609020000020004" pitchFamily="49" charset="0"/>
                          <a:cs typeface="Cascadia Mono" panose="020B0609020000020004" pitchFamily="49" charset="0"/>
                        </a:rPr>
                        <a:t>Le chameau s’en alla, sain et sauf.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36947966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1" kern="150" dirty="0">
                          <a:solidFill>
                            <a:schemeClr val="accent6">
                              <a:lumMod val="75000"/>
                            </a:schemeClr>
                          </a:solidFill>
                          <a:effectLst/>
                          <a:latin typeface="Cascadia Mono" panose="020B0609020000020004" pitchFamily="49" charset="0"/>
                          <a:cs typeface="Cascadia Mono" panose="020B0609020000020004" pitchFamily="49" charset="0"/>
                        </a:rPr>
                        <a:t>Les trois bœufs, le chacal et le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dirty="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dirty="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97063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 Aussi, chaque soir, au lieu de réunir leurs queues comme autrefois et de diriger leurs cornes vers l’extérieur, ils dormaient front contre front, se surveillant entre 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12075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776553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constata un jour que le chacal déjouait ses plans. Alors il se réconcilia avec lui et avec l’hyène qui profitaient toujours des restes de sa chasse. Il jura donc de ne jamais les dévorer et il ajouta, pour le chacal :</a:t>
                      </a:r>
                    </a:p>
                    <a:p>
                      <a:pPr indent="216000" algn="l"/>
                      <a:r>
                        <a:rPr lang="fr-FR" sz="1100" i="1" kern="150" dirty="0">
                          <a:effectLst/>
                          <a:latin typeface="Cascadia Mono" panose="020B0609020000020004" pitchFamily="49" charset="0"/>
                          <a:cs typeface="Cascadia Mono" panose="020B0609020000020004" pitchFamily="49" charset="0"/>
                        </a:rPr>
                        <a:t>Partons en voyage, chacal !</a:t>
                      </a:r>
                    </a:p>
                    <a:p>
                      <a:pPr indent="216000" algn="l"/>
                      <a:r>
                        <a:rPr lang="fr-FR" sz="1100" i="1"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i="1"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i="1" kern="150" dirty="0">
                          <a:effectLst/>
                          <a:latin typeface="Cascadia Mono" panose="020B0609020000020004" pitchFamily="49" charset="0"/>
                          <a:cs typeface="Cascadia Mono" panose="020B0609020000020004" pitchFamily="49" charset="0"/>
                        </a:rPr>
                        <a:t>S’ils me tuaient, tu me dévorerais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44750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a:t>
                      </a:r>
                      <a:r>
                        <a:rPr lang="en-US" sz="1100" dirty="0"/>
                        <a:t>¶ </a:t>
                      </a:r>
                      <a:r>
                        <a:rPr lang="fr-FR" sz="1100" kern="150" dirty="0">
                          <a:effectLst/>
                          <a:latin typeface="Cascadia Mono" panose="020B0609020000020004" pitchFamily="49" charset="0"/>
                          <a:cs typeface="Cascadia Mono" panose="020B0609020000020004" pitchFamily="49" charset="0"/>
                        </a:rPr>
                        <a:t>À sa vue, ses compagnons sentirent bientôt l’eau leur venir à la bouche.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dirty="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dirty="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dirty="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dirty="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dirty="0">
                          <a:effectLst/>
                          <a:latin typeface="Cascadia Mono" panose="020B0609020000020004" pitchFamily="49" charset="0"/>
                          <a:cs typeface="Cascadia Mono" panose="020B0609020000020004" pitchFamily="49" charset="0"/>
                        </a:rPr>
                        <a:t>- C’est de bonne famille, dit le lion.</a:t>
                      </a:r>
                    </a:p>
                    <a:p>
                      <a:pPr indent="216000" algn="l"/>
                      <a:r>
                        <a:rPr lang="fr-FR" sz="1100" kern="150" dirty="0">
                          <a:effectLst/>
                          <a:latin typeface="Cascadia Mono" panose="020B0609020000020004" pitchFamily="49" charset="0"/>
                          <a:cs typeface="Cascadia Mono" panose="020B0609020000020004" pitchFamily="49" charset="0"/>
                        </a:rPr>
                        <a:t>Restait le mulet qui dit :</a:t>
                      </a:r>
                    </a:p>
                    <a:p>
                      <a:pPr indent="216000" algn="l"/>
                      <a:r>
                        <a:rPr lang="fr-FR" sz="1100" kern="150" dirty="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dirty="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dirty="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dirty="0">
                          <a:effectLst/>
                          <a:latin typeface="Cascadia Mono" panose="020B0609020000020004" pitchFamily="49" charset="0"/>
                          <a:cs typeface="Cascadia Mono" panose="020B0609020000020004" pitchFamily="49" charset="0"/>
                        </a:rPr>
                        <a:t>Ils le laissèrent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697548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a:t>
                      </a:r>
                      <a:r>
                        <a:rPr lang="en-US" sz="1100" dirty="0"/>
                        <a:t>¶ </a:t>
                      </a:r>
                      <a:r>
                        <a:rPr lang="fr-FR" sz="1100" kern="150" dirty="0">
                          <a:effectLst/>
                          <a:latin typeface="Cascadia Mono" panose="020B0609020000020004" pitchFamily="49" charset="0"/>
                          <a:cs typeface="Cascadia Mono" panose="020B0609020000020004" pitchFamily="49" charset="0"/>
                        </a:rPr>
                        <a:t>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fût-il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331162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Mon histoire va au fil de l’eau :</a:t>
                      </a:r>
                    </a:p>
                    <a:p>
                      <a:pPr indent="216000" algn="l"/>
                      <a:r>
                        <a:rPr lang="fr-FR" sz="1100" kern="150" dirty="0">
                          <a:effectLst/>
                          <a:latin typeface="Cascadia Mono" panose="020B0609020000020004" pitchFamily="49" charset="0"/>
                          <a:cs typeface="Cascadia Mono" panose="020B0609020000020004" pitchFamily="49" charset="0"/>
                        </a:rPr>
                        <a:t>Je l’ai confiée aux fils de nobles.</a:t>
                      </a:r>
                    </a:p>
                    <a:p>
                      <a:pPr indent="216000" algn="l"/>
                      <a:r>
                        <a:rPr lang="fr-FR" sz="1100" kern="150" dirty="0">
                          <a:effectLst/>
                          <a:latin typeface="Cascadia Mono" panose="020B0609020000020004" pitchFamily="49" charset="0"/>
                          <a:cs typeface="Cascadia Mono" panose="020B0609020000020004" pitchFamily="49" charset="0"/>
                        </a:rPr>
                        <a:t>Nous, nous suivons le droit chemin ;</a:t>
                      </a:r>
                    </a:p>
                    <a:p>
                      <a:pPr indent="216000" algn="l"/>
                      <a:r>
                        <a:rPr lang="fr-FR" sz="1100" kern="150" dirty="0">
                          <a:effectLst/>
                          <a:latin typeface="Cascadia Mono" panose="020B0609020000020004" pitchFamily="49" charset="0"/>
                          <a:cs typeface="Cascadia Mono" panose="020B0609020000020004" pitchFamily="49" charset="0"/>
                        </a:rPr>
                        <a:t>Le chacal a pris par les champs,</a:t>
                      </a:r>
                    </a:p>
                    <a:p>
                      <a:pPr indent="216000" algn="l"/>
                      <a:r>
                        <a:rPr lang="fr-FR" sz="1100" kern="150" dirty="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dirty="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dirty="0">
                          <a:effectLst/>
                          <a:latin typeface="Cascadia Mono" panose="020B0609020000020004" pitchFamily="49" charset="0"/>
                          <a:cs typeface="Cascadia Mono" panose="020B0609020000020004" pitchFamily="49" charset="0"/>
                        </a:rPr>
                        <a:t>Nous, que Dieu nos pardonne ;</a:t>
                      </a:r>
                    </a:p>
                    <a:p>
                      <a:pPr indent="216000" algn="l"/>
                      <a:r>
                        <a:rPr lang="fr-FR" sz="1100" kern="150" dirty="0">
                          <a:effectLst/>
                          <a:latin typeface="Cascadia Mono" panose="020B0609020000020004" pitchFamily="49" charset="0"/>
                          <a:cs typeface="Cascadia Mono" panose="020B0609020000020004" pitchFamily="49" charset="0"/>
                        </a:rPr>
                        <a:t>Les chacals, que Dieu les grille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La perdrix cultiva une parcelle</a:t>
                      </a:r>
                    </a:p>
                    <a:p>
                      <a:pPr indent="216000" algn="l"/>
                      <a:r>
                        <a:rPr lang="fr-FR" sz="1100" kern="150" dirty="0">
                          <a:effectLst/>
                          <a:latin typeface="Cascadia Mono" panose="020B0609020000020004" pitchFamily="49" charset="0"/>
                          <a:cs typeface="Cascadia Mono" panose="020B0609020000020004" pitchFamily="49" charset="0"/>
                        </a:rPr>
                        <a:t>Qui se couvrit de fleurs,</a:t>
                      </a:r>
                    </a:p>
                    <a:p>
                      <a:pPr indent="216000" algn="l"/>
                      <a:r>
                        <a:rPr lang="fr-FR" sz="1100" kern="150" dirty="0">
                          <a:effectLst/>
                          <a:latin typeface="Cascadia Mono" panose="020B0609020000020004" pitchFamily="49" charset="0"/>
                          <a:cs typeface="Cascadia Mono" panose="020B0609020000020004" pitchFamily="49" charset="0"/>
                        </a:rPr>
                        <a:t>Elle s’y roula</a:t>
                      </a:r>
                    </a:p>
                    <a:p>
                      <a:pPr indent="216000" algn="l"/>
                      <a:r>
                        <a:rPr lang="fr-FR" sz="1100" kern="150" dirty="0">
                          <a:effectLst/>
                          <a:latin typeface="Cascadia Mono" panose="020B0609020000020004" pitchFamily="49" charset="0"/>
                          <a:cs typeface="Cascadia Mono" panose="020B0609020000020004" pitchFamily="49" charset="0"/>
                        </a:rPr>
                        <a:t>Et fut vêtue comme une mariée ;</a:t>
                      </a:r>
                    </a:p>
                    <a:p>
                      <a:pPr indent="216000" algn="l"/>
                      <a:r>
                        <a:rPr lang="fr-FR" sz="1100" kern="150" dirty="0">
                          <a:effectLst/>
                          <a:latin typeface="Cascadia Mono" panose="020B0609020000020004" pitchFamily="49" charset="0"/>
                          <a:cs typeface="Cascadia Mono" panose="020B0609020000020004" pitchFamily="49" charset="0"/>
                        </a:rPr>
                        <a:t>Elle regarda vers le ciel</a:t>
                      </a:r>
                    </a:p>
                    <a:p>
                      <a:pPr indent="216000" algn="l"/>
                      <a:r>
                        <a:rPr lang="fr-FR" sz="1100" kern="150" dirty="0">
                          <a:effectLst/>
                          <a:latin typeface="Cascadia Mono" panose="020B0609020000020004" pitchFamily="49" charset="0"/>
                          <a:cs typeface="Cascadia Mono" panose="020B0609020000020004" pitchFamily="49" charset="0"/>
                        </a:rPr>
                        <a:t>Qui lui mit du kohol à l’œil ;</a:t>
                      </a:r>
                    </a:p>
                    <a:p>
                      <a:pPr indent="216000" algn="l"/>
                      <a:r>
                        <a:rPr lang="fr-FR" sz="1100" kern="150" dirty="0">
                          <a:effectLst/>
                          <a:latin typeface="Cascadia Mono" panose="020B0609020000020004" pitchFamily="49" charset="0"/>
                          <a:cs typeface="Cascadia Mono" panose="020B0609020000020004" pitchFamily="49" charset="0"/>
                        </a:rPr>
                        <a:t>Elle traversa le ruisselet</a:t>
                      </a:r>
                    </a:p>
                    <a:p>
                      <a:pPr indent="216000" algn="l"/>
                      <a:r>
                        <a:rPr lang="fr-FR" sz="1100" kern="150" dirty="0">
                          <a:effectLst/>
                          <a:latin typeface="Cascadia Mono" panose="020B0609020000020004" pitchFamily="49" charset="0"/>
                          <a:cs typeface="Cascadia Mono" panose="020B0609020000020004" pitchFamily="49" charset="0"/>
                        </a:rPr>
                        <a:t>Qui lui mit du henné.</a:t>
                      </a:r>
                    </a:p>
                    <a:p>
                      <a:pPr indent="216000" algn="l"/>
                      <a:r>
                        <a:rPr lang="fr-FR" sz="1100" kern="150" dirty="0">
                          <a:effectLst/>
                          <a:latin typeface="Cascadia Mono" panose="020B0609020000020004" pitchFamily="49" charset="0"/>
                          <a:cs typeface="Cascadia Mono" panose="020B0609020000020004" pitchFamily="49" charset="0"/>
                        </a:rPr>
                        <a:t>Elle prit la descente,</a:t>
                      </a:r>
                    </a:p>
                    <a:p>
                      <a:pPr indent="216000" algn="l"/>
                      <a:r>
                        <a:rPr lang="fr-FR" sz="1100" kern="150" dirty="0">
                          <a:effectLst/>
                          <a:latin typeface="Cascadia Mono" panose="020B0609020000020004" pitchFamily="49" charset="0"/>
                          <a:cs typeface="Cascadia Mono" panose="020B0609020000020004" pitchFamily="49" charset="0"/>
                        </a:rPr>
                        <a:t>Montée sur sa mule.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cultiva une parcelle</a:t>
                      </a:r>
                    </a:p>
                    <a:p>
                      <a:pPr indent="216000" algn="l"/>
                      <a:r>
                        <a:rPr lang="fr-FR" sz="1100" kern="150" dirty="0">
                          <a:effectLst/>
                          <a:latin typeface="Cascadia Mono" panose="020B0609020000020004" pitchFamily="49" charset="0"/>
                          <a:cs typeface="Cascadia Mono" panose="020B0609020000020004" pitchFamily="49" charset="0"/>
                        </a:rPr>
                        <a:t>Que se couvrit d’épines.</a:t>
                      </a:r>
                    </a:p>
                    <a:p>
                      <a:pPr indent="216000" algn="l"/>
                      <a:r>
                        <a:rPr lang="fr-FR" sz="1100" kern="150" dirty="0">
                          <a:effectLst/>
                          <a:latin typeface="Cascadia Mono" panose="020B0609020000020004" pitchFamily="49" charset="0"/>
                          <a:cs typeface="Cascadia Mono" panose="020B0609020000020004" pitchFamily="49" charset="0"/>
                        </a:rPr>
                        <a:t>Il s’y roula</a:t>
                      </a:r>
                    </a:p>
                    <a:p>
                      <a:pPr indent="216000" algn="l"/>
                      <a:r>
                        <a:rPr lang="fr-FR" sz="1100" kern="150" dirty="0">
                          <a:effectLst/>
                          <a:latin typeface="Cascadia Mono" panose="020B0609020000020004" pitchFamily="49" charset="0"/>
                          <a:cs typeface="Cascadia Mono" panose="020B0609020000020004" pitchFamily="49" charset="0"/>
                        </a:rPr>
                        <a:t>Et y laissa sa fourrure.</a:t>
                      </a:r>
                    </a:p>
                    <a:p>
                      <a:pPr indent="216000" algn="l"/>
                      <a:r>
                        <a:rPr lang="fr-FR" sz="1100" kern="150" dirty="0">
                          <a:effectLst/>
                          <a:latin typeface="Cascadia Mono" panose="020B0609020000020004" pitchFamily="49" charset="0"/>
                          <a:cs typeface="Cascadia Mono" panose="020B0609020000020004" pitchFamily="49" charset="0"/>
                        </a:rPr>
                        <a:t>Il regarda le ciel</a:t>
                      </a:r>
                    </a:p>
                    <a:p>
                      <a:pPr indent="216000" algn="l"/>
                      <a:r>
                        <a:rPr lang="fr-FR" sz="1100" kern="150" dirty="0">
                          <a:effectLst/>
                          <a:latin typeface="Cascadia Mono" panose="020B0609020000020004" pitchFamily="49" charset="0"/>
                          <a:cs typeface="Cascadia Mono" panose="020B0609020000020004" pitchFamily="49" charset="0"/>
                        </a:rPr>
                        <a:t>Qui l’éborgna.</a:t>
                      </a:r>
                    </a:p>
                    <a:p>
                      <a:pPr indent="216000" algn="l"/>
                      <a:r>
                        <a:rPr lang="fr-FR" sz="1100" kern="150" dirty="0">
                          <a:effectLst/>
                          <a:latin typeface="Cascadia Mono" panose="020B0609020000020004" pitchFamily="49" charset="0"/>
                          <a:cs typeface="Cascadia Mono" panose="020B0609020000020004" pitchFamily="49" charset="0"/>
                        </a:rPr>
                        <a:t>Il traversa le ruisselet</a:t>
                      </a:r>
                    </a:p>
                    <a:p>
                      <a:pPr indent="216000" algn="l"/>
                      <a:r>
                        <a:rPr lang="fr-FR" sz="1100" kern="150" dirty="0">
                          <a:effectLst/>
                          <a:latin typeface="Cascadia Mono" panose="020B0609020000020004" pitchFamily="49" charset="0"/>
                          <a:cs typeface="Cascadia Mono" panose="020B0609020000020004" pitchFamily="49" charset="0"/>
                        </a:rPr>
                        <a:t>Qui lui emporta une patte.</a:t>
                      </a:r>
                    </a:p>
                    <a:p>
                      <a:pPr indent="216000" algn="l"/>
                      <a:r>
                        <a:rPr lang="fr-FR" sz="1100" kern="150" dirty="0">
                          <a:effectLst/>
                          <a:latin typeface="Cascadia Mono" panose="020B0609020000020004" pitchFamily="49" charset="0"/>
                          <a:cs typeface="Cascadia Mono" panose="020B0609020000020004" pitchFamily="49" charset="0"/>
                        </a:rPr>
                        <a:t>Il prit la montée</a:t>
                      </a:r>
                    </a:p>
                    <a:p>
                      <a:pPr indent="216000" algn="l"/>
                      <a:r>
                        <a:rPr lang="fr-FR" sz="1100" kern="150" dirty="0">
                          <a:effectLst/>
                          <a:latin typeface="Cascadia Mono" panose="020B0609020000020004" pitchFamily="49" charset="0"/>
                          <a:cs typeface="Cascadia Mono" panose="020B0609020000020004" pitchFamily="49" charset="0"/>
                        </a:rPr>
                        <a:t>Et creva de fatigue.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9196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Vous tous qui m’avez écouté</a:t>
                      </a:r>
                    </a:p>
                    <a:p>
                      <a:pPr indent="216000" algn="l"/>
                      <a:r>
                        <a:rPr lang="fr-FR" sz="1100" kern="150" dirty="0">
                          <a:effectLst/>
                          <a:latin typeface="Cascadia Mono" panose="020B0609020000020004" pitchFamily="49" charset="0"/>
                          <a:cs typeface="Cascadia Mono" panose="020B0609020000020004" pitchFamily="49" charset="0"/>
                        </a:rPr>
                        <a:t>Et qui n’êtes pas des profanes,</a:t>
                      </a:r>
                    </a:p>
                    <a:p>
                      <a:pPr indent="216000" algn="l"/>
                      <a:r>
                        <a:rPr lang="fr-FR" sz="1100" kern="150" dirty="0">
                          <a:effectLst/>
                          <a:latin typeface="Cascadia Mono" panose="020B0609020000020004" pitchFamily="49" charset="0"/>
                          <a:cs typeface="Cascadia Mono" panose="020B0609020000020004" pitchFamily="49" charset="0"/>
                        </a:rPr>
                        <a:t>Méditez cette histoire.</a:t>
                      </a:r>
                    </a:p>
                    <a:p>
                      <a:pPr indent="216000" algn="l"/>
                      <a:r>
                        <a:rPr lang="fr-FR" sz="1100" kern="150" dirty="0">
                          <a:effectLst/>
                          <a:latin typeface="Cascadia Mono" panose="020B0609020000020004" pitchFamily="49" charset="0"/>
                          <a:cs typeface="Cascadia Mono" panose="020B0609020000020004" pitchFamily="49" charset="0"/>
                        </a:rPr>
                        <a:t>C’est de vous tous qu’il s’agit,</a:t>
                      </a:r>
                    </a:p>
                    <a:p>
                      <a:pPr indent="216000" algn="l"/>
                      <a:r>
                        <a:rPr lang="fr-FR" sz="1100" kern="150" dirty="0">
                          <a:effectLst/>
                          <a:latin typeface="Cascadia Mono" panose="020B0609020000020004" pitchFamily="49" charset="0"/>
                          <a:cs typeface="Cascadia Mono" panose="020B0609020000020004" pitchFamily="49" charset="0"/>
                        </a:rPr>
                        <a:t>Car je désire vous épargner</a:t>
                      </a:r>
                    </a:p>
                    <a:p>
                      <a:pPr indent="216000" algn="l"/>
                      <a:r>
                        <a:rPr lang="fr-FR" sz="1100" kern="150" dirty="0">
                          <a:effectLst/>
                          <a:latin typeface="Cascadia Mono" panose="020B0609020000020004" pitchFamily="49" charset="0"/>
                          <a:cs typeface="Cascadia Mono" panose="020B0609020000020004" pitchFamily="49" charset="0"/>
                        </a:rPr>
                        <a:t>Les coups du destin.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détient le pouvoir</a:t>
                      </a:r>
                    </a:p>
                    <a:p>
                      <a:pPr indent="216000" algn="l"/>
                      <a:r>
                        <a:rPr lang="fr-FR" sz="1100" kern="150" dirty="0">
                          <a:effectLst/>
                          <a:latin typeface="Cascadia Mono" panose="020B0609020000020004" pitchFamily="49" charset="0"/>
                          <a:cs typeface="Cascadia Mono" panose="020B0609020000020004" pitchFamily="49" charset="0"/>
                        </a:rPr>
                        <a:t>Agisse avec droiture,</a:t>
                      </a:r>
                    </a:p>
                    <a:p>
                      <a:pPr indent="216000" algn="l"/>
                      <a:r>
                        <a:rPr lang="fr-FR" sz="1100" kern="150" dirty="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dirty="0">
                          <a:effectLst/>
                          <a:latin typeface="Cascadia Mono" panose="020B0609020000020004" pitchFamily="49" charset="0"/>
                          <a:cs typeface="Cascadia Mono" panose="020B0609020000020004" pitchFamily="49" charset="0"/>
                        </a:rPr>
                        <a:t>Qu’il traite le grand avec égards</a:t>
                      </a:r>
                    </a:p>
                    <a:p>
                      <a:pPr indent="216000" algn="l"/>
                      <a:r>
                        <a:rPr lang="fr-FR" sz="1100" kern="150" dirty="0">
                          <a:effectLst/>
                          <a:latin typeface="Cascadia Mono" panose="020B0609020000020004" pitchFamily="49" charset="0"/>
                          <a:cs typeface="Cascadia Mono" panose="020B0609020000020004" pitchFamily="49" charset="0"/>
                        </a:rPr>
                        <a:t>Et protège le petit :</a:t>
                      </a:r>
                    </a:p>
                    <a:p>
                      <a:pPr indent="216000" algn="l"/>
                      <a:r>
                        <a:rPr lang="fr-FR" sz="1100" kern="150" dirty="0">
                          <a:effectLst/>
                          <a:latin typeface="Cascadia Mono" panose="020B0609020000020004" pitchFamily="49" charset="0"/>
                          <a:cs typeface="Cascadia Mono" panose="020B0609020000020004" pitchFamily="49" charset="0"/>
                        </a:rPr>
                        <a:t>Ni l’un ni l’autre ne le trahira.</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qui, c’est notoire,</a:t>
                      </a:r>
                    </a:p>
                    <a:p>
                      <a:pPr indent="216000" algn="l"/>
                      <a:r>
                        <a:rPr lang="fr-FR" sz="1100" kern="150" dirty="0">
                          <a:effectLst/>
                          <a:latin typeface="Cascadia Mono" panose="020B0609020000020004" pitchFamily="49" charset="0"/>
                          <a:cs typeface="Cascadia Mono" panose="020B0609020000020004" pitchFamily="49" charset="0"/>
                        </a:rPr>
                        <a:t>Est capable de mener la lutte,</a:t>
                      </a:r>
                    </a:p>
                    <a:p>
                      <a:pPr indent="216000" algn="l"/>
                      <a:r>
                        <a:rPr lang="fr-FR" sz="1100" kern="150" dirty="0">
                          <a:effectLst/>
                          <a:latin typeface="Cascadia Mono" panose="020B0609020000020004" pitchFamily="49" charset="0"/>
                          <a:cs typeface="Cascadia Mono" panose="020B0609020000020004" pitchFamily="49" charset="0"/>
                        </a:rPr>
                        <a:t>A été étendu raide mort.</a:t>
                      </a:r>
                    </a:p>
                    <a:p>
                      <a:pPr indent="216000" algn="l"/>
                      <a:r>
                        <a:rPr lang="fr-FR" sz="1100" kern="150" dirty="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dirty="0">
                          <a:effectLst/>
                          <a:latin typeface="Cascadia Mono" panose="020B0609020000020004" pitchFamily="49" charset="0"/>
                          <a:cs typeface="Cascadia Mono" panose="020B0609020000020004" pitchFamily="49" charset="0"/>
                        </a:rPr>
                        <a:t>Qui n’est que faiblesse,</a:t>
                      </a:r>
                    </a:p>
                    <a:p>
                      <a:pPr indent="216000" algn="l"/>
                      <a:r>
                        <a:rPr lang="fr-FR" sz="1100" kern="150" dirty="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Quant à l’homme du peuple,</a:t>
                      </a:r>
                    </a:p>
                    <a:p>
                      <a:pPr indent="216000" algn="l"/>
                      <a:r>
                        <a:rPr lang="fr-FR" sz="1100" kern="150" dirty="0">
                          <a:effectLst/>
                          <a:latin typeface="Cascadia Mono" panose="020B0609020000020004" pitchFamily="49" charset="0"/>
                          <a:cs typeface="Cascadia Mono" panose="020B0609020000020004" pitchFamily="49" charset="0"/>
                        </a:rPr>
                        <a:t>Sujet loyal,</a:t>
                      </a:r>
                    </a:p>
                    <a:p>
                      <a:pPr indent="216000" algn="l"/>
                      <a:r>
                        <a:rPr lang="fr-FR" sz="1100" kern="150" dirty="0">
                          <a:effectLst/>
                          <a:latin typeface="Cascadia Mono" panose="020B0609020000020004" pitchFamily="49" charset="0"/>
                          <a:cs typeface="Cascadia Mono" panose="020B0609020000020004" pitchFamily="49" charset="0"/>
                        </a:rPr>
                        <a:t>Qu’il ne soit point perfide.</a:t>
                      </a:r>
                    </a:p>
                    <a:p>
                      <a:pPr indent="216000" algn="l"/>
                      <a:r>
                        <a:rPr lang="fr-FR" sz="1100" kern="150" dirty="0">
                          <a:effectLst/>
                          <a:latin typeface="Cascadia Mono" panose="020B0609020000020004" pitchFamily="49" charset="0"/>
                          <a:cs typeface="Cascadia Mono" panose="020B0609020000020004" pitchFamily="49" charset="0"/>
                        </a:rPr>
                        <a:t>S’il imitait le chacal,</a:t>
                      </a:r>
                    </a:p>
                    <a:p>
                      <a:pPr indent="216000" algn="l"/>
                      <a:r>
                        <a:rPr lang="fr-FR" sz="1100" kern="150" dirty="0">
                          <a:effectLst/>
                          <a:latin typeface="Cascadia Mono" panose="020B0609020000020004" pitchFamily="49" charset="0"/>
                          <a:cs typeface="Cascadia Mono" panose="020B0609020000020004" pitchFamily="49" charset="0"/>
                        </a:rPr>
                        <a:t>Brouillait les gens,</a:t>
                      </a:r>
                    </a:p>
                    <a:p>
                      <a:pPr indent="216000" algn="l"/>
                      <a:r>
                        <a:rPr lang="fr-FR" sz="1100" kern="150" dirty="0">
                          <a:effectLst/>
                          <a:latin typeface="Cascadia Mono" panose="020B0609020000020004" pitchFamily="49" charset="0"/>
                          <a:cs typeface="Cascadia Mono" panose="020B0609020000020004" pitchFamily="49" charset="0"/>
                        </a:rPr>
                        <a:t>Et leur faisait perdre le sommeil,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424656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a:effectLst/>
                          <a:latin typeface="Cascadia Mono" panose="020B0609020000020004" pitchFamily="49" charset="0"/>
                          <a:cs typeface="Cascadia Mono" panose="020B0609020000020004" pitchFamily="49" charset="0"/>
                        </a:rPr>
                        <a:t>¶ </a:t>
                      </a:r>
                      <a:r>
                        <a:rPr lang="fr-FR" sz="1100" kern="1200">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6687</TotalTime>
  <Words>27775</Words>
  <Application>Microsoft Office PowerPoint</Application>
  <PresentationFormat>Widescreen</PresentationFormat>
  <Paragraphs>1619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1483</cp:revision>
  <dcterms:created xsi:type="dcterms:W3CDTF">2023-02-08T10:37:07Z</dcterms:created>
  <dcterms:modified xsi:type="dcterms:W3CDTF">2026-10-27T03:36:17Z</dcterms:modified>
</cp:coreProperties>
</file>